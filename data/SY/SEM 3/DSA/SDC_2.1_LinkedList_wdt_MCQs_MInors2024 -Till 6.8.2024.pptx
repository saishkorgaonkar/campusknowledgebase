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78"/>
  </p:notesMasterIdLst>
  <p:handoutMasterIdLst>
    <p:handoutMasterId r:id="rId79"/>
  </p:handoutMasterIdLst>
  <p:sldIdLst>
    <p:sldId id="256" r:id="rId2"/>
    <p:sldId id="301" r:id="rId3"/>
    <p:sldId id="303" r:id="rId4"/>
    <p:sldId id="527" r:id="rId5"/>
    <p:sldId id="528" r:id="rId6"/>
    <p:sldId id="529" r:id="rId7"/>
    <p:sldId id="530" r:id="rId8"/>
    <p:sldId id="386" r:id="rId9"/>
    <p:sldId id="315" r:id="rId10"/>
    <p:sldId id="313" r:id="rId11"/>
    <p:sldId id="531" r:id="rId12"/>
    <p:sldId id="532" r:id="rId13"/>
    <p:sldId id="304" r:id="rId14"/>
    <p:sldId id="449" r:id="rId15"/>
    <p:sldId id="450" r:id="rId16"/>
    <p:sldId id="310" r:id="rId17"/>
    <p:sldId id="451" r:id="rId18"/>
    <p:sldId id="309" r:id="rId19"/>
    <p:sldId id="452" r:id="rId20"/>
    <p:sldId id="453" r:id="rId21"/>
    <p:sldId id="311" r:id="rId22"/>
    <p:sldId id="312" r:id="rId23"/>
    <p:sldId id="454" r:id="rId24"/>
    <p:sldId id="388" r:id="rId25"/>
    <p:sldId id="389" r:id="rId26"/>
    <p:sldId id="308" r:id="rId27"/>
    <p:sldId id="390" r:id="rId28"/>
    <p:sldId id="404" r:id="rId29"/>
    <p:sldId id="455" r:id="rId30"/>
    <p:sldId id="391" r:id="rId31"/>
    <p:sldId id="397" r:id="rId32"/>
    <p:sldId id="456" r:id="rId33"/>
    <p:sldId id="307" r:id="rId34"/>
    <p:sldId id="306" r:id="rId35"/>
    <p:sldId id="392" r:id="rId36"/>
    <p:sldId id="457" r:id="rId37"/>
    <p:sldId id="533" r:id="rId38"/>
    <p:sldId id="534" r:id="rId39"/>
    <p:sldId id="515" r:id="rId40"/>
    <p:sldId id="400" r:id="rId41"/>
    <p:sldId id="535" r:id="rId42"/>
    <p:sldId id="536" r:id="rId43"/>
    <p:sldId id="537" r:id="rId44"/>
    <p:sldId id="538" r:id="rId45"/>
    <p:sldId id="539" r:id="rId46"/>
    <p:sldId id="540" r:id="rId47"/>
    <p:sldId id="541" r:id="rId48"/>
    <p:sldId id="464" r:id="rId49"/>
    <p:sldId id="542" r:id="rId50"/>
    <p:sldId id="543" r:id="rId51"/>
    <p:sldId id="544" r:id="rId52"/>
    <p:sldId id="545" r:id="rId53"/>
    <p:sldId id="264" r:id="rId54"/>
    <p:sldId id="261" r:id="rId55"/>
    <p:sldId id="393" r:id="rId56"/>
    <p:sldId id="458" r:id="rId57"/>
    <p:sldId id="394" r:id="rId58"/>
    <p:sldId id="281" r:id="rId59"/>
    <p:sldId id="282" r:id="rId60"/>
    <p:sldId id="285" r:id="rId61"/>
    <p:sldId id="286" r:id="rId62"/>
    <p:sldId id="272" r:id="rId63"/>
    <p:sldId id="275" r:id="rId64"/>
    <p:sldId id="459" r:id="rId65"/>
    <p:sldId id="273" r:id="rId66"/>
    <p:sldId id="274" r:id="rId67"/>
    <p:sldId id="369" r:id="rId68"/>
    <p:sldId id="413" r:id="rId69"/>
    <p:sldId id="414" r:id="rId70"/>
    <p:sldId id="442" r:id="rId71"/>
    <p:sldId id="367" r:id="rId72"/>
    <p:sldId id="266" r:id="rId73"/>
    <p:sldId id="415" r:id="rId74"/>
    <p:sldId id="368" r:id="rId75"/>
    <p:sldId id="445" r:id="rId76"/>
    <p:sldId id="461"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182" autoAdjust="0"/>
    <p:restoredTop sz="94662" autoAdjust="0"/>
  </p:normalViewPr>
  <p:slideViewPr>
    <p:cSldViewPr>
      <p:cViewPr>
        <p:scale>
          <a:sx n="70" d="100"/>
          <a:sy n="70" d="100"/>
        </p:scale>
        <p:origin x="-888" y="-176"/>
      </p:cViewPr>
      <p:guideLst>
        <p:guide orient="horz" pos="2160"/>
        <p:guide pos="2880"/>
      </p:guideLst>
    </p:cSldViewPr>
  </p:slideViewPr>
  <p:notesTextViewPr>
    <p:cViewPr>
      <p:scale>
        <a:sx n="1" d="1"/>
        <a:sy n="1" d="1"/>
      </p:scale>
      <p:origin x="0" y="0"/>
    </p:cViewPr>
  </p:notesTextViewPr>
  <p:notesViewPr>
    <p:cSldViewPr>
      <p:cViewPr varScale="1">
        <p:scale>
          <a:sx n="56" d="100"/>
          <a:sy n="56" d="100"/>
        </p:scale>
        <p:origin x="-2874"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785ACA5-C322-4A50-81AB-C4BC26EA351D}" type="datetimeFigureOut">
              <a:rPr lang="en-IN" smtClean="0"/>
              <a:t>06-08-2024</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2BD7850-3785-4D2A-A019-82DC5BB6D377}" type="slidenum">
              <a:rPr lang="en-IN" smtClean="0"/>
              <a:t>‹#›</a:t>
            </a:fld>
            <a:endParaRPr lang="en-IN"/>
          </a:p>
        </p:txBody>
      </p:sp>
    </p:spTree>
    <p:extLst>
      <p:ext uri="{BB962C8B-B14F-4D97-AF65-F5344CB8AC3E}">
        <p14:creationId xmlns:p14="http://schemas.microsoft.com/office/powerpoint/2010/main" val="90625989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23-01-14T11:14:38.238"/>
    </inkml:context>
    <inkml:brush xml:id="br0">
      <inkml:brushProperty name="width" value="0.05292" units="cm"/>
      <inkml:brushProperty name="height" value="0.05292" units="cm"/>
      <inkml:brushProperty name="color" value="#FF0000"/>
    </inkml:brush>
  </inkml:definitions>
  <inkml:trace contextRef="#ctx0" brushRef="#br0">5398 11254,'17'35,"1"0,0 0,17 36,53-18,-52-18,34 0,-17-17,35 35,-53-35,18-18,0 0,18 0,-36 0,18-36,-18-17,18 18,-17-18,-1-70,-18 70,1-18,-18 1,0 17,0-53,0 71,0-1,0 1,-18-18,18 36,0-1,-17 18,17-18,-18 18</inkml:trace>
  <inkml:trace contextRef="#ctx0" brushRef="#br0" timeOffset="1764.113">7232 11113,'0'17,"0"54,0-1,18-34,-18-1,18 0,-1 0,1 1,-1-19,19 1,17 17,-18-35,18 18,-18-18,36 0,-36 0,0-18,1 1,-1-1,0 0,-17-17,17 0,-17-1,-1 19,1-36,-18 18,18 35,-18-36,0 19,0-1,0 0,0 1,0-18,-18 17,18 0,0 1,-18-19,18-17,-17 0,17 18,-18 0,0-53,18 52,-17 19,17-1,0 1,-36-1,36-17,-17 17,17 53,0 18,35 18,0-1,-17-17,0 18,-1-1,1-34,0-1,-18 35,17-17,1 0,35 71,-53-54,17 18,1 18,0-53,17 71,-35-89,18 0,-18-17,0 0,0-1</inkml:trace>
  <inkml:trace contextRef="#ctx0" brushRef="#br0" timeOffset="8283.5741">8079 11430,'0'-18,"0"1,0-1,0 0,0 1,0-1,18 18,-18-17,0-1,17-17,-17 17,0 0,18 1,0-1,-1 0,1 1,-18-1,0-17,17 17,19 18,-19 0,-17-17,18 17,0 0,-1-18,1 18,0 0,-1 0,18 0,-17 0,-18 18,18-1,-1-17,19 71,-36-54,17 19,1-1,17 0,0 18,-17 0,0-18,-18 1,17 34,-17-52,18 52,-18-17,0-17,0-1,18 0,-18 0,0 18,0-17,0-1,17 0,-17-17,0 35,0-36,18-17,-18 18,18-18,17 18,-17-18,-1 0,1 0,17-36,-17 1,52-53,-52 35,0 0,-1-35,1 53,-1-18,-17-36,18 54,0 0,-1 0,-17 17,36-17,-19 17,-17 0,18 1,0-1,-1 1,1-1,17-17,36 17,-36 0,0 18,1-17,-1 17,0 0,0 0,18 0,-35 17,17-17,0 71,-17-71,0 18,17 17,-17 0,-1 18,-17-18,36 18,-36-35,0-1,0 1,0 17,-18-88,0 18,18 0,-17 0,-1-1,0 1,18 17,-17 1,-1 17,18-35,-18 35,1-18,-18-17,17 35,0 0,18 17,-35 1,17 17,-17-17,0-1,17 19,1-36,-19 35,19 0,17-17,-18 17,0-17,18-1,-17 19,17 34,0-34,0-19,0 71,0-52,17 17,1 35,0-53,17 18,-35-35,35 17,-17 0,17 0,-35-17,18 0,-1-1,1-17,0 0,-1 0,19-17,34-107,-52 89,-1-36,19-17,-36 53,17-53,1 53,-18-36,0 36,35-36,-35 18,0 36,0-1,0 0,0 1,0 34,35 19,-17 69,-18-16,18 16,-1-52,1 36,17-1,-17-53,0 18,-1 0,-17-18,18-17,0-1,-1 1,1 0,-1-1,1-17,0 0,-1 0,1 0,35-17,-18-54,18 1,-35-1,-1 18,1-53,17 71,-35-36,0 1,0 35,0-1,-17 1,17 17,-18-35,0 36,18-1,-17 18,-1 0,0-17,1 17,-1-18,1 18,-1 0,18 35,-18-35,18 53,0-18,0-17,0 17,18-17,17 17,0 1,18-1,-17-18,17 1,-18-18,0 0,18 0,-35 0,35 0,-36 0,-17-18,18 1,0 17,-1-35,-17 17,0 0,0 1,0-1,0 71,0 0,-17 35,17-35,0 35,0-17,17 17,-17-53,18 0,-18 18,0-35,17 17,-17-17,36-18,-1 0,-17-18,17-17,-17 35,-1 0,1-18,-1 1,1 17,-18-18,18 18,-18-18,0 1,17 17,-17-18</inkml:trace>
  <inkml:trace contextRef="#ctx0" brushRef="#br0" timeOffset="10798.4847">7462 10901,'0'17,"-18"-17,0 18,1 0,-1-1,0 1,18 0,-17-18,-19 0,36 35,-17-35,-1 18,1-18,17 17,-18-17,0 0,1 18,-1-18,-17 0,17 0,0 18,1-18,-1 0,1 0,-1 0,0 0,18 17,-17 18,17 1,0-19,0 1,0 0,0-1,0 1</inkml:trace>
  <inkml:trace contextRef="#ctx0" brushRef="#br0" timeOffset="15715.7406">12330 11606,'0'36,"0"-1,0 0,0-17,0 17,0-17,0-89,0-17,0 17,0-17,0 18,18-1,-18 18,0 18,0 0,0 17,0 0,17 36,-17 53,0-18,0-1,0 37,0-19,0-17,0 0,0-18,0 1,0-19,0 19,0-19,0 1,0-1,0 1,0 0,0 17,18 0,-18-17,17 0,-17-1,0 1,18-1,-18 1,0 0,0-54,0-16,0 16,0-70,0 54,0-37,0 19,0 34,0-16,0-19,0 36,18-1,-18-16,0 16,35 19,-35-19,53-34,-35 52,-18-17,17 17,1 1,0-1,-1 18,18-18,-17 18,-18-17,18 17,-1 0,1 0,0 17,17 1,0 0,0 17,-17 53,0-35,-1 35,-17-17,0-18,0 17,0-17,0-18,0 1,18-1,-18 0,0-17,0 0,0-1,0 1,18-1,35 19,-36-36,1 0,-1 0,1 0,0 0,-1 0,1 0,35-36,-35 19,17-18,-17-1,-1-17,1-17,-1 34,19-16,-36-1,17 17,-17 1,0-18,0 18,0 0,18-1,-18-17,18 36,-18-18,17 17,1-17,0 35,17-36,53 1,-53 17,-17 1,17 17,0 0,36 0,-36 0,-35 17,36 19,-19-19,36 19,-35 17,-1-18,1 18,-18-36,18 19,-18-19,0 19,0-19,0 1,0-1,0 1,-36-71,19 0,-36 18,35-36,1 19,-1-1,-17 17,17 19,0-36,18 35,-17 18,-1-18,18 1,-18 17,1 0,-1 0,1 17,-19 36,1 0,-36 18,36-36,18 53,-1-52,0-19,1 1,17 52,-18-70,18 36,0-19,0 19,0-1,18 0,-1-17,1 17,0 0,-1-17,1 17,17-17,0 17,-17-35,0 18,-1-18,1 0,0 0,17 0,-18 0,1 0,0-53,17-35,-17 35,-18 0,17-18,-17 18,36 18,-36-18,0 18,0 17,0 1,0-1,0 0,35 18,0 71,-35 35,35-53,-17 0,0 35,-1-35,-17-18,18 53,0-70,17 17,-35 0,18-35,-18 18,17-18,-17 35,18-17,17-18,0 0,1 0,-19-35,19-1,-1 1,18-35,0-19,-36 36,36 1,-35-19,-18 36,18-18,-18 0,0 35,0-17,0 17,0 1,0-1,-18 18,18-18,0 36,0 53,0 52,18-52,17 17,-18-35,1 35,17 0,-17-53,0 1,-18 34,17-52,-17 0,18-1,-18 1,18-71,-18-35,0 17,0-35,17 18,-17 18,0-19,0 54,0-18,0 36,0-1,18 18,-18-18,17 18,36 0,-17 0,-1 0,0 36,18 16,0 19,-18-18,1 17,-19-17,1-17,0-1,-18 18,0-35,0-1,35 1,-35-1,0-69,17-37,36-34,-35 17,0 18,17-18,-17 35,-1 36,-17-18,35 36,-35-1,18 18,0 0,17 71,0-1,-17-17,0 53,34-18,-16 0,-1 36,-17-54,-1 18,1-35,0 0,-18-17,17-19,-17 1,36-18,-36 17,17-17,1 0,-1-17,1-1,17-17,54-53,-54 35,18-18,-18 1,-17-1,52 18,-52 0,-1-35,1 53,-18-36,18 18,-18 36,0-19,0 1,0 0,0 17,-18 18,18-17,-18-1,1 18,-1 0,1 0,-1 0,0 0,-17 35,17 36,1-18,-1 0,18-18,0 35,0-34,0-1,0 0,0 1,18-1,-1 0,1 0,17 36,-17-71,17 35,0 1,-17-36,0 17,-1 1,1-18,-18 17,18-17,17 0,-17 0,-1 0,1-17,35-18,-18 17,18-17,-35 17,17-35,-17 35,-1 1,1-19,17 36,-35-17,18 17,35-35,0 17,52-17</inkml:trace>
  <inkml:trace contextRef="#ctx0" brushRef="#br0" timeOffset="16532.3435">16546 10866</inkml:trace>
  <inkml:trace contextRef="#ctx0" brushRef="#br0" timeOffset="18289.1131">17569 10178,'17'70,"1"89,0-88,17 87,-17-105,-1 35,-17 18,18-53,-18-18,17 18,-17-17,36 17,-36-36,0 1,0-1,0 19,-18-19,18 1,0 0,0-1,0 1,0 0,0-1,0 18,0-17,-18 17,18 36,0-1,0-17,0 36,0-19,53-35,-53 1,0-19,0 1,0 0,0 17,18-35,0 0,17 0,0 0,53-35,-35 35,0 0,53-18,-18 18,18 0,-53-18,-18 18,1 0,16 0,-34 0,0 0,-1 0,1 0,0 0,-1 0,-17-17,0-1</inkml:trace>
  <inkml:trace contextRef="#ctx0" brushRef="#br0" timeOffset="20343.639">17604 10213,'18'0,"52"0,1 0,35 0,-1-53,54 35,-88 18,35-35,-36 17,-17 1,0 17,-18 0,-17 0,-1 0</inkml:trace>
  <inkml:trace contextRef="#ctx0" brushRef="#br0" timeOffset="23052.025">18574 10724,'-18'-17,"-17"17,0 0,17 0,1 0,-19 0,19 0,-1 17,0 1,1-18,-1 0,1 18,17-1,-18 1,-17 17,35-17,-18 17,18 0,-18 1,18-19,-17 1,17 0,0 17,0 0,0-17,0 0,17-1,-17 1,0-1,18 19,17-19,-17 1,17 0,-17-18,-1 17,36-17,0 18,-17-18,-1 0,0 0,-17 0,-1 18,19-18,-19 0,1 0,0 0,-1 17,36-17,-35 0,-18 35,53-17,-36 0,36-1,-35 1,0-18,-18 18,17-18,1 17,-18 1,17 0,1 17,-18 0,18-17,-18-1,0 19,0-19,0 19,0-1,0-17,0-1,0 1,-18-1,18 1,-18 17,1 1,-36-19,0 1,18 0,-1-1,1 1,0-18,0 17,-1-17,19 0,-19 0,19 0,-19 0,19 0,-18 0,17 0,0 0,1-17,-36-1,35-17,0 35,1-18,-1 18,1-53,-1 36,0-19,18 1,0 0,-35-18,35 0,0 18,18-36,-1 18,1 0,17 18,-17 0,-1-36,-17 54,18-1,0 18,17-18,-35 1,18 17,-18-18,17 18,1-18,0 18,-18-17,17 17,1-35,-18-1,17 1,-17 17,0-17,0 0,0 17,0 0,0-17,0 18,0-1,0 0,0-17,0 17,0 1,0-1,0 0,0 1,0-1,-17 1,17-1,-18 18,1 0,-1 0,36 0,70 35,0 0,0 18</inkml:trace>
  <inkml:trace contextRef="#ctx0" brushRef="#br0" timeOffset="25142.1767">19597 10548,'0'18,"0"17,0-17,0 17,0 0,0-17,0-1,0 1,0 0,18-1,-18 1,0 0,17 17,-17-17,18-1,-18 18,0-17,18 17,-1 1,1-1,-18-17,35-1,-35 1,18 0,-18-1,18-17,-18 35,0-17,17-18,-17 18,18-1,-1-17,-17 36,0-19,18 1,0 17,17-35,-17 18,-1-1,1-17,0 0,-18 18,17-18,1 0,35 0,-36-35,19-18,17-18,-18 36,18-18,-36-35,36 0,-35 52,0-16,-1 16,-17 19,0-19,0 1,0 0,0 17,0 1,-17-1,17 0,-36 1,36-1,-17-17,-54 17,54 18,17-18,-36 1,19-1,-1 18,18-17,-53-1,35 0,1 1,-1-1,-17 18,17 0,1-18,-36 18,17-17,19 17,-1 0,0 0,-34 0,34 0,0 0,-17 0,17 0,1 0,-1 17,0-17,1 0,-1 18,18 0,-17-1,-1 1,0 0,1-1,17 1,-36-18,36 17,0 19,-17-19,17 1,0 0,0-1,0 1</inkml:trace>
  <inkml:trace contextRef="#ctx0" brushRef="#br0" timeOffset="27317.1643">19932 10142,'36'0,"-19"0,1 0,-1 0,1 0,0 0,-18 18,35-18,-17 53,-1-53,1 35,-18 0,0-17,18-18,-18 18,17-1,-17 1,18-18,0 18,17-18,-18 17,1-17,0 18,-1 17,1-35,0 0,-18 18,17 0,19-1,-36 1,17 35,1 0,-18 0,17 17,1-17,0 0,-1 17,-17 36,0-53,18 18,-18 17,18-35,-18 0,0 17,0-17,0 0,0-35,0 35,53-18,-53 18,0-18,0 18,0-18,17 18,-17 18,18-1,-1-34,-17-1,0 53,18-53,-18-17,0 0,0-1,0 1,0 0,0-1,-35-17,-36 0,-35 0,18 0,35-17,-35 17,18 0,34 0,1 0,0 0,17 0,-17 0,17 0,1 0,34-18,36 18,-18-18,-17 18,35-17,-35 17,70 0,-35-18,0 18</inkml:trace>
  <inkml:trace contextRef="#ctx0" brushRef="#br0" timeOffset="28275.3674">21396 10795</inkml:trace>
  <inkml:trace contextRef="#ctx0" brushRef="#br0" timeOffset="29167.5306">21361 11359,'18'71,"-18"105,0-87,-18 52,0-53,-17-18,0-34,17-1,1 18,-1-53,0 0,1 18,17 17,-18-35</inkml:trace>
  <inkml:trace contextRef="#ctx0" brushRef="#br0" timeOffset="78361.9764">12118 12771,'106'0,"106"0,35-36,-36 19,-34 17,17-36,53 1,0 35,0-18,-36-17,1 18,35 17,-18-53,53 53,-35-36,36 19,-1-19,0 1,0 18,36-19,-1 1,1 17,17-17,-53-18,0 18,106 17,-70 18,-36-35,0 0,1 35,-72 0,36 0,-35 0,0 17,-36 1,-17 17,17-35,-70 18,53-18,-89 0,71 0,0 53,-52-53,-36 0,35 0,-35 0,0-18,35 18,-53 0,-17 0,17 0,-17-18,17 18,-18 0,1 0,0 0,-1 0,1 0,0 0</inkml:trace>
  <inkml:trace contextRef="#ctx0" brushRef="#br0" timeOffset="81182.9314">10196 14270,'17'70,"36"54,-18-36,1-35,17 35,-36-53,1-17,0 17,-1-35,-17 18,18-36,17-70,18-53,-18 53,-17-106,17 123,-17-52,0-18,-1 53,-17 35,35 0,-35 17,0 19,0-1,0 1,0 34,0 1,0 17,36 18,-1-18</inkml:trace>
  <inkml:trace contextRef="#ctx0" brushRef="#br0" timeOffset="83614.5679">11466 13705,'0'18,"0"0,17-36,19-52,-19-1,1 36,-1-54,1 54,-18 0,0 0,35 35,-35-36,0 19,0 52,18-35,-18 18,0-1,0 1,35 17,18 0,53 54,-53-54,18 36,17-1,-53-35,36 18,-36-17,0 34,0-35,-17-17,-18 0,18-18,-18 17,0 1,17-53,1-18,-18 17,0-69,0 52,18 17,-18-16,0-1,0 17,17-34,-17 34,0 19,0-18,0 17,0-17,0 52,35 19,-35-19,0 18,-17 1,17 52,0-70,-18 52,18 1,0-18,0 52,0-16,0 52,0-71,0 19,0-1,0 0,0 53,0-88,0 0,0 35,0-70,0 17,0-17,0-1</inkml:trace>
  <inkml:trace contextRef="#ctx0" brushRef="#br0" timeOffset="85145.9581">13459 13476,'-35'88,"-1"71,19-53,-1-18,0-17,18-1,-35-17,35-18,0-17,18-106,-18 35,0 18,0-18,0-35,35 35,-35 0,18-35,-18 35,17-36,-17 36,18 1,35-54,-36 35,1 1,0-1,-1 36,1 0,-18 17,18 18,-18-18,17 18,1 0,17 36,0-1,-17 0,0 18,17-18,53 106,-35-70,-18-18,1 17,-19-17,54 0,-36 18,-17 35,17-71,-17 18,-1 17,1-52,-18 0,35-1</inkml:trace>
  <inkml:trace contextRef="#ctx0" brushRef="#br0" timeOffset="86039.9397">13353 13564</inkml:trace>
  <inkml:trace contextRef="#ctx0" brushRef="#br0" timeOffset="87923.9659">13582 13653,'18'0,"17"0,0 0,-17 0,0 0,17 0,-17 0,17 0,-17 0,-1 0,1 0,35 0,-18-18,0 18,1 0,17 0,-18-18,0 18,-17 0,-1 0</inkml:trace>
  <inkml:trace contextRef="#ctx0" brushRef="#br0" timeOffset="89555.372">15135 12859,'-36'17,"36"19,-17-1,17 0,-36 36,36-36,18 0,-18 1,18 17,-1-18,1 0,-18-17,18 17,-18 18,17-53,1 18,-18-1,17 1,-17-1,18 1,-18 0,18-18,-1 35,-17-17,18-18,-18 17,18 1,17 0,-17-1,17 1,0-18,18 18,-18-18,1 0,-1 0,-18 0,54 0,-53 0,-1 0,1 0,17 0,1 0,-19 0,1 0,-1 0,-17 17,18-17,-18 18,18-18,-1 35,-17-17,0-1,0 1,0 17,0 18,-17-18,-1 36,-17-18,-18 35,0-35,18 18,-18-18,17-36,-16 18,34-17,-17 0,35-1,-36 1,19-18,17 35,-18-35,-17 0,17-17,-17 17,0-18,-1 0,19 1,-19-1,19 0,-1 1,18-1,-17 18,-1-35,18 17,-18 18,18-17,18 17,0 0,70 0,-35 0</inkml:trace>
  <inkml:trace contextRef="#ctx0" brushRef="#br0" timeOffset="90809.1102">16651 12859,'36'35,"-1"53,36 0,-36-17,35-18,-52 17,0-34,17-1,-17 0,-18-17,35 0,-35 17</inkml:trace>
  <inkml:trace contextRef="#ctx0" brushRef="#br0" timeOffset="93141.4077">17392 12700,'0'18,"0"-1,0 1,0 0,0-1,0 1,0 17,0-17,0 17,0-17,0-1,0 1,0 17,0 1,0-19,0 1,0 17,0-17,0-1,-17 19,17-19,0 1,0 0,0-1,0 1,0 35,0-36,0 19,0-19,0 1,0 0,0-1,0 18,0-17,17 0,-17 17,18-35,-18 18,18-1,-18 1,17 17,1-17,17-18,0 18,-17-1,0-17,-1 0,1 0,35 18,0-18,-18 0,-17 0,17 0,-17 0,-1 0,19 0,-19 0,-17-18,18 18,-1-17,19-36,-19 17,1 1,0 0,-18-1,35-16,-35 16,0 19,0-1,0-17,18 17,-18 0,0 1,0-1,0 1,0-19,0 19,-18-1,18-35,-18 35,18 1,-17-1,-1 1,18-1,-18 0,1-35,-1 18,0 17,1 1,-1-1,1 18,-1-18,-17 1,35-18,-18 17,-17 0,17 1,18-1,-35 18,0-18,17 18,0 0,-17-17,17-1,1 18,-1 0,0-18,1 18,-1 0,0 0,1 0,-1 0,1 0,-1 0,0 0,1 0,17 18,-18-18,0 18,18-1,0 1,0 0,0-1</inkml:trace>
  <inkml:trace contextRef="#ctx0" brushRef="#br0" timeOffset="95146.3859">16987 13406,'0'17,"0"1,17 17,-17-17,0-1,0 1,18-18,-18 53,18-53,-1 18,-17-1,18-17,-18 18,0 0,17-18,-17 17,36 1,-19 17,1 0,0-17,17 0,-17 17,-1 0,1-35,17 35,-17-17,-1 0,1-1,-18 1,18-18,-1 18,1-1</inkml:trace>
  <inkml:trace contextRef="#ctx0" brushRef="#br0" timeOffset="96613.5067">10954 15804,'0'36,"0"17,0-18,0 18,18 17,-1-34,1-1,0 18,-1-18,1 0,17 1,0-19,1 19,-1-19,0-17,1 18,52-18,-71 0,1-18,53 18,-36-35,-17 35,-1-18,1 18,-1 0,1-17,0-19,-1 19,-17-18,0-1,0 1,0 0,0 17,0-17,0-1,0 19,-17-18,-1 17,0 0,-34-17,-37 17,54 1,-35 17,-19-18,36 18,0-18,1 18,16 0,1 0,17 0,1 0,-1 0,0 0,18 18</inkml:trace>
  <inkml:trace contextRef="#ctx0" brushRef="#br0" timeOffset="98173.0355">12506 15293,'0'35,"0"0,18 1,-18-19,0 19,0-19,0 1,0 0,0 17,18 0,-18 18,0-18,0-17,17 17,-17 1,18-19,-18 36,0-35,0-1,18 1,-18 17,17 53,-17-52,18-1,-18-17,0 52,35-34,-35-19,0 1,0-1,0 1</inkml:trace>
  <inkml:trace contextRef="#ctx0" brushRef="#br0" timeOffset="99682.929">13424 15328,'17'0,"-17"-17,18 17,17-18,-17 18,52 0,-34 0,16-18,-16 18,17 0,-18 0,36 18,-36-18,18 18,-53-1,17-17,19 35,-19-35,-17 36,18-1,-18-17,18 17,-18 36,0-1,0 18,0-35,-18 0,18 35,-18-52,18 16,-17-16,-1-19,0 36,18-35,-17 0,-1-18,18 17,-18 1,1 0,-1-18,53 0,18 0,0 0,35 0,-17-18,52-17,-17 35,-17-18,-19 0,-17 18,-18 0,1-17,-19 17,18 0,-17 0,0 0,-1 0,1 0,0 0,-1 0</inkml:trace>
  <inkml:trace contextRef="#ctx0" brushRef="#br0" timeOffset="101293.0989">15346 14834,'35'-17,"18"-36,36 35,-72 0,18 1,1-18,-19 35,1 0,0 0,17 17,0 1,-17 17,-18 0,18 1,-18-1,0 0,0 18,0 18,0-36,0 0,0 1,0-19,-18 54,0-54,1 1,17 0,-36 17,19-17,-1 17,0-18,-17 19,17-19,1-17,17 18,-35-18,35 18,-18-18,18 17,-18-17,71 0,-18-17,18-1,18 0,0 1,17-1,-53 18,71-35,-53 35,-18 0,53 0,-70 0,-1 0,19 17,-19 1,19-18,-19 18,1 17,0 18,-18-35,0 17,0 0,0 18,-36 35,-34-35,17 18,-53 17,-17 18,70-71,-36 53,19-35,17-18,18-17,-18-18,35 18,0-18,1 0</inkml:trace>
  <inkml:trace contextRef="#ctx0" brushRef="#br0" timeOffset="103546.177">17498 14676,'0'35,"-18"0,18-17,0-1,0 1,0 0,-17 17,17-17,17-18,1 0,0 0,17 0,-17 0,-1 0,1 0,0 0,-1 0,-17-36,36 19,-19 17,18-18,-17 18,0 0,35-18,-36 18,1 0,0 0,-1 0,1 0,-1 0,1-17,35-19,-35 1,-18 18,17-1,-17 0,18 1,0 17,-18-18,0 0,0 1,-18 17,18-36,-18 36,18-17,0-1,-17 18,-1 0,18 53,0 0,0 18,0-19,0 1,0 0,0 36,0-54,0 18,0-18,0 0,0 18,18-35,-18 35,17 0,1-18,0 18,-1-18,1 36,17-36,-17 0,-1 1,1-1,0-18,-18 19,17-36,-17 17,0-70,-35-17,17 35,-52-18</inkml:trace>
  <inkml:trace contextRef="#ctx0" brushRef="#br0" timeOffset="105218.3585">17569 14235,'0'17,"0"19,0-19,0 1,0-1,0 36,0-35,0 0,0-1,0 1,0 0,0-1,0 1,-18 17,18-17,0-1,0 1,-18-18,18 18,0-1,0 1,0 0,-17 17,-1-18,18 1,0 0,-18-1,18 1,0 0,-17-18,17 35,0-17,0-1,-35-17,35 18,0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23-01-14T11:17:54.05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4516 5468,'53'0,"35"-18,53 1,0 17,-53 0,54-18,-90 18,19 0,35 0,-18 0,36 0,-36 0,18 0,-36 0,36 0,-36 0,1 18,17-18,-35 0,-18 0,36 0,-36 0,36 0,-18 0,17 0,1-18,-18 18,17-17,19 17,16-36,-16 19,-19 17,36-18,-18 18,18-53,-18 53,18-18,0 18,0-17,-18-1,53-17,-18 35,54-18,-71 18,70-35,-17 35,-18 0,0-18,-53 1,53 17,-17-53,17 53,-35-18,52 18,19 0,-71-35,35 35,-35 0,17 0,-17-18,35 18,-35 0,17-17,54 17,-54-18,18 18,-35 0,35 0,-53-35,18 35,-53 0,0 0,0 0,-18 0,1 0,-19 0,1 0,0 0,-1 0,18 0</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23-01-14T11:17:56.46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4534 6191,'88'0,"53"0,-18-17,54 17,-71 0,35-36,-18 36,89 0,-71 0,-35 0,0 0,-1 0,19 0,-54 0,36 0,-18 0,-17 0,35 18,-18-18,36 0,-36 18,18-18,-1 0,1 0,-35 0,35 17,-36-17,1 18,35-18,-1 18,19 17,-18-35,35 17,-35-17,52 36,-17-36,-35 0,0 0,-18 0,-17 0,70 17,-53-17,18 0,-53 0,53 0,-53 18,88-18,-71 0,-17 0,53 18,-35-18,-18 35,35-35,-18 0,-34 18,52-18,-35 0,53 35,-54-35,1 0,53 17,-35-17,-18 18,53-18,-54 0,54 18,-18-18,-35 0,36 17,-36-17,-18 0,35 0,-34 0,17 36,-18-36,35 0,-17 17,0-17,35 36,-35-36,-17 0,17 0,-1 0,19 0,-36 0,18 17,18-17,-54 0,19 0,-1 0,-17 0,17 18,-18-18,1 0,0 0,-1 0,1 0,-18 18</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23-01-14T11:18:00.26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12542 6315,'105'-36,"89"19,-88 17,71-35,-19 17,-52 18,35-18,-35 18,35 0,-52 0,16-35,19 53,17-18,-71 0,36 0,-17 0,16 0,1 0,0 0,-18 0,-17 0,70-18,0 18,-35 0,35 0,-35 0,53 18,-54-18,36 0,36 0,-18 17,-18-17,0 0,0 36,53-54,-53 18,0 0,-17-18,17 18,-35 0,-1 0,-16 0,34 0,1-17,17 17,-53 0,35 0,-34 0,-19 0,-17 0,35 0,-17 0,-36 0,-17 0,17 0,-17 0,17 0,-17 0,-1 0,1 0</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23-01-14T11:18:02.75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12665 5292,'71'0,"-1"0,18 0,-17 0,17 0,-17 0,-18 0,52 0,-34 0,-18 0,17 0,-17 0,18 0,-1 0,19 0,-19 0,-17 0,18 0,-1 0,-17 0,0 0,88 0,-53 0,1 0,-1 0,0 0,18 0,0 0,-1 0,-16-18,17 18,-36 0,18 0,-35 0,35-35,18 35,-35 0,-1-18,36 18,0-18,0 18,-18-17,53 17,-35-18,17 18,-52-35,52 17,-52 18,70-53,-53 36,18 17,-18-18,-35 18,88-18,0 18,-35 0,0-17,-35 17,-1-35,36 35,-35 0,-18 0,17 0,1 0,-54 0,72-18,-54 18,0 0,0 0,18 0,-17 0,-1-18,0 18,0 0,1 0,-19 0,1 0,0 0,-1 0,1 0,-1 0,1 0,35 0,-53 18,18-18,-1 0,1 0,0 0,-18 18</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23-01-14T11:18:05.73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4040 4216,'88'0,"106"0,-18 0,36 0,0 0,35 35,-1-35,-34 35,-53-17,17 0,-35 17,18-18,18 19,52 34,-88-34,35-36,-35 17,-17 1,17 17,-70-35,-1 0,18 0,-52 0,17 0,17 0,-35 0,18 0,35 0,-52 0,-1 0,18 0,-35 0,35 0,-36 0,1 0,-1 0</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23-01-14T11:18:07.74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3775 8149,'124'0,"105"0,18 0,-36 0,-69 0,69 0,-34 0,-1 0,-35 0,18 0,53 35,-107-35,72 0,-71 0,35 0,-18 0,18 0,36 18,-71-18,35 0,-18 0,18 35,-53-35,1 0,-1 0,-35 0,53-17,-18 17,-18 0,1 0,-1 0,72 0,-72 0,18 0,18 0,35 0,-35 17,0-17,17 0,-52 0,35 0,70 0,-88 18,53-18,-35 0,71 0,-19 18,-87-18,70 0,-70 0,70 0,-71 17,54-17,-18 36,35-36,-35 0,52 17,-34 36,52-35,-35 17,-17-17,-18-1,-18 36,0-35,0 0,-35 17,0-18,35-17,-17 36,17-19,-53-17,18 18,0-18,35 18,-52-18,16 17,1-17,18 18,-53-18,17 0,-18 0,-17 18,36-18,-19 0,1 0,0 0</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23-01-14T11:18:09.66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6985 8943,'-35'18,"17"17,1 0,-1 0,1 54,17-36,-18-18,18 35,0 1,0-36,18 71,-18-71,17 36,-17 17,18-17,-18-18,17 35,-17-53,0 0,0 18,36 0,-36-18,0 1,0-1,0 18,0 17,0-34,17 17,-17 0,0-1,0 1,0 36,0-54,0 18,0-18,0 36,0-36,0 0,0 0,0 18,-17 0,-1-53,18 36,-18-19,-17 1,0 35,-36-36,18 19,18-36,0 0,-18 0,18 0,-1 0,1 0,-18-36,36 36,-19-17,19-1,-1 0,18 1,-18 17,18-18</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23-01-14T11:18:11.51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6703 9684,'35'0,"-17"0,0 0,-1 0,1 0,0 35,-18-17,53-18,-18 0,0 0,0-18,-17 18,35-18,0 1,-18 17,53 0,-35 0,0 0,71 17,-19-17,1 36,-18-36,36 0,-71 0,35 0,-35 17,-18-17,-17 0,0 0,-1 0</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2.13592" units="1/cm"/>
          <inkml:channelProperty channel="Y" name="resolution" value="62.06897" units="1/cm"/>
        </inkml:channelProperties>
      </inkml:inkSource>
      <inkml:timestamp xml:id="ts0" timeString="2023-01-14T11:18:14.96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8573 10760,'0'-36,"0"1,0-18,0-17,0-1,0 18,0-53,0 71,0-18,0 0,0 18,0 17,0 1,0-1,0 0,0-17,-18 18,18-1,-35 0,35 1,-35-1,17 18,0-18,-35 1,36 17,-1 0,1-18,-1 18,0 0,1-35,-19 35,36-18,-17 18,-1 0,0-17,1 17,-1 0,1 0,-1 0,0 17,1 18,-1 1,18-19,-18 1,18 17,18-17,-18 35,0-36,53 1,-18 17,0-17,36 0,-18-18,35 17,-70-17,70 0,-53 0,18 0,-18 0,18 0,-17-17,-1 17,35-18,-34 18,-19 0,19-18,-19 18,1 0,17-17,-17 17,-1-18,1 18,0-35,-1 17,1 1,0-1,17 18,-17-18,17 1,-35-1,17 18,1 0,-36 0,-17 35,-35 36,34 17,19-53,-1 1,18 34,-18-35,18 1,0 17,0 17,0-17,18 0,-18-18,18 18,-18-18,17 1,1-1,17-17,-35-1,18 1,-18 0,35-1,-17 1,-1-1,36 1,0-18,-17 18,17-18,-18 0,18 0,-18 0,53 0,-35 0,-18-18,36-17,-18 17,0 1,-18-1,18 0,-35 1,35-1,-18-17,-18 17,1-17,17 0,-17-36,-18 36,18-18,-18-35,0 35,0 17,0 1,0-53,0 53,0 17,-18-17,18-36,-18 54,1-1,17 0,0 1,-18 17,18-18,-18 18,1 0,-36 0,35 0,1 18,-19 17,19 0,17-17,-18 35,-35-18,35 0,18-17,-17 17,17 18,0 0,0-18,17 1,-17 17,0-18,0 0,18 0,-18-17,0 17,35 1,-35-19,18 1,-18-1,18 1,-18 0,17-1,1 1,0-18,-18 18,35-18,0 53,-17-53,17 17,-17-17,17 0,53 53,-53-53,1 18,34-18,-17 0,18 0,-18 0,17 0,18 0,-52 0,52-53,-35 35,0-17,17 17,-52 1,0-1,-1 0,1 1,17-19,-17 1,17 0,-35 0,18-1,-1-17,1 1,17-37,-17 36,-18-35,0 35,18 18,-18-18,0 18,0 17,0-35,0 36,0-1,-18 18,0-18,1 1,-1-1,0 18,1 0,-1-18,0 18,1 0,-1 0,0 0,1 0,17 18,0 0,-18 17,-52 0,70 18,-18-18,0 1,18-1,0 53,-17-35,17-18,0 18,-18 0,18-17,0 16,0-16,0 52,0-53,0-17,0-1,0 19,18-1,-18-17,17 17,1-17,0-1,17 18,0 1,0-19,1 1,-1 0,18-1,-35 1,35 0,-1 17,19-35,-18 18,-18-18,71 0,-53 0,0 0,35-36,-35 19,18 17,-36-18,71-35,-71 35,18 1,-18-1,-17 0,-1 18,1-52,0 52,-1-36,1 36,-18-17,0-1,0 0,0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459F77-8847-4996-A347-35EBE462F2B7}" type="datetimeFigureOut">
              <a:rPr lang="en-IN" smtClean="0"/>
              <a:t>06-08-2024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1B9FB3A-885C-4EF9-96F6-41CEE3C8E241}" type="slidenum">
              <a:rPr lang="en-IN" smtClean="0"/>
              <a:t>‹#›</a:t>
            </a:fld>
            <a:endParaRPr lang="en-IN"/>
          </a:p>
        </p:txBody>
      </p:sp>
    </p:spTree>
    <p:extLst>
      <p:ext uri="{BB962C8B-B14F-4D97-AF65-F5344CB8AC3E}">
        <p14:creationId xmlns:p14="http://schemas.microsoft.com/office/powerpoint/2010/main" val="2970530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69</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70</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72</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73</a:t>
            </a:fld>
            <a:endParaRPr lang="en-IN"/>
          </a:p>
        </p:txBody>
      </p:sp>
    </p:spTree>
    <p:extLst>
      <p:ext uri="{BB962C8B-B14F-4D97-AF65-F5344CB8AC3E}">
        <p14:creationId xmlns:p14="http://schemas.microsoft.com/office/powerpoint/2010/main" val="2560665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B9FB3A-885C-4EF9-96F6-41CEE3C8E241}" type="slidenum">
              <a:rPr lang="en-IN" smtClean="0"/>
              <a:t>74</a:t>
            </a:fld>
            <a:endParaRPr lang="en-IN"/>
          </a:p>
        </p:txBody>
      </p:sp>
    </p:spTree>
    <p:extLst>
      <p:ext uri="{BB962C8B-B14F-4D97-AF65-F5344CB8AC3E}">
        <p14:creationId xmlns:p14="http://schemas.microsoft.com/office/powerpoint/2010/main" val="2560665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F7A9C182-7B58-4051-AE9D-824B10FFF91F}" type="datetime1">
              <a:rPr lang="en-IN" smtClean="0"/>
              <a:t>06-08-2024</a:t>
            </a:fld>
            <a:endParaRPr lang="en-IN"/>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r>
              <a:rPr lang="en-IN" smtClean="0"/>
              <a:t>Prof. Shweta Dhawan Chachra</a:t>
            </a:r>
            <a:endParaRPr lang="en-IN"/>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91FA414A-FC3B-4762-BF9B-190CEE0147BD}" type="slidenum">
              <a:rPr lang="en-IN" smtClean="0"/>
              <a:t>‹#›</a:t>
            </a:fld>
            <a:endParaRPr lang="en-IN"/>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B710D74-2398-47D4-A516-B8748A1822B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894570-32C7-47F6-908E-9AFD280F9134}"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D7767BF8-6CF2-4EBF-9529-F58487188B9E}" type="datetime1">
              <a:rPr lang="en-IN" smtClean="0"/>
              <a:t>06-08-2024</a:t>
            </a:fld>
            <a:endParaRPr lang="en-IN"/>
          </a:p>
        </p:txBody>
      </p:sp>
      <p:sp>
        <p:nvSpPr>
          <p:cNvPr id="6" name="Footer Placeholder 5"/>
          <p:cNvSpPr>
            <a:spLocks noGrp="1"/>
          </p:cNvSpPr>
          <p:nvPr>
            <p:ph type="ftr" sz="quarter" idx="11"/>
          </p:nvPr>
        </p:nvSpPr>
        <p:spPr/>
        <p:txBody>
          <a:bodyPr/>
          <a:lstStyle/>
          <a:p>
            <a:r>
              <a:rPr lang="en-IN" smtClean="0"/>
              <a:t>Prof. Shweta Dhawan Chachra</a:t>
            </a:r>
            <a:endParaRPr lang="en-IN"/>
          </a:p>
        </p:txBody>
      </p:sp>
      <p:sp>
        <p:nvSpPr>
          <p:cNvPr id="7" name="Slide Number Placeholder 6"/>
          <p:cNvSpPr>
            <a:spLocks noGrp="1"/>
          </p:cNvSpPr>
          <p:nvPr>
            <p:ph type="sldNum" sz="quarter" idx="12"/>
          </p:nvPr>
        </p:nvSpPr>
        <p:spPr/>
        <p:txBody>
          <a:bodyPr/>
          <a:lstStyle/>
          <a:p>
            <a:fld id="{91FA414A-FC3B-4762-BF9B-190CEE0147BD}" type="slidenum">
              <a:rPr lang="en-IN" smtClean="0"/>
              <a:t>‹#›</a:t>
            </a:fld>
            <a:endParaRPr lang="en-IN"/>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B53C252-B4C6-4B80-A7C6-A0F8A5E8CFBF}" type="datetime1">
              <a:rPr lang="en-IN" smtClean="0"/>
              <a:t>06-08-2024</a:t>
            </a:fld>
            <a:endParaRPr lang="en-IN"/>
          </a:p>
        </p:txBody>
      </p:sp>
      <p:sp>
        <p:nvSpPr>
          <p:cNvPr id="8" name="Footer Placeholder 7"/>
          <p:cNvSpPr>
            <a:spLocks noGrp="1"/>
          </p:cNvSpPr>
          <p:nvPr>
            <p:ph type="ftr" sz="quarter" idx="11"/>
          </p:nvPr>
        </p:nvSpPr>
        <p:spPr/>
        <p:txBody>
          <a:bodyPr/>
          <a:lstStyle/>
          <a:p>
            <a:r>
              <a:rPr lang="en-IN" smtClean="0"/>
              <a:t>Prof. Shweta Dhawan Chachra</a:t>
            </a:r>
            <a:endParaRPr lang="en-IN"/>
          </a:p>
        </p:txBody>
      </p:sp>
      <p:sp>
        <p:nvSpPr>
          <p:cNvPr id="9" name="Slide Number Placeholder 8"/>
          <p:cNvSpPr>
            <a:spLocks noGrp="1"/>
          </p:cNvSpPr>
          <p:nvPr>
            <p:ph type="sldNum" sz="quarter" idx="12"/>
          </p:nvPr>
        </p:nvSpPr>
        <p:spPr/>
        <p:txBody>
          <a:bodyPr/>
          <a:lstStyle/>
          <a:p>
            <a:fld id="{91FA414A-FC3B-4762-BF9B-190CEE0147B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4CD5840-6C4A-4771-B9C7-618D2B46E620}" type="datetime1">
              <a:rPr lang="en-IN" smtClean="0"/>
              <a:t>06-08-2024</a:t>
            </a:fld>
            <a:endParaRPr lang="en-IN"/>
          </a:p>
        </p:txBody>
      </p:sp>
      <p:sp>
        <p:nvSpPr>
          <p:cNvPr id="4" name="Footer Placeholder 3"/>
          <p:cNvSpPr>
            <a:spLocks noGrp="1"/>
          </p:cNvSpPr>
          <p:nvPr>
            <p:ph type="ftr" sz="quarter" idx="11"/>
          </p:nvPr>
        </p:nvSpPr>
        <p:spPr/>
        <p:txBody>
          <a:bodyPr/>
          <a:lstStyle/>
          <a:p>
            <a:r>
              <a:rPr lang="en-IN" smtClean="0"/>
              <a:t>Prof. Shweta Dhawan Chachra</a:t>
            </a:r>
            <a:endParaRPr lang="en-IN"/>
          </a:p>
        </p:txBody>
      </p:sp>
      <p:sp>
        <p:nvSpPr>
          <p:cNvPr id="5" name="Slide Number Placeholder 4"/>
          <p:cNvSpPr>
            <a:spLocks noGrp="1"/>
          </p:cNvSpPr>
          <p:nvPr>
            <p:ph type="sldNum" sz="quarter" idx="12"/>
          </p:nvPr>
        </p:nvSpPr>
        <p:spPr/>
        <p:txBody>
          <a:bodyPr/>
          <a:lstStyle/>
          <a:p>
            <a:fld id="{91FA414A-FC3B-4762-BF9B-190CEE0147B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F2BD2C-5DB2-494E-981C-B10BE5E40CC5}" type="datetime1">
              <a:rPr lang="en-IN" smtClean="0"/>
              <a:t>06-08-2024</a:t>
            </a:fld>
            <a:endParaRPr lang="en-IN"/>
          </a:p>
        </p:txBody>
      </p:sp>
      <p:sp>
        <p:nvSpPr>
          <p:cNvPr id="3" name="Footer Placeholder 2"/>
          <p:cNvSpPr>
            <a:spLocks noGrp="1"/>
          </p:cNvSpPr>
          <p:nvPr>
            <p:ph type="ftr" sz="quarter" idx="11"/>
          </p:nvPr>
        </p:nvSpPr>
        <p:spPr/>
        <p:txBody>
          <a:bodyPr/>
          <a:lstStyle/>
          <a:p>
            <a:r>
              <a:rPr lang="en-IN" smtClean="0"/>
              <a:t>Prof. Shweta Dhawan Chachra</a:t>
            </a:r>
            <a:endParaRPr lang="en-IN"/>
          </a:p>
        </p:txBody>
      </p:sp>
      <p:sp>
        <p:nvSpPr>
          <p:cNvPr id="4" name="Slide Number Placeholder 3"/>
          <p:cNvSpPr>
            <a:spLocks noGrp="1"/>
          </p:cNvSpPr>
          <p:nvPr>
            <p:ph type="sldNum" sz="quarter" idx="12"/>
          </p:nvPr>
        </p:nvSpPr>
        <p:spPr/>
        <p:txBody>
          <a:bodyPr/>
          <a:lstStyle/>
          <a:p>
            <a:fld id="{91FA414A-FC3B-4762-BF9B-190CEE0147B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EC59ECAB-E5C7-4C90-B613-0DC21AE0D3CA}" type="datetime1">
              <a:rPr lang="en-IN" smtClean="0"/>
              <a:t>06-08-2024</a:t>
            </a:fld>
            <a:endParaRPr lang="en-IN"/>
          </a:p>
        </p:txBody>
      </p:sp>
      <p:sp>
        <p:nvSpPr>
          <p:cNvPr id="7" name="Slide Number Placeholder 6"/>
          <p:cNvSpPr>
            <a:spLocks noGrp="1"/>
          </p:cNvSpPr>
          <p:nvPr>
            <p:ph type="sldNum" sz="quarter" idx="12"/>
          </p:nvPr>
        </p:nvSpPr>
        <p:spPr/>
        <p:txBody>
          <a:bodyPr/>
          <a:lstStyle/>
          <a:p>
            <a:fld id="{91FA414A-FC3B-4762-BF9B-190CEE0147BD}" type="slidenum">
              <a:rPr lang="en-IN" smtClean="0"/>
              <a:t>‹#›</a:t>
            </a:fld>
            <a:endParaRPr lang="en-IN"/>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r>
              <a:rPr lang="en-IN" smtClean="0"/>
              <a:t>Prof. Shweta Dhawan Chachra</a:t>
            </a:r>
            <a:endParaRPr lang="en-IN"/>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7B59D3E-3D4B-4645-ADC8-6ED9AA8E9426}" type="datetime1">
              <a:rPr lang="en-IN" smtClean="0"/>
              <a:t>06-08-2024</a:t>
            </a:fld>
            <a:endParaRPr lang="en-IN"/>
          </a:p>
        </p:txBody>
      </p:sp>
      <p:sp>
        <p:nvSpPr>
          <p:cNvPr id="6" name="Footer Placeholder 5"/>
          <p:cNvSpPr>
            <a:spLocks noGrp="1"/>
          </p:cNvSpPr>
          <p:nvPr>
            <p:ph type="ftr" sz="quarter" idx="11"/>
          </p:nvPr>
        </p:nvSpPr>
        <p:spPr>
          <a:xfrm>
            <a:off x="4641448" y="5724835"/>
            <a:ext cx="3493664" cy="365125"/>
          </a:xfrm>
        </p:spPr>
        <p:txBody>
          <a:bodyPr>
            <a:normAutofit/>
          </a:bodyPr>
          <a:lstStyle/>
          <a:p>
            <a:r>
              <a:rPr lang="en-IN" smtClean="0"/>
              <a:t>Prof. Shweta Dhawan Chachra</a:t>
            </a:r>
            <a:endParaRPr lang="en-IN"/>
          </a:p>
        </p:txBody>
      </p:sp>
      <p:sp>
        <p:nvSpPr>
          <p:cNvPr id="7" name="Slide Number Placeholder 6"/>
          <p:cNvSpPr>
            <a:spLocks noGrp="1"/>
          </p:cNvSpPr>
          <p:nvPr>
            <p:ph type="sldNum" sz="quarter" idx="12"/>
          </p:nvPr>
        </p:nvSpPr>
        <p:spPr/>
        <p:txBody>
          <a:bodyPr/>
          <a:lstStyle/>
          <a:p>
            <a:fld id="{91FA414A-FC3B-4762-BF9B-190CEE0147B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C693BA-3A86-4626-89C6-5B0C96168254}"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1C766D4-7012-43DD-A833-A21A99D153CF}"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AC0D2DF4-0F15-450E-9906-A0BD0FF9B9B5}" type="datetime1">
              <a:rPr lang="en-IN" smtClean="0"/>
              <a:t>06-08-2024</a:t>
            </a:fld>
            <a:endParaRPr lang="en-IN"/>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r>
              <a:rPr lang="en-IN" smtClean="0"/>
              <a:t>Prof. Shweta Dhawan Chachra</a:t>
            </a:r>
            <a:endParaRPr lang="en-IN"/>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91FA414A-FC3B-4762-BF9B-190CEE0147BD}"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customXml" Target="../ink/ink5.xml"/><Relationship Id="rId13" Type="http://schemas.openxmlformats.org/officeDocument/2006/relationships/image" Target="../media/image11.emf"/><Relationship Id="rId18" Type="http://schemas.openxmlformats.org/officeDocument/2006/relationships/customXml" Target="../ink/ink10.xml"/><Relationship Id="rId3" Type="http://schemas.openxmlformats.org/officeDocument/2006/relationships/image" Target="../media/image6.emf"/><Relationship Id="rId7" Type="http://schemas.openxmlformats.org/officeDocument/2006/relationships/image" Target="../media/image8.emf"/><Relationship Id="rId12" Type="http://schemas.openxmlformats.org/officeDocument/2006/relationships/customXml" Target="../ink/ink7.xml"/><Relationship Id="rId17" Type="http://schemas.openxmlformats.org/officeDocument/2006/relationships/image" Target="../media/image13.emf"/><Relationship Id="rId2" Type="http://schemas.openxmlformats.org/officeDocument/2006/relationships/customXml" Target="../ink/ink2.xml"/><Relationship Id="rId16"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customXml" Target="../ink/ink4.xml"/><Relationship Id="rId11" Type="http://schemas.openxmlformats.org/officeDocument/2006/relationships/image" Target="../media/image10.emf"/><Relationship Id="rId5" Type="http://schemas.openxmlformats.org/officeDocument/2006/relationships/image" Target="../media/image7.emf"/><Relationship Id="rId15" Type="http://schemas.openxmlformats.org/officeDocument/2006/relationships/image" Target="../media/image12.emf"/><Relationship Id="rId10" Type="http://schemas.openxmlformats.org/officeDocument/2006/relationships/customXml" Target="../ink/ink6.xml"/><Relationship Id="rId19" Type="http://schemas.openxmlformats.org/officeDocument/2006/relationships/image" Target="../media/image14.emf"/><Relationship Id="rId4" Type="http://schemas.openxmlformats.org/officeDocument/2006/relationships/customXml" Target="../ink/ink3.xml"/><Relationship Id="rId9" Type="http://schemas.openxmlformats.org/officeDocument/2006/relationships/image" Target="../media/image9.emf"/><Relationship Id="rId14" Type="http://schemas.openxmlformats.org/officeDocument/2006/relationships/customXml" Target="../ink/ink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FCP/material/structures.docx"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Module 2.0</a:t>
            </a:r>
            <a:endParaRPr lang="en-IN" dirty="0"/>
          </a:p>
        </p:txBody>
      </p:sp>
      <p:sp>
        <p:nvSpPr>
          <p:cNvPr id="3" name="Subtitle 2"/>
          <p:cNvSpPr>
            <a:spLocks noGrp="1"/>
          </p:cNvSpPr>
          <p:nvPr>
            <p:ph type="subTitle" idx="1"/>
          </p:nvPr>
        </p:nvSpPr>
        <p:spPr/>
        <p:txBody>
          <a:bodyPr/>
          <a:lstStyle/>
          <a:p>
            <a:r>
              <a:rPr lang="en-IN" dirty="0" smtClean="0"/>
              <a:t>Linear Data Structure: Linked List</a:t>
            </a:r>
            <a:endParaRPr lang="en-IN" dirty="0"/>
          </a:p>
        </p:txBody>
      </p:sp>
    </p:spTree>
    <p:extLst>
      <p:ext uri="{BB962C8B-B14F-4D97-AF65-F5344CB8AC3E}">
        <p14:creationId xmlns:p14="http://schemas.microsoft.com/office/powerpoint/2010/main" val="27928077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N" dirty="0" smtClean="0"/>
              <a:t>Memory Allocation &amp; Deallocation for Linked List</a:t>
            </a:r>
            <a:endParaRPr lang="en-IN" dirty="0"/>
          </a:p>
        </p:txBody>
      </p:sp>
    </p:spTree>
    <p:extLst>
      <p:ext uri="{BB962C8B-B14F-4D97-AF65-F5344CB8AC3E}">
        <p14:creationId xmlns:p14="http://schemas.microsoft.com/office/powerpoint/2010/main" val="8639019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rmAutofit fontScale="90000"/>
          </a:bodyPr>
          <a:lstStyle/>
          <a:p>
            <a:r>
              <a:rPr lang="en-IN" dirty="0" smtClean="0"/>
              <a:t>Memory Allocation</a:t>
            </a:r>
            <a:endParaRPr lang="en-IN" dirty="0"/>
          </a:p>
        </p:txBody>
      </p:sp>
      <p:sp>
        <p:nvSpPr>
          <p:cNvPr id="3" name="Content Placeholder 2"/>
          <p:cNvSpPr>
            <a:spLocks noGrp="1"/>
          </p:cNvSpPr>
          <p:nvPr>
            <p:ph idx="1"/>
          </p:nvPr>
        </p:nvSpPr>
        <p:spPr>
          <a:xfrm>
            <a:off x="899592" y="1340768"/>
            <a:ext cx="6777317" cy="3508977"/>
          </a:xfrm>
        </p:spPr>
        <p:txBody>
          <a:bodyPr>
            <a:normAutofit/>
          </a:bodyPr>
          <a:lstStyle/>
          <a:p>
            <a:pPr marL="68580" indent="0">
              <a:buNone/>
            </a:pPr>
            <a:r>
              <a:rPr lang="en-IN" sz="2000" dirty="0" smtClean="0"/>
              <a:t>There are two types of Memory Allocation</a:t>
            </a:r>
          </a:p>
          <a:p>
            <a:pPr marL="68580" indent="0">
              <a:buNone/>
            </a:pPr>
            <a:endParaRPr lang="en-IN" sz="2000" dirty="0" smtClean="0"/>
          </a:p>
          <a:p>
            <a:r>
              <a:rPr lang="en-IN" sz="2000" b="1" dirty="0" smtClean="0"/>
              <a:t>Compile Time or Static Allocation</a:t>
            </a:r>
          </a:p>
          <a:p>
            <a:r>
              <a:rPr lang="en-IN" sz="2000" b="1" dirty="0" smtClean="0"/>
              <a:t>Runtime or Dynamic Allocation</a:t>
            </a:r>
          </a:p>
          <a:p>
            <a:endParaRPr lang="en-IN" sz="2000" dirty="0"/>
          </a:p>
        </p:txBody>
      </p:sp>
      <p:sp>
        <p:nvSpPr>
          <p:cNvPr id="4" name="Date Placeholder 3"/>
          <p:cNvSpPr>
            <a:spLocks noGrp="1"/>
          </p:cNvSpPr>
          <p:nvPr>
            <p:ph type="dt" sz="half" idx="10"/>
          </p:nvPr>
        </p:nvSpPr>
        <p:spPr/>
        <p:txBody>
          <a:bodyPr/>
          <a:lstStyle/>
          <a:p>
            <a:fld id="{0095BE4C-2455-4E2A-8913-D293A53E74B7}"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3</a:t>
            </a:fld>
            <a:endParaRPr lang="en-IN"/>
          </a:p>
        </p:txBody>
      </p:sp>
    </p:spTree>
    <p:extLst>
      <p:ext uri="{BB962C8B-B14F-4D97-AF65-F5344CB8AC3E}">
        <p14:creationId xmlns:p14="http://schemas.microsoft.com/office/powerpoint/2010/main" val="27511718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a:t>Compile Time or Static Allocation</a:t>
            </a:r>
          </a:p>
        </p:txBody>
      </p:sp>
      <p:sp>
        <p:nvSpPr>
          <p:cNvPr id="3" name="Content Placeholder 2"/>
          <p:cNvSpPr>
            <a:spLocks noGrp="1"/>
          </p:cNvSpPr>
          <p:nvPr>
            <p:ph idx="1"/>
          </p:nvPr>
        </p:nvSpPr>
        <p:spPr>
          <a:xfrm>
            <a:off x="899592" y="1340768"/>
            <a:ext cx="6777317" cy="4752528"/>
          </a:xfrm>
        </p:spPr>
        <p:txBody>
          <a:bodyPr>
            <a:normAutofit/>
          </a:bodyPr>
          <a:lstStyle/>
          <a:p>
            <a:r>
              <a:rPr lang="en-IN" sz="2000" dirty="0" smtClean="0"/>
              <a:t>Memory allocated to the program element </a:t>
            </a:r>
          </a:p>
          <a:p>
            <a:pPr lvl="1"/>
            <a:r>
              <a:rPr lang="en-IN" sz="1800" b="1" dirty="0" smtClean="0"/>
              <a:t>at the start of the program.</a:t>
            </a:r>
          </a:p>
          <a:p>
            <a:endParaRPr lang="en-US" sz="2000" dirty="0" smtClean="0"/>
          </a:p>
          <a:p>
            <a:r>
              <a:rPr lang="en-US" sz="2000" b="1" dirty="0" smtClean="0">
                <a:solidFill>
                  <a:srgbClr val="FF0000"/>
                </a:solidFill>
              </a:rPr>
              <a:t>Static </a:t>
            </a:r>
            <a:r>
              <a:rPr lang="en-US" sz="2000" b="1" dirty="0">
                <a:solidFill>
                  <a:srgbClr val="FF0000"/>
                </a:solidFill>
              </a:rPr>
              <a:t>Memory is allocated for declared variables by the compiler</a:t>
            </a:r>
            <a:endParaRPr lang="en-IN" sz="2000" b="1" dirty="0" smtClean="0">
              <a:solidFill>
                <a:srgbClr val="FF0000"/>
              </a:solidFill>
            </a:endParaRPr>
          </a:p>
          <a:p>
            <a:endParaRPr lang="en-IN" sz="2000" dirty="0" smtClean="0"/>
          </a:p>
          <a:p>
            <a:r>
              <a:rPr lang="en-IN" sz="2000" dirty="0" smtClean="0"/>
              <a:t>Memory allocated </a:t>
            </a:r>
          </a:p>
          <a:p>
            <a:pPr lvl="1"/>
            <a:r>
              <a:rPr lang="en-IN" sz="1800" b="1" dirty="0" smtClean="0"/>
              <a:t>is fixed and determined by the compiler at compile time.</a:t>
            </a:r>
          </a:p>
          <a:p>
            <a:endParaRPr lang="en-IN" sz="2000" b="1" dirty="0" smtClean="0"/>
          </a:p>
          <a:p>
            <a:r>
              <a:rPr lang="en-IN" sz="2000" b="1" dirty="0" err="1" smtClean="0"/>
              <a:t>Eg</a:t>
            </a:r>
            <a:r>
              <a:rPr lang="en-IN" sz="2000" b="1" dirty="0" smtClean="0"/>
              <a:t>- float a[5] , </a:t>
            </a:r>
          </a:p>
          <a:p>
            <a:pPr marL="68580" indent="0">
              <a:buNone/>
            </a:pPr>
            <a:r>
              <a:rPr lang="en-IN" sz="2000" dirty="0" smtClean="0"/>
              <a:t>allocation of 20 bytes to the array, i.e. 5*4</a:t>
            </a:r>
            <a:r>
              <a:rPr lang="en-IN" sz="2000" dirty="0"/>
              <a:t> </a:t>
            </a:r>
            <a:r>
              <a:rPr lang="en-IN" sz="2000" dirty="0" smtClean="0"/>
              <a:t>bytes</a:t>
            </a:r>
          </a:p>
        </p:txBody>
      </p:sp>
      <p:sp>
        <p:nvSpPr>
          <p:cNvPr id="4" name="Date Placeholder 3"/>
          <p:cNvSpPr>
            <a:spLocks noGrp="1"/>
          </p:cNvSpPr>
          <p:nvPr>
            <p:ph type="dt" sz="half" idx="10"/>
          </p:nvPr>
        </p:nvSpPr>
        <p:spPr/>
        <p:txBody>
          <a:bodyPr/>
          <a:lstStyle/>
          <a:p>
            <a:fld id="{80D1BA5B-385B-4403-81D3-910AA8FEA0C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a:t>
            </a:fld>
            <a:endParaRPr lang="en-IN"/>
          </a:p>
        </p:txBody>
      </p:sp>
    </p:spTree>
    <p:extLst>
      <p:ext uri="{BB962C8B-B14F-4D97-AF65-F5344CB8AC3E}">
        <p14:creationId xmlns:p14="http://schemas.microsoft.com/office/powerpoint/2010/main" val="22109697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a:t>Compile Time or Static Allocation</a:t>
            </a:r>
          </a:p>
        </p:txBody>
      </p:sp>
      <p:sp>
        <p:nvSpPr>
          <p:cNvPr id="3" name="Content Placeholder 2"/>
          <p:cNvSpPr>
            <a:spLocks noGrp="1"/>
          </p:cNvSpPr>
          <p:nvPr>
            <p:ph idx="1"/>
          </p:nvPr>
        </p:nvSpPr>
        <p:spPr>
          <a:xfrm>
            <a:off x="899592" y="1340768"/>
            <a:ext cx="6777317" cy="4752528"/>
          </a:xfrm>
        </p:spPr>
        <p:txBody>
          <a:bodyPr>
            <a:noAutofit/>
          </a:bodyPr>
          <a:lstStyle/>
          <a:p>
            <a:r>
              <a:rPr lang="en-IN" sz="1800" b="1" dirty="0" smtClean="0"/>
              <a:t>Inefficient Use of Memory-</a:t>
            </a:r>
          </a:p>
          <a:p>
            <a:pPr lvl="1"/>
            <a:r>
              <a:rPr lang="en-IN" sz="1800" b="1" dirty="0" smtClean="0"/>
              <a:t>Can cause under utilization of memory in case of over allocation</a:t>
            </a:r>
          </a:p>
          <a:p>
            <a:pPr lvl="2"/>
            <a:r>
              <a:rPr lang="en-IN" sz="1800" dirty="0" smtClean="0"/>
              <a:t>That is if you store less number of elements than the number for elements which which you have declared memory.</a:t>
            </a:r>
          </a:p>
          <a:p>
            <a:pPr lvl="2"/>
            <a:r>
              <a:rPr lang="en-IN" sz="1800" dirty="0" smtClean="0"/>
              <a:t>Rest of the memory is wasted, as it is not available to other applications.</a:t>
            </a:r>
          </a:p>
        </p:txBody>
      </p:sp>
      <p:sp>
        <p:nvSpPr>
          <p:cNvPr id="4" name="Date Placeholder 3"/>
          <p:cNvSpPr>
            <a:spLocks noGrp="1"/>
          </p:cNvSpPr>
          <p:nvPr>
            <p:ph type="dt" sz="half" idx="10"/>
          </p:nvPr>
        </p:nvSpPr>
        <p:spPr/>
        <p:txBody>
          <a:bodyPr/>
          <a:lstStyle/>
          <a:p>
            <a:fld id="{1AFF805E-AFF0-4154-8886-6A34F22C60B2}"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5</a:t>
            </a:fld>
            <a:endParaRPr lang="en-IN"/>
          </a:p>
        </p:txBody>
      </p:sp>
      <mc:AlternateContent xmlns:mc="http://schemas.openxmlformats.org/markup-compatibility/2006" xmlns:p14="http://schemas.microsoft.com/office/powerpoint/2010/main">
        <mc:Choice Requires="p14">
          <p:contentPart p14:bwMode="auto" r:id="rId2">
            <p14:nvContentPartPr>
              <p14:cNvPr id="7" name="Ink 6"/>
              <p14:cNvContentPartPr/>
              <p14:nvPr/>
            </p14:nvContentPartPr>
            <p14:xfrm>
              <a:off x="1943280" y="3625920"/>
              <a:ext cx="6210720" cy="2267280"/>
            </p14:xfrm>
          </p:contentPart>
        </mc:Choice>
        <mc:Fallback xmlns="">
          <p:pic>
            <p:nvPicPr>
              <p:cNvPr id="7" name="Ink 6"/>
              <p:cNvPicPr/>
              <p:nvPr/>
            </p:nvPicPr>
            <p:blipFill>
              <a:blip r:embed="rId3"/>
              <a:stretch>
                <a:fillRect/>
              </a:stretch>
            </p:blipFill>
            <p:spPr>
              <a:xfrm>
                <a:off x="1933920" y="3616560"/>
                <a:ext cx="6229440" cy="2286000"/>
              </a:xfrm>
              <a:prstGeom prst="rect">
                <a:avLst/>
              </a:prstGeom>
            </p:spPr>
          </p:pic>
        </mc:Fallback>
      </mc:AlternateContent>
    </p:spTree>
    <p:extLst>
      <p:ext uri="{BB962C8B-B14F-4D97-AF65-F5344CB8AC3E}">
        <p14:creationId xmlns:p14="http://schemas.microsoft.com/office/powerpoint/2010/main" val="41392532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a:t>Compile Time or Static Allocation</a:t>
            </a:r>
          </a:p>
        </p:txBody>
      </p:sp>
      <p:sp>
        <p:nvSpPr>
          <p:cNvPr id="3" name="Content Placeholder 2"/>
          <p:cNvSpPr>
            <a:spLocks noGrp="1"/>
          </p:cNvSpPr>
          <p:nvPr>
            <p:ph idx="1"/>
          </p:nvPr>
        </p:nvSpPr>
        <p:spPr>
          <a:xfrm>
            <a:off x="899592" y="1340768"/>
            <a:ext cx="6777317" cy="4752528"/>
          </a:xfrm>
        </p:spPr>
        <p:txBody>
          <a:bodyPr>
            <a:noAutofit/>
          </a:bodyPr>
          <a:lstStyle/>
          <a:p>
            <a:r>
              <a:rPr lang="en-IN" sz="1800" b="1" dirty="0" smtClean="0"/>
              <a:t>Inefficient Use of Memory-</a:t>
            </a:r>
          </a:p>
          <a:p>
            <a:pPr lvl="1"/>
            <a:r>
              <a:rPr lang="en-IN" sz="1800" b="1" dirty="0" smtClean="0"/>
              <a:t>Can cause Overflow in case of under allocation	</a:t>
            </a:r>
          </a:p>
        </p:txBody>
      </p:sp>
      <p:sp>
        <p:nvSpPr>
          <p:cNvPr id="4" name="Date Placeholder 3"/>
          <p:cNvSpPr>
            <a:spLocks noGrp="1"/>
          </p:cNvSpPr>
          <p:nvPr>
            <p:ph type="dt" sz="half" idx="10"/>
          </p:nvPr>
        </p:nvSpPr>
        <p:spPr/>
        <p:txBody>
          <a:bodyPr/>
          <a:lstStyle/>
          <a:p>
            <a:fld id="{1AFF805E-AFF0-4154-8886-6A34F22C60B2}"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a:t>
            </a:fld>
            <a:endParaRPr lang="en-IN"/>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060848"/>
            <a:ext cx="6912768" cy="3794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05501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a:t>Compile Time or Static Allocation</a:t>
            </a:r>
          </a:p>
        </p:txBody>
      </p:sp>
      <p:sp>
        <p:nvSpPr>
          <p:cNvPr id="3" name="Content Placeholder 2"/>
          <p:cNvSpPr>
            <a:spLocks noGrp="1"/>
          </p:cNvSpPr>
          <p:nvPr>
            <p:ph idx="1"/>
          </p:nvPr>
        </p:nvSpPr>
        <p:spPr>
          <a:xfrm>
            <a:off x="899592" y="1340768"/>
            <a:ext cx="6777317" cy="4752528"/>
          </a:xfrm>
        </p:spPr>
        <p:txBody>
          <a:bodyPr>
            <a:noAutofit/>
          </a:bodyPr>
          <a:lstStyle/>
          <a:p>
            <a:r>
              <a:rPr lang="en-IN" sz="1800" b="1" dirty="0" smtClean="0"/>
              <a:t>Garbage Values on Re runs</a:t>
            </a:r>
          </a:p>
        </p:txBody>
      </p:sp>
      <p:sp>
        <p:nvSpPr>
          <p:cNvPr id="4" name="Date Placeholder 3"/>
          <p:cNvSpPr>
            <a:spLocks noGrp="1"/>
          </p:cNvSpPr>
          <p:nvPr>
            <p:ph type="dt" sz="half" idx="10"/>
          </p:nvPr>
        </p:nvSpPr>
        <p:spPr/>
        <p:txBody>
          <a:bodyPr/>
          <a:lstStyle/>
          <a:p>
            <a:fld id="{1AFF805E-AFF0-4154-8886-6A34F22C60B2}"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a:t>
            </a:fld>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894157"/>
            <a:ext cx="7056784" cy="3983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30192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a:t>Compile Time or Static Allocation</a:t>
            </a:r>
          </a:p>
        </p:txBody>
      </p:sp>
      <p:sp>
        <p:nvSpPr>
          <p:cNvPr id="3" name="Content Placeholder 2"/>
          <p:cNvSpPr>
            <a:spLocks noGrp="1"/>
          </p:cNvSpPr>
          <p:nvPr>
            <p:ph idx="1"/>
          </p:nvPr>
        </p:nvSpPr>
        <p:spPr>
          <a:xfrm>
            <a:off x="899592" y="1340768"/>
            <a:ext cx="6777317" cy="4752528"/>
          </a:xfrm>
        </p:spPr>
        <p:txBody>
          <a:bodyPr>
            <a:noAutofit/>
          </a:bodyPr>
          <a:lstStyle/>
          <a:p>
            <a:r>
              <a:rPr lang="en-IN" sz="1800" b="1" dirty="0" smtClean="0"/>
              <a:t>Inefficient Use of Memory-</a:t>
            </a:r>
          </a:p>
          <a:p>
            <a:pPr lvl="1"/>
            <a:r>
              <a:rPr lang="en-IN" sz="1800" b="1" dirty="0" smtClean="0"/>
              <a:t>Can cause Overflow in case of under allocation	</a:t>
            </a:r>
          </a:p>
          <a:p>
            <a:pPr lvl="2"/>
            <a:r>
              <a:rPr lang="en-IN" sz="1800" dirty="0" smtClean="0"/>
              <a:t>For float a[5];</a:t>
            </a:r>
          </a:p>
          <a:p>
            <a:pPr lvl="2"/>
            <a:r>
              <a:rPr lang="en-IN" sz="1800" dirty="0" smtClean="0"/>
              <a:t>No bound checking in C for array boundaries, if you are entering more than fives values, </a:t>
            </a:r>
          </a:p>
          <a:p>
            <a:pPr lvl="2"/>
            <a:r>
              <a:rPr lang="en-IN" sz="1800" dirty="0" smtClean="0"/>
              <a:t>It will  not give error but when these extra element will be accessed, the values will not be available.</a:t>
            </a:r>
          </a:p>
          <a:p>
            <a:endParaRPr lang="en-IN" sz="1800" b="1" dirty="0" smtClean="0"/>
          </a:p>
        </p:txBody>
      </p:sp>
      <p:sp>
        <p:nvSpPr>
          <p:cNvPr id="4" name="Date Placeholder 3"/>
          <p:cNvSpPr>
            <a:spLocks noGrp="1"/>
          </p:cNvSpPr>
          <p:nvPr>
            <p:ph type="dt" sz="half" idx="10"/>
          </p:nvPr>
        </p:nvSpPr>
        <p:spPr/>
        <p:txBody>
          <a:bodyPr/>
          <a:lstStyle/>
          <a:p>
            <a:fld id="{1AFF805E-AFF0-4154-8886-6A34F22C60B2}"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8</a:t>
            </a:fld>
            <a:endParaRPr lang="en-IN"/>
          </a:p>
        </p:txBody>
      </p:sp>
    </p:spTree>
    <p:extLst>
      <p:ext uri="{BB962C8B-B14F-4D97-AF65-F5344CB8AC3E}">
        <p14:creationId xmlns:p14="http://schemas.microsoft.com/office/powerpoint/2010/main" val="21279636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a:t>Compile Time or Static Allocation</a:t>
            </a:r>
          </a:p>
        </p:txBody>
      </p:sp>
      <p:sp>
        <p:nvSpPr>
          <p:cNvPr id="3" name="Content Placeholder 2"/>
          <p:cNvSpPr>
            <a:spLocks noGrp="1"/>
          </p:cNvSpPr>
          <p:nvPr>
            <p:ph idx="1"/>
          </p:nvPr>
        </p:nvSpPr>
        <p:spPr>
          <a:xfrm>
            <a:off x="899592" y="1340768"/>
            <a:ext cx="6777317" cy="4752528"/>
          </a:xfrm>
        </p:spPr>
        <p:txBody>
          <a:bodyPr>
            <a:normAutofit/>
          </a:bodyPr>
          <a:lstStyle/>
          <a:p>
            <a:pPr marL="68580" indent="0">
              <a:buNone/>
            </a:pPr>
            <a:endParaRPr lang="en-IN" sz="1800" b="1" dirty="0" smtClean="0"/>
          </a:p>
          <a:p>
            <a:r>
              <a:rPr lang="en-IN" sz="1800" b="1" dirty="0" smtClean="0"/>
              <a:t>No reusability of allocated memory </a:t>
            </a:r>
          </a:p>
          <a:p>
            <a:endParaRPr lang="en-IN" sz="1800" b="1" dirty="0" smtClean="0"/>
          </a:p>
          <a:p>
            <a:r>
              <a:rPr lang="en-IN" sz="1800" b="1" dirty="0" smtClean="0"/>
              <a:t>Difficult to guess the exact size of the data at the time of writing the program</a:t>
            </a:r>
          </a:p>
        </p:txBody>
      </p:sp>
      <p:sp>
        <p:nvSpPr>
          <p:cNvPr id="4" name="Date Placeholder 3"/>
          <p:cNvSpPr>
            <a:spLocks noGrp="1"/>
          </p:cNvSpPr>
          <p:nvPr>
            <p:ph type="dt" sz="half" idx="10"/>
          </p:nvPr>
        </p:nvSpPr>
        <p:spPr/>
        <p:txBody>
          <a:bodyPr/>
          <a:lstStyle/>
          <a:p>
            <a:fld id="{31BA2F3F-A17A-4B12-94A9-BDC03F155297}"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9</a:t>
            </a:fld>
            <a:endParaRPr lang="en-IN"/>
          </a:p>
        </p:txBody>
      </p:sp>
    </p:spTree>
    <p:extLst>
      <p:ext uri="{BB962C8B-B14F-4D97-AF65-F5344CB8AC3E}">
        <p14:creationId xmlns:p14="http://schemas.microsoft.com/office/powerpoint/2010/main" val="15461893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a:t>Runtime or Dynamic Allocation</a:t>
            </a:r>
          </a:p>
        </p:txBody>
      </p:sp>
      <p:sp>
        <p:nvSpPr>
          <p:cNvPr id="3" name="Content Placeholder 2"/>
          <p:cNvSpPr>
            <a:spLocks noGrp="1"/>
          </p:cNvSpPr>
          <p:nvPr>
            <p:ph idx="1"/>
          </p:nvPr>
        </p:nvSpPr>
        <p:spPr>
          <a:xfrm>
            <a:off x="899592" y="1340768"/>
            <a:ext cx="6777317" cy="4752528"/>
          </a:xfrm>
        </p:spPr>
        <p:txBody>
          <a:bodyPr>
            <a:normAutofit/>
          </a:bodyPr>
          <a:lstStyle/>
          <a:p>
            <a:r>
              <a:rPr lang="en-IN" sz="2000" b="1" dirty="0" smtClean="0"/>
              <a:t>All Linked Data Structures are preferably implemented through dynamic memory allocation.</a:t>
            </a:r>
          </a:p>
          <a:p>
            <a:endParaRPr lang="en-IN" sz="2000" dirty="0" smtClean="0"/>
          </a:p>
          <a:p>
            <a:r>
              <a:rPr lang="en-IN" sz="2000" dirty="0" smtClean="0"/>
              <a:t>Dynamic data structures provide flexibility in </a:t>
            </a:r>
            <a:r>
              <a:rPr lang="en-IN" sz="2000" b="1" dirty="0" smtClean="0"/>
              <a:t>adding, deleting or rearranging data objects at run time.</a:t>
            </a:r>
          </a:p>
          <a:p>
            <a:endParaRPr lang="en-IN" sz="2000" dirty="0" smtClean="0"/>
          </a:p>
          <a:p>
            <a:r>
              <a:rPr lang="en-IN" sz="2000" dirty="0" smtClean="0"/>
              <a:t>Managed in C through a set of library functions:</a:t>
            </a:r>
          </a:p>
          <a:p>
            <a:pPr lvl="1"/>
            <a:r>
              <a:rPr lang="en-IN" sz="1800" dirty="0" err="1"/>
              <a:t>m</a:t>
            </a:r>
            <a:r>
              <a:rPr lang="en-IN" sz="1800" dirty="0" err="1" smtClean="0"/>
              <a:t>alloc</a:t>
            </a:r>
            <a:r>
              <a:rPr lang="en-IN" sz="1800" dirty="0" smtClean="0"/>
              <a:t>()</a:t>
            </a:r>
          </a:p>
          <a:p>
            <a:pPr lvl="1"/>
            <a:r>
              <a:rPr lang="en-IN" sz="1800" dirty="0" err="1" smtClean="0"/>
              <a:t>Calloc</a:t>
            </a:r>
            <a:r>
              <a:rPr lang="en-IN" sz="1800" dirty="0" smtClean="0"/>
              <a:t>()</a:t>
            </a:r>
          </a:p>
          <a:p>
            <a:pPr lvl="1"/>
            <a:r>
              <a:rPr lang="en-IN" sz="1800" dirty="0" smtClean="0"/>
              <a:t>free()</a:t>
            </a:r>
          </a:p>
          <a:p>
            <a:pPr lvl="1"/>
            <a:r>
              <a:rPr lang="en-IN" sz="1800" dirty="0" err="1" smtClean="0"/>
              <a:t>Realloc</a:t>
            </a:r>
            <a:r>
              <a:rPr lang="en-IN" sz="1800" dirty="0" smtClean="0"/>
              <a:t>()</a:t>
            </a:r>
          </a:p>
        </p:txBody>
      </p:sp>
      <p:sp>
        <p:nvSpPr>
          <p:cNvPr id="4" name="Date Placeholder 3"/>
          <p:cNvSpPr>
            <a:spLocks noGrp="1"/>
          </p:cNvSpPr>
          <p:nvPr>
            <p:ph type="dt" sz="half" idx="10"/>
          </p:nvPr>
        </p:nvSpPr>
        <p:spPr/>
        <p:txBody>
          <a:bodyPr/>
          <a:lstStyle/>
          <a:p>
            <a:fld id="{FE9F6BCB-A070-4601-B273-E939969686C2}"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10</a:t>
            </a:fld>
            <a:endParaRPr lang="en-IN"/>
          </a:p>
        </p:txBody>
      </p:sp>
    </p:spTree>
    <p:extLst>
      <p:ext uri="{BB962C8B-B14F-4D97-AF65-F5344CB8AC3E}">
        <p14:creationId xmlns:p14="http://schemas.microsoft.com/office/powerpoint/2010/main" val="21790940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a:t>Runtime or Dynamic Allocation</a:t>
            </a:r>
          </a:p>
        </p:txBody>
      </p:sp>
      <p:sp>
        <p:nvSpPr>
          <p:cNvPr id="3" name="Content Placeholder 2"/>
          <p:cNvSpPr>
            <a:spLocks noGrp="1"/>
          </p:cNvSpPr>
          <p:nvPr>
            <p:ph idx="1"/>
          </p:nvPr>
        </p:nvSpPr>
        <p:spPr>
          <a:xfrm>
            <a:off x="899592" y="1340768"/>
            <a:ext cx="6777317" cy="4752528"/>
          </a:xfrm>
        </p:spPr>
        <p:txBody>
          <a:bodyPr>
            <a:normAutofit/>
          </a:bodyPr>
          <a:lstStyle/>
          <a:p>
            <a:r>
              <a:rPr lang="en-US" sz="2000" b="1" dirty="0">
                <a:solidFill>
                  <a:srgbClr val="FF0000"/>
                </a:solidFill>
              </a:rPr>
              <a:t>Memory allocation done at the time of execution(run time</a:t>
            </a:r>
            <a:r>
              <a:rPr lang="en-US" sz="2000" b="1" dirty="0" smtClean="0">
                <a:solidFill>
                  <a:srgbClr val="FF0000"/>
                </a:solidFill>
              </a:rPr>
              <a:t>)</a:t>
            </a:r>
          </a:p>
          <a:p>
            <a:endParaRPr lang="en-IN" sz="2000" dirty="0" smtClean="0"/>
          </a:p>
          <a:p>
            <a:r>
              <a:rPr lang="en-IN" sz="2000" dirty="0" smtClean="0"/>
              <a:t>Memory space required by Variables is </a:t>
            </a:r>
            <a:r>
              <a:rPr lang="en-IN" sz="2000" b="1" dirty="0" smtClean="0"/>
              <a:t>calculated and allocated during execution</a:t>
            </a:r>
          </a:p>
          <a:p>
            <a:endParaRPr lang="en-IN" sz="2000" dirty="0" smtClean="0"/>
          </a:p>
          <a:p>
            <a:r>
              <a:rPr lang="en-IN" sz="2000" dirty="0" smtClean="0"/>
              <a:t>Get Required chunk of memory at Run time or As the need arises</a:t>
            </a:r>
          </a:p>
          <a:p>
            <a:endParaRPr lang="en-IN" sz="2000" dirty="0" smtClean="0"/>
          </a:p>
          <a:p>
            <a:r>
              <a:rPr lang="en-IN" sz="2000" dirty="0" smtClean="0"/>
              <a:t>Best Suited –</a:t>
            </a:r>
          </a:p>
          <a:p>
            <a:pPr lvl="1"/>
            <a:r>
              <a:rPr lang="en-IN" sz="1800" b="1" dirty="0" smtClean="0"/>
              <a:t>When we do not know the memory requirement in advance</a:t>
            </a:r>
            <a:r>
              <a:rPr lang="en-IN" sz="1800" dirty="0" smtClean="0"/>
              <a:t>, which is the case in most of the real life problems.</a:t>
            </a:r>
          </a:p>
          <a:p>
            <a:endParaRPr lang="en-IN" sz="2000" dirty="0" smtClean="0"/>
          </a:p>
          <a:p>
            <a:pPr lvl="1"/>
            <a:endParaRPr lang="en-IN" sz="1800" dirty="0" smtClean="0"/>
          </a:p>
          <a:p>
            <a:endParaRPr lang="en-IN" sz="2000" dirty="0" smtClean="0"/>
          </a:p>
        </p:txBody>
      </p:sp>
      <p:sp>
        <p:nvSpPr>
          <p:cNvPr id="4" name="Date Placeholder 3"/>
          <p:cNvSpPr>
            <a:spLocks noGrp="1"/>
          </p:cNvSpPr>
          <p:nvPr>
            <p:ph type="dt" sz="half" idx="10"/>
          </p:nvPr>
        </p:nvSpPr>
        <p:spPr/>
        <p:txBody>
          <a:bodyPr/>
          <a:lstStyle/>
          <a:p>
            <a:fld id="{D7480AED-D6DB-4D03-B292-0D45B1572C61}"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11</a:t>
            </a:fld>
            <a:endParaRPr lang="en-IN"/>
          </a:p>
        </p:txBody>
      </p:sp>
    </p:spTree>
    <p:extLst>
      <p:ext uri="{BB962C8B-B14F-4D97-AF65-F5344CB8AC3E}">
        <p14:creationId xmlns:p14="http://schemas.microsoft.com/office/powerpoint/2010/main" val="11397084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a:t>Runtime or Dynamic Allocation</a:t>
            </a:r>
          </a:p>
        </p:txBody>
      </p:sp>
      <p:sp>
        <p:nvSpPr>
          <p:cNvPr id="3" name="Content Placeholder 2"/>
          <p:cNvSpPr>
            <a:spLocks noGrp="1"/>
          </p:cNvSpPr>
          <p:nvPr>
            <p:ph idx="1"/>
          </p:nvPr>
        </p:nvSpPr>
        <p:spPr>
          <a:xfrm>
            <a:off x="899592" y="1340768"/>
            <a:ext cx="6777317" cy="4752528"/>
          </a:xfrm>
        </p:spPr>
        <p:txBody>
          <a:bodyPr>
            <a:normAutofit/>
          </a:bodyPr>
          <a:lstStyle/>
          <a:p>
            <a:r>
              <a:rPr lang="en-IN" sz="2000" b="1" dirty="0" smtClean="0"/>
              <a:t>Efficient use of Memory</a:t>
            </a:r>
          </a:p>
          <a:p>
            <a:pPr lvl="1"/>
            <a:r>
              <a:rPr lang="en-IN" sz="1800" dirty="0" smtClean="0"/>
              <a:t>Additional Space can be allocated at run time.</a:t>
            </a:r>
          </a:p>
          <a:p>
            <a:pPr lvl="1"/>
            <a:r>
              <a:rPr lang="en-IN" sz="1800" dirty="0" smtClean="0"/>
              <a:t>Unwanted Space can be released at run time.</a:t>
            </a:r>
          </a:p>
          <a:p>
            <a:endParaRPr lang="en-IN" sz="2000" b="1" dirty="0" smtClean="0"/>
          </a:p>
          <a:p>
            <a:r>
              <a:rPr lang="en-IN" sz="2000" b="1" dirty="0" smtClean="0"/>
              <a:t>Reusability </a:t>
            </a:r>
            <a:r>
              <a:rPr lang="en-IN" sz="2000" b="1" dirty="0"/>
              <a:t>of Memory space</a:t>
            </a:r>
          </a:p>
          <a:p>
            <a:pPr lvl="1"/>
            <a:endParaRPr lang="en-IN" sz="1800" dirty="0" smtClean="0"/>
          </a:p>
          <a:p>
            <a:endParaRPr lang="en-IN" sz="2000" dirty="0" smtClean="0"/>
          </a:p>
        </p:txBody>
      </p:sp>
      <p:sp>
        <p:nvSpPr>
          <p:cNvPr id="4" name="Date Placeholder 3"/>
          <p:cNvSpPr>
            <a:spLocks noGrp="1"/>
          </p:cNvSpPr>
          <p:nvPr>
            <p:ph type="dt" sz="half" idx="10"/>
          </p:nvPr>
        </p:nvSpPr>
        <p:spPr/>
        <p:txBody>
          <a:bodyPr/>
          <a:lstStyle/>
          <a:p>
            <a:fld id="{D7480AED-D6DB-4D03-B292-0D45B1572C61}"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12</a:t>
            </a:fld>
            <a:endParaRPr lang="en-IN"/>
          </a:p>
        </p:txBody>
      </p:sp>
      <mc:AlternateContent xmlns:mc="http://schemas.openxmlformats.org/markup-compatibility/2006" xmlns:p14="http://schemas.microsoft.com/office/powerpoint/2010/main">
        <mc:Choice Requires="p14">
          <p:contentPart p14:bwMode="auto" r:id="rId2">
            <p14:nvContentPartPr>
              <p14:cNvPr id="7" name="Ink 6"/>
              <p14:cNvContentPartPr/>
              <p14:nvPr/>
            </p14:nvContentPartPr>
            <p14:xfrm>
              <a:off x="1625760" y="1765440"/>
              <a:ext cx="2768760" cy="203400"/>
            </p14:xfrm>
          </p:contentPart>
        </mc:Choice>
        <mc:Fallback xmlns="">
          <p:pic>
            <p:nvPicPr>
              <p:cNvPr id="7" name="Ink 6"/>
              <p:cNvPicPr/>
              <p:nvPr/>
            </p:nvPicPr>
            <p:blipFill>
              <a:blip r:embed="rId3"/>
              <a:stretch>
                <a:fillRect/>
              </a:stretch>
            </p:blipFill>
            <p:spPr>
              <a:xfrm>
                <a:off x="1609920" y="1701720"/>
                <a:ext cx="280080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p14:cNvContentPartPr/>
              <p14:nvPr/>
            </p14:nvContentPartPr>
            <p14:xfrm>
              <a:off x="1632240" y="2209680"/>
              <a:ext cx="2857680" cy="191160"/>
            </p14:xfrm>
          </p:contentPart>
        </mc:Choice>
        <mc:Fallback xmlns="">
          <p:pic>
            <p:nvPicPr>
              <p:cNvPr id="8" name="Ink 7"/>
              <p:cNvPicPr/>
              <p:nvPr/>
            </p:nvPicPr>
            <p:blipFill>
              <a:blip r:embed="rId5"/>
              <a:stretch>
                <a:fillRect/>
              </a:stretch>
            </p:blipFill>
            <p:spPr>
              <a:xfrm>
                <a:off x="1616040" y="2146320"/>
                <a:ext cx="288972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p14:cNvContentPartPr/>
              <p14:nvPr/>
            </p14:nvContentPartPr>
            <p14:xfrm>
              <a:off x="4515120" y="2216160"/>
              <a:ext cx="2318040" cy="57600"/>
            </p14:xfrm>
          </p:contentPart>
        </mc:Choice>
        <mc:Fallback xmlns="">
          <p:pic>
            <p:nvPicPr>
              <p:cNvPr id="9" name="Ink 8"/>
              <p:cNvPicPr/>
              <p:nvPr/>
            </p:nvPicPr>
            <p:blipFill>
              <a:blip r:embed="rId7"/>
              <a:stretch>
                <a:fillRect/>
              </a:stretch>
            </p:blipFill>
            <p:spPr>
              <a:xfrm>
                <a:off x="4498920" y="2152800"/>
                <a:ext cx="235008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p14:cNvContentPartPr/>
              <p14:nvPr/>
            </p14:nvContentPartPr>
            <p14:xfrm>
              <a:off x="4559400" y="1771560"/>
              <a:ext cx="2242080" cy="133920"/>
            </p14:xfrm>
          </p:contentPart>
        </mc:Choice>
        <mc:Fallback xmlns="">
          <p:pic>
            <p:nvPicPr>
              <p:cNvPr id="10" name="Ink 9"/>
              <p:cNvPicPr/>
              <p:nvPr/>
            </p:nvPicPr>
            <p:blipFill>
              <a:blip r:embed="rId9"/>
              <a:stretch>
                <a:fillRect/>
              </a:stretch>
            </p:blipFill>
            <p:spPr>
              <a:xfrm>
                <a:off x="4543560" y="1708200"/>
                <a:ext cx="227376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p14:cNvContentPartPr/>
              <p14:nvPr/>
            </p14:nvContentPartPr>
            <p14:xfrm>
              <a:off x="1454400" y="1517760"/>
              <a:ext cx="1498680" cy="133560"/>
            </p14:xfrm>
          </p:contentPart>
        </mc:Choice>
        <mc:Fallback xmlns="">
          <p:pic>
            <p:nvPicPr>
              <p:cNvPr id="11" name="Ink 10"/>
              <p:cNvPicPr/>
              <p:nvPr/>
            </p:nvPicPr>
            <p:blipFill>
              <a:blip r:embed="rId11"/>
              <a:stretch>
                <a:fillRect/>
              </a:stretch>
            </p:blipFill>
            <p:spPr>
              <a:xfrm>
                <a:off x="1438560" y="1454040"/>
                <a:ext cx="153072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p14:cNvContentPartPr/>
              <p14:nvPr/>
            </p14:nvContentPartPr>
            <p14:xfrm>
              <a:off x="1359000" y="2933640"/>
              <a:ext cx="3296160" cy="222840"/>
            </p14:xfrm>
          </p:contentPart>
        </mc:Choice>
        <mc:Fallback xmlns="">
          <p:pic>
            <p:nvPicPr>
              <p:cNvPr id="12" name="Ink 11"/>
              <p:cNvPicPr/>
              <p:nvPr/>
            </p:nvPicPr>
            <p:blipFill>
              <a:blip r:embed="rId13"/>
              <a:stretch>
                <a:fillRect/>
              </a:stretch>
            </p:blipFill>
            <p:spPr>
              <a:xfrm>
                <a:off x="1343160" y="2870280"/>
                <a:ext cx="332784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p14:cNvContentPartPr/>
              <p14:nvPr/>
            </p14:nvContentPartPr>
            <p14:xfrm>
              <a:off x="2286000" y="3219480"/>
              <a:ext cx="228960" cy="832320"/>
            </p14:xfrm>
          </p:contentPart>
        </mc:Choice>
        <mc:Fallback xmlns="">
          <p:pic>
            <p:nvPicPr>
              <p:cNvPr id="13" name="Ink 12"/>
              <p:cNvPicPr/>
              <p:nvPr/>
            </p:nvPicPr>
            <p:blipFill>
              <a:blip r:embed="rId15"/>
              <a:stretch>
                <a:fillRect/>
              </a:stretch>
            </p:blipFill>
            <p:spPr>
              <a:xfrm>
                <a:off x="2270160" y="3156120"/>
                <a:ext cx="260640" cy="959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p14:cNvContentPartPr/>
              <p14:nvPr/>
            </p14:nvContentPartPr>
            <p14:xfrm>
              <a:off x="2413080" y="3486240"/>
              <a:ext cx="527400" cy="25560"/>
            </p14:xfrm>
          </p:contentPart>
        </mc:Choice>
        <mc:Fallback xmlns="">
          <p:pic>
            <p:nvPicPr>
              <p:cNvPr id="14" name="Ink 13"/>
              <p:cNvPicPr/>
              <p:nvPr/>
            </p:nvPicPr>
            <p:blipFill>
              <a:blip r:embed="rId17"/>
              <a:stretch>
                <a:fillRect/>
              </a:stretch>
            </p:blipFill>
            <p:spPr>
              <a:xfrm>
                <a:off x="2397240" y="3422520"/>
                <a:ext cx="55908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 14"/>
              <p14:cNvContentPartPr/>
              <p14:nvPr/>
            </p14:nvContentPartPr>
            <p14:xfrm>
              <a:off x="2901960" y="3543480"/>
              <a:ext cx="1537200" cy="457560"/>
            </p14:xfrm>
          </p:contentPart>
        </mc:Choice>
        <mc:Fallback xmlns="">
          <p:pic>
            <p:nvPicPr>
              <p:cNvPr id="15" name="Ink 14"/>
              <p:cNvPicPr/>
              <p:nvPr/>
            </p:nvPicPr>
            <p:blipFill>
              <a:blip r:embed="rId19"/>
              <a:stretch>
                <a:fillRect/>
              </a:stretch>
            </p:blipFill>
            <p:spPr>
              <a:xfrm>
                <a:off x="2886120" y="3479760"/>
                <a:ext cx="1568880" cy="584640"/>
              </a:xfrm>
              <a:prstGeom prst="rect">
                <a:avLst/>
              </a:prstGeom>
            </p:spPr>
          </p:pic>
        </mc:Fallback>
      </mc:AlternateContent>
    </p:spTree>
    <p:extLst>
      <p:ext uri="{BB962C8B-B14F-4D97-AF65-F5344CB8AC3E}">
        <p14:creationId xmlns:p14="http://schemas.microsoft.com/office/powerpoint/2010/main" val="38021425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malloc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endParaRPr lang="en-IN" sz="2000" b="1" dirty="0" smtClean="0"/>
          </a:p>
          <a:p>
            <a:r>
              <a:rPr lang="en-IN" sz="2000" b="1" dirty="0" smtClean="0"/>
              <a:t>Allocates a block of memory in bytes</a:t>
            </a:r>
          </a:p>
          <a:p>
            <a:endParaRPr lang="en-IN" sz="2000" dirty="0" smtClean="0"/>
          </a:p>
          <a:p>
            <a:r>
              <a:rPr lang="en-IN" sz="2000" dirty="0" smtClean="0"/>
              <a:t>The user should </a:t>
            </a:r>
            <a:r>
              <a:rPr lang="en-IN" sz="2000" b="1" dirty="0" smtClean="0"/>
              <a:t>explicitly give the block size </a:t>
            </a:r>
            <a:r>
              <a:rPr lang="en-IN" sz="2000" dirty="0" smtClean="0"/>
              <a:t>needed.</a:t>
            </a:r>
          </a:p>
        </p:txBody>
      </p:sp>
      <p:sp>
        <p:nvSpPr>
          <p:cNvPr id="4" name="Date Placeholder 3"/>
          <p:cNvSpPr>
            <a:spLocks noGrp="1"/>
          </p:cNvSpPr>
          <p:nvPr>
            <p:ph type="dt" sz="half" idx="10"/>
          </p:nvPr>
        </p:nvSpPr>
        <p:spPr/>
        <p:txBody>
          <a:bodyPr/>
          <a:lstStyle/>
          <a:p>
            <a:fld id="{2932C704-4D77-4A77-AC61-525E9F64EAAF}"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13</a:t>
            </a:fld>
            <a:endParaRPr lang="en-IN"/>
          </a:p>
        </p:txBody>
      </p:sp>
    </p:spTree>
    <p:extLst>
      <p:ext uri="{BB962C8B-B14F-4D97-AF65-F5344CB8AC3E}">
        <p14:creationId xmlns:p14="http://schemas.microsoft.com/office/powerpoint/2010/main" val="4967671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malloc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endParaRPr lang="en-IN" sz="2000" b="1" dirty="0" smtClean="0"/>
          </a:p>
          <a:p>
            <a:r>
              <a:rPr lang="en-IN" sz="2000" b="1" dirty="0" smtClean="0"/>
              <a:t>Request to the RAM of the system to allocate memory</a:t>
            </a:r>
            <a:r>
              <a:rPr lang="en-IN" sz="2000" dirty="0" smtClean="0"/>
              <a:t>,</a:t>
            </a:r>
          </a:p>
          <a:p>
            <a:pPr lvl="1"/>
            <a:endParaRPr lang="en-IN" sz="2000" dirty="0" smtClean="0"/>
          </a:p>
          <a:p>
            <a:pPr lvl="1"/>
            <a:r>
              <a:rPr lang="en-IN" sz="2000" dirty="0" smtClean="0"/>
              <a:t>If request is granted returns a pointer to the first block of the memory</a:t>
            </a:r>
          </a:p>
          <a:p>
            <a:pPr lvl="1"/>
            <a:endParaRPr lang="en-IN" sz="2000" dirty="0" smtClean="0"/>
          </a:p>
          <a:p>
            <a:pPr lvl="1"/>
            <a:r>
              <a:rPr lang="en-IN" sz="2000" dirty="0" smtClean="0"/>
              <a:t>If it fails, it returns NULL</a:t>
            </a:r>
          </a:p>
        </p:txBody>
      </p:sp>
      <p:sp>
        <p:nvSpPr>
          <p:cNvPr id="4" name="Date Placeholder 3"/>
          <p:cNvSpPr>
            <a:spLocks noGrp="1"/>
          </p:cNvSpPr>
          <p:nvPr>
            <p:ph type="dt" sz="half" idx="10"/>
          </p:nvPr>
        </p:nvSpPr>
        <p:spPr/>
        <p:txBody>
          <a:bodyPr/>
          <a:lstStyle/>
          <a:p>
            <a:fld id="{2932C704-4D77-4A77-AC61-525E9F64EAAF}"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14</a:t>
            </a:fld>
            <a:endParaRPr lang="en-IN"/>
          </a:p>
        </p:txBody>
      </p:sp>
    </p:spTree>
    <p:extLst>
      <p:ext uri="{BB962C8B-B14F-4D97-AF65-F5344CB8AC3E}">
        <p14:creationId xmlns:p14="http://schemas.microsoft.com/office/powerpoint/2010/main" val="25514749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malloc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endParaRPr lang="en-IN" sz="2000" b="1" dirty="0" smtClean="0"/>
          </a:p>
          <a:p>
            <a:r>
              <a:rPr lang="en-IN" sz="2000" b="1" dirty="0" smtClean="0"/>
              <a:t>The type of pointer is Void, i.e. we can assign it any type of pointer.</a:t>
            </a:r>
          </a:p>
          <a:p>
            <a:endParaRPr lang="en-IN" sz="2000" dirty="0" smtClean="0"/>
          </a:p>
          <a:p>
            <a:r>
              <a:rPr lang="en-IN" sz="2000" dirty="0" smtClean="0"/>
              <a:t>Available in header file </a:t>
            </a:r>
            <a:r>
              <a:rPr lang="en-IN" sz="2000" dirty="0" err="1" smtClean="0"/>
              <a:t>alloc.h</a:t>
            </a:r>
            <a:r>
              <a:rPr lang="en-IN" sz="2000" dirty="0" smtClean="0"/>
              <a:t> or </a:t>
            </a:r>
            <a:r>
              <a:rPr lang="en-IN" sz="2000" dirty="0" err="1" smtClean="0"/>
              <a:t>stdlib.h</a:t>
            </a:r>
            <a:endParaRPr lang="en-IN" sz="2000" dirty="0" smtClean="0"/>
          </a:p>
          <a:p>
            <a:endParaRPr lang="en-IN" sz="2000" dirty="0" smtClean="0"/>
          </a:p>
        </p:txBody>
      </p:sp>
      <p:sp>
        <p:nvSpPr>
          <p:cNvPr id="4" name="Date Placeholder 3"/>
          <p:cNvSpPr>
            <a:spLocks noGrp="1"/>
          </p:cNvSpPr>
          <p:nvPr>
            <p:ph type="dt" sz="half" idx="10"/>
          </p:nvPr>
        </p:nvSpPr>
        <p:spPr/>
        <p:txBody>
          <a:bodyPr/>
          <a:lstStyle/>
          <a:p>
            <a:fld id="{2932C704-4D77-4A77-AC61-525E9F64EAAF}"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15</a:t>
            </a:fld>
            <a:endParaRPr lang="en-IN"/>
          </a:p>
        </p:txBody>
      </p:sp>
    </p:spTree>
    <p:extLst>
      <p:ext uri="{BB962C8B-B14F-4D97-AF65-F5344CB8AC3E}">
        <p14:creationId xmlns:p14="http://schemas.microsoft.com/office/powerpoint/2010/main" val="23890894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mallloc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endParaRPr lang="en-IN" sz="2000" b="1" dirty="0" smtClean="0"/>
          </a:p>
          <a:p>
            <a:r>
              <a:rPr lang="en-IN" sz="2800" b="1" dirty="0" smtClean="0"/>
              <a:t>Syntax-</a:t>
            </a:r>
          </a:p>
          <a:p>
            <a:pPr marL="68580" indent="0">
              <a:buNone/>
            </a:pPr>
            <a:r>
              <a:rPr lang="en-IN" sz="2800" b="1" dirty="0" smtClean="0"/>
              <a:t> 		</a:t>
            </a:r>
            <a:r>
              <a:rPr lang="en-IN" sz="2800" b="1" dirty="0" err="1" smtClean="0"/>
              <a:t>ptr_var</a:t>
            </a:r>
            <a:r>
              <a:rPr lang="en-IN" sz="2800" b="1" dirty="0" smtClean="0"/>
              <a:t>=(</a:t>
            </a:r>
            <a:r>
              <a:rPr lang="en-IN" sz="2800" b="1" dirty="0" err="1" smtClean="0"/>
              <a:t>type_cast</a:t>
            </a:r>
            <a:r>
              <a:rPr lang="en-IN" sz="2800" b="1" dirty="0" smtClean="0"/>
              <a:t>*)</a:t>
            </a:r>
            <a:r>
              <a:rPr lang="en-IN" sz="2800" b="1" dirty="0" err="1" smtClean="0"/>
              <a:t>malloc</a:t>
            </a:r>
            <a:r>
              <a:rPr lang="en-IN" sz="2800" b="1" dirty="0" smtClean="0"/>
              <a:t>(size)</a:t>
            </a:r>
          </a:p>
          <a:p>
            <a:pPr marL="68580" indent="0">
              <a:buNone/>
            </a:pPr>
            <a:endParaRPr lang="en-IN" sz="2800" b="1" dirty="0" smtClean="0"/>
          </a:p>
        </p:txBody>
      </p:sp>
      <p:sp>
        <p:nvSpPr>
          <p:cNvPr id="4" name="Date Placeholder 3"/>
          <p:cNvSpPr>
            <a:spLocks noGrp="1"/>
          </p:cNvSpPr>
          <p:nvPr>
            <p:ph type="dt" sz="half" idx="10"/>
          </p:nvPr>
        </p:nvSpPr>
        <p:spPr/>
        <p:txBody>
          <a:bodyPr/>
          <a:lstStyle/>
          <a:p>
            <a:fld id="{D0C39817-5B01-474C-9724-38C5A47A4747}"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16</a:t>
            </a:fld>
            <a:endParaRPr lang="en-IN"/>
          </a:p>
        </p:txBody>
      </p:sp>
    </p:spTree>
    <p:extLst>
      <p:ext uri="{BB962C8B-B14F-4D97-AF65-F5344CB8AC3E}">
        <p14:creationId xmlns:p14="http://schemas.microsoft.com/office/powerpoint/2010/main" val="21168849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mallloc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endParaRPr lang="en-IN" sz="2000" b="1" dirty="0" smtClean="0"/>
          </a:p>
          <a:p>
            <a:r>
              <a:rPr lang="en-IN" sz="2000" b="1" dirty="0" smtClean="0"/>
              <a:t>Syntax-</a:t>
            </a:r>
          </a:p>
          <a:p>
            <a:pPr marL="68580" indent="0">
              <a:buNone/>
            </a:pPr>
            <a:r>
              <a:rPr lang="en-IN" sz="2000" b="1" dirty="0" smtClean="0"/>
              <a:t> 		</a:t>
            </a:r>
            <a:r>
              <a:rPr lang="en-IN" sz="2000" b="1" dirty="0" err="1" smtClean="0"/>
              <a:t>ptr_var</a:t>
            </a:r>
            <a:r>
              <a:rPr lang="en-IN" sz="2000" b="1" dirty="0" smtClean="0"/>
              <a:t>=(</a:t>
            </a:r>
            <a:r>
              <a:rPr lang="en-IN" sz="2000" b="1" dirty="0" err="1" smtClean="0"/>
              <a:t>type_cast</a:t>
            </a:r>
            <a:r>
              <a:rPr lang="en-IN" sz="2000" b="1" dirty="0" smtClean="0"/>
              <a:t>*)</a:t>
            </a:r>
            <a:r>
              <a:rPr lang="en-IN" sz="2000" b="1" dirty="0" err="1" smtClean="0"/>
              <a:t>malloc</a:t>
            </a:r>
            <a:r>
              <a:rPr lang="en-IN" sz="2000" b="1" dirty="0" smtClean="0"/>
              <a:t>(size)</a:t>
            </a:r>
          </a:p>
          <a:p>
            <a:pPr marL="68580" indent="0">
              <a:buNone/>
            </a:pPr>
            <a:endParaRPr lang="en-IN" sz="2000" b="1" dirty="0" smtClean="0"/>
          </a:p>
          <a:p>
            <a:r>
              <a:rPr lang="en-IN" sz="1800" dirty="0" err="1"/>
              <a:t>p</a:t>
            </a:r>
            <a:r>
              <a:rPr lang="en-IN" sz="1800" dirty="0" err="1" smtClean="0"/>
              <a:t>tr_var</a:t>
            </a:r>
            <a:r>
              <a:rPr lang="en-IN" sz="1800" dirty="0" smtClean="0"/>
              <a:t> = name of pointer that holds the starting address of allocated memory block</a:t>
            </a:r>
          </a:p>
          <a:p>
            <a:r>
              <a:rPr lang="en-IN" sz="1800" dirty="0" err="1" smtClean="0"/>
              <a:t>type_cast</a:t>
            </a:r>
            <a:r>
              <a:rPr lang="en-IN" sz="1800" dirty="0" smtClean="0"/>
              <a:t>* = is the data type into which the returned pointer is to be converted</a:t>
            </a:r>
          </a:p>
          <a:p>
            <a:r>
              <a:rPr lang="en-IN" sz="1800" dirty="0" smtClean="0"/>
              <a:t>Size = size of allocated memory block in bytes</a:t>
            </a:r>
          </a:p>
          <a:p>
            <a:endParaRPr lang="en-IN" sz="1800" dirty="0" smtClean="0"/>
          </a:p>
        </p:txBody>
      </p:sp>
      <p:sp>
        <p:nvSpPr>
          <p:cNvPr id="4" name="Date Placeholder 3"/>
          <p:cNvSpPr>
            <a:spLocks noGrp="1"/>
          </p:cNvSpPr>
          <p:nvPr>
            <p:ph type="dt" sz="half" idx="10"/>
          </p:nvPr>
        </p:nvSpPr>
        <p:spPr/>
        <p:txBody>
          <a:bodyPr/>
          <a:lstStyle/>
          <a:p>
            <a:fld id="{D0C39817-5B01-474C-9724-38C5A47A4747}"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17</a:t>
            </a:fld>
            <a:endParaRPr lang="en-IN"/>
          </a:p>
        </p:txBody>
      </p:sp>
    </p:spTree>
    <p:extLst>
      <p:ext uri="{BB962C8B-B14F-4D97-AF65-F5344CB8AC3E}">
        <p14:creationId xmlns:p14="http://schemas.microsoft.com/office/powerpoint/2010/main" val="30890764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mallloc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endParaRPr lang="en-IN" sz="2000" b="1" dirty="0" smtClean="0"/>
          </a:p>
          <a:p>
            <a:pPr marL="68580" indent="0">
              <a:buNone/>
            </a:pPr>
            <a:r>
              <a:rPr lang="en-IN" b="1" dirty="0" err="1" smtClean="0"/>
              <a:t>Eg</a:t>
            </a:r>
            <a:r>
              <a:rPr lang="en-IN" b="1" dirty="0" smtClean="0"/>
              <a:t>-</a:t>
            </a:r>
          </a:p>
          <a:p>
            <a:pPr marL="68580" indent="0">
              <a:buNone/>
            </a:pPr>
            <a:r>
              <a:rPr lang="en-IN" b="1" dirty="0" smtClean="0"/>
              <a:t>		</a:t>
            </a:r>
            <a:r>
              <a:rPr lang="en-IN" b="1" dirty="0" err="1" smtClean="0"/>
              <a:t>int</a:t>
            </a:r>
            <a:r>
              <a:rPr lang="en-IN" b="1" dirty="0" smtClean="0"/>
              <a:t> *</a:t>
            </a:r>
            <a:r>
              <a:rPr lang="en-IN" b="1" dirty="0" err="1" smtClean="0"/>
              <a:t>ptr</a:t>
            </a:r>
            <a:r>
              <a:rPr lang="en-IN" b="1" dirty="0" smtClean="0"/>
              <a:t>;</a:t>
            </a:r>
          </a:p>
          <a:p>
            <a:pPr marL="68580" indent="0">
              <a:buNone/>
            </a:pPr>
            <a:r>
              <a:rPr lang="en-IN" b="1" dirty="0" smtClean="0"/>
              <a:t>		</a:t>
            </a:r>
            <a:r>
              <a:rPr lang="en-IN" b="1" dirty="0" err="1" smtClean="0"/>
              <a:t>ptr</a:t>
            </a:r>
            <a:r>
              <a:rPr lang="en-IN" b="1" dirty="0" smtClean="0"/>
              <a:t>=(</a:t>
            </a:r>
            <a:r>
              <a:rPr lang="en-IN" b="1" dirty="0" err="1" smtClean="0"/>
              <a:t>int</a:t>
            </a:r>
            <a:r>
              <a:rPr lang="en-IN" b="1" dirty="0" smtClean="0"/>
              <a:t> *)</a:t>
            </a:r>
            <a:r>
              <a:rPr lang="en-IN" b="1" dirty="0" err="1" smtClean="0"/>
              <a:t>malloc</a:t>
            </a:r>
            <a:r>
              <a:rPr lang="en-IN" b="1" dirty="0" smtClean="0"/>
              <a:t>(10*</a:t>
            </a:r>
            <a:r>
              <a:rPr lang="en-IN" b="1" dirty="0" err="1" smtClean="0"/>
              <a:t>sizeof</a:t>
            </a:r>
            <a:r>
              <a:rPr lang="en-IN" b="1" dirty="0" smtClean="0"/>
              <a:t>(</a:t>
            </a:r>
            <a:r>
              <a:rPr lang="en-IN" b="1" dirty="0" err="1" smtClean="0"/>
              <a:t>int</a:t>
            </a:r>
            <a:r>
              <a:rPr lang="en-IN" b="1" dirty="0" smtClean="0"/>
              <a:t>));</a:t>
            </a:r>
          </a:p>
        </p:txBody>
      </p:sp>
      <p:sp>
        <p:nvSpPr>
          <p:cNvPr id="4" name="Date Placeholder 3"/>
          <p:cNvSpPr>
            <a:spLocks noGrp="1"/>
          </p:cNvSpPr>
          <p:nvPr>
            <p:ph type="dt" sz="half" idx="10"/>
          </p:nvPr>
        </p:nvSpPr>
        <p:spPr/>
        <p:txBody>
          <a:bodyPr/>
          <a:lstStyle/>
          <a:p>
            <a:fld id="{75E0BEA9-4C73-4BD4-AC74-BF8FAD5EB3C8}"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18</a:t>
            </a:fld>
            <a:endParaRPr lang="en-IN"/>
          </a:p>
        </p:txBody>
      </p:sp>
    </p:spTree>
    <p:extLst>
      <p:ext uri="{BB962C8B-B14F-4D97-AF65-F5344CB8AC3E}">
        <p14:creationId xmlns:p14="http://schemas.microsoft.com/office/powerpoint/2010/main" val="32249806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mallloc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endParaRPr lang="en-IN" sz="2000" b="1" dirty="0" smtClean="0"/>
          </a:p>
          <a:p>
            <a:pPr marL="68580" indent="0">
              <a:buNone/>
            </a:pPr>
            <a:r>
              <a:rPr lang="en-IN" sz="2000" b="1" dirty="0" err="1" smtClean="0"/>
              <a:t>Eg</a:t>
            </a:r>
            <a:r>
              <a:rPr lang="en-IN" sz="2000" b="1" dirty="0" smtClean="0"/>
              <a:t>-</a:t>
            </a:r>
          </a:p>
          <a:p>
            <a:pPr marL="68580" indent="0">
              <a:buNone/>
            </a:pPr>
            <a:r>
              <a:rPr lang="en-IN" sz="2000" b="1" dirty="0" smtClean="0"/>
              <a:t>		</a:t>
            </a:r>
            <a:r>
              <a:rPr lang="en-IN" sz="2000" b="1" dirty="0" err="1" smtClean="0"/>
              <a:t>int</a:t>
            </a:r>
            <a:r>
              <a:rPr lang="en-IN" sz="2000" b="1" dirty="0" smtClean="0"/>
              <a:t> *</a:t>
            </a:r>
            <a:r>
              <a:rPr lang="en-IN" sz="2000" b="1" dirty="0" err="1" smtClean="0"/>
              <a:t>ptr</a:t>
            </a:r>
            <a:r>
              <a:rPr lang="en-IN" sz="2000" b="1" dirty="0" smtClean="0"/>
              <a:t>;</a:t>
            </a:r>
          </a:p>
          <a:p>
            <a:pPr marL="68580" indent="0">
              <a:buNone/>
            </a:pPr>
            <a:r>
              <a:rPr lang="en-IN" sz="2000" b="1" dirty="0" smtClean="0"/>
              <a:t>		</a:t>
            </a:r>
            <a:r>
              <a:rPr lang="en-IN" sz="2000" b="1" dirty="0" err="1" smtClean="0"/>
              <a:t>ptr</a:t>
            </a:r>
            <a:r>
              <a:rPr lang="en-IN" sz="2000" b="1" dirty="0" smtClean="0"/>
              <a:t>=(</a:t>
            </a:r>
            <a:r>
              <a:rPr lang="en-IN" sz="2000" b="1" dirty="0" err="1" smtClean="0"/>
              <a:t>int</a:t>
            </a:r>
            <a:r>
              <a:rPr lang="en-IN" sz="2000" b="1" dirty="0" smtClean="0"/>
              <a:t> *)</a:t>
            </a:r>
            <a:r>
              <a:rPr lang="en-IN" sz="2000" b="1" dirty="0" err="1" smtClean="0"/>
              <a:t>malloc</a:t>
            </a:r>
            <a:r>
              <a:rPr lang="en-IN" sz="2000" b="1" dirty="0" smtClean="0"/>
              <a:t>(10*</a:t>
            </a:r>
            <a:r>
              <a:rPr lang="en-IN" sz="2000" b="1" dirty="0" err="1" smtClean="0"/>
              <a:t>sizeof</a:t>
            </a:r>
            <a:r>
              <a:rPr lang="en-IN" sz="2000" b="1" dirty="0" smtClean="0"/>
              <a:t>(</a:t>
            </a:r>
            <a:r>
              <a:rPr lang="en-IN" sz="2000" b="1" dirty="0" err="1" smtClean="0"/>
              <a:t>int</a:t>
            </a:r>
            <a:r>
              <a:rPr lang="en-IN" sz="2000" b="1" dirty="0" smtClean="0"/>
              <a:t>));</a:t>
            </a:r>
          </a:p>
          <a:p>
            <a:endParaRPr lang="en-IN" sz="1800" dirty="0" smtClean="0"/>
          </a:p>
          <a:p>
            <a:endParaRPr lang="en-IN" sz="1800" dirty="0"/>
          </a:p>
          <a:p>
            <a:r>
              <a:rPr lang="en-IN" sz="1800" dirty="0" smtClean="0"/>
              <a:t>Size of </a:t>
            </a:r>
            <a:r>
              <a:rPr lang="en-IN" sz="1800" dirty="0" err="1" smtClean="0"/>
              <a:t>int</a:t>
            </a:r>
            <a:r>
              <a:rPr lang="en-IN" sz="1800" dirty="0" smtClean="0"/>
              <a:t>=2bytes </a:t>
            </a:r>
          </a:p>
          <a:p>
            <a:r>
              <a:rPr lang="en-IN" sz="1800" dirty="0" smtClean="0"/>
              <a:t>So 20 bytes are allocated, </a:t>
            </a:r>
          </a:p>
          <a:p>
            <a:r>
              <a:rPr lang="en-IN" sz="1800" dirty="0" smtClean="0"/>
              <a:t>Void pointer is casted into </a:t>
            </a:r>
            <a:r>
              <a:rPr lang="en-IN" sz="1800" dirty="0" err="1" smtClean="0"/>
              <a:t>int</a:t>
            </a:r>
            <a:r>
              <a:rPr lang="en-IN" sz="1800" dirty="0" smtClean="0"/>
              <a:t> and assigned to </a:t>
            </a:r>
            <a:r>
              <a:rPr lang="en-IN" sz="1800" dirty="0" err="1" smtClean="0"/>
              <a:t>ptr</a:t>
            </a:r>
            <a:endParaRPr lang="en-IN" sz="1800" dirty="0" smtClean="0"/>
          </a:p>
        </p:txBody>
      </p:sp>
      <p:sp>
        <p:nvSpPr>
          <p:cNvPr id="4" name="Date Placeholder 3"/>
          <p:cNvSpPr>
            <a:spLocks noGrp="1"/>
          </p:cNvSpPr>
          <p:nvPr>
            <p:ph type="dt" sz="half" idx="10"/>
          </p:nvPr>
        </p:nvSpPr>
        <p:spPr/>
        <p:txBody>
          <a:bodyPr/>
          <a:lstStyle/>
          <a:p>
            <a:fld id="{75E0BEA9-4C73-4BD4-AC74-BF8FAD5EB3C8}"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19</a:t>
            </a:fld>
            <a:endParaRPr lang="en-IN"/>
          </a:p>
        </p:txBody>
      </p:sp>
    </p:spTree>
    <p:extLst>
      <p:ext uri="{BB962C8B-B14F-4D97-AF65-F5344CB8AC3E}">
        <p14:creationId xmlns:p14="http://schemas.microsoft.com/office/powerpoint/2010/main" val="27123517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mallloc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7488832" cy="4752528"/>
          </a:xfrm>
        </p:spPr>
        <p:txBody>
          <a:bodyPr>
            <a:normAutofit/>
          </a:bodyPr>
          <a:lstStyle/>
          <a:p>
            <a:endParaRPr lang="en-IN" sz="2000" b="1" dirty="0" smtClean="0"/>
          </a:p>
          <a:p>
            <a:pPr marL="68580" indent="0">
              <a:buNone/>
            </a:pPr>
            <a:r>
              <a:rPr lang="en-IN" b="1" dirty="0" err="1" smtClean="0"/>
              <a:t>Eg</a:t>
            </a:r>
            <a:r>
              <a:rPr lang="en-IN" b="1" dirty="0" smtClean="0"/>
              <a:t>-</a:t>
            </a:r>
            <a:endParaRPr lang="en-IN" b="1" dirty="0"/>
          </a:p>
          <a:p>
            <a:pPr marL="68580" indent="0">
              <a:buNone/>
            </a:pPr>
            <a:r>
              <a:rPr lang="en-IN" b="1" dirty="0"/>
              <a:t>		</a:t>
            </a:r>
            <a:r>
              <a:rPr lang="en-IN" b="1" dirty="0" smtClean="0"/>
              <a:t>char </a:t>
            </a:r>
            <a:r>
              <a:rPr lang="en-IN" b="1" dirty="0"/>
              <a:t>*</a:t>
            </a:r>
            <a:r>
              <a:rPr lang="en-IN" b="1" dirty="0" err="1"/>
              <a:t>ptr</a:t>
            </a:r>
            <a:r>
              <a:rPr lang="en-IN" b="1" dirty="0"/>
              <a:t>;</a:t>
            </a:r>
          </a:p>
          <a:p>
            <a:pPr marL="68580" indent="0">
              <a:buNone/>
            </a:pPr>
            <a:r>
              <a:rPr lang="en-IN" b="1" dirty="0"/>
              <a:t>		</a:t>
            </a:r>
            <a:r>
              <a:rPr lang="en-IN" b="1" dirty="0" err="1"/>
              <a:t>ptr</a:t>
            </a:r>
            <a:r>
              <a:rPr lang="en-IN" b="1" dirty="0" smtClean="0"/>
              <a:t>=(char </a:t>
            </a:r>
            <a:r>
              <a:rPr lang="en-IN" b="1" dirty="0"/>
              <a:t>*)</a:t>
            </a:r>
            <a:r>
              <a:rPr lang="en-IN" b="1" dirty="0" err="1" smtClean="0"/>
              <a:t>malloc</a:t>
            </a:r>
            <a:r>
              <a:rPr lang="en-IN" b="1" dirty="0" smtClean="0"/>
              <a:t>(10*</a:t>
            </a:r>
            <a:r>
              <a:rPr lang="en-IN" b="1" dirty="0" err="1" smtClean="0"/>
              <a:t>sizeof</a:t>
            </a:r>
            <a:r>
              <a:rPr lang="en-IN" b="1" dirty="0" smtClean="0"/>
              <a:t>(char));</a:t>
            </a:r>
            <a:endParaRPr lang="en-IN" dirty="0" smtClean="0"/>
          </a:p>
        </p:txBody>
      </p:sp>
      <p:sp>
        <p:nvSpPr>
          <p:cNvPr id="4" name="Date Placeholder 3"/>
          <p:cNvSpPr>
            <a:spLocks noGrp="1"/>
          </p:cNvSpPr>
          <p:nvPr>
            <p:ph type="dt" sz="half" idx="10"/>
          </p:nvPr>
        </p:nvSpPr>
        <p:spPr/>
        <p:txBody>
          <a:bodyPr/>
          <a:lstStyle/>
          <a:p>
            <a:fld id="{75E0BEA9-4C73-4BD4-AC74-BF8FAD5EB3C8}"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20</a:t>
            </a:fld>
            <a:endParaRPr lang="en-IN"/>
          </a:p>
        </p:txBody>
      </p:sp>
    </p:spTree>
    <p:extLst>
      <p:ext uri="{BB962C8B-B14F-4D97-AF65-F5344CB8AC3E}">
        <p14:creationId xmlns:p14="http://schemas.microsoft.com/office/powerpoint/2010/main" val="23675075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052736"/>
            <a:ext cx="7848872" cy="529128"/>
          </a:xfrm>
        </p:spPr>
        <p:txBody>
          <a:bodyPr>
            <a:noAutofit/>
          </a:bodyPr>
          <a:lstStyle/>
          <a:p>
            <a:r>
              <a:rPr lang="en-IN" sz="3200" b="1" dirty="0" smtClean="0"/>
              <a:t>The </a:t>
            </a:r>
            <a:r>
              <a:rPr lang="en-IN" sz="3200" b="1" dirty="0" err="1" smtClean="0"/>
              <a:t>mallloc</a:t>
            </a:r>
            <a:r>
              <a:rPr lang="en-IN" sz="3200" b="1" dirty="0" smtClean="0"/>
              <a:t>() </a:t>
            </a:r>
            <a:r>
              <a:rPr lang="en-IN" sz="3200" b="1" dirty="0" err="1" smtClean="0"/>
              <a:t>fn</a:t>
            </a:r>
            <a:r>
              <a:rPr lang="en-IN" sz="3200" b="1" dirty="0" smtClean="0"/>
              <a:t>- Usage in Linked List</a:t>
            </a:r>
            <a:endParaRPr lang="en-IN" sz="3200" b="1" dirty="0"/>
          </a:p>
        </p:txBody>
      </p:sp>
      <p:sp>
        <p:nvSpPr>
          <p:cNvPr id="3" name="Content Placeholder 2"/>
          <p:cNvSpPr>
            <a:spLocks noGrp="1"/>
          </p:cNvSpPr>
          <p:nvPr>
            <p:ph idx="1"/>
          </p:nvPr>
        </p:nvSpPr>
        <p:spPr>
          <a:xfrm>
            <a:off x="971600" y="1340768"/>
            <a:ext cx="7416824" cy="4752528"/>
          </a:xfrm>
        </p:spPr>
        <p:txBody>
          <a:bodyPr>
            <a:normAutofit/>
          </a:bodyPr>
          <a:lstStyle/>
          <a:p>
            <a:endParaRPr lang="en-IN" sz="2000" b="1" dirty="0" smtClean="0"/>
          </a:p>
          <a:p>
            <a:pPr marL="68580" indent="0">
              <a:buNone/>
            </a:pPr>
            <a:r>
              <a:rPr lang="en-IN" sz="2000" b="1" dirty="0" err="1" smtClean="0"/>
              <a:t>Eg</a:t>
            </a:r>
            <a:r>
              <a:rPr lang="en-IN" sz="2000" b="1" dirty="0" smtClean="0"/>
              <a:t>-</a:t>
            </a:r>
          </a:p>
          <a:p>
            <a:pPr marL="68580" indent="0">
              <a:buNone/>
            </a:pPr>
            <a:r>
              <a:rPr lang="en-IN" sz="2000" b="1" dirty="0" err="1" smtClean="0"/>
              <a:t>struct</a:t>
            </a:r>
            <a:r>
              <a:rPr lang="en-IN" sz="2000" b="1" dirty="0" smtClean="0"/>
              <a:t> student;</a:t>
            </a:r>
          </a:p>
          <a:p>
            <a:pPr marL="68580" indent="0">
              <a:buNone/>
            </a:pPr>
            <a:r>
              <a:rPr lang="en-IN" sz="2000" b="1" dirty="0" smtClean="0"/>
              <a:t>{</a:t>
            </a:r>
          </a:p>
          <a:p>
            <a:pPr marL="68580" indent="0">
              <a:buNone/>
            </a:pPr>
            <a:r>
              <a:rPr lang="en-IN" sz="2000" b="1" dirty="0" smtClean="0"/>
              <a:t>	</a:t>
            </a:r>
            <a:r>
              <a:rPr lang="en-IN" sz="2000" b="1" dirty="0" err="1" smtClean="0"/>
              <a:t>int</a:t>
            </a:r>
            <a:r>
              <a:rPr lang="en-IN" sz="2000" b="1" dirty="0" smtClean="0"/>
              <a:t> </a:t>
            </a:r>
            <a:r>
              <a:rPr lang="en-IN" sz="2000" b="1" dirty="0" err="1" smtClean="0"/>
              <a:t>roll_no</a:t>
            </a:r>
            <a:r>
              <a:rPr lang="en-IN" sz="2000" b="1" dirty="0" smtClean="0"/>
              <a:t>;</a:t>
            </a:r>
          </a:p>
          <a:p>
            <a:pPr marL="68580" indent="0">
              <a:buNone/>
            </a:pPr>
            <a:r>
              <a:rPr lang="en-IN" sz="2000" b="1" dirty="0" smtClean="0"/>
              <a:t>	char name[30];</a:t>
            </a:r>
          </a:p>
          <a:p>
            <a:pPr marL="68580" indent="0">
              <a:buNone/>
            </a:pPr>
            <a:r>
              <a:rPr lang="en-IN" sz="2000" b="1" dirty="0" smtClean="0"/>
              <a:t>	float percentage;</a:t>
            </a:r>
          </a:p>
          <a:p>
            <a:pPr marL="68580" indent="0">
              <a:buNone/>
            </a:pPr>
            <a:r>
              <a:rPr lang="en-IN" sz="2000" b="1" dirty="0" smtClean="0"/>
              <a:t>};</a:t>
            </a:r>
          </a:p>
          <a:p>
            <a:pPr marL="68580" indent="0">
              <a:buNone/>
            </a:pPr>
            <a:r>
              <a:rPr lang="en-IN" sz="2000" b="1" dirty="0" err="1" smtClean="0"/>
              <a:t>struct</a:t>
            </a:r>
            <a:r>
              <a:rPr lang="en-IN" sz="2000" b="1" dirty="0" smtClean="0"/>
              <a:t> student *</a:t>
            </a:r>
            <a:r>
              <a:rPr lang="en-IN" sz="2000" b="1" dirty="0" err="1" smtClean="0"/>
              <a:t>st_ptr</a:t>
            </a:r>
            <a:r>
              <a:rPr lang="en-IN" sz="2000" b="1" dirty="0" smtClean="0"/>
              <a:t>;</a:t>
            </a:r>
          </a:p>
          <a:p>
            <a:pPr marL="68580" indent="0">
              <a:buNone/>
            </a:pPr>
            <a:r>
              <a:rPr lang="en-IN" sz="2000" b="1" dirty="0" err="1" smtClean="0"/>
              <a:t>st_ptr</a:t>
            </a:r>
            <a:r>
              <a:rPr lang="en-IN" sz="2000" b="1" dirty="0" smtClean="0"/>
              <a:t>=(</a:t>
            </a:r>
            <a:r>
              <a:rPr lang="en-IN" sz="2000" b="1" dirty="0" err="1" smtClean="0"/>
              <a:t>struct</a:t>
            </a:r>
            <a:r>
              <a:rPr lang="en-IN" sz="2000" b="1" dirty="0" smtClean="0"/>
              <a:t> student *)</a:t>
            </a:r>
            <a:r>
              <a:rPr lang="en-IN" sz="2000" b="1" dirty="0" err="1" smtClean="0"/>
              <a:t>malloc</a:t>
            </a:r>
            <a:r>
              <a:rPr lang="en-IN" sz="2000" b="1" dirty="0" smtClean="0"/>
              <a:t>(10*</a:t>
            </a:r>
            <a:r>
              <a:rPr lang="en-IN" sz="2000" b="1" dirty="0" err="1" smtClean="0"/>
              <a:t>sizeof</a:t>
            </a:r>
            <a:r>
              <a:rPr lang="en-IN" sz="2000" b="1" dirty="0" smtClean="0"/>
              <a:t>(</a:t>
            </a:r>
            <a:r>
              <a:rPr lang="en-IN" sz="2000" b="1" dirty="0" err="1" smtClean="0"/>
              <a:t>struct</a:t>
            </a:r>
            <a:r>
              <a:rPr lang="en-IN" sz="2000" b="1" dirty="0" smtClean="0"/>
              <a:t> student));</a:t>
            </a:r>
          </a:p>
        </p:txBody>
      </p:sp>
      <p:sp>
        <p:nvSpPr>
          <p:cNvPr id="4" name="Date Placeholder 3"/>
          <p:cNvSpPr>
            <a:spLocks noGrp="1"/>
          </p:cNvSpPr>
          <p:nvPr>
            <p:ph type="dt" sz="half" idx="10"/>
          </p:nvPr>
        </p:nvSpPr>
        <p:spPr/>
        <p:txBody>
          <a:bodyPr/>
          <a:lstStyle/>
          <a:p>
            <a:fld id="{04334811-994C-4149-9AB8-B34E1C718437}"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21</a:t>
            </a:fld>
            <a:endParaRPr lang="en-IN"/>
          </a:p>
        </p:txBody>
      </p:sp>
    </p:spTree>
    <p:extLst>
      <p:ext uri="{BB962C8B-B14F-4D97-AF65-F5344CB8AC3E}">
        <p14:creationId xmlns:p14="http://schemas.microsoft.com/office/powerpoint/2010/main" val="30158246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a:t>c</a:t>
            </a:r>
            <a:r>
              <a:rPr lang="en-IN" sz="3200" b="1" dirty="0" err="1" smtClean="0"/>
              <a:t>allloc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r>
              <a:rPr lang="en-IN" sz="2000" dirty="0"/>
              <a:t>Similar to </a:t>
            </a:r>
            <a:r>
              <a:rPr lang="en-IN" sz="2000" dirty="0" err="1" smtClean="0"/>
              <a:t>malloc</a:t>
            </a:r>
            <a:endParaRPr lang="en-IN" sz="2000" dirty="0" smtClean="0"/>
          </a:p>
          <a:p>
            <a:pPr lvl="1"/>
            <a:r>
              <a:rPr lang="en-IN" sz="1800" dirty="0" smtClean="0"/>
              <a:t>It neds two arguments as against one argument in </a:t>
            </a:r>
            <a:r>
              <a:rPr lang="en-IN" sz="1800" dirty="0" err="1" smtClean="0"/>
              <a:t>malloc</a:t>
            </a:r>
            <a:r>
              <a:rPr lang="en-IN" sz="1800" dirty="0" smtClean="0"/>
              <a:t>() </a:t>
            </a:r>
            <a:r>
              <a:rPr lang="en-IN" sz="1800" dirty="0" err="1" smtClean="0"/>
              <a:t>fn</a:t>
            </a:r>
            <a:endParaRPr lang="en-IN" sz="1800" dirty="0" smtClean="0"/>
          </a:p>
          <a:p>
            <a:pPr marL="68580" indent="0">
              <a:buNone/>
            </a:pPr>
            <a:r>
              <a:rPr lang="en-IN" sz="2000" b="1" dirty="0" err="1" smtClean="0"/>
              <a:t>Eg</a:t>
            </a:r>
            <a:r>
              <a:rPr lang="en-IN" sz="2000" b="1" dirty="0" smtClean="0"/>
              <a:t>-</a:t>
            </a:r>
          </a:p>
          <a:p>
            <a:pPr marL="68580" indent="0">
              <a:buNone/>
            </a:pPr>
            <a:r>
              <a:rPr lang="en-IN" sz="2000" b="1" dirty="0" smtClean="0"/>
              <a:t>		</a:t>
            </a:r>
            <a:r>
              <a:rPr lang="en-IN" sz="2000" b="1" dirty="0" err="1" smtClean="0"/>
              <a:t>int</a:t>
            </a:r>
            <a:r>
              <a:rPr lang="en-IN" sz="2000" b="1" dirty="0" smtClean="0"/>
              <a:t> *</a:t>
            </a:r>
            <a:r>
              <a:rPr lang="en-IN" sz="2000" b="1" dirty="0" err="1" smtClean="0"/>
              <a:t>ptr</a:t>
            </a:r>
            <a:r>
              <a:rPr lang="en-IN" sz="2000" b="1" dirty="0" smtClean="0"/>
              <a:t>;</a:t>
            </a:r>
          </a:p>
          <a:p>
            <a:pPr marL="68580" indent="0">
              <a:buNone/>
            </a:pPr>
            <a:r>
              <a:rPr lang="en-IN" sz="2000" b="1" dirty="0" smtClean="0"/>
              <a:t>		</a:t>
            </a:r>
            <a:r>
              <a:rPr lang="en-IN" sz="2000" b="1" dirty="0" err="1" smtClean="0"/>
              <a:t>ptr</a:t>
            </a:r>
            <a:r>
              <a:rPr lang="en-IN" sz="2000" b="1" dirty="0" smtClean="0"/>
              <a:t>=(</a:t>
            </a:r>
            <a:r>
              <a:rPr lang="en-IN" sz="2000" b="1" dirty="0" err="1" smtClean="0"/>
              <a:t>int</a:t>
            </a:r>
            <a:r>
              <a:rPr lang="en-IN" sz="2000" b="1" dirty="0" smtClean="0"/>
              <a:t> *)</a:t>
            </a:r>
            <a:r>
              <a:rPr lang="en-IN" sz="2000" b="1" dirty="0" err="1" smtClean="0"/>
              <a:t>calloc</a:t>
            </a:r>
            <a:r>
              <a:rPr lang="en-IN" sz="2000" b="1" dirty="0" smtClean="0"/>
              <a:t>(10,2));</a:t>
            </a:r>
            <a:endParaRPr lang="en-IN" sz="2000" dirty="0" smtClean="0"/>
          </a:p>
          <a:p>
            <a:pPr marL="68580" indent="0">
              <a:buNone/>
            </a:pPr>
            <a:r>
              <a:rPr lang="en-IN" sz="2000" dirty="0" smtClean="0"/>
              <a:t>1</a:t>
            </a:r>
            <a:r>
              <a:rPr lang="en-IN" sz="2000" baseline="30000" dirty="0" smtClean="0"/>
              <a:t>st</a:t>
            </a:r>
            <a:r>
              <a:rPr lang="en-IN" sz="2000" dirty="0" smtClean="0"/>
              <a:t> argument=no of elements</a:t>
            </a:r>
          </a:p>
          <a:p>
            <a:pPr marL="68580" indent="0">
              <a:buNone/>
            </a:pPr>
            <a:r>
              <a:rPr lang="en-IN" sz="2000" dirty="0" smtClean="0"/>
              <a:t>2</a:t>
            </a:r>
            <a:r>
              <a:rPr lang="en-IN" sz="2000" baseline="30000" dirty="0" smtClean="0"/>
              <a:t>nd</a:t>
            </a:r>
            <a:r>
              <a:rPr lang="en-IN" sz="2000" dirty="0" smtClean="0"/>
              <a:t> argument=size of data type in bytes</a:t>
            </a:r>
          </a:p>
          <a:p>
            <a:pPr marL="68580" indent="0">
              <a:buNone/>
            </a:pPr>
            <a:endParaRPr lang="en-IN" sz="2000" dirty="0"/>
          </a:p>
        </p:txBody>
      </p:sp>
      <p:sp>
        <p:nvSpPr>
          <p:cNvPr id="4" name="Date Placeholder 3"/>
          <p:cNvSpPr>
            <a:spLocks noGrp="1"/>
          </p:cNvSpPr>
          <p:nvPr>
            <p:ph type="dt" sz="half" idx="10"/>
          </p:nvPr>
        </p:nvSpPr>
        <p:spPr/>
        <p:txBody>
          <a:bodyPr/>
          <a:lstStyle/>
          <a:p>
            <a:fld id="{DE9616D6-A471-4A45-BDE4-B4D159290D38}"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22</a:t>
            </a:fld>
            <a:endParaRPr lang="en-IN"/>
          </a:p>
        </p:txBody>
      </p:sp>
    </p:spTree>
    <p:extLst>
      <p:ext uri="{BB962C8B-B14F-4D97-AF65-F5344CB8AC3E}">
        <p14:creationId xmlns:p14="http://schemas.microsoft.com/office/powerpoint/2010/main" val="4748960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a:t>c</a:t>
            </a:r>
            <a:r>
              <a:rPr lang="en-IN" sz="3200" b="1" dirty="0" err="1" smtClean="0"/>
              <a:t>allloc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endParaRPr lang="en-IN" sz="2000" dirty="0" smtClean="0"/>
          </a:p>
          <a:p>
            <a:r>
              <a:rPr lang="en-IN" sz="2000" dirty="0" smtClean="0"/>
              <a:t>Available </a:t>
            </a:r>
            <a:r>
              <a:rPr lang="en-IN" sz="2000" dirty="0"/>
              <a:t>in header file </a:t>
            </a:r>
            <a:r>
              <a:rPr lang="en-IN" sz="2000" dirty="0" err="1"/>
              <a:t>alloc.h</a:t>
            </a:r>
            <a:r>
              <a:rPr lang="en-IN" sz="2000" dirty="0"/>
              <a:t> or </a:t>
            </a:r>
            <a:r>
              <a:rPr lang="en-IN" sz="2000" dirty="0" err="1"/>
              <a:t>stdlib.h</a:t>
            </a:r>
            <a:endParaRPr lang="en-IN" sz="2000" dirty="0"/>
          </a:p>
          <a:p>
            <a:endParaRPr lang="en-IN" sz="2000" dirty="0"/>
          </a:p>
        </p:txBody>
      </p:sp>
      <p:sp>
        <p:nvSpPr>
          <p:cNvPr id="4" name="Date Placeholder 3"/>
          <p:cNvSpPr>
            <a:spLocks noGrp="1"/>
          </p:cNvSpPr>
          <p:nvPr>
            <p:ph type="dt" sz="half" idx="10"/>
          </p:nvPr>
        </p:nvSpPr>
        <p:spPr/>
        <p:txBody>
          <a:bodyPr/>
          <a:lstStyle/>
          <a:p>
            <a:fld id="{DE9616D6-A471-4A45-BDE4-B4D159290D38}"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23</a:t>
            </a:fld>
            <a:endParaRPr lang="en-IN"/>
          </a:p>
        </p:txBody>
      </p:sp>
    </p:spTree>
    <p:extLst>
      <p:ext uri="{BB962C8B-B14F-4D97-AF65-F5344CB8AC3E}">
        <p14:creationId xmlns:p14="http://schemas.microsoft.com/office/powerpoint/2010/main" val="244622392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err="1" smtClean="0"/>
              <a:t>Malloc</a:t>
            </a:r>
            <a:r>
              <a:rPr lang="en-IN" sz="3200" b="1" dirty="0" smtClean="0"/>
              <a:t>() vs </a:t>
            </a:r>
            <a:r>
              <a:rPr lang="en-IN" sz="3200" b="1" dirty="0" err="1" smtClean="0"/>
              <a:t>callloc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pPr marL="68580" indent="0">
              <a:buNone/>
            </a:pPr>
            <a:r>
              <a:rPr lang="en-IN" sz="2000" b="1" dirty="0"/>
              <a:t>Initialization</a:t>
            </a:r>
            <a:r>
              <a:rPr lang="en-IN" sz="2000" b="1" dirty="0" smtClean="0"/>
              <a:t>:</a:t>
            </a:r>
          </a:p>
          <a:p>
            <a:endParaRPr lang="en-IN" sz="2000" dirty="0" smtClean="0"/>
          </a:p>
          <a:p>
            <a:r>
              <a:rPr lang="en-IN" sz="2000" dirty="0" smtClean="0"/>
              <a:t> </a:t>
            </a:r>
            <a:r>
              <a:rPr lang="en-IN" sz="2000" dirty="0" err="1" smtClean="0"/>
              <a:t>malloc</a:t>
            </a:r>
            <a:r>
              <a:rPr lang="en-IN" sz="2000" dirty="0"/>
              <a:t>() doesn’t initialize the allocated memory. </a:t>
            </a:r>
            <a:endParaRPr lang="en-IN" sz="2000" dirty="0" smtClean="0"/>
          </a:p>
          <a:p>
            <a:pPr lvl="1"/>
            <a:r>
              <a:rPr lang="en-IN" sz="1800" dirty="0" smtClean="0"/>
              <a:t>If </a:t>
            </a:r>
            <a:r>
              <a:rPr lang="en-IN" sz="1800" dirty="0"/>
              <a:t>we try to access the content of memory block(before initializing) then we’ll get segmentation fault error(or </a:t>
            </a:r>
            <a:r>
              <a:rPr lang="en-IN" sz="1800" dirty="0" smtClean="0"/>
              <a:t>garbage </a:t>
            </a:r>
            <a:r>
              <a:rPr lang="en-IN" sz="1800" dirty="0"/>
              <a:t>values). </a:t>
            </a:r>
            <a:endParaRPr lang="en-IN" sz="1800" dirty="0" smtClean="0"/>
          </a:p>
          <a:p>
            <a:endParaRPr lang="en-IN" sz="2000" dirty="0" smtClean="0"/>
          </a:p>
          <a:p>
            <a:r>
              <a:rPr lang="en-IN" sz="2000" dirty="0" err="1" smtClean="0"/>
              <a:t>calloc</a:t>
            </a:r>
            <a:r>
              <a:rPr lang="en-IN" sz="2000" dirty="0"/>
              <a:t>() allocates the memory and also initializes the allocated memory block to zero. </a:t>
            </a:r>
            <a:endParaRPr lang="en-IN" sz="2000" dirty="0" smtClean="0"/>
          </a:p>
          <a:p>
            <a:pPr lvl="1"/>
            <a:r>
              <a:rPr lang="en-IN" sz="1800" dirty="0" smtClean="0"/>
              <a:t>If </a:t>
            </a:r>
            <a:r>
              <a:rPr lang="en-IN" sz="1800" dirty="0"/>
              <a:t>we try to access the content of these blocks then we’ll get 0. </a:t>
            </a:r>
          </a:p>
        </p:txBody>
      </p:sp>
      <p:sp>
        <p:nvSpPr>
          <p:cNvPr id="4" name="Date Placeholder 3"/>
          <p:cNvSpPr>
            <a:spLocks noGrp="1"/>
          </p:cNvSpPr>
          <p:nvPr>
            <p:ph type="dt" sz="half" idx="10"/>
          </p:nvPr>
        </p:nvSpPr>
        <p:spPr/>
        <p:txBody>
          <a:bodyPr/>
          <a:lstStyle/>
          <a:p>
            <a:fld id="{DE9616D6-A471-4A45-BDE4-B4D159290D38}"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24</a:t>
            </a:fld>
            <a:endParaRPr lang="en-IN"/>
          </a:p>
        </p:txBody>
      </p:sp>
    </p:spTree>
    <p:extLst>
      <p:ext uri="{BB962C8B-B14F-4D97-AF65-F5344CB8AC3E}">
        <p14:creationId xmlns:p14="http://schemas.microsoft.com/office/powerpoint/2010/main" val="12734728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7024744" cy="529128"/>
          </a:xfrm>
        </p:spPr>
        <p:txBody>
          <a:bodyPr>
            <a:noAutofit/>
          </a:bodyPr>
          <a:lstStyle/>
          <a:p>
            <a:r>
              <a:rPr lang="en-IN" sz="2400" b="1" dirty="0" err="1"/>
              <a:t>Malloc</a:t>
            </a:r>
            <a:r>
              <a:rPr lang="en-IN" sz="2400" b="1" dirty="0"/>
              <a:t>() vs </a:t>
            </a:r>
            <a:r>
              <a:rPr lang="en-IN" sz="2400" b="1" dirty="0" err="1"/>
              <a:t>c</a:t>
            </a:r>
            <a:r>
              <a:rPr lang="en-IN" sz="2400" b="1" dirty="0" err="1" smtClean="0"/>
              <a:t>allloc</a:t>
            </a:r>
            <a:r>
              <a:rPr lang="en-IN" sz="2400" b="1" dirty="0" smtClean="0"/>
              <a:t>() </a:t>
            </a:r>
            <a:r>
              <a:rPr lang="en-IN" sz="2400" b="1" dirty="0" err="1" smtClean="0"/>
              <a:t>fn</a:t>
            </a:r>
            <a:endParaRPr lang="en-IN" sz="2400" b="1" dirty="0"/>
          </a:p>
        </p:txBody>
      </p:sp>
      <p:sp>
        <p:nvSpPr>
          <p:cNvPr id="3" name="Content Placeholder 2"/>
          <p:cNvSpPr>
            <a:spLocks noGrp="1"/>
          </p:cNvSpPr>
          <p:nvPr>
            <p:ph idx="1"/>
          </p:nvPr>
        </p:nvSpPr>
        <p:spPr>
          <a:xfrm>
            <a:off x="827584" y="872716"/>
            <a:ext cx="6777317" cy="5256584"/>
          </a:xfrm>
        </p:spPr>
        <p:txBody>
          <a:bodyPr>
            <a:normAutofit/>
          </a:bodyPr>
          <a:lstStyle/>
          <a:p>
            <a:pPr marL="68580" indent="0">
              <a:buNone/>
            </a:pPr>
            <a:r>
              <a:rPr lang="en-IN" sz="2000" dirty="0" err="1" smtClean="0"/>
              <a:t>Malloc</a:t>
            </a:r>
            <a:endParaRPr lang="en-IN" sz="2000" dirty="0" smtClean="0"/>
          </a:p>
          <a:p>
            <a:r>
              <a:rPr lang="en-IN" sz="2000" dirty="0" smtClean="0"/>
              <a:t>allocate </a:t>
            </a:r>
            <a:r>
              <a:rPr lang="en-IN" sz="2000" dirty="0"/>
              <a:t>a single large block of memory with the specified size. </a:t>
            </a:r>
            <a:endParaRPr lang="en-IN" sz="2000" dirty="0" smtClean="0"/>
          </a:p>
          <a:p>
            <a:pPr marL="68580" indent="0">
              <a:buNone/>
            </a:pPr>
            <a:endParaRPr lang="en-IN" sz="2000" dirty="0" smtClean="0"/>
          </a:p>
          <a:p>
            <a:pPr marL="68580" indent="0">
              <a:buNone/>
            </a:pPr>
            <a:endParaRPr lang="en-IN" sz="2000" dirty="0"/>
          </a:p>
          <a:p>
            <a:pPr marL="68580" indent="0">
              <a:buNone/>
            </a:pPr>
            <a:endParaRPr lang="en-IN" sz="2000" dirty="0" smtClean="0"/>
          </a:p>
          <a:p>
            <a:pPr marL="68580" indent="0">
              <a:buNone/>
            </a:pPr>
            <a:endParaRPr lang="en-IN" sz="2000" dirty="0" smtClean="0"/>
          </a:p>
          <a:p>
            <a:pPr marL="68580" indent="0">
              <a:buNone/>
            </a:pPr>
            <a:r>
              <a:rPr lang="en-IN" sz="2000" dirty="0" err="1" smtClean="0"/>
              <a:t>Calloc</a:t>
            </a:r>
            <a:endParaRPr lang="en-IN" sz="2000" dirty="0" smtClean="0"/>
          </a:p>
          <a:p>
            <a:r>
              <a:rPr lang="en-IN" sz="2000" dirty="0"/>
              <a:t>allocate multiple blocks of memory</a:t>
            </a:r>
          </a:p>
          <a:p>
            <a:r>
              <a:rPr lang="en-IN" sz="2000" dirty="0" smtClean="0"/>
              <a:t>dynamically </a:t>
            </a:r>
            <a:r>
              <a:rPr lang="en-IN" sz="2000" dirty="0"/>
              <a:t>allocate the specified number of blocks of memory of the specified type.</a:t>
            </a:r>
            <a:endParaRPr lang="en-IN" sz="2000" dirty="0" smtClean="0"/>
          </a:p>
          <a:p>
            <a:endParaRPr lang="en-IN" sz="1800" dirty="0"/>
          </a:p>
        </p:txBody>
      </p:sp>
      <p:sp>
        <p:nvSpPr>
          <p:cNvPr id="4" name="Date Placeholder 3"/>
          <p:cNvSpPr>
            <a:spLocks noGrp="1"/>
          </p:cNvSpPr>
          <p:nvPr>
            <p:ph type="dt" sz="half" idx="10"/>
          </p:nvPr>
        </p:nvSpPr>
        <p:spPr/>
        <p:txBody>
          <a:bodyPr/>
          <a:lstStyle/>
          <a:p>
            <a:fld id="{DE9616D6-A471-4A45-BDE4-B4D159290D38}"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25</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916832"/>
            <a:ext cx="7488832" cy="1224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4863430"/>
            <a:ext cx="7488832" cy="15899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092238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free()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r>
              <a:rPr lang="en-IN" sz="2000" dirty="0" smtClean="0"/>
              <a:t>Used to deallocate the previously allocated memory using </a:t>
            </a:r>
            <a:r>
              <a:rPr lang="en-IN" sz="2000" dirty="0" err="1" smtClean="0"/>
              <a:t>malloc</a:t>
            </a:r>
            <a:r>
              <a:rPr lang="en-IN" sz="2000" dirty="0" smtClean="0"/>
              <a:t> or </a:t>
            </a:r>
            <a:r>
              <a:rPr lang="en-IN" sz="2000" dirty="0" err="1" smtClean="0"/>
              <a:t>calloc</a:t>
            </a:r>
            <a:r>
              <a:rPr lang="en-IN" sz="2000" dirty="0" smtClean="0"/>
              <a:t>() </a:t>
            </a:r>
            <a:r>
              <a:rPr lang="en-IN" sz="2000" dirty="0" err="1" smtClean="0"/>
              <a:t>fn</a:t>
            </a:r>
            <a:endParaRPr lang="en-IN" sz="2000" dirty="0" smtClean="0"/>
          </a:p>
          <a:p>
            <a:endParaRPr lang="en-IN" sz="2000" b="1" dirty="0" smtClean="0"/>
          </a:p>
          <a:p>
            <a:r>
              <a:rPr lang="en-IN" sz="2000" b="1" dirty="0" smtClean="0"/>
              <a:t>Syntax-</a:t>
            </a:r>
          </a:p>
          <a:p>
            <a:pPr marL="68580" indent="0">
              <a:buNone/>
            </a:pPr>
            <a:r>
              <a:rPr lang="en-IN" sz="2000" b="1" dirty="0" smtClean="0"/>
              <a:t> 		free(</a:t>
            </a:r>
            <a:r>
              <a:rPr lang="en-IN" sz="2000" b="1" dirty="0" err="1" smtClean="0"/>
              <a:t>ptr_var</a:t>
            </a:r>
            <a:r>
              <a:rPr lang="en-IN" sz="2000" b="1" dirty="0" smtClean="0"/>
              <a:t>);</a:t>
            </a:r>
          </a:p>
          <a:p>
            <a:endParaRPr lang="en-IN" sz="1800" dirty="0" smtClean="0"/>
          </a:p>
          <a:p>
            <a:r>
              <a:rPr lang="en-IN" sz="1800" dirty="0" err="1" smtClean="0"/>
              <a:t>ptr_var</a:t>
            </a:r>
            <a:r>
              <a:rPr lang="en-IN" sz="1800" dirty="0" smtClean="0"/>
              <a:t> is the pointer in which the address of the allocated  memory block is assigned.</a:t>
            </a:r>
          </a:p>
          <a:p>
            <a:endParaRPr lang="en-IN" sz="1800" dirty="0" smtClean="0"/>
          </a:p>
          <a:p>
            <a:r>
              <a:rPr lang="en-IN" sz="1800" dirty="0" smtClean="0"/>
              <a:t>Returns the allocated memory to the system RAM..</a:t>
            </a:r>
          </a:p>
        </p:txBody>
      </p:sp>
      <p:sp>
        <p:nvSpPr>
          <p:cNvPr id="4" name="Date Placeholder 3"/>
          <p:cNvSpPr>
            <a:spLocks noGrp="1"/>
          </p:cNvSpPr>
          <p:nvPr>
            <p:ph type="dt" sz="half" idx="10"/>
          </p:nvPr>
        </p:nvSpPr>
        <p:spPr/>
        <p:txBody>
          <a:bodyPr/>
          <a:lstStyle/>
          <a:p>
            <a:fld id="{8FBED48A-14B0-4AE2-9544-3E8ACAFA6052}"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26</a:t>
            </a:fld>
            <a:endParaRPr lang="en-IN"/>
          </a:p>
        </p:txBody>
      </p:sp>
    </p:spTree>
    <p:extLst>
      <p:ext uri="{BB962C8B-B14F-4D97-AF65-F5344CB8AC3E}">
        <p14:creationId xmlns:p14="http://schemas.microsoft.com/office/powerpoint/2010/main" val="7328166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B710D74-2398-47D4-A516-B8748A1822B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27</a:t>
            </a:fld>
            <a:endParaRPr lang="en-IN"/>
          </a:p>
        </p:txBody>
      </p:sp>
      <p:sp>
        <p:nvSpPr>
          <p:cNvPr id="7" name="Title 1"/>
          <p:cNvSpPr txBox="1">
            <a:spLocks/>
          </p:cNvSpPr>
          <p:nvPr/>
        </p:nvSpPr>
        <p:spPr>
          <a:xfrm>
            <a:off x="611560" y="620688"/>
            <a:ext cx="7024744" cy="745152"/>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1" smtClean="0"/>
              <a:t>What happens when you don’t free memory after using malloc()</a:t>
            </a:r>
            <a:endParaRPr lang="en-IN" sz="2000" dirty="0"/>
          </a:p>
        </p:txBody>
      </p:sp>
      <p:sp>
        <p:nvSpPr>
          <p:cNvPr id="2" name="Content Placeholder 1"/>
          <p:cNvSpPr>
            <a:spLocks noGrp="1"/>
          </p:cNvSpPr>
          <p:nvPr>
            <p:ph idx="1"/>
          </p:nvPr>
        </p:nvSpPr>
        <p:spPr/>
        <p:txBody>
          <a:bodyPr/>
          <a:lstStyle/>
          <a:p>
            <a:endParaRPr lang="en-IN"/>
          </a:p>
        </p:txBody>
      </p:sp>
    </p:spTree>
    <p:extLst>
      <p:ext uri="{BB962C8B-B14F-4D97-AF65-F5344CB8AC3E}">
        <p14:creationId xmlns:p14="http://schemas.microsoft.com/office/powerpoint/2010/main" val="26313114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492" y="1628800"/>
            <a:ext cx="6777317" cy="4203829"/>
          </a:xfrm>
        </p:spPr>
        <p:txBody>
          <a:bodyPr>
            <a:normAutofit/>
          </a:bodyPr>
          <a:lstStyle/>
          <a:p>
            <a:r>
              <a:rPr lang="en-IN" sz="1800" dirty="0" smtClean="0"/>
              <a:t>The memory allocated </a:t>
            </a:r>
            <a:r>
              <a:rPr lang="en-IN" sz="1800" dirty="0"/>
              <a:t>using </a:t>
            </a:r>
            <a:r>
              <a:rPr lang="en-IN" sz="1800" dirty="0" err="1"/>
              <a:t>malloc</a:t>
            </a:r>
            <a:r>
              <a:rPr lang="en-IN" sz="1800" dirty="0"/>
              <a:t>() is not de-allocated on its own. </a:t>
            </a:r>
            <a:endParaRPr lang="en-IN" sz="1800" dirty="0" smtClean="0"/>
          </a:p>
          <a:p>
            <a:endParaRPr lang="en-IN" sz="1800" dirty="0" smtClean="0"/>
          </a:p>
          <a:p>
            <a:r>
              <a:rPr lang="en-IN" sz="1800" dirty="0" smtClean="0"/>
              <a:t>So</a:t>
            </a:r>
            <a:r>
              <a:rPr lang="en-IN" sz="1800" dirty="0"/>
              <a:t>, “free()” method is used to de-allocate the memory. </a:t>
            </a:r>
            <a:endParaRPr lang="en-IN" sz="1800" dirty="0" smtClean="0"/>
          </a:p>
          <a:p>
            <a:endParaRPr lang="en-IN" sz="1800" dirty="0" smtClean="0"/>
          </a:p>
          <a:p>
            <a:r>
              <a:rPr lang="en-IN" sz="1800" dirty="0" smtClean="0"/>
              <a:t>But </a:t>
            </a:r>
            <a:r>
              <a:rPr lang="en-IN" sz="1800" dirty="0"/>
              <a:t>the free() method is not compulsory to use. </a:t>
            </a:r>
            <a:endParaRPr lang="en-IN" sz="1800" dirty="0" smtClean="0"/>
          </a:p>
          <a:p>
            <a:endParaRPr lang="en-IN" sz="1800" dirty="0" smtClean="0"/>
          </a:p>
        </p:txBody>
      </p:sp>
      <p:sp>
        <p:nvSpPr>
          <p:cNvPr id="4" name="Date Placeholder 3"/>
          <p:cNvSpPr>
            <a:spLocks noGrp="1"/>
          </p:cNvSpPr>
          <p:nvPr>
            <p:ph type="dt" sz="half" idx="10"/>
          </p:nvPr>
        </p:nvSpPr>
        <p:spPr/>
        <p:txBody>
          <a:bodyPr/>
          <a:lstStyle/>
          <a:p>
            <a:fld id="{EB710D74-2398-47D4-A516-B8748A1822B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28</a:t>
            </a:fld>
            <a:endParaRPr lang="en-IN"/>
          </a:p>
        </p:txBody>
      </p:sp>
      <p:sp>
        <p:nvSpPr>
          <p:cNvPr id="7" name="Title 1"/>
          <p:cNvSpPr txBox="1">
            <a:spLocks/>
          </p:cNvSpPr>
          <p:nvPr/>
        </p:nvSpPr>
        <p:spPr>
          <a:xfrm>
            <a:off x="611560" y="620688"/>
            <a:ext cx="7024744" cy="745152"/>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1" smtClean="0"/>
              <a:t>What happens when you don’t free memory after using malloc()</a:t>
            </a:r>
            <a:endParaRPr lang="en-IN" sz="2000" dirty="0"/>
          </a:p>
        </p:txBody>
      </p:sp>
    </p:spTree>
    <p:extLst>
      <p:ext uri="{BB962C8B-B14F-4D97-AF65-F5344CB8AC3E}">
        <p14:creationId xmlns:p14="http://schemas.microsoft.com/office/powerpoint/2010/main" val="26934592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492" y="1628800"/>
            <a:ext cx="6777317" cy="4203829"/>
          </a:xfrm>
        </p:spPr>
        <p:txBody>
          <a:bodyPr>
            <a:normAutofit/>
          </a:bodyPr>
          <a:lstStyle/>
          <a:p>
            <a:r>
              <a:rPr lang="en-IN" sz="2000" dirty="0" smtClean="0"/>
              <a:t>If </a:t>
            </a:r>
            <a:r>
              <a:rPr lang="en-IN" sz="2000" dirty="0"/>
              <a:t>free() is not used in a program </a:t>
            </a:r>
            <a:endParaRPr lang="en-IN" sz="2000" dirty="0" smtClean="0"/>
          </a:p>
          <a:p>
            <a:pPr lvl="1"/>
            <a:r>
              <a:rPr lang="en-IN" sz="2000" dirty="0" smtClean="0"/>
              <a:t>the </a:t>
            </a:r>
            <a:r>
              <a:rPr lang="en-IN" sz="2000" dirty="0"/>
              <a:t>memory allocated using </a:t>
            </a:r>
            <a:r>
              <a:rPr lang="en-IN" sz="2000" dirty="0" err="1"/>
              <a:t>malloc</a:t>
            </a:r>
            <a:r>
              <a:rPr lang="en-IN" sz="2000" dirty="0"/>
              <a:t>() will be de-allocated </a:t>
            </a:r>
            <a:endParaRPr lang="en-IN" sz="2000" dirty="0" smtClean="0"/>
          </a:p>
          <a:p>
            <a:pPr lvl="1"/>
            <a:r>
              <a:rPr lang="en-IN" sz="2000" dirty="0" smtClean="0"/>
              <a:t>after </a:t>
            </a:r>
            <a:r>
              <a:rPr lang="en-IN" sz="2000" dirty="0"/>
              <a:t>completion of the execution of the program </a:t>
            </a:r>
            <a:endParaRPr lang="en-IN" sz="2000" dirty="0" smtClean="0"/>
          </a:p>
          <a:p>
            <a:pPr lvl="1"/>
            <a:r>
              <a:rPr lang="en-IN" sz="2000" dirty="0" smtClean="0"/>
              <a:t>(</a:t>
            </a:r>
            <a:r>
              <a:rPr lang="en-IN" sz="2000" dirty="0"/>
              <a:t>included program execution time is relatively small and the program ends normally). </a:t>
            </a:r>
          </a:p>
        </p:txBody>
      </p:sp>
      <p:sp>
        <p:nvSpPr>
          <p:cNvPr id="4" name="Date Placeholder 3"/>
          <p:cNvSpPr>
            <a:spLocks noGrp="1"/>
          </p:cNvSpPr>
          <p:nvPr>
            <p:ph type="dt" sz="half" idx="10"/>
          </p:nvPr>
        </p:nvSpPr>
        <p:spPr/>
        <p:txBody>
          <a:bodyPr/>
          <a:lstStyle/>
          <a:p>
            <a:fld id="{EB710D74-2398-47D4-A516-B8748A1822B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29</a:t>
            </a:fld>
            <a:endParaRPr lang="en-IN"/>
          </a:p>
        </p:txBody>
      </p:sp>
      <p:sp>
        <p:nvSpPr>
          <p:cNvPr id="7" name="Title 1"/>
          <p:cNvSpPr txBox="1">
            <a:spLocks/>
          </p:cNvSpPr>
          <p:nvPr/>
        </p:nvSpPr>
        <p:spPr>
          <a:xfrm>
            <a:off x="611560" y="620688"/>
            <a:ext cx="7024744" cy="745152"/>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000" b="1" smtClean="0"/>
              <a:t>What happens when you don’t free memory after using malloc()</a:t>
            </a:r>
            <a:endParaRPr lang="en-IN" sz="2000" dirty="0"/>
          </a:p>
        </p:txBody>
      </p:sp>
    </p:spTree>
    <p:extLst>
      <p:ext uri="{BB962C8B-B14F-4D97-AF65-F5344CB8AC3E}">
        <p14:creationId xmlns:p14="http://schemas.microsoft.com/office/powerpoint/2010/main" val="32027390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620688"/>
            <a:ext cx="7024744" cy="745152"/>
          </a:xfrm>
        </p:spPr>
        <p:txBody>
          <a:bodyPr>
            <a:noAutofit/>
          </a:bodyPr>
          <a:lstStyle/>
          <a:p>
            <a:r>
              <a:rPr lang="en-IN" sz="2000" b="1" dirty="0" smtClean="0"/>
              <a:t>What </a:t>
            </a:r>
            <a:r>
              <a:rPr lang="en-IN" sz="2000" b="1" dirty="0"/>
              <a:t>happens when you don’t free memory after using </a:t>
            </a:r>
            <a:r>
              <a:rPr lang="en-IN" sz="2000" b="1" dirty="0" err="1"/>
              <a:t>malloc</a:t>
            </a:r>
            <a:r>
              <a:rPr lang="en-IN" sz="2000" b="1" dirty="0" smtClean="0"/>
              <a:t>()</a:t>
            </a:r>
            <a:endParaRPr lang="en-IN" sz="2000" dirty="0"/>
          </a:p>
        </p:txBody>
      </p:sp>
      <p:sp>
        <p:nvSpPr>
          <p:cNvPr id="3" name="Content Placeholder 2"/>
          <p:cNvSpPr>
            <a:spLocks noGrp="1"/>
          </p:cNvSpPr>
          <p:nvPr>
            <p:ph idx="1"/>
          </p:nvPr>
        </p:nvSpPr>
        <p:spPr>
          <a:xfrm>
            <a:off x="899592" y="1484784"/>
            <a:ext cx="6777317" cy="3508977"/>
          </a:xfrm>
        </p:spPr>
        <p:txBody>
          <a:bodyPr>
            <a:noAutofit/>
          </a:bodyPr>
          <a:lstStyle/>
          <a:p>
            <a:r>
              <a:rPr lang="en-IN" sz="1800" dirty="0" smtClean="0"/>
              <a:t>Still, there are some important reasons to free() after using </a:t>
            </a:r>
            <a:r>
              <a:rPr lang="en-IN" sz="1800" dirty="0" err="1" smtClean="0"/>
              <a:t>malloc</a:t>
            </a:r>
            <a:r>
              <a:rPr lang="en-IN" sz="1800" dirty="0" smtClean="0"/>
              <a:t>():</a:t>
            </a:r>
          </a:p>
          <a:p>
            <a:endParaRPr lang="en-IN" sz="1800" dirty="0" smtClean="0"/>
          </a:p>
          <a:p>
            <a:pPr marL="708660" lvl="1" indent="-342900">
              <a:buFont typeface="+mj-lt"/>
              <a:buAutoNum type="arabicParenR"/>
            </a:pPr>
            <a:r>
              <a:rPr lang="en-IN" sz="1800" b="1" dirty="0" smtClean="0"/>
              <a:t>Use of free after </a:t>
            </a:r>
            <a:r>
              <a:rPr lang="en-IN" sz="1800" b="1" dirty="0" err="1" smtClean="0"/>
              <a:t>malloc</a:t>
            </a:r>
            <a:r>
              <a:rPr lang="en-IN" sz="1800" b="1" dirty="0" smtClean="0"/>
              <a:t> is a good practice of programming.</a:t>
            </a:r>
          </a:p>
          <a:p>
            <a:pPr marL="708660" lvl="1" indent="-342900">
              <a:buFont typeface="+mj-lt"/>
              <a:buAutoNum type="arabicParenR"/>
            </a:pPr>
            <a:r>
              <a:rPr lang="en-IN" sz="1800" b="1" dirty="0" smtClean="0"/>
              <a:t>There are some programs like a digital clock, a listener that runs in the background for a long time and there are also such programs which allocate memory periodically. </a:t>
            </a:r>
          </a:p>
        </p:txBody>
      </p:sp>
      <p:sp>
        <p:nvSpPr>
          <p:cNvPr id="4" name="Date Placeholder 3"/>
          <p:cNvSpPr>
            <a:spLocks noGrp="1"/>
          </p:cNvSpPr>
          <p:nvPr>
            <p:ph type="dt" sz="half" idx="10"/>
          </p:nvPr>
        </p:nvSpPr>
        <p:spPr/>
        <p:txBody>
          <a:bodyPr/>
          <a:lstStyle/>
          <a:p>
            <a:fld id="{EB710D74-2398-47D4-A516-B8748A1822B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30</a:t>
            </a:fld>
            <a:endParaRPr lang="en-IN"/>
          </a:p>
        </p:txBody>
      </p:sp>
    </p:spTree>
    <p:extLst>
      <p:ext uri="{BB962C8B-B14F-4D97-AF65-F5344CB8AC3E}">
        <p14:creationId xmlns:p14="http://schemas.microsoft.com/office/powerpoint/2010/main" val="292769955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620688"/>
            <a:ext cx="7024744" cy="745152"/>
          </a:xfrm>
        </p:spPr>
        <p:txBody>
          <a:bodyPr>
            <a:noAutofit/>
          </a:bodyPr>
          <a:lstStyle/>
          <a:p>
            <a:r>
              <a:rPr lang="en-IN" sz="2000" b="1" dirty="0" smtClean="0"/>
              <a:t>What </a:t>
            </a:r>
            <a:r>
              <a:rPr lang="en-IN" sz="2000" b="1" dirty="0"/>
              <a:t>happens when you don’t free memory after using </a:t>
            </a:r>
            <a:r>
              <a:rPr lang="en-IN" sz="2000" b="1" dirty="0" err="1"/>
              <a:t>malloc</a:t>
            </a:r>
            <a:r>
              <a:rPr lang="en-IN" sz="2000" b="1" dirty="0" smtClean="0"/>
              <a:t>()</a:t>
            </a:r>
            <a:endParaRPr lang="en-IN" sz="2000" dirty="0"/>
          </a:p>
        </p:txBody>
      </p:sp>
      <p:sp>
        <p:nvSpPr>
          <p:cNvPr id="3" name="Content Placeholder 2"/>
          <p:cNvSpPr>
            <a:spLocks noGrp="1"/>
          </p:cNvSpPr>
          <p:nvPr>
            <p:ph idx="1"/>
          </p:nvPr>
        </p:nvSpPr>
        <p:spPr>
          <a:xfrm>
            <a:off x="899592" y="1484784"/>
            <a:ext cx="6777317" cy="3508977"/>
          </a:xfrm>
        </p:spPr>
        <p:txBody>
          <a:bodyPr>
            <a:noAutofit/>
          </a:bodyPr>
          <a:lstStyle/>
          <a:p>
            <a:r>
              <a:rPr lang="en-IN" sz="1800" dirty="0" smtClean="0"/>
              <a:t>Still, there are some important reasons to free() after using </a:t>
            </a:r>
            <a:r>
              <a:rPr lang="en-IN" sz="1800" dirty="0" err="1" smtClean="0"/>
              <a:t>malloc</a:t>
            </a:r>
            <a:r>
              <a:rPr lang="en-IN" sz="1800" dirty="0" smtClean="0"/>
              <a:t>():</a:t>
            </a:r>
          </a:p>
          <a:p>
            <a:endParaRPr lang="en-IN" sz="1800" dirty="0" smtClean="0"/>
          </a:p>
          <a:p>
            <a:pPr lvl="1"/>
            <a:r>
              <a:rPr lang="en-IN" sz="1800" dirty="0" smtClean="0"/>
              <a:t>In these cases, even small chunks of storage add up and create a problem. </a:t>
            </a:r>
          </a:p>
          <a:p>
            <a:pPr lvl="1"/>
            <a:r>
              <a:rPr lang="en-IN" sz="1800" dirty="0" smtClean="0"/>
              <a:t>Thus our usable space decreases. </a:t>
            </a:r>
          </a:p>
          <a:p>
            <a:pPr lvl="1"/>
            <a:r>
              <a:rPr lang="en-IN" sz="1800" b="1" dirty="0" smtClean="0"/>
              <a:t>This is also called “memory leak”. </a:t>
            </a:r>
          </a:p>
          <a:p>
            <a:pPr lvl="1"/>
            <a:r>
              <a:rPr lang="en-IN" sz="1800" dirty="0" smtClean="0"/>
              <a:t>It may also happen that our system goes out of memory if the de-allocation of memory does not take place at the right time.</a:t>
            </a:r>
          </a:p>
          <a:p>
            <a:endParaRPr lang="en-IN" sz="2000" dirty="0"/>
          </a:p>
        </p:txBody>
      </p:sp>
      <p:sp>
        <p:nvSpPr>
          <p:cNvPr id="4" name="Date Placeholder 3"/>
          <p:cNvSpPr>
            <a:spLocks noGrp="1"/>
          </p:cNvSpPr>
          <p:nvPr>
            <p:ph type="dt" sz="half" idx="10"/>
          </p:nvPr>
        </p:nvSpPr>
        <p:spPr/>
        <p:txBody>
          <a:bodyPr/>
          <a:lstStyle/>
          <a:p>
            <a:fld id="{EB710D74-2398-47D4-A516-B8748A1822BD}" type="datetime1">
              <a:rPr lang="en-IN" smtClean="0"/>
              <a:t>06-08-2024</a:t>
            </a:fld>
            <a:endParaRPr lang="en-IN"/>
          </a:p>
        </p:txBody>
      </p:sp>
      <p:sp>
        <p:nvSpPr>
          <p:cNvPr id="5" name="Footer Placeholder 4"/>
          <p:cNvSpPr>
            <a:spLocks noGrp="1"/>
          </p:cNvSpPr>
          <p:nvPr>
            <p:ph type="ftr" sz="quarter" idx="11"/>
          </p:nvPr>
        </p:nvSpPr>
        <p:spPr/>
        <p:txBody>
          <a:bodyPr/>
          <a:lstStyle/>
          <a:p>
            <a:r>
              <a:rPr lang="en-IN" dirty="0" err="1" smtClean="0"/>
              <a:t>Prof.</a:t>
            </a:r>
            <a:r>
              <a:rPr lang="en-IN" dirty="0" smtClean="0"/>
              <a:t> Shweta Dhawan Chachra</a:t>
            </a:r>
            <a:endParaRPr lang="en-IN" dirty="0"/>
          </a:p>
        </p:txBody>
      </p:sp>
      <p:sp>
        <p:nvSpPr>
          <p:cNvPr id="6" name="Slide Number Placeholder 5"/>
          <p:cNvSpPr>
            <a:spLocks noGrp="1"/>
          </p:cNvSpPr>
          <p:nvPr>
            <p:ph type="sldNum" sz="quarter" idx="12"/>
          </p:nvPr>
        </p:nvSpPr>
        <p:spPr/>
        <p:txBody>
          <a:bodyPr/>
          <a:lstStyle/>
          <a:p>
            <a:fld id="{91FA414A-FC3B-4762-BF9B-190CEE0147BD}" type="slidenum">
              <a:rPr lang="en-IN" smtClean="0"/>
              <a:t>31</a:t>
            </a:fld>
            <a:endParaRPr lang="en-IN"/>
          </a:p>
        </p:txBody>
      </p:sp>
    </p:spTree>
    <p:extLst>
      <p:ext uri="{BB962C8B-B14F-4D97-AF65-F5344CB8AC3E}">
        <p14:creationId xmlns:p14="http://schemas.microsoft.com/office/powerpoint/2010/main" val="333598972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385112"/>
          </a:xfrm>
        </p:spPr>
        <p:txBody>
          <a:bodyPr>
            <a:noAutofit/>
          </a:bodyPr>
          <a:lstStyle/>
          <a:p>
            <a:r>
              <a:rPr lang="en-IN" sz="2400" b="1" dirty="0" smtClean="0"/>
              <a:t>Memory Leak ?</a:t>
            </a:r>
            <a:endParaRPr lang="en-IN" sz="2400" b="1" dirty="0"/>
          </a:p>
        </p:txBody>
      </p:sp>
      <p:sp>
        <p:nvSpPr>
          <p:cNvPr id="3" name="Content Placeholder 2"/>
          <p:cNvSpPr>
            <a:spLocks noGrp="1"/>
          </p:cNvSpPr>
          <p:nvPr>
            <p:ph idx="1"/>
          </p:nvPr>
        </p:nvSpPr>
        <p:spPr/>
        <p:txBody>
          <a:bodyPr>
            <a:normAutofit/>
          </a:bodyPr>
          <a:lstStyle/>
          <a:p>
            <a:r>
              <a:rPr lang="en-IN" sz="1800" b="1" dirty="0" smtClean="0"/>
              <a:t>A </a:t>
            </a:r>
            <a:r>
              <a:rPr lang="en-IN" sz="1800" b="1" dirty="0"/>
              <a:t>memory leak is a type of resource leak </a:t>
            </a:r>
            <a:endParaRPr lang="en-IN" sz="1800" b="1" dirty="0" smtClean="0"/>
          </a:p>
          <a:p>
            <a:r>
              <a:rPr lang="en-IN" sz="1800" b="1" dirty="0" smtClean="0"/>
              <a:t>that </a:t>
            </a:r>
            <a:r>
              <a:rPr lang="en-IN" sz="1800" b="1" dirty="0"/>
              <a:t>occurs when a computer program incorrectly manages memory </a:t>
            </a:r>
            <a:r>
              <a:rPr lang="en-IN" sz="1800" b="1" dirty="0" smtClean="0"/>
              <a:t>allocations </a:t>
            </a:r>
          </a:p>
          <a:p>
            <a:r>
              <a:rPr lang="en-IN" sz="1800" b="1" dirty="0" smtClean="0"/>
              <a:t>in </a:t>
            </a:r>
            <a:r>
              <a:rPr lang="en-IN" sz="1800" b="1" dirty="0"/>
              <a:t>a way that memory which is no longer needed is not released</a:t>
            </a:r>
          </a:p>
        </p:txBody>
      </p:sp>
      <p:sp>
        <p:nvSpPr>
          <p:cNvPr id="4" name="Date Placeholder 3"/>
          <p:cNvSpPr>
            <a:spLocks noGrp="1"/>
          </p:cNvSpPr>
          <p:nvPr>
            <p:ph type="dt" sz="half" idx="10"/>
          </p:nvPr>
        </p:nvSpPr>
        <p:spPr/>
        <p:txBody>
          <a:bodyPr/>
          <a:lstStyle/>
          <a:p>
            <a:fld id="{EB710D74-2398-47D4-A516-B8748A1822B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32</a:t>
            </a:fld>
            <a:endParaRPr lang="en-IN"/>
          </a:p>
        </p:txBody>
      </p:sp>
    </p:spTree>
    <p:extLst>
      <p:ext uri="{BB962C8B-B14F-4D97-AF65-F5344CB8AC3E}">
        <p14:creationId xmlns:p14="http://schemas.microsoft.com/office/powerpoint/2010/main" val="90840362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realloc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r>
              <a:rPr lang="en-IN" sz="2000" dirty="0" smtClean="0"/>
              <a:t>To resize the size of memory block, which is already allocated using </a:t>
            </a:r>
            <a:r>
              <a:rPr lang="en-IN" sz="2000" dirty="0" err="1" smtClean="0"/>
              <a:t>malloc</a:t>
            </a:r>
            <a:r>
              <a:rPr lang="en-IN" sz="2000" dirty="0" smtClean="0"/>
              <a:t>.</a:t>
            </a:r>
          </a:p>
          <a:p>
            <a:endParaRPr lang="en-IN" sz="2000" dirty="0"/>
          </a:p>
          <a:p>
            <a:r>
              <a:rPr lang="en-IN" sz="2000" dirty="0" smtClean="0"/>
              <a:t>Used in two situations:</a:t>
            </a:r>
          </a:p>
          <a:p>
            <a:pPr lvl="1"/>
            <a:r>
              <a:rPr lang="en-IN" sz="1800" b="1" dirty="0" smtClean="0"/>
              <a:t>If the allocated memory is insufficient for current application</a:t>
            </a:r>
          </a:p>
          <a:p>
            <a:pPr lvl="1"/>
            <a:r>
              <a:rPr lang="en-IN" sz="1800" b="1" dirty="0" smtClean="0"/>
              <a:t>If the allocated memory is much more than what is required by the current application</a:t>
            </a:r>
          </a:p>
          <a:p>
            <a:endParaRPr lang="en-IN" sz="1800" b="1" dirty="0" smtClean="0"/>
          </a:p>
        </p:txBody>
      </p:sp>
      <p:sp>
        <p:nvSpPr>
          <p:cNvPr id="4" name="Date Placeholder 3"/>
          <p:cNvSpPr>
            <a:spLocks noGrp="1"/>
          </p:cNvSpPr>
          <p:nvPr>
            <p:ph type="dt" sz="half" idx="10"/>
          </p:nvPr>
        </p:nvSpPr>
        <p:spPr/>
        <p:txBody>
          <a:bodyPr/>
          <a:lstStyle/>
          <a:p>
            <a:fld id="{BDFEA1E4-D70E-43AF-A439-1512C31A5D87}"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33</a:t>
            </a:fld>
            <a:endParaRPr lang="en-IN"/>
          </a:p>
        </p:txBody>
      </p:sp>
    </p:spTree>
    <p:extLst>
      <p:ext uri="{BB962C8B-B14F-4D97-AF65-F5344CB8AC3E}">
        <p14:creationId xmlns:p14="http://schemas.microsoft.com/office/powerpoint/2010/main" val="270292964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The </a:t>
            </a:r>
            <a:r>
              <a:rPr lang="en-IN" sz="3200" b="1" dirty="0" err="1" smtClean="0"/>
              <a:t>realloc</a:t>
            </a:r>
            <a:r>
              <a:rPr lang="en-IN" sz="3200" b="1" dirty="0" smtClean="0"/>
              <a:t>() </a:t>
            </a:r>
            <a:r>
              <a:rPr lang="en-IN" sz="3200" b="1" dirty="0" err="1" smtClean="0"/>
              <a:t>fn</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r>
              <a:rPr lang="en-IN" sz="2000" dirty="0" smtClean="0"/>
              <a:t>Syntax-</a:t>
            </a:r>
          </a:p>
          <a:p>
            <a:pPr marL="68580" indent="0">
              <a:buNone/>
            </a:pPr>
            <a:r>
              <a:rPr lang="en-IN" sz="2000" dirty="0" smtClean="0"/>
              <a:t>            </a:t>
            </a:r>
            <a:r>
              <a:rPr lang="en-IN" sz="2000" b="1" dirty="0" err="1" smtClean="0"/>
              <a:t>ptr_var</a:t>
            </a:r>
            <a:r>
              <a:rPr lang="en-IN" sz="2000" b="1" dirty="0" smtClean="0"/>
              <a:t>=</a:t>
            </a:r>
            <a:r>
              <a:rPr lang="en-IN" sz="2000" b="1" dirty="0" err="1" smtClean="0"/>
              <a:t>realloc</a:t>
            </a:r>
            <a:r>
              <a:rPr lang="en-IN" sz="2000" b="1" dirty="0" smtClean="0"/>
              <a:t>(</a:t>
            </a:r>
            <a:r>
              <a:rPr lang="en-IN" sz="2000" b="1" dirty="0" err="1" smtClean="0"/>
              <a:t>ptr_var,new_size</a:t>
            </a:r>
            <a:r>
              <a:rPr lang="en-IN" sz="2000" b="1" dirty="0" smtClean="0"/>
              <a:t>);</a:t>
            </a:r>
          </a:p>
          <a:p>
            <a:endParaRPr lang="en-IN" sz="1800" dirty="0" smtClean="0"/>
          </a:p>
          <a:p>
            <a:r>
              <a:rPr lang="en-IN" sz="1800" dirty="0" err="1" smtClean="0"/>
              <a:t>ptr_var</a:t>
            </a:r>
            <a:r>
              <a:rPr lang="en-IN" sz="1800" dirty="0" smtClean="0"/>
              <a:t> is the pointer holding the starting address of already allocated memory block.</a:t>
            </a:r>
          </a:p>
          <a:p>
            <a:endParaRPr lang="en-IN" sz="1800" dirty="0"/>
          </a:p>
          <a:p>
            <a:r>
              <a:rPr lang="en-IN" sz="1800" dirty="0" smtClean="0"/>
              <a:t>Available in header file&lt;</a:t>
            </a:r>
            <a:r>
              <a:rPr lang="en-IN" sz="1800" dirty="0" err="1" smtClean="0"/>
              <a:t>stdlib.h</a:t>
            </a:r>
            <a:r>
              <a:rPr lang="en-IN" sz="1800" dirty="0" smtClean="0"/>
              <a:t>&gt;</a:t>
            </a:r>
          </a:p>
          <a:p>
            <a:endParaRPr lang="en-IN" sz="1800" b="1" dirty="0"/>
          </a:p>
          <a:p>
            <a:r>
              <a:rPr lang="en-IN" sz="1800" b="1" dirty="0" smtClean="0"/>
              <a:t>Can resize memory allocated previously through </a:t>
            </a:r>
            <a:r>
              <a:rPr lang="en-IN" sz="1800" b="1" dirty="0" err="1" smtClean="0"/>
              <a:t>malloc</a:t>
            </a:r>
            <a:r>
              <a:rPr lang="en-IN" sz="1800" b="1" dirty="0" smtClean="0"/>
              <a:t>/</a:t>
            </a:r>
            <a:r>
              <a:rPr lang="en-IN" sz="1800" b="1" dirty="0" err="1" smtClean="0"/>
              <a:t>calloc</a:t>
            </a:r>
            <a:r>
              <a:rPr lang="en-IN" sz="1800" b="1" dirty="0" smtClean="0"/>
              <a:t> only.</a:t>
            </a:r>
          </a:p>
        </p:txBody>
      </p:sp>
      <p:sp>
        <p:nvSpPr>
          <p:cNvPr id="4" name="Date Placeholder 3"/>
          <p:cNvSpPr>
            <a:spLocks noGrp="1"/>
          </p:cNvSpPr>
          <p:nvPr>
            <p:ph type="dt" sz="half" idx="10"/>
          </p:nvPr>
        </p:nvSpPr>
        <p:spPr/>
        <p:txBody>
          <a:bodyPr/>
          <a:lstStyle/>
          <a:p>
            <a:fld id="{6ABB7E53-7851-4A5A-8B01-BDA6C1670481}"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34</a:t>
            </a:fld>
            <a:endParaRPr lang="en-IN"/>
          </a:p>
        </p:txBody>
      </p:sp>
    </p:spTree>
    <p:extLst>
      <p:ext uri="{BB962C8B-B14F-4D97-AF65-F5344CB8AC3E}">
        <p14:creationId xmlns:p14="http://schemas.microsoft.com/office/powerpoint/2010/main" val="19928533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B710D74-2398-47D4-A516-B8748A1822B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35</a:t>
            </a:fld>
            <a:endParaRPr lang="en-IN"/>
          </a:p>
        </p:txBody>
      </p:sp>
      <p:sp>
        <p:nvSpPr>
          <p:cNvPr id="3" name="Content Placeholder 2"/>
          <p:cNvSpPr>
            <a:spLocks noGrp="1"/>
          </p:cNvSpPr>
          <p:nvPr>
            <p:ph sz="quarter" idx="13"/>
          </p:nvPr>
        </p:nvSpPr>
        <p:spPr>
          <a:xfrm>
            <a:off x="611560" y="1052736"/>
            <a:ext cx="7920880" cy="5328592"/>
          </a:xfrm>
        </p:spPr>
        <p:txBody>
          <a:bodyPr>
            <a:normAutofit fontScale="85000" lnSpcReduction="20000"/>
          </a:bodyPr>
          <a:lstStyle/>
          <a:p>
            <a:pPr marL="68580" indent="0">
              <a:buNone/>
            </a:pPr>
            <a:r>
              <a:rPr lang="en-IN" b="1" dirty="0"/>
              <a:t>#include &lt;</a:t>
            </a:r>
            <a:r>
              <a:rPr lang="en-IN" b="1" dirty="0" err="1"/>
              <a:t>stdio.h</a:t>
            </a:r>
            <a:r>
              <a:rPr lang="en-IN" b="1" dirty="0"/>
              <a:t>&gt;</a:t>
            </a:r>
          </a:p>
          <a:p>
            <a:pPr marL="68580" indent="0">
              <a:buNone/>
            </a:pPr>
            <a:r>
              <a:rPr lang="en-IN" b="1" dirty="0"/>
              <a:t>#include &lt;</a:t>
            </a:r>
            <a:r>
              <a:rPr lang="en-IN" b="1" dirty="0" err="1"/>
              <a:t>string.h</a:t>
            </a:r>
            <a:r>
              <a:rPr lang="en-IN" b="1" dirty="0"/>
              <a:t>&gt;</a:t>
            </a:r>
          </a:p>
          <a:p>
            <a:pPr marL="68580" indent="0">
              <a:buNone/>
            </a:pPr>
            <a:r>
              <a:rPr lang="en-IN" b="1" dirty="0"/>
              <a:t>#include &lt;</a:t>
            </a:r>
            <a:r>
              <a:rPr lang="en-IN" b="1" dirty="0" err="1"/>
              <a:t>stdlib.h</a:t>
            </a:r>
            <a:r>
              <a:rPr lang="en-IN" b="1" dirty="0"/>
              <a:t>&gt;</a:t>
            </a:r>
          </a:p>
          <a:p>
            <a:pPr marL="68580" indent="0">
              <a:buNone/>
            </a:pPr>
            <a:r>
              <a:rPr lang="en-IN" b="1" dirty="0"/>
              <a:t> </a:t>
            </a:r>
          </a:p>
          <a:p>
            <a:pPr marL="68580" indent="0">
              <a:buNone/>
            </a:pPr>
            <a:r>
              <a:rPr lang="en-IN" b="1" dirty="0" err="1"/>
              <a:t>int</a:t>
            </a:r>
            <a:r>
              <a:rPr lang="en-IN" b="1" dirty="0"/>
              <a:t> main()</a:t>
            </a:r>
          </a:p>
          <a:p>
            <a:pPr marL="68580" indent="0">
              <a:buNone/>
            </a:pPr>
            <a:r>
              <a:rPr lang="en-IN" b="1" dirty="0"/>
              <a:t>{</a:t>
            </a:r>
          </a:p>
          <a:p>
            <a:pPr marL="68580" indent="0">
              <a:buNone/>
            </a:pPr>
            <a:r>
              <a:rPr lang="en-IN" b="1" dirty="0"/>
              <a:t>    char *</a:t>
            </a:r>
            <a:r>
              <a:rPr lang="en-IN" b="1" dirty="0" err="1"/>
              <a:t>mem_allocation</a:t>
            </a:r>
            <a:r>
              <a:rPr lang="en-IN" b="1" dirty="0"/>
              <a:t>;</a:t>
            </a:r>
          </a:p>
          <a:p>
            <a:pPr marL="68580" indent="0">
              <a:buNone/>
            </a:pPr>
            <a:r>
              <a:rPr lang="en-IN" b="1" dirty="0"/>
              <a:t>    </a:t>
            </a:r>
            <a:r>
              <a:rPr lang="en-IN" b="1" dirty="0" err="1" smtClean="0"/>
              <a:t>mem_allocation</a:t>
            </a:r>
            <a:r>
              <a:rPr lang="en-IN" b="1" dirty="0" smtClean="0"/>
              <a:t> </a:t>
            </a:r>
            <a:r>
              <a:rPr lang="en-IN" b="1" dirty="0"/>
              <a:t>= </a:t>
            </a:r>
            <a:r>
              <a:rPr lang="en-IN" b="1" dirty="0" smtClean="0"/>
              <a:t>(char *) </a:t>
            </a:r>
            <a:r>
              <a:rPr lang="en-IN" b="1" dirty="0" err="1" smtClean="0"/>
              <a:t>malloc</a:t>
            </a:r>
            <a:r>
              <a:rPr lang="en-IN" b="1" dirty="0"/>
              <a:t>( 20 * </a:t>
            </a:r>
            <a:r>
              <a:rPr lang="en-IN" b="1" dirty="0" err="1"/>
              <a:t>sizeof</a:t>
            </a:r>
            <a:r>
              <a:rPr lang="en-IN" b="1" dirty="0"/>
              <a:t>(char) );</a:t>
            </a:r>
          </a:p>
          <a:p>
            <a:pPr marL="68580" indent="0">
              <a:buNone/>
            </a:pPr>
            <a:r>
              <a:rPr lang="en-IN" b="1" dirty="0"/>
              <a:t>    </a:t>
            </a:r>
            <a:endParaRPr lang="en-IN" b="1" dirty="0" smtClean="0"/>
          </a:p>
          <a:p>
            <a:pPr marL="68580" indent="0">
              <a:buNone/>
            </a:pPr>
            <a:r>
              <a:rPr lang="en-IN" b="1" dirty="0" smtClean="0"/>
              <a:t>    if</a:t>
            </a:r>
            <a:r>
              <a:rPr lang="en-IN" b="1" dirty="0"/>
              <a:t>( </a:t>
            </a:r>
            <a:r>
              <a:rPr lang="en-IN" b="1" dirty="0" err="1"/>
              <a:t>mem_allocation</a:t>
            </a:r>
            <a:r>
              <a:rPr lang="en-IN" b="1" dirty="0"/>
              <a:t> == NULL )</a:t>
            </a:r>
          </a:p>
          <a:p>
            <a:pPr marL="68580" indent="0">
              <a:buNone/>
            </a:pPr>
            <a:r>
              <a:rPr lang="en-IN" b="1" dirty="0"/>
              <a:t>    {</a:t>
            </a:r>
          </a:p>
          <a:p>
            <a:pPr marL="68580" indent="0">
              <a:buNone/>
            </a:pPr>
            <a:r>
              <a:rPr lang="en-IN" b="1" dirty="0"/>
              <a:t>        </a:t>
            </a:r>
            <a:r>
              <a:rPr lang="en-IN" b="1" dirty="0" err="1"/>
              <a:t>printf</a:t>
            </a:r>
            <a:r>
              <a:rPr lang="en-IN" b="1" dirty="0"/>
              <a:t>("Couldn't able to allocate requested memory\n");</a:t>
            </a:r>
          </a:p>
          <a:p>
            <a:pPr marL="68580" indent="0">
              <a:buNone/>
            </a:pPr>
            <a:r>
              <a:rPr lang="en-IN" b="1" dirty="0"/>
              <a:t>    }</a:t>
            </a:r>
          </a:p>
          <a:p>
            <a:pPr marL="68580" indent="0">
              <a:buNone/>
            </a:pPr>
            <a:r>
              <a:rPr lang="en-IN" b="1" dirty="0"/>
              <a:t>    else</a:t>
            </a:r>
          </a:p>
          <a:p>
            <a:pPr marL="68580" indent="0">
              <a:buNone/>
            </a:pPr>
            <a:r>
              <a:rPr lang="en-IN" b="1" dirty="0"/>
              <a:t>    {</a:t>
            </a:r>
          </a:p>
          <a:p>
            <a:pPr marL="68580" indent="0">
              <a:buNone/>
            </a:pPr>
            <a:r>
              <a:rPr lang="en-IN" b="1" dirty="0"/>
              <a:t>       </a:t>
            </a:r>
            <a:r>
              <a:rPr lang="en-IN" b="1" dirty="0" err="1"/>
              <a:t>strcpy</a:t>
            </a:r>
            <a:r>
              <a:rPr lang="en-IN" b="1" dirty="0"/>
              <a:t>( mem_allocation,"fresh2refresh.com");</a:t>
            </a:r>
          </a:p>
          <a:p>
            <a:pPr marL="68580" indent="0">
              <a:buNone/>
            </a:pPr>
            <a:r>
              <a:rPr lang="en-IN" b="1" dirty="0"/>
              <a:t>    </a:t>
            </a:r>
            <a:r>
              <a:rPr lang="en-IN" b="1" dirty="0" smtClean="0"/>
              <a:t>}</a:t>
            </a:r>
            <a:endParaRPr lang="en-IN" b="1" dirty="0"/>
          </a:p>
        </p:txBody>
      </p:sp>
      <p:sp>
        <p:nvSpPr>
          <p:cNvPr id="9" name="Title 1"/>
          <p:cNvSpPr>
            <a:spLocks noGrp="1"/>
          </p:cNvSpPr>
          <p:nvPr>
            <p:ph type="title"/>
          </p:nvPr>
        </p:nvSpPr>
        <p:spPr>
          <a:xfrm>
            <a:off x="611560" y="404664"/>
            <a:ext cx="7024744" cy="529128"/>
          </a:xfrm>
        </p:spPr>
        <p:txBody>
          <a:bodyPr>
            <a:noAutofit/>
          </a:bodyPr>
          <a:lstStyle/>
          <a:p>
            <a:r>
              <a:rPr lang="en-IN" sz="3200" b="1" dirty="0" err="1" smtClean="0"/>
              <a:t>Eg</a:t>
            </a:r>
            <a:r>
              <a:rPr lang="en-IN" sz="3200" b="1" dirty="0" smtClean="0"/>
              <a:t> of </a:t>
            </a:r>
            <a:r>
              <a:rPr lang="en-IN" sz="3200" b="1" dirty="0" err="1" smtClean="0"/>
              <a:t>mallloc</a:t>
            </a:r>
            <a:r>
              <a:rPr lang="en-IN" sz="3200" b="1" dirty="0" smtClean="0"/>
              <a:t>() </a:t>
            </a:r>
            <a:r>
              <a:rPr lang="en-IN" sz="3200" b="1" dirty="0" err="1" smtClean="0"/>
              <a:t>fn</a:t>
            </a:r>
            <a:endParaRPr lang="en-IN" sz="3200" b="1" dirty="0"/>
          </a:p>
        </p:txBody>
      </p:sp>
    </p:spTree>
    <p:extLst>
      <p:ext uri="{BB962C8B-B14F-4D97-AF65-F5344CB8AC3E}">
        <p14:creationId xmlns:p14="http://schemas.microsoft.com/office/powerpoint/2010/main" val="315354760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B710D74-2398-47D4-A516-B8748A1822B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36</a:t>
            </a:fld>
            <a:endParaRPr lang="en-IN"/>
          </a:p>
        </p:txBody>
      </p:sp>
      <p:sp>
        <p:nvSpPr>
          <p:cNvPr id="8" name="Content Placeholder 7"/>
          <p:cNvSpPr>
            <a:spLocks noGrp="1"/>
          </p:cNvSpPr>
          <p:nvPr>
            <p:ph sz="quarter" idx="14"/>
          </p:nvPr>
        </p:nvSpPr>
        <p:spPr>
          <a:xfrm>
            <a:off x="827584" y="1412776"/>
            <a:ext cx="7704856" cy="4896544"/>
          </a:xfrm>
        </p:spPr>
        <p:txBody>
          <a:bodyPr>
            <a:normAutofit fontScale="77500" lnSpcReduction="20000"/>
          </a:bodyPr>
          <a:lstStyle/>
          <a:p>
            <a:pPr marL="68580" indent="0">
              <a:buNone/>
            </a:pPr>
            <a:r>
              <a:rPr lang="en-IN" b="1" dirty="0" err="1"/>
              <a:t>printf</a:t>
            </a:r>
            <a:r>
              <a:rPr lang="en-IN" b="1" dirty="0"/>
              <a:t>("Dynamically allocated memory content  : </a:t>
            </a:r>
            <a:r>
              <a:rPr lang="en-IN" b="1" dirty="0" smtClean="0"/>
              <a:t>"%</a:t>
            </a:r>
            <a:r>
              <a:rPr lang="en-IN" b="1" dirty="0"/>
              <a:t>s\n", </a:t>
            </a:r>
            <a:r>
              <a:rPr lang="en-IN" b="1" dirty="0" err="1"/>
              <a:t>mem_allocation</a:t>
            </a:r>
            <a:r>
              <a:rPr lang="en-IN" b="1" dirty="0"/>
              <a:t> );</a:t>
            </a:r>
          </a:p>
          <a:p>
            <a:pPr marL="68580" indent="0">
              <a:buNone/>
            </a:pPr>
            <a:r>
              <a:rPr lang="en-IN" b="1" dirty="0"/>
              <a:t>    </a:t>
            </a:r>
            <a:r>
              <a:rPr lang="en-IN" b="1" dirty="0" err="1"/>
              <a:t>mem_allocation</a:t>
            </a:r>
            <a:r>
              <a:rPr lang="en-IN" b="1" dirty="0"/>
              <a:t>=</a:t>
            </a:r>
            <a:r>
              <a:rPr lang="en-IN" b="1" dirty="0" err="1"/>
              <a:t>realloc</a:t>
            </a:r>
            <a:r>
              <a:rPr lang="en-IN" b="1" dirty="0"/>
              <a:t>(mem_allocation,100*</a:t>
            </a:r>
            <a:r>
              <a:rPr lang="en-IN" b="1" dirty="0" err="1"/>
              <a:t>sizeof</a:t>
            </a:r>
            <a:r>
              <a:rPr lang="en-IN" b="1" dirty="0"/>
              <a:t>(char));</a:t>
            </a:r>
          </a:p>
          <a:p>
            <a:pPr marL="68580" indent="0">
              <a:buNone/>
            </a:pPr>
            <a:r>
              <a:rPr lang="en-IN" b="1" dirty="0"/>
              <a:t>    if( </a:t>
            </a:r>
            <a:r>
              <a:rPr lang="en-IN" b="1" dirty="0" err="1"/>
              <a:t>mem_allocation</a:t>
            </a:r>
            <a:r>
              <a:rPr lang="en-IN" b="1" dirty="0"/>
              <a:t> == NULL )</a:t>
            </a:r>
          </a:p>
          <a:p>
            <a:pPr marL="68580" indent="0">
              <a:buNone/>
            </a:pPr>
            <a:r>
              <a:rPr lang="en-IN" b="1" dirty="0"/>
              <a:t>    {</a:t>
            </a:r>
          </a:p>
          <a:p>
            <a:pPr marL="68580" indent="0">
              <a:buNone/>
            </a:pPr>
            <a:r>
              <a:rPr lang="en-IN" b="1" dirty="0"/>
              <a:t>        </a:t>
            </a:r>
            <a:r>
              <a:rPr lang="en-IN" b="1" dirty="0" err="1"/>
              <a:t>printf</a:t>
            </a:r>
            <a:r>
              <a:rPr lang="en-IN" b="1" dirty="0"/>
              <a:t>("Couldn't able to allocate requested memory\n");</a:t>
            </a:r>
          </a:p>
          <a:p>
            <a:pPr marL="68580" indent="0">
              <a:buNone/>
            </a:pPr>
            <a:r>
              <a:rPr lang="en-IN" b="1" dirty="0"/>
              <a:t>    }</a:t>
            </a:r>
          </a:p>
          <a:p>
            <a:pPr marL="68580" indent="0">
              <a:buNone/>
            </a:pPr>
            <a:r>
              <a:rPr lang="en-IN" b="1" dirty="0"/>
              <a:t>    else</a:t>
            </a:r>
          </a:p>
          <a:p>
            <a:pPr marL="68580" indent="0">
              <a:buNone/>
            </a:pPr>
            <a:r>
              <a:rPr lang="en-IN" b="1" dirty="0"/>
              <a:t>    {</a:t>
            </a:r>
          </a:p>
          <a:p>
            <a:pPr marL="68580" indent="0">
              <a:buNone/>
            </a:pPr>
            <a:r>
              <a:rPr lang="en-IN" b="1" dirty="0"/>
              <a:t>        </a:t>
            </a:r>
            <a:r>
              <a:rPr lang="en-IN" b="1" dirty="0" err="1"/>
              <a:t>strcpy</a:t>
            </a:r>
            <a:r>
              <a:rPr lang="en-IN" b="1" dirty="0"/>
              <a:t>( </a:t>
            </a:r>
            <a:r>
              <a:rPr lang="en-IN" b="1" dirty="0" err="1"/>
              <a:t>mem_allocation,"space</a:t>
            </a:r>
            <a:r>
              <a:rPr lang="en-IN" b="1" dirty="0"/>
              <a:t> is extended </a:t>
            </a:r>
            <a:r>
              <a:rPr lang="en-IN" b="1" dirty="0" err="1"/>
              <a:t>upto</a:t>
            </a:r>
            <a:r>
              <a:rPr lang="en-IN" b="1" dirty="0"/>
              <a:t> </a:t>
            </a:r>
            <a:r>
              <a:rPr lang="en-IN" b="1" dirty="0" smtClean="0"/>
              <a:t>100 </a:t>
            </a:r>
            <a:r>
              <a:rPr lang="en-IN" b="1" dirty="0"/>
              <a:t>characters");</a:t>
            </a:r>
          </a:p>
          <a:p>
            <a:pPr marL="68580" indent="0">
              <a:buNone/>
            </a:pPr>
            <a:r>
              <a:rPr lang="en-IN" b="1" dirty="0"/>
              <a:t>    }</a:t>
            </a:r>
          </a:p>
          <a:p>
            <a:pPr marL="68580" indent="0">
              <a:buNone/>
            </a:pPr>
            <a:r>
              <a:rPr lang="en-IN" b="1" dirty="0"/>
              <a:t>    </a:t>
            </a:r>
            <a:r>
              <a:rPr lang="en-IN" b="1" dirty="0" err="1"/>
              <a:t>printf</a:t>
            </a:r>
            <a:r>
              <a:rPr lang="en-IN" b="1" dirty="0"/>
              <a:t>("Resized memory : %s\n", </a:t>
            </a:r>
            <a:r>
              <a:rPr lang="en-IN" b="1" dirty="0" err="1"/>
              <a:t>mem_allocation</a:t>
            </a:r>
            <a:r>
              <a:rPr lang="en-IN" b="1" dirty="0"/>
              <a:t> );</a:t>
            </a:r>
          </a:p>
          <a:p>
            <a:pPr marL="68580" indent="0">
              <a:buNone/>
            </a:pPr>
            <a:r>
              <a:rPr lang="en-IN" b="1" dirty="0"/>
              <a:t>    free(</a:t>
            </a:r>
            <a:r>
              <a:rPr lang="en-IN" b="1" dirty="0" err="1"/>
              <a:t>mem_allocation</a:t>
            </a:r>
            <a:r>
              <a:rPr lang="en-IN" b="1" dirty="0"/>
              <a:t>);</a:t>
            </a:r>
          </a:p>
          <a:p>
            <a:pPr marL="68580" indent="0">
              <a:buNone/>
            </a:pPr>
            <a:r>
              <a:rPr lang="en-IN" b="1" dirty="0"/>
              <a:t>}</a:t>
            </a:r>
            <a:r>
              <a:rPr lang="en-US" b="1" dirty="0"/>
              <a:t/>
            </a:r>
            <a:br>
              <a:rPr lang="en-US" b="1" dirty="0"/>
            </a:br>
            <a:endParaRPr lang="en-IN" b="1" dirty="0"/>
          </a:p>
          <a:p>
            <a:endParaRPr lang="en-IN" b="1" dirty="0"/>
          </a:p>
        </p:txBody>
      </p:sp>
      <p:sp>
        <p:nvSpPr>
          <p:cNvPr id="9" name="Title 1"/>
          <p:cNvSpPr>
            <a:spLocks noGrp="1"/>
          </p:cNvSpPr>
          <p:nvPr>
            <p:ph type="title"/>
          </p:nvPr>
        </p:nvSpPr>
        <p:spPr>
          <a:xfrm>
            <a:off x="611560" y="404664"/>
            <a:ext cx="7024744" cy="529128"/>
          </a:xfrm>
        </p:spPr>
        <p:txBody>
          <a:bodyPr>
            <a:noAutofit/>
          </a:bodyPr>
          <a:lstStyle/>
          <a:p>
            <a:r>
              <a:rPr lang="en-IN" sz="3200" b="1" dirty="0" err="1" smtClean="0"/>
              <a:t>Eg</a:t>
            </a:r>
            <a:r>
              <a:rPr lang="en-IN" sz="3200" b="1" dirty="0" smtClean="0"/>
              <a:t> of </a:t>
            </a:r>
            <a:r>
              <a:rPr lang="en-IN" sz="3200" b="1" dirty="0" err="1" smtClean="0"/>
              <a:t>mallloc</a:t>
            </a:r>
            <a:r>
              <a:rPr lang="en-IN" sz="3200" b="1" dirty="0" smtClean="0"/>
              <a:t>() </a:t>
            </a:r>
            <a:r>
              <a:rPr lang="en-IN" sz="3200" b="1" dirty="0" err="1" smtClean="0"/>
              <a:t>fn</a:t>
            </a:r>
            <a:endParaRPr lang="en-IN" sz="3200" b="1" dirty="0"/>
          </a:p>
        </p:txBody>
      </p:sp>
    </p:spTree>
    <p:extLst>
      <p:ext uri="{BB962C8B-B14F-4D97-AF65-F5344CB8AC3E}">
        <p14:creationId xmlns:p14="http://schemas.microsoft.com/office/powerpoint/2010/main" val="19580004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7767BF8-6CF2-4EBF-9529-F58487188B9E}" type="datetime1">
              <a:rPr lang="en-IN" smtClean="0"/>
              <a:t>06-08-2024</a:t>
            </a:fld>
            <a:endParaRPr lang="en-IN"/>
          </a:p>
        </p:txBody>
      </p:sp>
      <p:sp>
        <p:nvSpPr>
          <p:cNvPr id="4" name="Footer Placeholder 3"/>
          <p:cNvSpPr>
            <a:spLocks noGrp="1"/>
          </p:cNvSpPr>
          <p:nvPr>
            <p:ph type="ftr" sz="quarter" idx="11"/>
          </p:nvPr>
        </p:nvSpPr>
        <p:spPr/>
        <p:txBody>
          <a:bodyPr/>
          <a:lstStyle/>
          <a:p>
            <a:r>
              <a:rPr lang="en-IN" smtClean="0"/>
              <a:t>Prof. Shweta Dhawan Chachra</a:t>
            </a:r>
            <a:endParaRPr lang="en-IN"/>
          </a:p>
        </p:txBody>
      </p:sp>
      <p:sp>
        <p:nvSpPr>
          <p:cNvPr id="5" name="Slide Number Placeholder 4"/>
          <p:cNvSpPr>
            <a:spLocks noGrp="1"/>
          </p:cNvSpPr>
          <p:nvPr>
            <p:ph type="sldNum" sz="quarter" idx="12"/>
          </p:nvPr>
        </p:nvSpPr>
        <p:spPr/>
        <p:txBody>
          <a:bodyPr/>
          <a:lstStyle/>
          <a:p>
            <a:fld id="{91FA414A-FC3B-4762-BF9B-190CEE0147BD}" type="slidenum">
              <a:rPr lang="en-IN" smtClean="0"/>
              <a:t>37</a:t>
            </a:fld>
            <a:endParaRPr lang="en-IN"/>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43609" y="764704"/>
            <a:ext cx="6984776" cy="5067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3832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Date Placeholder 3"/>
          <p:cNvSpPr>
            <a:spLocks noGrp="1"/>
          </p:cNvSpPr>
          <p:nvPr>
            <p:ph type="dt" sz="half" idx="10"/>
          </p:nvPr>
        </p:nvSpPr>
        <p:spPr/>
        <p:txBody>
          <a:bodyPr/>
          <a:lstStyle/>
          <a:p>
            <a:fld id="{EB710D74-2398-47D4-A516-B8748A1822B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38</a:t>
            </a:fld>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700" y="1052736"/>
            <a:ext cx="7086600" cy="4752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159342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043490" y="1027664"/>
            <a:ext cx="7024744" cy="601136"/>
          </a:xfrm>
        </p:spPr>
        <p:txBody>
          <a:bodyPr>
            <a:normAutofit fontScale="90000"/>
          </a:bodyPr>
          <a:lstStyle/>
          <a:p>
            <a:r>
              <a:rPr lang="en-US" b="1" dirty="0"/>
              <a:t>Pointers and </a:t>
            </a:r>
            <a:r>
              <a:rPr lang="en-US" b="1" dirty="0" smtClean="0"/>
              <a:t>arrays</a:t>
            </a:r>
            <a:endParaRPr lang="en-IN" dirty="0"/>
          </a:p>
        </p:txBody>
      </p:sp>
      <p:sp>
        <p:nvSpPr>
          <p:cNvPr id="9" name="Content Placeholder 8"/>
          <p:cNvSpPr>
            <a:spLocks noGrp="1"/>
          </p:cNvSpPr>
          <p:nvPr>
            <p:ph idx="1"/>
          </p:nvPr>
        </p:nvSpPr>
        <p:spPr/>
        <p:txBody>
          <a:bodyPr>
            <a:normAutofit fontScale="85000" lnSpcReduction="20000"/>
          </a:bodyPr>
          <a:lstStyle/>
          <a:p>
            <a:r>
              <a:rPr lang="en-US" dirty="0" smtClean="0"/>
              <a:t>Allocating </a:t>
            </a:r>
            <a:r>
              <a:rPr lang="en-US" dirty="0"/>
              <a:t>individual integers isn't all that useful either. But </a:t>
            </a:r>
            <a:r>
              <a:rPr lang="en-US" dirty="0" err="1"/>
              <a:t>malloc</a:t>
            </a:r>
            <a:r>
              <a:rPr lang="en-US" dirty="0"/>
              <a:t>() can also allocate arrays. We will discuss the similarity of pointers and arrays in class, and the textbook discusses this in section 3.13. But essentially, a pointer can be used as an array, and you can index it just like an array, </a:t>
            </a:r>
            <a:r>
              <a:rPr lang="en-US" b="1" dirty="0"/>
              <a:t>as long as it is pointing to enough memory</a:t>
            </a:r>
            <a:r>
              <a:rPr lang="en-US" dirty="0"/>
              <a:t>. The following example demonstrates this:</a:t>
            </a:r>
          </a:p>
          <a:p>
            <a:r>
              <a:rPr lang="en-US" dirty="0" err="1"/>
              <a:t>int</a:t>
            </a:r>
            <a:r>
              <a:rPr lang="en-US" dirty="0"/>
              <a:t> *</a:t>
            </a:r>
            <a:r>
              <a:rPr lang="en-US" dirty="0" err="1"/>
              <a:t>ip</a:t>
            </a:r>
            <a:r>
              <a:rPr lang="en-US" dirty="0"/>
              <a:t>;</a:t>
            </a:r>
            <a:br>
              <a:rPr lang="en-US" dirty="0"/>
            </a:br>
            <a:r>
              <a:rPr lang="en-US" dirty="0" err="1"/>
              <a:t>ip</a:t>
            </a:r>
            <a:r>
              <a:rPr lang="en-US" dirty="0"/>
              <a:t> = (</a:t>
            </a:r>
            <a:r>
              <a:rPr lang="en-US" dirty="0" err="1"/>
              <a:t>int</a:t>
            </a:r>
            <a:r>
              <a:rPr lang="en-US" dirty="0"/>
              <a:t> *) </a:t>
            </a:r>
            <a:r>
              <a:rPr lang="en-US" dirty="0" err="1"/>
              <a:t>malloc</a:t>
            </a:r>
            <a:r>
              <a:rPr lang="en-US" dirty="0"/>
              <a:t>( </a:t>
            </a:r>
            <a:r>
              <a:rPr lang="en-US" dirty="0" err="1"/>
              <a:t>sizeof</a:t>
            </a:r>
            <a:r>
              <a:rPr lang="en-US" dirty="0"/>
              <a:t>(</a:t>
            </a:r>
            <a:r>
              <a:rPr lang="en-US" dirty="0" err="1"/>
              <a:t>int</a:t>
            </a:r>
            <a:r>
              <a:rPr lang="en-US" dirty="0"/>
              <a:t>)*10 ); // allocate 10 </a:t>
            </a:r>
            <a:r>
              <a:rPr lang="en-US" dirty="0" err="1"/>
              <a:t>ints</a:t>
            </a:r>
            <a:r>
              <a:rPr lang="en-US" dirty="0"/>
              <a:t/>
            </a:r>
            <a:br>
              <a:rPr lang="en-US" dirty="0"/>
            </a:br>
            <a:r>
              <a:rPr lang="en-US" dirty="0" err="1"/>
              <a:t>ip</a:t>
            </a:r>
            <a:r>
              <a:rPr lang="en-US" dirty="0"/>
              <a:t>[6] = 42; // set the 7th element to 42</a:t>
            </a:r>
            <a:br>
              <a:rPr lang="en-US" dirty="0"/>
            </a:br>
            <a:r>
              <a:rPr lang="en-US" dirty="0" err="1"/>
              <a:t>ip</a:t>
            </a:r>
            <a:r>
              <a:rPr lang="en-US" dirty="0"/>
              <a:t>[10] = 99; // WRONG: array only has 10 elements</a:t>
            </a:r>
            <a:br>
              <a:rPr lang="en-US" dirty="0"/>
            </a:br>
            <a:r>
              <a:rPr lang="en-US" dirty="0"/>
              <a:t>(this would corrupted memory!)</a:t>
            </a:r>
            <a:endParaRPr lang="en-IN" dirty="0"/>
          </a:p>
        </p:txBody>
      </p:sp>
      <p:sp>
        <p:nvSpPr>
          <p:cNvPr id="3" name="Date Placeholder 2"/>
          <p:cNvSpPr>
            <a:spLocks noGrp="1"/>
          </p:cNvSpPr>
          <p:nvPr>
            <p:ph type="dt" sz="half" idx="10"/>
          </p:nvPr>
        </p:nvSpPr>
        <p:spPr/>
        <p:txBody>
          <a:bodyPr/>
          <a:lstStyle/>
          <a:p>
            <a:fld id="{D7767BF8-6CF2-4EBF-9529-F58487188B9E}" type="datetime1">
              <a:rPr lang="en-IN" smtClean="0"/>
              <a:t>06-08-2024</a:t>
            </a:fld>
            <a:endParaRPr lang="en-IN"/>
          </a:p>
        </p:txBody>
      </p:sp>
      <p:sp>
        <p:nvSpPr>
          <p:cNvPr id="4" name="Footer Placeholder 3"/>
          <p:cNvSpPr>
            <a:spLocks noGrp="1"/>
          </p:cNvSpPr>
          <p:nvPr>
            <p:ph type="ftr" sz="quarter" idx="11"/>
          </p:nvPr>
        </p:nvSpPr>
        <p:spPr/>
        <p:txBody>
          <a:bodyPr/>
          <a:lstStyle/>
          <a:p>
            <a:r>
              <a:rPr lang="en-IN" smtClean="0"/>
              <a:t>Prof. Shweta Dhawan Chachra</a:t>
            </a:r>
            <a:endParaRPr lang="en-IN"/>
          </a:p>
        </p:txBody>
      </p:sp>
      <p:sp>
        <p:nvSpPr>
          <p:cNvPr id="5" name="Slide Number Placeholder 4"/>
          <p:cNvSpPr>
            <a:spLocks noGrp="1"/>
          </p:cNvSpPr>
          <p:nvPr>
            <p:ph type="sldNum" sz="quarter" idx="12"/>
          </p:nvPr>
        </p:nvSpPr>
        <p:spPr/>
        <p:txBody>
          <a:bodyPr/>
          <a:lstStyle/>
          <a:p>
            <a:fld id="{91FA414A-FC3B-4762-BF9B-190CEE0147BD}" type="slidenum">
              <a:rPr lang="en-IN" smtClean="0"/>
              <a:t>39</a:t>
            </a:fld>
            <a:endParaRPr lang="en-IN"/>
          </a:p>
        </p:txBody>
      </p:sp>
    </p:spTree>
    <p:extLst>
      <p:ext uri="{BB962C8B-B14F-4D97-AF65-F5344CB8AC3E}">
        <p14:creationId xmlns:p14="http://schemas.microsoft.com/office/powerpoint/2010/main" val="372925028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99592" y="1268760"/>
            <a:ext cx="7024744" cy="1982024"/>
          </a:xfrm>
        </p:spPr>
        <p:txBody>
          <a:bodyPr>
            <a:noAutofit/>
          </a:bodyPr>
          <a:lstStyle/>
          <a:p>
            <a:r>
              <a:rPr lang="en-IN" sz="2000" b="1" dirty="0"/>
              <a:t>Which part of the memory is allocated when </a:t>
            </a:r>
            <a:r>
              <a:rPr lang="en-IN" sz="2000" b="1" dirty="0" smtClean="0"/>
              <a:t>static memory allocation is used, for </a:t>
            </a:r>
            <a:r>
              <a:rPr lang="en-IN" sz="2000" b="1" dirty="0" err="1" smtClean="0"/>
              <a:t>int,char,float,arrays,struct,unions</a:t>
            </a:r>
            <a:r>
              <a:rPr lang="en-IN" sz="2000" b="1" dirty="0" smtClean="0"/>
              <a:t>…..?</a:t>
            </a:r>
            <a:r>
              <a:rPr lang="en-IN" sz="2000" b="1" dirty="0"/>
              <a:t/>
            </a:r>
            <a:br>
              <a:rPr lang="en-IN" sz="2000" b="1" dirty="0"/>
            </a:br>
            <a:r>
              <a:rPr lang="en-IN" sz="2000" b="1" dirty="0"/>
              <a:t/>
            </a:r>
            <a:br>
              <a:rPr lang="en-IN" sz="2000" b="1" dirty="0"/>
            </a:br>
            <a:r>
              <a:rPr lang="en-IN" sz="2000" b="1" dirty="0" smtClean="0"/>
              <a:t>Which </a:t>
            </a:r>
            <a:r>
              <a:rPr lang="en-IN" sz="2000" b="1" dirty="0"/>
              <a:t>part of the memory is allocated when </a:t>
            </a:r>
            <a:r>
              <a:rPr lang="en-IN" sz="2000" b="1" dirty="0" err="1"/>
              <a:t>malloc</a:t>
            </a:r>
            <a:r>
              <a:rPr lang="en-IN" sz="2000" b="1" dirty="0"/>
              <a:t> and </a:t>
            </a:r>
            <a:r>
              <a:rPr lang="en-IN" sz="2000" b="1" dirty="0" err="1"/>
              <a:t>calloc</a:t>
            </a:r>
            <a:r>
              <a:rPr lang="en-IN" sz="2000" b="1" dirty="0"/>
              <a:t> are called for any variable?</a:t>
            </a:r>
          </a:p>
        </p:txBody>
      </p:sp>
      <p:sp>
        <p:nvSpPr>
          <p:cNvPr id="9" name="Content Placeholder 8"/>
          <p:cNvSpPr>
            <a:spLocks noGrp="1"/>
          </p:cNvSpPr>
          <p:nvPr>
            <p:ph idx="1"/>
          </p:nvPr>
        </p:nvSpPr>
        <p:spPr>
          <a:xfrm>
            <a:off x="1043492" y="3356992"/>
            <a:ext cx="6777317" cy="2475637"/>
          </a:xfrm>
        </p:spPr>
        <p:txBody>
          <a:bodyPr/>
          <a:lstStyle/>
          <a:p>
            <a:r>
              <a:rPr lang="en-IN" dirty="0" smtClean="0"/>
              <a:t>??</a:t>
            </a:r>
            <a:endParaRPr lang="en-IN" dirty="0"/>
          </a:p>
        </p:txBody>
      </p:sp>
      <p:sp>
        <p:nvSpPr>
          <p:cNvPr id="3" name="Date Placeholder 2"/>
          <p:cNvSpPr>
            <a:spLocks noGrp="1"/>
          </p:cNvSpPr>
          <p:nvPr>
            <p:ph type="dt" sz="half" idx="10"/>
          </p:nvPr>
        </p:nvSpPr>
        <p:spPr/>
        <p:txBody>
          <a:bodyPr/>
          <a:lstStyle/>
          <a:p>
            <a:fld id="{D7767BF8-6CF2-4EBF-9529-F58487188B9E}" type="datetime1">
              <a:rPr lang="en-IN" smtClean="0"/>
              <a:t>06-08-2024</a:t>
            </a:fld>
            <a:endParaRPr lang="en-IN"/>
          </a:p>
        </p:txBody>
      </p:sp>
      <p:sp>
        <p:nvSpPr>
          <p:cNvPr id="4" name="Footer Placeholder 3"/>
          <p:cNvSpPr>
            <a:spLocks noGrp="1"/>
          </p:cNvSpPr>
          <p:nvPr>
            <p:ph type="ftr" sz="quarter" idx="11"/>
          </p:nvPr>
        </p:nvSpPr>
        <p:spPr/>
        <p:txBody>
          <a:bodyPr/>
          <a:lstStyle/>
          <a:p>
            <a:r>
              <a:rPr lang="en-IN" smtClean="0"/>
              <a:t>Prof. Shweta Dhawan Chachra</a:t>
            </a:r>
            <a:endParaRPr lang="en-IN"/>
          </a:p>
        </p:txBody>
      </p:sp>
      <p:sp>
        <p:nvSpPr>
          <p:cNvPr id="5" name="Slide Number Placeholder 4"/>
          <p:cNvSpPr>
            <a:spLocks noGrp="1"/>
          </p:cNvSpPr>
          <p:nvPr>
            <p:ph type="sldNum" sz="quarter" idx="12"/>
          </p:nvPr>
        </p:nvSpPr>
        <p:spPr/>
        <p:txBody>
          <a:bodyPr/>
          <a:lstStyle/>
          <a:p>
            <a:fld id="{91FA414A-FC3B-4762-BF9B-190CEE0147BD}" type="slidenum">
              <a:rPr lang="en-IN" smtClean="0"/>
              <a:t>40</a:t>
            </a:fld>
            <a:endParaRPr lang="en-IN"/>
          </a:p>
        </p:txBody>
      </p:sp>
    </p:spTree>
    <p:extLst>
      <p:ext uri="{BB962C8B-B14F-4D97-AF65-F5344CB8AC3E}">
        <p14:creationId xmlns:p14="http://schemas.microsoft.com/office/powerpoint/2010/main" val="348733459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Stack</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r>
              <a:rPr lang="en-IN" sz="2000" dirty="0" smtClean="0"/>
              <a:t>Basic </a:t>
            </a:r>
            <a:r>
              <a:rPr lang="en-IN" sz="2000" dirty="0"/>
              <a:t>type variables such as </a:t>
            </a:r>
            <a:r>
              <a:rPr lang="en-IN" sz="2000" dirty="0" err="1"/>
              <a:t>int</a:t>
            </a:r>
            <a:r>
              <a:rPr lang="en-IN" sz="2000" dirty="0"/>
              <a:t>, double, </a:t>
            </a:r>
            <a:r>
              <a:rPr lang="en-IN" sz="2000" dirty="0" err="1"/>
              <a:t>etc</a:t>
            </a:r>
            <a:r>
              <a:rPr lang="en-IN" sz="2000" dirty="0"/>
              <a:t>, and complex types such as arrays and </a:t>
            </a:r>
            <a:r>
              <a:rPr lang="en-IN" sz="2000" dirty="0" err="1"/>
              <a:t>structs</a:t>
            </a:r>
            <a:r>
              <a:rPr lang="en-IN" sz="2000" dirty="0"/>
              <a:t>. </a:t>
            </a:r>
            <a:r>
              <a:rPr lang="en-IN" sz="2000" dirty="0" smtClean="0"/>
              <a:t>These </a:t>
            </a:r>
            <a:r>
              <a:rPr lang="en-IN" sz="2000" dirty="0"/>
              <a:t>variables </a:t>
            </a:r>
            <a:r>
              <a:rPr lang="en-IN" sz="2000" dirty="0" smtClean="0"/>
              <a:t>are put on </a:t>
            </a:r>
            <a:r>
              <a:rPr lang="en-IN" sz="2000" dirty="0"/>
              <a:t>the </a:t>
            </a:r>
            <a:r>
              <a:rPr lang="en-IN" sz="2000" b="1" dirty="0"/>
              <a:t>stack</a:t>
            </a:r>
            <a:r>
              <a:rPr lang="en-IN" sz="2000" dirty="0"/>
              <a:t> in C. </a:t>
            </a:r>
            <a:endParaRPr lang="en-IN" sz="2000" dirty="0" smtClean="0"/>
          </a:p>
          <a:p>
            <a:endParaRPr lang="en-IN" sz="2000" dirty="0" smtClean="0"/>
          </a:p>
          <a:p>
            <a:r>
              <a:rPr lang="en-IN" sz="2000" dirty="0" smtClean="0"/>
              <a:t>There </a:t>
            </a:r>
            <a:r>
              <a:rPr lang="en-IN" sz="2000" dirty="0"/>
              <a:t>is a limit (varies with OS) on the size of variables that can be stored on the stack. </a:t>
            </a:r>
            <a:endParaRPr lang="en-IN" sz="2000" dirty="0" smtClean="0"/>
          </a:p>
          <a:p>
            <a:endParaRPr lang="en-IN" sz="2000" dirty="0" smtClean="0"/>
          </a:p>
          <a:p>
            <a:r>
              <a:rPr lang="en-IN" sz="2000" dirty="0" smtClean="0"/>
              <a:t>This </a:t>
            </a:r>
            <a:r>
              <a:rPr lang="en-IN" sz="2000" dirty="0"/>
              <a:t>is not the case for variables allocated on the </a:t>
            </a:r>
            <a:r>
              <a:rPr lang="en-IN" sz="2000" b="1" dirty="0" smtClean="0"/>
              <a:t>heap</a:t>
            </a:r>
            <a:endParaRPr lang="en-IN" sz="2000" dirty="0"/>
          </a:p>
        </p:txBody>
      </p:sp>
      <p:sp>
        <p:nvSpPr>
          <p:cNvPr id="4" name="Date Placeholder 3"/>
          <p:cNvSpPr>
            <a:spLocks noGrp="1"/>
          </p:cNvSpPr>
          <p:nvPr>
            <p:ph type="dt" sz="half" idx="10"/>
          </p:nvPr>
        </p:nvSpPr>
        <p:spPr/>
        <p:txBody>
          <a:bodyPr/>
          <a:lstStyle/>
          <a:p>
            <a:fld id="{6ABB7E53-7851-4A5A-8B01-BDA6C1670481}"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41</a:t>
            </a:fld>
            <a:endParaRPr lang="en-IN"/>
          </a:p>
        </p:txBody>
      </p:sp>
      <p:sp>
        <p:nvSpPr>
          <p:cNvPr id="7" name="Rectangle 6"/>
          <p:cNvSpPr/>
          <p:nvPr/>
        </p:nvSpPr>
        <p:spPr>
          <a:xfrm>
            <a:off x="468455" y="5373216"/>
            <a:ext cx="8352928" cy="523220"/>
          </a:xfrm>
          <a:prstGeom prst="rect">
            <a:avLst/>
          </a:prstGeom>
        </p:spPr>
        <p:txBody>
          <a:bodyPr wrap="square">
            <a:spAutoFit/>
          </a:bodyPr>
          <a:lstStyle/>
          <a:p>
            <a:r>
              <a:rPr lang="en-IN" sz="1400" dirty="0"/>
              <a:t>https://</a:t>
            </a:r>
            <a:r>
              <a:rPr lang="en-IN" sz="1400" dirty="0" smtClean="0"/>
              <a:t>sites.ualberta.ca/dept/chemeng/AIX-43/share/man/info/C/a_doc_lib/aixprggd/genprogc/sys_mem_alloc.htm</a:t>
            </a:r>
            <a:endParaRPr lang="en-IN" sz="1400" dirty="0"/>
          </a:p>
        </p:txBody>
      </p:sp>
    </p:spTree>
    <p:extLst>
      <p:ext uri="{BB962C8B-B14F-4D97-AF65-F5344CB8AC3E}">
        <p14:creationId xmlns:p14="http://schemas.microsoft.com/office/powerpoint/2010/main" val="4445937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Stack</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pPr marL="68580" indent="0">
              <a:buNone/>
            </a:pPr>
            <a:r>
              <a:rPr lang="en-US" sz="1800" dirty="0" smtClean="0"/>
              <a:t>#</a:t>
            </a:r>
            <a:r>
              <a:rPr lang="en-US" sz="1800" dirty="0"/>
              <a:t>include &lt;</a:t>
            </a:r>
            <a:r>
              <a:rPr lang="en-US" sz="1800" dirty="0" err="1"/>
              <a:t>iostream</a:t>
            </a:r>
            <a:r>
              <a:rPr lang="en-US" sz="1800" dirty="0"/>
              <a:t>&gt; </a:t>
            </a:r>
          </a:p>
          <a:p>
            <a:pPr marL="68580" indent="0">
              <a:buNone/>
            </a:pPr>
            <a:r>
              <a:rPr lang="en-US" sz="1800" dirty="0" smtClean="0"/>
              <a:t>using </a:t>
            </a:r>
            <a:r>
              <a:rPr lang="en-US" sz="1800" dirty="0"/>
              <a:t>namespace </a:t>
            </a:r>
            <a:r>
              <a:rPr lang="en-US" sz="1800" dirty="0" err="1"/>
              <a:t>std</a:t>
            </a:r>
            <a:r>
              <a:rPr lang="en-US" sz="1800" dirty="0"/>
              <a:t>; </a:t>
            </a:r>
          </a:p>
          <a:p>
            <a:pPr marL="68580" indent="0">
              <a:buNone/>
            </a:pPr>
            <a:endParaRPr lang="en-US" sz="1800" dirty="0"/>
          </a:p>
          <a:p>
            <a:pPr marL="68580" indent="0">
              <a:buNone/>
            </a:pPr>
            <a:r>
              <a:rPr lang="en-US" sz="1800" dirty="0"/>
              <a:t>// Driver Code </a:t>
            </a:r>
          </a:p>
          <a:p>
            <a:pPr marL="68580" indent="0">
              <a:buNone/>
            </a:pPr>
            <a:r>
              <a:rPr lang="en-US" sz="1800" dirty="0"/>
              <a:t>void main() </a:t>
            </a:r>
          </a:p>
          <a:p>
            <a:pPr marL="68580" indent="0">
              <a:buNone/>
            </a:pPr>
            <a:r>
              <a:rPr lang="en-US" sz="1800" dirty="0"/>
              <a:t>{ </a:t>
            </a:r>
          </a:p>
          <a:p>
            <a:pPr marL="68580" indent="0">
              <a:buNone/>
            </a:pPr>
            <a:r>
              <a:rPr lang="en-US" sz="1800" dirty="0"/>
              <a:t>	</a:t>
            </a:r>
            <a:r>
              <a:rPr lang="en-US" sz="1800" dirty="0" err="1"/>
              <a:t>int</a:t>
            </a:r>
            <a:r>
              <a:rPr lang="en-US" sz="1800" dirty="0"/>
              <a:t> a; // 2 bytes </a:t>
            </a:r>
          </a:p>
          <a:p>
            <a:pPr marL="68580" indent="0">
              <a:buNone/>
            </a:pPr>
            <a:r>
              <a:rPr lang="en-US" sz="1800" dirty="0"/>
              <a:t>	long b; // 4 bytes </a:t>
            </a:r>
          </a:p>
          <a:p>
            <a:pPr marL="68580" indent="0">
              <a:buNone/>
            </a:pPr>
            <a:r>
              <a:rPr lang="en-US" sz="1800" dirty="0"/>
              <a:t>} </a:t>
            </a:r>
          </a:p>
        </p:txBody>
      </p:sp>
      <p:sp>
        <p:nvSpPr>
          <p:cNvPr id="4" name="Date Placeholder 3"/>
          <p:cNvSpPr>
            <a:spLocks noGrp="1"/>
          </p:cNvSpPr>
          <p:nvPr>
            <p:ph type="dt" sz="half" idx="10"/>
          </p:nvPr>
        </p:nvSpPr>
        <p:spPr/>
        <p:txBody>
          <a:bodyPr/>
          <a:lstStyle/>
          <a:p>
            <a:fld id="{6ABB7E53-7851-4A5A-8B01-BDA6C1670481}"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42</a:t>
            </a:fld>
            <a:endParaRPr lang="en-IN"/>
          </a:p>
        </p:txBody>
      </p:sp>
      <p:sp>
        <p:nvSpPr>
          <p:cNvPr id="7" name="Rectangle 6"/>
          <p:cNvSpPr/>
          <p:nvPr/>
        </p:nvSpPr>
        <p:spPr>
          <a:xfrm>
            <a:off x="468455" y="6237312"/>
            <a:ext cx="8352928" cy="307777"/>
          </a:xfrm>
          <a:prstGeom prst="rect">
            <a:avLst/>
          </a:prstGeom>
        </p:spPr>
        <p:txBody>
          <a:bodyPr wrap="square">
            <a:spAutoFit/>
          </a:bodyPr>
          <a:lstStyle/>
          <a:p>
            <a:r>
              <a:rPr lang="en-IN" sz="1400" dirty="0"/>
              <a:t>https://www.geeksforgeeks.org/static-and-dynamic-memory-allocation-in-c/</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1485" y="1196752"/>
            <a:ext cx="4272963"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658395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Heap</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r>
              <a:rPr lang="en-IN" sz="1800" dirty="0" smtClean="0"/>
              <a:t>The </a:t>
            </a:r>
            <a:r>
              <a:rPr lang="en-IN" sz="1800" dirty="0"/>
              <a:t>heap is a region of your computer's memory that is not managed automatically for you, and is not as tightly managed by the CPU. </a:t>
            </a:r>
            <a:endParaRPr lang="en-IN" sz="1800" dirty="0" smtClean="0"/>
          </a:p>
          <a:p>
            <a:endParaRPr lang="en-IN" sz="1800" dirty="0" smtClean="0"/>
          </a:p>
          <a:p>
            <a:r>
              <a:rPr lang="en-IN" sz="1800" dirty="0" smtClean="0"/>
              <a:t>It </a:t>
            </a:r>
            <a:r>
              <a:rPr lang="en-IN" sz="1800" dirty="0"/>
              <a:t>is a more free-floating region of memory (and is larger). </a:t>
            </a:r>
            <a:endParaRPr lang="en-IN" sz="1800" dirty="0" smtClean="0"/>
          </a:p>
          <a:p>
            <a:endParaRPr lang="en-IN" sz="1800" dirty="0" smtClean="0"/>
          </a:p>
          <a:p>
            <a:r>
              <a:rPr lang="en-IN" sz="1800" dirty="0" smtClean="0"/>
              <a:t>Dynamic </a:t>
            </a:r>
            <a:r>
              <a:rPr lang="en-IN" sz="1800" dirty="0"/>
              <a:t>memory allocation functions allocates  memory from the heap</a:t>
            </a:r>
            <a:r>
              <a:rPr lang="en-IN" sz="1800" dirty="0" smtClean="0"/>
              <a:t>.</a:t>
            </a:r>
            <a:endParaRPr lang="en-IN" sz="1800" dirty="0"/>
          </a:p>
        </p:txBody>
      </p:sp>
      <p:sp>
        <p:nvSpPr>
          <p:cNvPr id="4" name="Date Placeholder 3"/>
          <p:cNvSpPr>
            <a:spLocks noGrp="1"/>
          </p:cNvSpPr>
          <p:nvPr>
            <p:ph type="dt" sz="half" idx="10"/>
          </p:nvPr>
        </p:nvSpPr>
        <p:spPr/>
        <p:txBody>
          <a:bodyPr/>
          <a:lstStyle/>
          <a:p>
            <a:fld id="{6ABB7E53-7851-4A5A-8B01-BDA6C1670481}"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43</a:t>
            </a:fld>
            <a:endParaRPr lang="en-IN"/>
          </a:p>
        </p:txBody>
      </p:sp>
    </p:spTree>
    <p:extLst>
      <p:ext uri="{BB962C8B-B14F-4D97-AF65-F5344CB8AC3E}">
        <p14:creationId xmlns:p14="http://schemas.microsoft.com/office/powerpoint/2010/main" val="29695472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Stack</a:t>
            </a:r>
            <a:endParaRPr lang="en-IN" sz="3200" b="1" dirty="0"/>
          </a:p>
        </p:txBody>
      </p:sp>
      <p:sp>
        <p:nvSpPr>
          <p:cNvPr id="3" name="Content Placeholder 2"/>
          <p:cNvSpPr>
            <a:spLocks noGrp="1"/>
          </p:cNvSpPr>
          <p:nvPr>
            <p:ph idx="1"/>
          </p:nvPr>
        </p:nvSpPr>
        <p:spPr>
          <a:xfrm>
            <a:off x="683568" y="1340768"/>
            <a:ext cx="4320480" cy="4752528"/>
          </a:xfrm>
        </p:spPr>
        <p:txBody>
          <a:bodyPr>
            <a:normAutofit/>
          </a:bodyPr>
          <a:lstStyle/>
          <a:p>
            <a:pPr marL="68580" indent="0">
              <a:buNone/>
            </a:pPr>
            <a:r>
              <a:rPr lang="en-US" sz="1800" dirty="0" smtClean="0"/>
              <a:t>#</a:t>
            </a:r>
            <a:r>
              <a:rPr lang="en-US" sz="1800" dirty="0"/>
              <a:t>include &lt;</a:t>
            </a:r>
            <a:r>
              <a:rPr lang="en-US" sz="1800" dirty="0" err="1"/>
              <a:t>iostream</a:t>
            </a:r>
            <a:r>
              <a:rPr lang="en-US" sz="1800" dirty="0"/>
              <a:t>&gt; </a:t>
            </a:r>
          </a:p>
          <a:p>
            <a:pPr marL="68580" indent="0">
              <a:buNone/>
            </a:pPr>
            <a:r>
              <a:rPr lang="en-US" sz="1800" dirty="0"/>
              <a:t>using namespace </a:t>
            </a:r>
            <a:r>
              <a:rPr lang="en-US" sz="1800" dirty="0" err="1"/>
              <a:t>std</a:t>
            </a:r>
            <a:r>
              <a:rPr lang="en-US" sz="1800" dirty="0"/>
              <a:t>; </a:t>
            </a:r>
          </a:p>
          <a:p>
            <a:pPr marL="68580" indent="0">
              <a:buNone/>
            </a:pPr>
            <a:r>
              <a:rPr lang="en-US" sz="1800" dirty="0"/>
              <a:t>  </a:t>
            </a:r>
          </a:p>
          <a:p>
            <a:pPr marL="68580" indent="0">
              <a:buNone/>
            </a:pPr>
            <a:r>
              <a:rPr lang="en-US" sz="1800" dirty="0"/>
              <a:t>// Driver Code </a:t>
            </a:r>
          </a:p>
          <a:p>
            <a:pPr marL="68580" indent="0">
              <a:buNone/>
            </a:pPr>
            <a:r>
              <a:rPr lang="en-US" sz="1800" dirty="0"/>
              <a:t>void main() </a:t>
            </a:r>
          </a:p>
          <a:p>
            <a:pPr marL="68580" indent="0">
              <a:buNone/>
            </a:pPr>
            <a:r>
              <a:rPr lang="en-US" sz="1800" dirty="0"/>
              <a:t>{ </a:t>
            </a:r>
          </a:p>
          <a:p>
            <a:pPr marL="68580" indent="0">
              <a:buNone/>
            </a:pPr>
            <a:r>
              <a:rPr lang="en-US" sz="1800" dirty="0"/>
              <a:t>    </a:t>
            </a:r>
            <a:r>
              <a:rPr lang="en-US" sz="1800" dirty="0" err="1"/>
              <a:t>int</a:t>
            </a:r>
            <a:r>
              <a:rPr lang="en-US" sz="1800" dirty="0"/>
              <a:t>* p; // 2 bytes </a:t>
            </a:r>
          </a:p>
          <a:p>
            <a:pPr marL="68580" indent="0">
              <a:buNone/>
            </a:pPr>
            <a:r>
              <a:rPr lang="en-US" sz="1800" dirty="0"/>
              <a:t>    P = (</a:t>
            </a:r>
            <a:r>
              <a:rPr lang="en-US" sz="1800" dirty="0" err="1"/>
              <a:t>int</a:t>
            </a:r>
            <a:r>
              <a:rPr lang="en-US" sz="1800" dirty="0"/>
              <a:t>*)</a:t>
            </a:r>
            <a:r>
              <a:rPr lang="en-US" sz="1800" dirty="0" err="1"/>
              <a:t>malloc</a:t>
            </a:r>
            <a:r>
              <a:rPr lang="en-US" sz="1800" dirty="0"/>
              <a:t>(5 * </a:t>
            </a:r>
            <a:r>
              <a:rPr lang="en-US" sz="1800" dirty="0" err="1"/>
              <a:t>sizeof</a:t>
            </a:r>
            <a:r>
              <a:rPr lang="en-US" sz="1800" dirty="0"/>
              <a:t>(</a:t>
            </a:r>
            <a:r>
              <a:rPr lang="en-US" sz="1800" dirty="0" err="1"/>
              <a:t>int</a:t>
            </a:r>
            <a:r>
              <a:rPr lang="en-US" sz="1800" dirty="0"/>
              <a:t>)); </a:t>
            </a:r>
          </a:p>
          <a:p>
            <a:pPr marL="68580" indent="0">
              <a:buNone/>
            </a:pPr>
            <a:r>
              <a:rPr lang="en-US" sz="1800" dirty="0"/>
              <a:t>}  </a:t>
            </a:r>
          </a:p>
        </p:txBody>
      </p:sp>
      <p:sp>
        <p:nvSpPr>
          <p:cNvPr id="4" name="Date Placeholder 3"/>
          <p:cNvSpPr>
            <a:spLocks noGrp="1"/>
          </p:cNvSpPr>
          <p:nvPr>
            <p:ph type="dt" sz="half" idx="10"/>
          </p:nvPr>
        </p:nvSpPr>
        <p:spPr/>
        <p:txBody>
          <a:bodyPr/>
          <a:lstStyle/>
          <a:p>
            <a:fld id="{6ABB7E53-7851-4A5A-8B01-BDA6C1670481}"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44</a:t>
            </a:fld>
            <a:endParaRPr lang="en-IN"/>
          </a:p>
        </p:txBody>
      </p:sp>
      <p:sp>
        <p:nvSpPr>
          <p:cNvPr id="7" name="Rectangle 6"/>
          <p:cNvSpPr/>
          <p:nvPr/>
        </p:nvSpPr>
        <p:spPr>
          <a:xfrm>
            <a:off x="468455" y="6237312"/>
            <a:ext cx="8352928" cy="307777"/>
          </a:xfrm>
          <a:prstGeom prst="rect">
            <a:avLst/>
          </a:prstGeom>
        </p:spPr>
        <p:txBody>
          <a:bodyPr wrap="square">
            <a:spAutoFit/>
          </a:bodyPr>
          <a:lstStyle/>
          <a:p>
            <a:r>
              <a:rPr lang="en-IN" sz="1400" dirty="0"/>
              <a:t>https://www.geeksforgeeks.org/static-and-dynamic-memory-allocation-in-c/</a:t>
            </a:r>
          </a:p>
        </p:txBody>
      </p:sp>
      <p:pic>
        <p:nvPicPr>
          <p:cNvPr id="6148" name="Picture 4" descr="F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1196752"/>
            <a:ext cx="3816424" cy="4608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452107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Stack</a:t>
            </a:r>
            <a:endParaRPr lang="en-IN" sz="3200" b="1" dirty="0"/>
          </a:p>
        </p:txBody>
      </p:sp>
      <p:sp>
        <p:nvSpPr>
          <p:cNvPr id="3" name="Content Placeholder 2"/>
          <p:cNvSpPr>
            <a:spLocks noGrp="1"/>
          </p:cNvSpPr>
          <p:nvPr>
            <p:ph idx="1"/>
          </p:nvPr>
        </p:nvSpPr>
        <p:spPr>
          <a:xfrm>
            <a:off x="683568" y="1340768"/>
            <a:ext cx="4320480" cy="4752528"/>
          </a:xfrm>
        </p:spPr>
        <p:txBody>
          <a:bodyPr>
            <a:normAutofit/>
          </a:bodyPr>
          <a:lstStyle/>
          <a:p>
            <a:pPr marL="68580" indent="0">
              <a:buNone/>
            </a:pPr>
            <a:r>
              <a:rPr lang="en-US" sz="1800" dirty="0" smtClean="0"/>
              <a:t>#</a:t>
            </a:r>
            <a:r>
              <a:rPr lang="en-US" sz="1800" dirty="0"/>
              <a:t>include &lt;</a:t>
            </a:r>
            <a:r>
              <a:rPr lang="en-US" sz="1800" dirty="0" err="1"/>
              <a:t>iostream</a:t>
            </a:r>
            <a:r>
              <a:rPr lang="en-US" sz="1800" dirty="0"/>
              <a:t>&gt; </a:t>
            </a:r>
          </a:p>
          <a:p>
            <a:pPr marL="68580" indent="0">
              <a:buNone/>
            </a:pPr>
            <a:r>
              <a:rPr lang="en-US" sz="1800" dirty="0"/>
              <a:t>using namespace </a:t>
            </a:r>
            <a:r>
              <a:rPr lang="en-US" sz="1800" dirty="0" err="1"/>
              <a:t>std</a:t>
            </a:r>
            <a:r>
              <a:rPr lang="en-US" sz="1800" dirty="0"/>
              <a:t>; </a:t>
            </a:r>
          </a:p>
          <a:p>
            <a:pPr marL="68580" indent="0">
              <a:buNone/>
            </a:pPr>
            <a:r>
              <a:rPr lang="en-US" sz="1800" dirty="0"/>
              <a:t>  </a:t>
            </a:r>
          </a:p>
          <a:p>
            <a:pPr marL="68580" indent="0">
              <a:buNone/>
            </a:pPr>
            <a:r>
              <a:rPr lang="en-US" sz="1800" dirty="0"/>
              <a:t>// Driver Code </a:t>
            </a:r>
          </a:p>
          <a:p>
            <a:pPr marL="68580" indent="0">
              <a:buNone/>
            </a:pPr>
            <a:r>
              <a:rPr lang="en-US" sz="1800" dirty="0"/>
              <a:t>void main() </a:t>
            </a:r>
          </a:p>
          <a:p>
            <a:pPr marL="68580" indent="0">
              <a:buNone/>
            </a:pPr>
            <a:r>
              <a:rPr lang="en-US" sz="1800" dirty="0"/>
              <a:t>{ </a:t>
            </a:r>
          </a:p>
          <a:p>
            <a:pPr marL="68580" indent="0">
              <a:buNone/>
            </a:pPr>
            <a:r>
              <a:rPr lang="en-US" sz="1800" dirty="0"/>
              <a:t>    </a:t>
            </a:r>
            <a:r>
              <a:rPr lang="en-US" sz="1800" dirty="0" err="1"/>
              <a:t>int</a:t>
            </a:r>
            <a:r>
              <a:rPr lang="en-US" sz="1800" dirty="0"/>
              <a:t>* p; // 2 bytes </a:t>
            </a:r>
          </a:p>
          <a:p>
            <a:pPr marL="68580" indent="0">
              <a:buNone/>
            </a:pPr>
            <a:r>
              <a:rPr lang="en-US" sz="1800" dirty="0"/>
              <a:t>    P = (</a:t>
            </a:r>
            <a:r>
              <a:rPr lang="en-US" sz="1800" dirty="0" err="1"/>
              <a:t>int</a:t>
            </a:r>
            <a:r>
              <a:rPr lang="en-US" sz="1800" dirty="0"/>
              <a:t>*)</a:t>
            </a:r>
            <a:r>
              <a:rPr lang="en-US" sz="1800" dirty="0" err="1"/>
              <a:t>malloc</a:t>
            </a:r>
            <a:r>
              <a:rPr lang="en-US" sz="1800" dirty="0"/>
              <a:t>(5 * </a:t>
            </a:r>
            <a:r>
              <a:rPr lang="en-US" sz="1800" dirty="0" err="1"/>
              <a:t>sizeof</a:t>
            </a:r>
            <a:r>
              <a:rPr lang="en-US" sz="1800" dirty="0"/>
              <a:t>(</a:t>
            </a:r>
            <a:r>
              <a:rPr lang="en-US" sz="1800" dirty="0" err="1"/>
              <a:t>int</a:t>
            </a:r>
            <a:r>
              <a:rPr lang="en-US" sz="1800" dirty="0" smtClean="0"/>
              <a:t>));</a:t>
            </a:r>
          </a:p>
          <a:p>
            <a:pPr marL="68580" indent="0">
              <a:buNone/>
            </a:pPr>
            <a:r>
              <a:rPr lang="en-US" sz="1800" dirty="0" smtClean="0"/>
              <a:t>    free(p);</a:t>
            </a:r>
          </a:p>
          <a:p>
            <a:pPr marL="68580" indent="0">
              <a:buNone/>
            </a:pPr>
            <a:r>
              <a:rPr lang="en-US" sz="1800" dirty="0"/>
              <a:t> </a:t>
            </a:r>
            <a:r>
              <a:rPr lang="en-US" sz="1800" dirty="0" smtClean="0"/>
              <a:t>   p=NULL; </a:t>
            </a:r>
            <a:endParaRPr lang="en-US" sz="1800" dirty="0"/>
          </a:p>
          <a:p>
            <a:pPr marL="68580" indent="0">
              <a:buNone/>
            </a:pPr>
            <a:r>
              <a:rPr lang="en-US" sz="1800" dirty="0"/>
              <a:t>}  </a:t>
            </a:r>
          </a:p>
        </p:txBody>
      </p:sp>
      <p:sp>
        <p:nvSpPr>
          <p:cNvPr id="4" name="Date Placeholder 3"/>
          <p:cNvSpPr>
            <a:spLocks noGrp="1"/>
          </p:cNvSpPr>
          <p:nvPr>
            <p:ph type="dt" sz="half" idx="10"/>
          </p:nvPr>
        </p:nvSpPr>
        <p:spPr/>
        <p:txBody>
          <a:bodyPr/>
          <a:lstStyle/>
          <a:p>
            <a:fld id="{6ABB7E53-7851-4A5A-8B01-BDA6C1670481}"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45</a:t>
            </a:fld>
            <a:endParaRPr lang="en-IN"/>
          </a:p>
        </p:txBody>
      </p:sp>
      <p:sp>
        <p:nvSpPr>
          <p:cNvPr id="7" name="Rectangle 6"/>
          <p:cNvSpPr/>
          <p:nvPr/>
        </p:nvSpPr>
        <p:spPr>
          <a:xfrm>
            <a:off x="468455" y="6237312"/>
            <a:ext cx="8352928" cy="307777"/>
          </a:xfrm>
          <a:prstGeom prst="rect">
            <a:avLst/>
          </a:prstGeom>
        </p:spPr>
        <p:txBody>
          <a:bodyPr wrap="square">
            <a:spAutoFit/>
          </a:bodyPr>
          <a:lstStyle/>
          <a:p>
            <a:r>
              <a:rPr lang="en-IN" sz="1400" dirty="0"/>
              <a:t>https://www.geeksforgeeks.org/static-and-dynamic-memory-allocation-in-c/</a:t>
            </a:r>
          </a:p>
        </p:txBody>
      </p:sp>
      <p:pic>
        <p:nvPicPr>
          <p:cNvPr id="7175" name="Picture 7"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1196752"/>
            <a:ext cx="3744416" cy="4680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231746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492" y="1124744"/>
            <a:ext cx="6777317" cy="4707885"/>
          </a:xfrm>
        </p:spPr>
        <p:txBody>
          <a:bodyPr>
            <a:normAutofit/>
          </a:bodyPr>
          <a:lstStyle/>
          <a:p>
            <a:r>
              <a:rPr lang="en-US" sz="2000" dirty="0"/>
              <a:t>Memory is divided into smaller addressable units called bytes. </a:t>
            </a:r>
            <a:endParaRPr lang="en-US" sz="2000" dirty="0" smtClean="0"/>
          </a:p>
          <a:p>
            <a:r>
              <a:rPr lang="en-US" sz="2000" dirty="0" smtClean="0"/>
              <a:t>Assume </a:t>
            </a:r>
            <a:r>
              <a:rPr lang="en-US" sz="2000" dirty="0"/>
              <a:t>that these are small boxes as bytes. </a:t>
            </a:r>
            <a:endParaRPr lang="en-US" sz="2000" dirty="0" smtClean="0"/>
          </a:p>
          <a:p>
            <a:r>
              <a:rPr lang="en-US" sz="2000" dirty="0" smtClean="0"/>
              <a:t>Each </a:t>
            </a:r>
            <a:r>
              <a:rPr lang="en-US" sz="2000" dirty="0"/>
              <a:t>byte has its own address as per the below table</a:t>
            </a:r>
            <a:r>
              <a:rPr lang="en-US" sz="2000" dirty="0" smtClean="0"/>
              <a:t>. For </a:t>
            </a:r>
            <a:r>
              <a:rPr lang="en-US" sz="2000" dirty="0"/>
              <a:t>example: 0, 1, 2, 3, 4, 5, 6, etc.</a:t>
            </a:r>
          </a:p>
          <a:p>
            <a:endParaRPr lang="en-US" sz="2000" dirty="0"/>
          </a:p>
          <a:p>
            <a:endParaRPr lang="en-US" sz="2000" dirty="0"/>
          </a:p>
          <a:p>
            <a:endParaRPr lang="en-US" sz="2000" dirty="0" smtClean="0"/>
          </a:p>
          <a:p>
            <a:endParaRPr lang="en-US" sz="2000" dirty="0"/>
          </a:p>
        </p:txBody>
      </p:sp>
      <p:sp>
        <p:nvSpPr>
          <p:cNvPr id="4" name="Date Placeholder 3"/>
          <p:cNvSpPr>
            <a:spLocks noGrp="1"/>
          </p:cNvSpPr>
          <p:nvPr>
            <p:ph type="dt" sz="half" idx="10"/>
          </p:nvPr>
        </p:nvSpPr>
        <p:spPr/>
        <p:txBody>
          <a:bodyPr/>
          <a:lstStyle/>
          <a:p>
            <a:fld id="{EB710D74-2398-47D4-A516-B8748A1822B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46</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225899"/>
            <a:ext cx="3352800"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72198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7584" y="692696"/>
            <a:ext cx="6777317" cy="3915797"/>
          </a:xfrm>
        </p:spPr>
        <p:txBody>
          <a:bodyPr>
            <a:normAutofit/>
          </a:bodyPr>
          <a:lstStyle/>
          <a:p>
            <a:r>
              <a:rPr lang="en-US" sz="2000" dirty="0"/>
              <a:t>The Memory is divided into three sections. </a:t>
            </a:r>
            <a:endParaRPr lang="en-US" sz="2000" dirty="0" smtClean="0"/>
          </a:p>
          <a:p>
            <a:r>
              <a:rPr lang="en-IN" sz="2000" b="1" dirty="0"/>
              <a:t>Heap </a:t>
            </a:r>
            <a:r>
              <a:rPr lang="en-IN" sz="2000" b="1" dirty="0" smtClean="0"/>
              <a:t>Memory</a:t>
            </a:r>
          </a:p>
          <a:p>
            <a:r>
              <a:rPr lang="en-IN" sz="2000" b="1" dirty="0"/>
              <a:t>Stack </a:t>
            </a:r>
            <a:r>
              <a:rPr lang="en-IN" sz="2000" b="1" dirty="0" smtClean="0"/>
              <a:t>Memory</a:t>
            </a:r>
            <a:r>
              <a:rPr lang="en-IN" sz="2000" b="1" dirty="0"/>
              <a:t> </a:t>
            </a:r>
            <a:endParaRPr lang="en-IN" sz="2000" b="1" dirty="0" smtClean="0"/>
          </a:p>
          <a:p>
            <a:r>
              <a:rPr lang="en-IN" sz="2000" b="1" dirty="0"/>
              <a:t>Code </a:t>
            </a:r>
            <a:r>
              <a:rPr lang="en-IN" sz="2000" b="1" dirty="0" smtClean="0"/>
              <a:t>Section</a:t>
            </a:r>
            <a:endParaRPr lang="en-US" sz="2000" b="1" dirty="0"/>
          </a:p>
          <a:p>
            <a:pPr marL="68580" indent="0">
              <a:buNone/>
            </a:pPr>
            <a:endParaRPr lang="en-US" sz="2000" dirty="0" smtClean="0"/>
          </a:p>
          <a:p>
            <a:pPr marL="68580" indent="0">
              <a:buNone/>
            </a:pPr>
            <a:r>
              <a:rPr lang="en-US" sz="2000" dirty="0" smtClean="0"/>
              <a:t>How </a:t>
            </a:r>
            <a:r>
              <a:rPr lang="en-US" sz="2000" dirty="0"/>
              <a:t>program uses memory?</a:t>
            </a:r>
            <a:endParaRPr lang="en-IN" sz="2000" dirty="0"/>
          </a:p>
        </p:txBody>
      </p:sp>
      <p:sp>
        <p:nvSpPr>
          <p:cNvPr id="4" name="Date Placeholder 3"/>
          <p:cNvSpPr>
            <a:spLocks noGrp="1"/>
          </p:cNvSpPr>
          <p:nvPr>
            <p:ph type="dt" sz="half" idx="10"/>
          </p:nvPr>
        </p:nvSpPr>
        <p:spPr/>
        <p:txBody>
          <a:bodyPr/>
          <a:lstStyle/>
          <a:p>
            <a:fld id="{EB710D74-2398-47D4-A516-B8748A1822B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47</a:t>
            </a:fld>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2924944"/>
            <a:ext cx="6192688"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47123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476672"/>
            <a:ext cx="7024744" cy="529128"/>
          </a:xfrm>
        </p:spPr>
        <p:txBody>
          <a:bodyPr>
            <a:noAutofit/>
          </a:bodyPr>
          <a:lstStyle/>
          <a:p>
            <a:r>
              <a:rPr lang="en-IN" sz="3200" b="1" dirty="0" smtClean="0"/>
              <a:t>Stack and Heap </a:t>
            </a:r>
            <a:endParaRPr lang="en-IN" sz="3200" b="1" dirty="0"/>
          </a:p>
        </p:txBody>
      </p:sp>
      <p:sp>
        <p:nvSpPr>
          <p:cNvPr id="3" name="Content Placeholder 2"/>
          <p:cNvSpPr>
            <a:spLocks noGrp="1"/>
          </p:cNvSpPr>
          <p:nvPr>
            <p:ph idx="1"/>
          </p:nvPr>
        </p:nvSpPr>
        <p:spPr>
          <a:xfrm>
            <a:off x="899592" y="1052736"/>
            <a:ext cx="6777317" cy="3508977"/>
          </a:xfrm>
        </p:spPr>
        <p:txBody>
          <a:bodyPr>
            <a:normAutofit/>
          </a:bodyPr>
          <a:lstStyle/>
          <a:p>
            <a:r>
              <a:rPr lang="en-IN" sz="2000" b="1" dirty="0"/>
              <a:t>Stack </a:t>
            </a:r>
            <a:r>
              <a:rPr lang="en-IN" sz="2000" b="1" dirty="0" smtClean="0"/>
              <a:t>and Heap both </a:t>
            </a:r>
            <a:r>
              <a:rPr lang="en-IN" sz="2000" b="1" dirty="0"/>
              <a:t>stored in the computer's RAM .</a:t>
            </a:r>
          </a:p>
        </p:txBody>
      </p:sp>
      <p:sp>
        <p:nvSpPr>
          <p:cNvPr id="4" name="Date Placeholder 3"/>
          <p:cNvSpPr>
            <a:spLocks noGrp="1"/>
          </p:cNvSpPr>
          <p:nvPr>
            <p:ph type="dt" sz="half" idx="10"/>
          </p:nvPr>
        </p:nvSpPr>
        <p:spPr/>
        <p:txBody>
          <a:bodyPr/>
          <a:lstStyle/>
          <a:p>
            <a:fld id="{EB710D74-2398-47D4-A516-B8748A1822B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48</a:t>
            </a:fld>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034231"/>
            <a:ext cx="3751287" cy="41870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descr="https://courses.engr.illinois.edu/cs225/sp2022/assets/notes/stack_heap_memory/memory_layou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8911" y="2132856"/>
            <a:ext cx="3409950"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997934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Heap</a:t>
            </a:r>
            <a:endParaRPr lang="en-IN" sz="3200" b="1" dirty="0"/>
          </a:p>
        </p:txBody>
      </p:sp>
      <p:sp>
        <p:nvSpPr>
          <p:cNvPr id="3" name="Content Placeholder 2"/>
          <p:cNvSpPr>
            <a:spLocks noGrp="1"/>
          </p:cNvSpPr>
          <p:nvPr>
            <p:ph idx="1"/>
          </p:nvPr>
        </p:nvSpPr>
        <p:spPr>
          <a:xfrm>
            <a:off x="899592" y="1340768"/>
            <a:ext cx="6777317" cy="4752528"/>
          </a:xfrm>
        </p:spPr>
        <p:txBody>
          <a:bodyPr>
            <a:normAutofit/>
          </a:bodyPr>
          <a:lstStyle/>
          <a:p>
            <a:r>
              <a:rPr lang="en-IN" sz="1800" dirty="0" smtClean="0"/>
              <a:t>To </a:t>
            </a:r>
            <a:r>
              <a:rPr lang="en-IN" sz="1800" dirty="0"/>
              <a:t>allocate memory on the heap, you must use </a:t>
            </a:r>
            <a:r>
              <a:rPr lang="en-IN" sz="1800" dirty="0" err="1"/>
              <a:t>malloc</a:t>
            </a:r>
            <a:r>
              <a:rPr lang="en-IN" sz="1800" dirty="0"/>
              <a:t>() or </a:t>
            </a:r>
            <a:r>
              <a:rPr lang="en-IN" sz="1800" dirty="0" err="1"/>
              <a:t>calloc</a:t>
            </a:r>
            <a:r>
              <a:rPr lang="en-IN" sz="1800" dirty="0"/>
              <a:t>(), which are built-in C functions. </a:t>
            </a:r>
            <a:endParaRPr lang="en-IN" sz="1800" dirty="0" smtClean="0"/>
          </a:p>
          <a:p>
            <a:endParaRPr lang="en-IN" sz="1800" dirty="0" smtClean="0"/>
          </a:p>
          <a:p>
            <a:r>
              <a:rPr lang="en-IN" sz="1800" dirty="0" smtClean="0"/>
              <a:t>Deallocate memory on heap using free</a:t>
            </a:r>
          </a:p>
          <a:p>
            <a:endParaRPr lang="en-IN" sz="1800" dirty="0" smtClean="0"/>
          </a:p>
          <a:p>
            <a:r>
              <a:rPr lang="en-IN" sz="1800" dirty="0" smtClean="0"/>
              <a:t>If </a:t>
            </a:r>
            <a:r>
              <a:rPr lang="en-IN" sz="1800" dirty="0"/>
              <a:t>you fail to do this, your program will have what is known as a </a:t>
            </a:r>
            <a:r>
              <a:rPr lang="en-IN" sz="1800" b="1" dirty="0"/>
              <a:t>memory leak</a:t>
            </a:r>
            <a:r>
              <a:rPr lang="en-IN" sz="1800" dirty="0"/>
              <a:t>. That is, memory on the heap will still be set aside (and won't be available to other processes).</a:t>
            </a:r>
          </a:p>
        </p:txBody>
      </p:sp>
      <p:sp>
        <p:nvSpPr>
          <p:cNvPr id="4" name="Date Placeholder 3"/>
          <p:cNvSpPr>
            <a:spLocks noGrp="1"/>
          </p:cNvSpPr>
          <p:nvPr>
            <p:ph type="dt" sz="half" idx="10"/>
          </p:nvPr>
        </p:nvSpPr>
        <p:spPr/>
        <p:txBody>
          <a:bodyPr/>
          <a:lstStyle/>
          <a:p>
            <a:fld id="{6ABB7E53-7851-4A5A-8B01-BDA6C1670481}"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49</a:t>
            </a:fld>
            <a:endParaRPr lang="en-IN"/>
          </a:p>
        </p:txBody>
      </p:sp>
    </p:spTree>
    <p:extLst>
      <p:ext uri="{BB962C8B-B14F-4D97-AF65-F5344CB8AC3E}">
        <p14:creationId xmlns:p14="http://schemas.microsoft.com/office/powerpoint/2010/main" val="22873727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457120"/>
          </a:xfrm>
        </p:spPr>
        <p:txBody>
          <a:bodyPr>
            <a:noAutofit/>
          </a:bodyPr>
          <a:lstStyle/>
          <a:p>
            <a:r>
              <a:rPr lang="en-IN" sz="3200" b="1" dirty="0" smtClean="0"/>
              <a:t>Stack vs Heap</a:t>
            </a:r>
            <a:endParaRPr lang="en-IN" sz="3200" b="1" dirty="0"/>
          </a:p>
        </p:txBody>
      </p:sp>
      <p:sp>
        <p:nvSpPr>
          <p:cNvPr id="4" name="Date Placeholder 3"/>
          <p:cNvSpPr>
            <a:spLocks noGrp="1"/>
          </p:cNvSpPr>
          <p:nvPr>
            <p:ph type="dt" sz="half" idx="10"/>
          </p:nvPr>
        </p:nvSpPr>
        <p:spPr/>
        <p:txBody>
          <a:bodyPr/>
          <a:lstStyle/>
          <a:p>
            <a:fld id="{6ABB7E53-7851-4A5A-8B01-BDA6C1670481}"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50</a:t>
            </a:fld>
            <a:endParaRPr lang="en-IN"/>
          </a:p>
        </p:txBody>
      </p:sp>
      <p:sp>
        <p:nvSpPr>
          <p:cNvPr id="3" name="Content Placeholder 2"/>
          <p:cNvSpPr>
            <a:spLocks noGrp="1"/>
          </p:cNvSpPr>
          <p:nvPr>
            <p:ph sz="quarter" idx="13"/>
          </p:nvPr>
        </p:nvSpPr>
        <p:spPr>
          <a:xfrm>
            <a:off x="1042416" y="1340768"/>
            <a:ext cx="3419856" cy="4465672"/>
          </a:xfrm>
        </p:spPr>
        <p:txBody>
          <a:bodyPr>
            <a:normAutofit lnSpcReduction="10000"/>
          </a:bodyPr>
          <a:lstStyle/>
          <a:p>
            <a:pPr marL="68580" indent="0">
              <a:buNone/>
            </a:pPr>
            <a:r>
              <a:rPr lang="en-IN" sz="2000" b="1" dirty="0" smtClean="0">
                <a:solidFill>
                  <a:schemeClr val="accent1"/>
                </a:solidFill>
              </a:rPr>
              <a:t>Stack –</a:t>
            </a:r>
          </a:p>
          <a:p>
            <a:r>
              <a:rPr lang="en-IN" sz="1800" dirty="0" smtClean="0"/>
              <a:t>Don't </a:t>
            </a:r>
            <a:r>
              <a:rPr lang="en-IN" sz="1800" dirty="0"/>
              <a:t>have to explicitly de-allocate </a:t>
            </a:r>
            <a:r>
              <a:rPr lang="en-IN" sz="1800" dirty="0" smtClean="0"/>
              <a:t>variables</a:t>
            </a:r>
          </a:p>
          <a:p>
            <a:endParaRPr lang="en-IN" sz="1800" dirty="0" smtClean="0"/>
          </a:p>
          <a:p>
            <a:r>
              <a:rPr lang="en-IN" sz="1800" dirty="0" smtClean="0"/>
              <a:t>The </a:t>
            </a:r>
            <a:r>
              <a:rPr lang="en-IN" sz="1800" dirty="0"/>
              <a:t>stack has size </a:t>
            </a:r>
            <a:r>
              <a:rPr lang="en-IN" sz="1800" dirty="0" smtClean="0"/>
              <a:t>limits</a:t>
            </a:r>
          </a:p>
          <a:p>
            <a:endParaRPr lang="en-IN" sz="1800" dirty="0" smtClean="0"/>
          </a:p>
          <a:p>
            <a:r>
              <a:rPr lang="en-IN" sz="1800" dirty="0" smtClean="0"/>
              <a:t>very </a:t>
            </a:r>
            <a:r>
              <a:rPr lang="en-IN" sz="1800" dirty="0"/>
              <a:t>fast </a:t>
            </a:r>
            <a:r>
              <a:rPr lang="en-IN" sz="1800" dirty="0" smtClean="0"/>
              <a:t>access</a:t>
            </a:r>
          </a:p>
          <a:p>
            <a:endParaRPr lang="en-IN" sz="1800" dirty="0" smtClean="0"/>
          </a:p>
          <a:p>
            <a:endParaRPr lang="en-IN" sz="1800" dirty="0"/>
          </a:p>
          <a:p>
            <a:endParaRPr lang="en-IN" sz="1800" dirty="0" smtClean="0"/>
          </a:p>
          <a:p>
            <a:r>
              <a:rPr lang="en-IN" sz="1800" dirty="0" smtClean="0"/>
              <a:t>variables </a:t>
            </a:r>
            <a:r>
              <a:rPr lang="en-IN" sz="1800" dirty="0"/>
              <a:t>cannot be </a:t>
            </a:r>
            <a:r>
              <a:rPr lang="en-IN" sz="1800" dirty="0" smtClean="0"/>
              <a:t>resized</a:t>
            </a:r>
          </a:p>
          <a:p>
            <a:endParaRPr lang="en-IN" sz="1800" dirty="0" smtClean="0"/>
          </a:p>
          <a:p>
            <a:r>
              <a:rPr lang="en-IN" sz="1800" dirty="0" smtClean="0"/>
              <a:t>local </a:t>
            </a:r>
            <a:r>
              <a:rPr lang="en-IN" sz="1800" dirty="0"/>
              <a:t>variables only</a:t>
            </a:r>
          </a:p>
          <a:p>
            <a:pPr marL="68580" indent="0">
              <a:buNone/>
            </a:pPr>
            <a:endParaRPr lang="en-IN" sz="1800" b="1" dirty="0" smtClean="0">
              <a:solidFill>
                <a:schemeClr val="accent1"/>
              </a:solidFill>
            </a:endParaRPr>
          </a:p>
        </p:txBody>
      </p:sp>
      <p:sp>
        <p:nvSpPr>
          <p:cNvPr id="7" name="Content Placeholder 6"/>
          <p:cNvSpPr>
            <a:spLocks noGrp="1"/>
          </p:cNvSpPr>
          <p:nvPr>
            <p:ph sz="quarter" idx="14"/>
          </p:nvPr>
        </p:nvSpPr>
        <p:spPr>
          <a:xfrm>
            <a:off x="4645152" y="1196752"/>
            <a:ext cx="3419856" cy="4609687"/>
          </a:xfrm>
        </p:spPr>
        <p:txBody>
          <a:bodyPr>
            <a:normAutofit fontScale="62500" lnSpcReduction="20000"/>
          </a:bodyPr>
          <a:lstStyle/>
          <a:p>
            <a:pPr marL="68580" indent="0">
              <a:buNone/>
            </a:pPr>
            <a:r>
              <a:rPr lang="en-IN" b="1" dirty="0">
                <a:solidFill>
                  <a:schemeClr val="accent1"/>
                </a:solidFill>
              </a:rPr>
              <a:t>Heap –</a:t>
            </a:r>
          </a:p>
          <a:p>
            <a:r>
              <a:rPr lang="en-IN" dirty="0" smtClean="0"/>
              <a:t>You </a:t>
            </a:r>
            <a:r>
              <a:rPr lang="en-IN" dirty="0"/>
              <a:t>must manage memory (you're in charge of allocating and freeing variables)</a:t>
            </a:r>
          </a:p>
          <a:p>
            <a:endParaRPr lang="en-IN" dirty="0" smtClean="0"/>
          </a:p>
          <a:p>
            <a:r>
              <a:rPr lang="en-IN" dirty="0" smtClean="0"/>
              <a:t>The </a:t>
            </a:r>
            <a:r>
              <a:rPr lang="en-IN" dirty="0"/>
              <a:t>heap does not have size restrictions on variable size (apart from the obvious physical limitations of your computer). </a:t>
            </a:r>
          </a:p>
          <a:p>
            <a:endParaRPr lang="en-IN" dirty="0" smtClean="0"/>
          </a:p>
          <a:p>
            <a:r>
              <a:rPr lang="en-IN" dirty="0" smtClean="0"/>
              <a:t>Heap </a:t>
            </a:r>
            <a:r>
              <a:rPr lang="en-IN" dirty="0"/>
              <a:t>memory is slightly slower to be read from and written to, because </a:t>
            </a:r>
            <a:r>
              <a:rPr lang="en-IN" b="1" dirty="0" smtClean="0"/>
              <a:t>pointers</a:t>
            </a:r>
            <a:r>
              <a:rPr lang="en-IN" dirty="0" smtClean="0"/>
              <a:t> are used to </a:t>
            </a:r>
            <a:r>
              <a:rPr lang="en-IN" dirty="0"/>
              <a:t>access memory on the heap. </a:t>
            </a:r>
          </a:p>
          <a:p>
            <a:endParaRPr lang="en-IN" dirty="0" smtClean="0"/>
          </a:p>
          <a:p>
            <a:r>
              <a:rPr lang="en-IN" dirty="0" smtClean="0"/>
              <a:t>Variables </a:t>
            </a:r>
            <a:r>
              <a:rPr lang="en-IN" dirty="0"/>
              <a:t>can be resized using </a:t>
            </a:r>
            <a:r>
              <a:rPr lang="en-IN" dirty="0" err="1"/>
              <a:t>realloc</a:t>
            </a:r>
            <a:r>
              <a:rPr lang="en-IN" dirty="0"/>
              <a:t>()</a:t>
            </a:r>
          </a:p>
          <a:p>
            <a:endParaRPr lang="en-IN" dirty="0" smtClean="0"/>
          </a:p>
          <a:p>
            <a:r>
              <a:rPr lang="en-IN" dirty="0" smtClean="0"/>
              <a:t>variables </a:t>
            </a:r>
            <a:r>
              <a:rPr lang="en-IN" dirty="0"/>
              <a:t>can be accessed globally</a:t>
            </a:r>
          </a:p>
          <a:p>
            <a:endParaRPr lang="en-IN" dirty="0"/>
          </a:p>
        </p:txBody>
      </p:sp>
      <p:sp>
        <p:nvSpPr>
          <p:cNvPr id="8" name="Rectangle 7"/>
          <p:cNvSpPr/>
          <p:nvPr/>
        </p:nvSpPr>
        <p:spPr>
          <a:xfrm>
            <a:off x="755576" y="6165304"/>
            <a:ext cx="6102424" cy="307777"/>
          </a:xfrm>
          <a:prstGeom prst="rect">
            <a:avLst/>
          </a:prstGeom>
        </p:spPr>
        <p:txBody>
          <a:bodyPr wrap="square">
            <a:spAutoFit/>
          </a:bodyPr>
          <a:lstStyle/>
          <a:p>
            <a:r>
              <a:rPr lang="en-IN" sz="1400" dirty="0"/>
              <a:t>https://gribblelab.org/CBootCamp/7_Memory_Stack_vs_Heap.html</a:t>
            </a:r>
          </a:p>
        </p:txBody>
      </p:sp>
    </p:spTree>
    <p:extLst>
      <p:ext uri="{BB962C8B-B14F-4D97-AF65-F5344CB8AC3E}">
        <p14:creationId xmlns:p14="http://schemas.microsoft.com/office/powerpoint/2010/main" val="25811516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Stack</a:t>
            </a:r>
            <a:endParaRPr lang="en-IN" sz="3200" b="1" dirty="0"/>
          </a:p>
        </p:txBody>
      </p:sp>
      <p:sp>
        <p:nvSpPr>
          <p:cNvPr id="3" name="Content Placeholder 2"/>
          <p:cNvSpPr>
            <a:spLocks noGrp="1"/>
          </p:cNvSpPr>
          <p:nvPr>
            <p:ph idx="1"/>
          </p:nvPr>
        </p:nvSpPr>
        <p:spPr>
          <a:xfrm>
            <a:off x="899592" y="1340768"/>
            <a:ext cx="7416824" cy="4752528"/>
          </a:xfrm>
        </p:spPr>
        <p:txBody>
          <a:bodyPr>
            <a:normAutofit/>
          </a:bodyPr>
          <a:lstStyle/>
          <a:p>
            <a:endParaRPr lang="en-IN" sz="1800" dirty="0" smtClean="0"/>
          </a:p>
          <a:p>
            <a:r>
              <a:rPr lang="en-IN" sz="2000" dirty="0"/>
              <a:t>Stack resident variables </a:t>
            </a:r>
            <a:r>
              <a:rPr lang="en-IN" sz="2000" dirty="0" smtClean="0"/>
              <a:t>are:</a:t>
            </a:r>
          </a:p>
          <a:p>
            <a:pPr lvl="1"/>
            <a:r>
              <a:rPr lang="en-IN" sz="1800" dirty="0" smtClean="0"/>
              <a:t>created </a:t>
            </a:r>
            <a:r>
              <a:rPr lang="en-IN" sz="1800" dirty="0"/>
              <a:t>(“pushed on to”) the stack when a basic block that contains them (i.e. function) is activated and </a:t>
            </a:r>
            <a:endParaRPr lang="en-IN" sz="1800" dirty="0" smtClean="0"/>
          </a:p>
          <a:p>
            <a:pPr lvl="1"/>
            <a:r>
              <a:rPr lang="en-IN" sz="1800" dirty="0" smtClean="0"/>
              <a:t>disappear </a:t>
            </a:r>
            <a:r>
              <a:rPr lang="en-IN" sz="1800" dirty="0"/>
              <a:t>from (“popped off”) the stack when the function is done </a:t>
            </a:r>
            <a:endParaRPr lang="en-IN" sz="1800" dirty="0" smtClean="0"/>
          </a:p>
          <a:p>
            <a:pPr lvl="2"/>
            <a:r>
              <a:rPr lang="en-IN" sz="1600" dirty="0" smtClean="0"/>
              <a:t>(</a:t>
            </a:r>
            <a:r>
              <a:rPr lang="en-IN" sz="1600" dirty="0"/>
              <a:t>Those areas of memory that had been used by variables when a basic block was activated may then be overwritten after exit from the block</a:t>
            </a:r>
            <a:r>
              <a:rPr lang="en-IN" sz="1600" dirty="0" smtClean="0"/>
              <a:t>.)</a:t>
            </a:r>
          </a:p>
          <a:p>
            <a:pPr lvl="1"/>
            <a:r>
              <a:rPr lang="en-IN" sz="1800" dirty="0" smtClean="0"/>
              <a:t>stack </a:t>
            </a:r>
            <a:r>
              <a:rPr lang="en-IN" sz="1800" dirty="0"/>
              <a:t>memory is more limited, i.e. there is less of it compared to heap memory</a:t>
            </a:r>
            <a:endParaRPr lang="en-IN" sz="1600" dirty="0"/>
          </a:p>
        </p:txBody>
      </p:sp>
      <p:sp>
        <p:nvSpPr>
          <p:cNvPr id="4" name="Date Placeholder 3"/>
          <p:cNvSpPr>
            <a:spLocks noGrp="1"/>
          </p:cNvSpPr>
          <p:nvPr>
            <p:ph type="dt" sz="half" idx="10"/>
          </p:nvPr>
        </p:nvSpPr>
        <p:spPr/>
        <p:txBody>
          <a:bodyPr/>
          <a:lstStyle/>
          <a:p>
            <a:fld id="{6ABB7E53-7851-4A5A-8B01-BDA6C1670481}"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51</a:t>
            </a:fld>
            <a:endParaRPr lang="en-IN"/>
          </a:p>
        </p:txBody>
      </p:sp>
      <p:sp>
        <p:nvSpPr>
          <p:cNvPr id="8" name="Curved Left Arrow 7"/>
          <p:cNvSpPr/>
          <p:nvPr/>
        </p:nvSpPr>
        <p:spPr>
          <a:xfrm rot="1444983">
            <a:off x="5614994" y="4545413"/>
            <a:ext cx="1728192" cy="2304256"/>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Rectangle 6"/>
          <p:cNvSpPr/>
          <p:nvPr/>
        </p:nvSpPr>
        <p:spPr>
          <a:xfrm>
            <a:off x="539552" y="5534361"/>
            <a:ext cx="7776864" cy="523220"/>
          </a:xfrm>
          <a:prstGeom prst="rect">
            <a:avLst/>
          </a:prstGeom>
        </p:spPr>
        <p:txBody>
          <a:bodyPr wrap="square">
            <a:spAutoFit/>
          </a:bodyPr>
          <a:lstStyle/>
          <a:p>
            <a:r>
              <a:rPr lang="en-IN" sz="1400" dirty="0"/>
              <a:t>http://citeseerx.ist.psu.edu/viewdoc/download;jsessionid=13D3E255880D543426E53785A6A7895F?doi=10.1.1.705.51&amp;rep=rep1&amp;type=pdf</a:t>
            </a:r>
          </a:p>
        </p:txBody>
      </p:sp>
    </p:spTree>
    <p:extLst>
      <p:ext uri="{BB962C8B-B14F-4D97-AF65-F5344CB8AC3E}">
        <p14:creationId xmlns:p14="http://schemas.microsoft.com/office/powerpoint/2010/main" val="26179310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024744" cy="529128"/>
          </a:xfrm>
        </p:spPr>
        <p:txBody>
          <a:bodyPr>
            <a:noAutofit/>
          </a:bodyPr>
          <a:lstStyle/>
          <a:p>
            <a:r>
              <a:rPr lang="en-IN" sz="3200" b="1" dirty="0" smtClean="0"/>
              <a:t>Heap</a:t>
            </a:r>
            <a:endParaRPr lang="en-IN" sz="3200" b="1" dirty="0"/>
          </a:p>
        </p:txBody>
      </p:sp>
      <p:sp>
        <p:nvSpPr>
          <p:cNvPr id="3" name="Content Placeholder 2"/>
          <p:cNvSpPr>
            <a:spLocks noGrp="1"/>
          </p:cNvSpPr>
          <p:nvPr>
            <p:ph idx="1"/>
          </p:nvPr>
        </p:nvSpPr>
        <p:spPr>
          <a:xfrm>
            <a:off x="899592" y="1340768"/>
            <a:ext cx="7416824" cy="4752528"/>
          </a:xfrm>
        </p:spPr>
        <p:txBody>
          <a:bodyPr>
            <a:normAutofit/>
          </a:bodyPr>
          <a:lstStyle/>
          <a:p>
            <a:endParaRPr lang="en-IN" sz="1800" dirty="0" smtClean="0"/>
          </a:p>
          <a:p>
            <a:r>
              <a:rPr lang="en-IN" sz="1800" dirty="0" smtClean="0"/>
              <a:t>Heap </a:t>
            </a:r>
            <a:r>
              <a:rPr lang="en-IN" sz="1800" dirty="0"/>
              <a:t>resident variables include</a:t>
            </a:r>
            <a:r>
              <a:rPr lang="en-IN" sz="1800" dirty="0" smtClean="0"/>
              <a:t>:</a:t>
            </a:r>
          </a:p>
          <a:p>
            <a:pPr lvl="1"/>
            <a:r>
              <a:rPr lang="en-IN" sz="1600" dirty="0" smtClean="0"/>
              <a:t>variables </a:t>
            </a:r>
            <a:r>
              <a:rPr lang="en-IN" sz="1600" dirty="0"/>
              <a:t>declared outside all functions (</a:t>
            </a:r>
            <a:r>
              <a:rPr lang="en-IN" sz="1600" dirty="0" err="1"/>
              <a:t>globals</a:t>
            </a:r>
            <a:r>
              <a:rPr lang="en-IN" sz="1600" dirty="0" smtClean="0"/>
              <a:t>)</a:t>
            </a:r>
          </a:p>
          <a:p>
            <a:pPr lvl="1"/>
            <a:r>
              <a:rPr lang="en-IN" sz="1600" dirty="0" smtClean="0"/>
              <a:t>variables </a:t>
            </a:r>
            <a:r>
              <a:rPr lang="en-IN" sz="1600" dirty="0"/>
              <a:t>declared inside basic blocks that are declared </a:t>
            </a:r>
            <a:r>
              <a:rPr lang="en-IN" sz="1600" dirty="0" smtClean="0"/>
              <a:t>static</a:t>
            </a:r>
          </a:p>
          <a:p>
            <a:pPr lvl="1"/>
            <a:r>
              <a:rPr lang="en-IN" sz="1600" dirty="0" smtClean="0"/>
              <a:t>memory </a:t>
            </a:r>
            <a:r>
              <a:rPr lang="en-IN" sz="1600" dirty="0"/>
              <a:t>areas dynamically allocated at run time with </a:t>
            </a:r>
            <a:r>
              <a:rPr lang="en-IN" sz="1600" dirty="0" err="1"/>
              <a:t>malloc</a:t>
            </a:r>
            <a:r>
              <a:rPr lang="en-IN" sz="1600" dirty="0"/>
              <a:t>( </a:t>
            </a:r>
            <a:r>
              <a:rPr lang="en-IN" sz="1600" dirty="0" smtClean="0"/>
              <a:t>)</a:t>
            </a:r>
          </a:p>
          <a:p>
            <a:pPr lvl="1"/>
            <a:endParaRPr lang="en-IN" sz="1600" dirty="0"/>
          </a:p>
          <a:p>
            <a:pPr marL="68580" indent="0">
              <a:buNone/>
            </a:pPr>
            <a:r>
              <a:rPr lang="en-IN" sz="1800" dirty="0" smtClean="0"/>
              <a:t>Storage </a:t>
            </a:r>
            <a:r>
              <a:rPr lang="en-IN" sz="1800" dirty="0"/>
              <a:t>for declared heap resident variables is</a:t>
            </a:r>
            <a:r>
              <a:rPr lang="en-IN" sz="1800" dirty="0" smtClean="0"/>
              <a:t>:</a:t>
            </a:r>
          </a:p>
          <a:p>
            <a:pPr lvl="1"/>
            <a:r>
              <a:rPr lang="en-IN" sz="1600" dirty="0" smtClean="0"/>
              <a:t>assigned </a:t>
            </a:r>
            <a:r>
              <a:rPr lang="en-IN" sz="1600" dirty="0"/>
              <a:t>at the time a program is loaded, and </a:t>
            </a:r>
            <a:endParaRPr lang="en-IN" sz="1600" dirty="0" smtClean="0"/>
          </a:p>
          <a:p>
            <a:pPr lvl="1"/>
            <a:r>
              <a:rPr lang="en-IN" sz="1600" dirty="0" smtClean="0"/>
              <a:t>remains </a:t>
            </a:r>
            <a:r>
              <a:rPr lang="en-IN" sz="1600" dirty="0"/>
              <a:t>assigned for the life of a program</a:t>
            </a:r>
          </a:p>
        </p:txBody>
      </p:sp>
      <p:sp>
        <p:nvSpPr>
          <p:cNvPr id="4" name="Date Placeholder 3"/>
          <p:cNvSpPr>
            <a:spLocks noGrp="1"/>
          </p:cNvSpPr>
          <p:nvPr>
            <p:ph type="dt" sz="half" idx="10"/>
          </p:nvPr>
        </p:nvSpPr>
        <p:spPr/>
        <p:txBody>
          <a:bodyPr/>
          <a:lstStyle/>
          <a:p>
            <a:fld id="{6ABB7E53-7851-4A5A-8B01-BDA6C1670481}"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52</a:t>
            </a:fld>
            <a:endParaRPr lang="en-IN"/>
          </a:p>
        </p:txBody>
      </p:sp>
      <p:sp>
        <p:nvSpPr>
          <p:cNvPr id="8" name="Curved Left Arrow 7"/>
          <p:cNvSpPr/>
          <p:nvPr/>
        </p:nvSpPr>
        <p:spPr>
          <a:xfrm rot="1444983">
            <a:off x="5868144" y="3501008"/>
            <a:ext cx="1728192" cy="2304256"/>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427367711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IN" dirty="0" smtClean="0"/>
              <a:t>Linked List</a:t>
            </a:r>
            <a:endParaRPr lang="en-IN" dirty="0"/>
          </a:p>
        </p:txBody>
      </p:sp>
      <p:sp>
        <p:nvSpPr>
          <p:cNvPr id="5" name="Subtitle 4"/>
          <p:cNvSpPr>
            <a:spLocks noGrp="1"/>
          </p:cNvSpPr>
          <p:nvPr>
            <p:ph type="subTitle" idx="1"/>
          </p:nvPr>
        </p:nvSpPr>
        <p:spPr/>
        <p:txBody>
          <a:bodyPr/>
          <a:lstStyle/>
          <a:p>
            <a:endParaRPr lang="en-IN"/>
          </a:p>
        </p:txBody>
      </p:sp>
    </p:spTree>
    <p:extLst>
      <p:ext uri="{BB962C8B-B14F-4D97-AF65-F5344CB8AC3E}">
        <p14:creationId xmlns:p14="http://schemas.microsoft.com/office/powerpoint/2010/main" val="243344720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984" y="692696"/>
            <a:ext cx="3300984" cy="576064"/>
          </a:xfrm>
        </p:spPr>
        <p:txBody>
          <a:bodyPr/>
          <a:lstStyle/>
          <a:p>
            <a:r>
              <a:rPr lang="en-IN" dirty="0"/>
              <a:t>Linked Lists</a:t>
            </a:r>
          </a:p>
        </p:txBody>
      </p:sp>
      <p:sp>
        <p:nvSpPr>
          <p:cNvPr id="4" name="Picture Placeholder 3"/>
          <p:cNvSpPr>
            <a:spLocks noGrp="1"/>
          </p:cNvSpPr>
          <p:nvPr>
            <p:ph type="pic" idx="1"/>
          </p:nvPr>
        </p:nvSpPr>
        <p:spPr>
          <a:xfrm>
            <a:off x="4716016" y="764704"/>
            <a:ext cx="3359623" cy="5468112"/>
          </a:xfrm>
        </p:spPr>
      </p:sp>
      <p:sp>
        <p:nvSpPr>
          <p:cNvPr id="3" name="Content Placeholder 2"/>
          <p:cNvSpPr>
            <a:spLocks noGrp="1"/>
          </p:cNvSpPr>
          <p:nvPr>
            <p:ph type="body" sz="half" idx="2"/>
          </p:nvPr>
        </p:nvSpPr>
        <p:spPr>
          <a:xfrm>
            <a:off x="971600" y="1268760"/>
            <a:ext cx="3437770" cy="4896544"/>
          </a:xfrm>
        </p:spPr>
        <p:txBody>
          <a:bodyPr>
            <a:normAutofit/>
          </a:bodyPr>
          <a:lstStyle/>
          <a:p>
            <a:pPr marL="342900" indent="-342900">
              <a:buFont typeface="Arial" panose="020B0604020202020204" pitchFamily="34" charset="0"/>
              <a:buChar char="•"/>
            </a:pPr>
            <a:r>
              <a:rPr lang="en-IN" sz="2000" b="1" dirty="0" smtClean="0"/>
              <a:t>Linear Collection of data elements called Nodes </a:t>
            </a:r>
          </a:p>
          <a:p>
            <a:pPr marL="342900" indent="-342900">
              <a:buFont typeface="Arial" panose="020B0604020202020204" pitchFamily="34" charset="0"/>
              <a:buChar char="•"/>
            </a:pPr>
            <a:r>
              <a:rPr lang="en-IN" sz="2000" b="1" dirty="0" smtClean="0"/>
              <a:t>Linear order is given by means of pointers.</a:t>
            </a:r>
          </a:p>
          <a:p>
            <a:pPr marL="342900" indent="-342900">
              <a:buFont typeface="Arial" panose="020B0604020202020204" pitchFamily="34" charset="0"/>
              <a:buChar char="•"/>
            </a:pPr>
            <a:endParaRPr lang="en-IN" sz="2000" b="1" dirty="0" smtClean="0"/>
          </a:p>
        </p:txBody>
      </p:sp>
      <p:pic>
        <p:nvPicPr>
          <p:cNvPr id="3074" name="Picture 2" descr="https://codeforwin.org/ezoimgfmt/secureservercdn.net/160.153.138.219/b79.d22.myftpupload.com/wp-content/uploads/2015/09/Singly-linked-list.png?ezimgfmt=rs:392x193/rscb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1878707"/>
            <a:ext cx="3528392" cy="277442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FB697BC1-9DA6-402B-B75D-AA5903653864}" type="datetime1">
              <a:rPr lang="en-IN" smtClean="0"/>
              <a:t>06-08-2024</a:t>
            </a:fld>
            <a:endParaRPr lang="en-IN"/>
          </a:p>
        </p:txBody>
      </p:sp>
      <p:sp>
        <p:nvSpPr>
          <p:cNvPr id="6" name="Footer Placeholder 5"/>
          <p:cNvSpPr>
            <a:spLocks noGrp="1"/>
          </p:cNvSpPr>
          <p:nvPr>
            <p:ph type="ftr" sz="quarter" idx="11"/>
          </p:nvPr>
        </p:nvSpPr>
        <p:spPr/>
        <p:txBody>
          <a:bodyPr/>
          <a:lstStyle/>
          <a:p>
            <a:r>
              <a:rPr lang="en-IN" smtClean="0"/>
              <a:t>Prof. Shweta Dhawan Chachra</a:t>
            </a:r>
            <a:endParaRPr lang="en-IN"/>
          </a:p>
        </p:txBody>
      </p:sp>
      <p:sp>
        <p:nvSpPr>
          <p:cNvPr id="7" name="Slide Number Placeholder 6"/>
          <p:cNvSpPr>
            <a:spLocks noGrp="1"/>
          </p:cNvSpPr>
          <p:nvPr>
            <p:ph type="sldNum" sz="quarter" idx="12"/>
          </p:nvPr>
        </p:nvSpPr>
        <p:spPr/>
        <p:txBody>
          <a:bodyPr/>
          <a:lstStyle/>
          <a:p>
            <a:fld id="{91FA414A-FC3B-4762-BF9B-190CEE0147BD}" type="slidenum">
              <a:rPr lang="en-IN" smtClean="0"/>
              <a:t>54</a:t>
            </a:fld>
            <a:endParaRPr lang="en-IN"/>
          </a:p>
        </p:txBody>
      </p:sp>
    </p:spTree>
    <p:extLst>
      <p:ext uri="{BB962C8B-B14F-4D97-AF65-F5344CB8AC3E}">
        <p14:creationId xmlns:p14="http://schemas.microsoft.com/office/powerpoint/2010/main" val="273572590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984" y="692696"/>
            <a:ext cx="3300984" cy="576064"/>
          </a:xfrm>
        </p:spPr>
        <p:txBody>
          <a:bodyPr/>
          <a:lstStyle/>
          <a:p>
            <a:r>
              <a:rPr lang="en-IN" dirty="0"/>
              <a:t>Linked Lists</a:t>
            </a:r>
          </a:p>
        </p:txBody>
      </p:sp>
      <p:sp>
        <p:nvSpPr>
          <p:cNvPr id="4" name="Picture Placeholder 3"/>
          <p:cNvSpPr>
            <a:spLocks noGrp="1"/>
          </p:cNvSpPr>
          <p:nvPr>
            <p:ph type="pic" idx="1"/>
          </p:nvPr>
        </p:nvSpPr>
        <p:spPr>
          <a:xfrm>
            <a:off x="4716016" y="764704"/>
            <a:ext cx="3359623" cy="5468112"/>
          </a:xfrm>
        </p:spPr>
      </p:sp>
      <p:sp>
        <p:nvSpPr>
          <p:cNvPr id="3" name="Content Placeholder 2"/>
          <p:cNvSpPr>
            <a:spLocks noGrp="1"/>
          </p:cNvSpPr>
          <p:nvPr>
            <p:ph type="body" sz="half" idx="2"/>
          </p:nvPr>
        </p:nvSpPr>
        <p:spPr>
          <a:xfrm>
            <a:off x="971600" y="1268760"/>
            <a:ext cx="3437770" cy="4896544"/>
          </a:xfrm>
        </p:spPr>
        <p:txBody>
          <a:bodyPr>
            <a:normAutofit/>
          </a:bodyPr>
          <a:lstStyle/>
          <a:p>
            <a:pPr marL="342900" indent="-342900">
              <a:buFont typeface="Arial" panose="020B0604020202020204" pitchFamily="34" charset="0"/>
              <a:buChar char="•"/>
            </a:pPr>
            <a:r>
              <a:rPr lang="en-IN" sz="1800" b="1" dirty="0" smtClean="0"/>
              <a:t>Each node may be divided into </a:t>
            </a:r>
            <a:r>
              <a:rPr lang="en-IN" sz="1800" b="1" dirty="0" err="1" smtClean="0"/>
              <a:t>atleast</a:t>
            </a:r>
            <a:r>
              <a:rPr lang="en-IN" sz="1800" b="1" dirty="0" smtClean="0"/>
              <a:t> two fields for :</a:t>
            </a:r>
          </a:p>
          <a:p>
            <a:pPr marL="800100" lvl="1" indent="-342900">
              <a:buFont typeface="Arial" panose="020B0604020202020204" pitchFamily="34" charset="0"/>
              <a:buChar char="•"/>
            </a:pPr>
            <a:r>
              <a:rPr lang="en-IN" sz="1800" b="1" dirty="0" smtClean="0"/>
              <a:t>Storing Data </a:t>
            </a:r>
          </a:p>
          <a:p>
            <a:pPr marL="800100" lvl="1" indent="-342900">
              <a:buFont typeface="Arial" panose="020B0604020202020204" pitchFamily="34" charset="0"/>
              <a:buChar char="•"/>
            </a:pPr>
            <a:r>
              <a:rPr lang="en-IN" sz="1800" b="1" dirty="0" smtClean="0"/>
              <a:t>Storing Address of next element.</a:t>
            </a:r>
          </a:p>
          <a:p>
            <a:pPr marL="342900" indent="-342900">
              <a:buFont typeface="Arial" panose="020B0604020202020204" pitchFamily="34" charset="0"/>
              <a:buChar char="•"/>
            </a:pPr>
            <a:endParaRPr lang="en-IN" sz="1800" b="1" dirty="0" smtClean="0"/>
          </a:p>
        </p:txBody>
      </p:sp>
      <p:pic>
        <p:nvPicPr>
          <p:cNvPr id="3074" name="Picture 2" descr="https://codeforwin.org/ezoimgfmt/secureservercdn.net/160.153.138.219/b79.d22.myftpupload.com/wp-content/uploads/2015/09/Singly-linked-list.png?ezimgfmt=rs:392x193/rscb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1878707"/>
            <a:ext cx="3528392" cy="277442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FB697BC1-9DA6-402B-B75D-AA5903653864}" type="datetime1">
              <a:rPr lang="en-IN" smtClean="0"/>
              <a:t>06-08-2024</a:t>
            </a:fld>
            <a:endParaRPr lang="en-IN"/>
          </a:p>
        </p:txBody>
      </p:sp>
      <p:sp>
        <p:nvSpPr>
          <p:cNvPr id="6" name="Footer Placeholder 5"/>
          <p:cNvSpPr>
            <a:spLocks noGrp="1"/>
          </p:cNvSpPr>
          <p:nvPr>
            <p:ph type="ftr" sz="quarter" idx="11"/>
          </p:nvPr>
        </p:nvSpPr>
        <p:spPr/>
        <p:txBody>
          <a:bodyPr/>
          <a:lstStyle/>
          <a:p>
            <a:r>
              <a:rPr lang="en-IN" smtClean="0"/>
              <a:t>Prof. Shweta Dhawan Chachra</a:t>
            </a:r>
            <a:endParaRPr lang="en-IN"/>
          </a:p>
        </p:txBody>
      </p:sp>
      <p:sp>
        <p:nvSpPr>
          <p:cNvPr id="7" name="Slide Number Placeholder 6"/>
          <p:cNvSpPr>
            <a:spLocks noGrp="1"/>
          </p:cNvSpPr>
          <p:nvPr>
            <p:ph type="sldNum" sz="quarter" idx="12"/>
          </p:nvPr>
        </p:nvSpPr>
        <p:spPr/>
        <p:txBody>
          <a:bodyPr/>
          <a:lstStyle/>
          <a:p>
            <a:fld id="{91FA414A-FC3B-4762-BF9B-190CEE0147BD}" type="slidenum">
              <a:rPr lang="en-IN" smtClean="0"/>
              <a:t>55</a:t>
            </a:fld>
            <a:endParaRPr lang="en-IN"/>
          </a:p>
        </p:txBody>
      </p:sp>
    </p:spTree>
    <p:extLst>
      <p:ext uri="{BB962C8B-B14F-4D97-AF65-F5344CB8AC3E}">
        <p14:creationId xmlns:p14="http://schemas.microsoft.com/office/powerpoint/2010/main" val="283132846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984" y="692696"/>
            <a:ext cx="3300984" cy="576064"/>
          </a:xfrm>
        </p:spPr>
        <p:txBody>
          <a:bodyPr/>
          <a:lstStyle/>
          <a:p>
            <a:r>
              <a:rPr lang="en-IN" dirty="0"/>
              <a:t>Linked Lists</a:t>
            </a:r>
          </a:p>
        </p:txBody>
      </p:sp>
      <p:sp>
        <p:nvSpPr>
          <p:cNvPr id="4" name="Picture Placeholder 3"/>
          <p:cNvSpPr>
            <a:spLocks noGrp="1"/>
          </p:cNvSpPr>
          <p:nvPr>
            <p:ph type="pic" idx="1"/>
          </p:nvPr>
        </p:nvSpPr>
        <p:spPr>
          <a:xfrm>
            <a:off x="4716016" y="764704"/>
            <a:ext cx="3359623" cy="5468112"/>
          </a:xfrm>
        </p:spPr>
      </p:sp>
      <p:sp>
        <p:nvSpPr>
          <p:cNvPr id="3" name="Content Placeholder 2"/>
          <p:cNvSpPr>
            <a:spLocks noGrp="1"/>
          </p:cNvSpPr>
          <p:nvPr>
            <p:ph type="body" sz="half" idx="2"/>
          </p:nvPr>
        </p:nvSpPr>
        <p:spPr>
          <a:xfrm>
            <a:off x="971600" y="1268760"/>
            <a:ext cx="3437770" cy="4896544"/>
          </a:xfrm>
        </p:spPr>
        <p:txBody>
          <a:bodyPr>
            <a:normAutofit/>
          </a:bodyPr>
          <a:lstStyle/>
          <a:p>
            <a:pPr marL="342900" indent="-342900">
              <a:buFont typeface="Arial" panose="020B0604020202020204" pitchFamily="34" charset="0"/>
              <a:buChar char="•"/>
            </a:pPr>
            <a:r>
              <a:rPr lang="en-IN" sz="2000" b="1" dirty="0" smtClean="0"/>
              <a:t>The Last node’s Address field contains Null rather than a valid address. </a:t>
            </a:r>
          </a:p>
          <a:p>
            <a:pPr marL="342900" indent="-342900">
              <a:buFont typeface="Arial" panose="020B0604020202020204" pitchFamily="34" charset="0"/>
              <a:buChar char="•"/>
            </a:pPr>
            <a:endParaRPr lang="en-IN" sz="2000" b="1" dirty="0" smtClean="0"/>
          </a:p>
          <a:p>
            <a:pPr marL="342900" indent="-342900">
              <a:buFont typeface="Arial" panose="020B0604020202020204" pitchFamily="34" charset="0"/>
              <a:buChar char="•"/>
            </a:pPr>
            <a:r>
              <a:rPr lang="en-IN" sz="2000" b="1" dirty="0" smtClean="0"/>
              <a:t>It’s a NULL Pointer and indicates the end of the list.</a:t>
            </a:r>
            <a:endParaRPr lang="en-IN" sz="2000" b="1" dirty="0"/>
          </a:p>
        </p:txBody>
      </p:sp>
      <p:pic>
        <p:nvPicPr>
          <p:cNvPr id="3074" name="Picture 2" descr="https://codeforwin.org/ezoimgfmt/secureservercdn.net/160.153.138.219/b79.d22.myftpupload.com/wp-content/uploads/2015/09/Singly-linked-list.png?ezimgfmt=rs:392x193/rscb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1878707"/>
            <a:ext cx="3528392" cy="2774429"/>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FB697BC1-9DA6-402B-B75D-AA5903653864}" type="datetime1">
              <a:rPr lang="en-IN" smtClean="0"/>
              <a:t>06-08-2024</a:t>
            </a:fld>
            <a:endParaRPr lang="en-IN"/>
          </a:p>
        </p:txBody>
      </p:sp>
      <p:sp>
        <p:nvSpPr>
          <p:cNvPr id="6" name="Footer Placeholder 5"/>
          <p:cNvSpPr>
            <a:spLocks noGrp="1"/>
          </p:cNvSpPr>
          <p:nvPr>
            <p:ph type="ftr" sz="quarter" idx="11"/>
          </p:nvPr>
        </p:nvSpPr>
        <p:spPr/>
        <p:txBody>
          <a:bodyPr/>
          <a:lstStyle/>
          <a:p>
            <a:r>
              <a:rPr lang="en-IN" smtClean="0"/>
              <a:t>Prof. Shweta Dhawan Chachra</a:t>
            </a:r>
            <a:endParaRPr lang="en-IN"/>
          </a:p>
        </p:txBody>
      </p:sp>
      <p:sp>
        <p:nvSpPr>
          <p:cNvPr id="7" name="Slide Number Placeholder 6"/>
          <p:cNvSpPr>
            <a:spLocks noGrp="1"/>
          </p:cNvSpPr>
          <p:nvPr>
            <p:ph type="sldNum" sz="quarter" idx="12"/>
          </p:nvPr>
        </p:nvSpPr>
        <p:spPr/>
        <p:txBody>
          <a:bodyPr/>
          <a:lstStyle/>
          <a:p>
            <a:fld id="{91FA414A-FC3B-4762-BF9B-190CEE0147BD}" type="slidenum">
              <a:rPr lang="en-IN" smtClean="0"/>
              <a:t>56</a:t>
            </a:fld>
            <a:endParaRPr lang="en-IN"/>
          </a:p>
        </p:txBody>
      </p:sp>
    </p:spTree>
    <p:extLst>
      <p:ext uri="{BB962C8B-B14F-4D97-AF65-F5344CB8AC3E}">
        <p14:creationId xmlns:p14="http://schemas.microsoft.com/office/powerpoint/2010/main" val="9538715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p:txBody>
          <a:bodyPr>
            <a:normAutofit fontScale="90000"/>
          </a:bodyPr>
          <a:lstStyle/>
          <a:p>
            <a:r>
              <a:rPr lang="en-IN" dirty="0"/>
              <a:t>Comparison between Array and Linked List</a:t>
            </a:r>
          </a:p>
        </p:txBody>
      </p:sp>
      <p:sp>
        <p:nvSpPr>
          <p:cNvPr id="9" name="Subtitle 8"/>
          <p:cNvSpPr>
            <a:spLocks noGrp="1"/>
          </p:cNvSpPr>
          <p:nvPr>
            <p:ph type="subTitle" idx="1"/>
          </p:nvPr>
        </p:nvSpPr>
        <p:spPr/>
        <p:txBody>
          <a:bodyPr/>
          <a:lstStyle/>
          <a:p>
            <a:endParaRPr lang="en-IN"/>
          </a:p>
        </p:txBody>
      </p:sp>
      <p:sp>
        <p:nvSpPr>
          <p:cNvPr id="5" name="Date Placeholder 4"/>
          <p:cNvSpPr>
            <a:spLocks noGrp="1"/>
          </p:cNvSpPr>
          <p:nvPr>
            <p:ph type="dt" sz="half" idx="10"/>
          </p:nvPr>
        </p:nvSpPr>
        <p:spPr/>
        <p:txBody>
          <a:bodyPr/>
          <a:lstStyle/>
          <a:p>
            <a:fld id="{F7B59D3E-3D4B-4645-ADC8-6ED9AA8E9426}" type="datetime1">
              <a:rPr lang="en-IN" smtClean="0"/>
              <a:t>06-08-2024</a:t>
            </a:fld>
            <a:endParaRPr lang="en-IN"/>
          </a:p>
        </p:txBody>
      </p:sp>
      <p:sp>
        <p:nvSpPr>
          <p:cNvPr id="6" name="Footer Placeholder 5"/>
          <p:cNvSpPr>
            <a:spLocks noGrp="1"/>
          </p:cNvSpPr>
          <p:nvPr>
            <p:ph type="ftr" sz="quarter" idx="11"/>
          </p:nvPr>
        </p:nvSpPr>
        <p:spPr/>
        <p:txBody>
          <a:bodyPr/>
          <a:lstStyle/>
          <a:p>
            <a:r>
              <a:rPr lang="en-IN" smtClean="0"/>
              <a:t>Prof. Shweta Dhawan Chachra</a:t>
            </a:r>
            <a:endParaRPr lang="en-IN"/>
          </a:p>
        </p:txBody>
      </p:sp>
      <p:sp>
        <p:nvSpPr>
          <p:cNvPr id="7" name="Slide Number Placeholder 6"/>
          <p:cNvSpPr>
            <a:spLocks noGrp="1"/>
          </p:cNvSpPr>
          <p:nvPr>
            <p:ph type="sldNum" sz="quarter" idx="12"/>
          </p:nvPr>
        </p:nvSpPr>
        <p:spPr/>
        <p:txBody>
          <a:bodyPr/>
          <a:lstStyle/>
          <a:p>
            <a:fld id="{91FA414A-FC3B-4762-BF9B-190CEE0147BD}" type="slidenum">
              <a:rPr lang="en-IN" smtClean="0"/>
              <a:t>57</a:t>
            </a:fld>
            <a:endParaRPr lang="en-IN"/>
          </a:p>
        </p:txBody>
      </p:sp>
    </p:spTree>
    <p:extLst>
      <p:ext uri="{BB962C8B-B14F-4D97-AF65-F5344CB8AC3E}">
        <p14:creationId xmlns:p14="http://schemas.microsoft.com/office/powerpoint/2010/main" val="286611453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7024744" cy="601136"/>
          </a:xfrm>
        </p:spPr>
        <p:txBody>
          <a:bodyPr>
            <a:normAutofit fontScale="90000"/>
          </a:bodyPr>
          <a:lstStyle/>
          <a:p>
            <a:r>
              <a:rPr lang="en-IN" dirty="0" smtClean="0"/>
              <a:t>Advantages of Linked List</a:t>
            </a:r>
            <a:endParaRPr lang="en-IN" dirty="0"/>
          </a:p>
        </p:txBody>
      </p:sp>
      <p:sp>
        <p:nvSpPr>
          <p:cNvPr id="3" name="Content Placeholder 2"/>
          <p:cNvSpPr>
            <a:spLocks noGrp="1"/>
          </p:cNvSpPr>
          <p:nvPr>
            <p:ph idx="1"/>
          </p:nvPr>
        </p:nvSpPr>
        <p:spPr>
          <a:xfrm>
            <a:off x="1043492" y="1268760"/>
            <a:ext cx="7272924" cy="4563869"/>
          </a:xfrm>
        </p:spPr>
        <p:txBody>
          <a:bodyPr>
            <a:noAutofit/>
          </a:bodyPr>
          <a:lstStyle/>
          <a:p>
            <a:r>
              <a:rPr lang="en-IN" sz="2000" b="1" dirty="0" smtClean="0"/>
              <a:t>Linked are Dynamic Data Structures</a:t>
            </a:r>
          </a:p>
          <a:p>
            <a:pPr lvl="1"/>
            <a:r>
              <a:rPr lang="en-IN" sz="2000" dirty="0" smtClean="0"/>
              <a:t>Grow and shrink during execution of the program</a:t>
            </a:r>
          </a:p>
          <a:p>
            <a:r>
              <a:rPr lang="en-IN" sz="2000" b="1" dirty="0" smtClean="0"/>
              <a:t>Efficient Memory Utilization</a:t>
            </a:r>
          </a:p>
          <a:p>
            <a:pPr lvl="1"/>
            <a:r>
              <a:rPr lang="en-IN" sz="2000" dirty="0" smtClean="0"/>
              <a:t>As memory is not </a:t>
            </a:r>
            <a:r>
              <a:rPr lang="en-IN" sz="2000" dirty="0" err="1" smtClean="0"/>
              <a:t>preallocated</a:t>
            </a:r>
            <a:r>
              <a:rPr lang="en-IN" sz="2000" dirty="0" smtClean="0"/>
              <a:t>.</a:t>
            </a:r>
          </a:p>
          <a:p>
            <a:pPr lvl="1"/>
            <a:r>
              <a:rPr lang="en-IN" sz="2000" dirty="0" smtClean="0"/>
              <a:t>Memory can be allocated whenever required and deallocated when not needed.</a:t>
            </a:r>
          </a:p>
          <a:p>
            <a:r>
              <a:rPr lang="en-IN" sz="2000" b="1" dirty="0" smtClean="0"/>
              <a:t>Insertion and deletions are easier and efficient</a:t>
            </a:r>
          </a:p>
          <a:p>
            <a:pPr lvl="1"/>
            <a:r>
              <a:rPr lang="en-IN" sz="2000" dirty="0" smtClean="0"/>
              <a:t>Provide flexibility in inserting a data item at a specified position and deletion of a data item from the given position</a:t>
            </a:r>
          </a:p>
          <a:p>
            <a:r>
              <a:rPr lang="en-IN" sz="2000" b="1" dirty="0" smtClean="0"/>
              <a:t>Many complex applications can be easily carried out with linked lists</a:t>
            </a:r>
            <a:endParaRPr lang="en-IN" sz="2000" b="1" dirty="0"/>
          </a:p>
        </p:txBody>
      </p:sp>
      <p:sp>
        <p:nvSpPr>
          <p:cNvPr id="4" name="Date Placeholder 3"/>
          <p:cNvSpPr>
            <a:spLocks noGrp="1"/>
          </p:cNvSpPr>
          <p:nvPr>
            <p:ph type="dt" sz="half" idx="10"/>
          </p:nvPr>
        </p:nvSpPr>
        <p:spPr/>
        <p:txBody>
          <a:bodyPr/>
          <a:lstStyle/>
          <a:p>
            <a:fld id="{87444E16-FEE4-4E39-8D0D-F9BDF3B63CD2}"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58</a:t>
            </a:fld>
            <a:endParaRPr lang="en-IN"/>
          </a:p>
        </p:txBody>
      </p:sp>
    </p:spTree>
    <p:extLst>
      <p:ext uri="{BB962C8B-B14F-4D97-AF65-F5344CB8AC3E}">
        <p14:creationId xmlns:p14="http://schemas.microsoft.com/office/powerpoint/2010/main" val="124310980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7024744" cy="601136"/>
          </a:xfrm>
        </p:spPr>
        <p:txBody>
          <a:bodyPr>
            <a:normAutofit fontScale="90000"/>
          </a:bodyPr>
          <a:lstStyle/>
          <a:p>
            <a:r>
              <a:rPr lang="en-IN" dirty="0"/>
              <a:t>Disadvantages of Linked List</a:t>
            </a:r>
          </a:p>
        </p:txBody>
      </p:sp>
      <p:sp>
        <p:nvSpPr>
          <p:cNvPr id="3" name="Content Placeholder 2"/>
          <p:cNvSpPr>
            <a:spLocks noGrp="1"/>
          </p:cNvSpPr>
          <p:nvPr>
            <p:ph idx="1"/>
          </p:nvPr>
        </p:nvSpPr>
        <p:spPr>
          <a:xfrm>
            <a:off x="1043492" y="1268760"/>
            <a:ext cx="7272924" cy="4563869"/>
          </a:xfrm>
        </p:spPr>
        <p:txBody>
          <a:bodyPr>
            <a:noAutofit/>
          </a:bodyPr>
          <a:lstStyle/>
          <a:p>
            <a:r>
              <a:rPr lang="en-IN" sz="2000" dirty="0" smtClean="0"/>
              <a:t>Access to an </a:t>
            </a:r>
            <a:r>
              <a:rPr lang="en-IN" sz="2000" dirty="0" err="1" smtClean="0"/>
              <a:t>arbitary</a:t>
            </a:r>
            <a:r>
              <a:rPr lang="en-IN" sz="2000" dirty="0" smtClean="0"/>
              <a:t> data item is little bit cumbersome and also time consuming</a:t>
            </a:r>
          </a:p>
          <a:p>
            <a:endParaRPr lang="en-IN" sz="2000" b="1" dirty="0" smtClean="0"/>
          </a:p>
          <a:p>
            <a:r>
              <a:rPr lang="en-IN" sz="2000" b="1" dirty="0" smtClean="0"/>
              <a:t>More memory</a:t>
            </a:r>
          </a:p>
          <a:p>
            <a:pPr lvl="1"/>
            <a:r>
              <a:rPr lang="en-IN" sz="1800" dirty="0" smtClean="0"/>
              <a:t>If the number of fields are more, then more memory space is needed.</a:t>
            </a:r>
            <a:endParaRPr lang="en-IN" sz="1800" dirty="0"/>
          </a:p>
        </p:txBody>
      </p:sp>
      <p:sp>
        <p:nvSpPr>
          <p:cNvPr id="4" name="Date Placeholder 3"/>
          <p:cNvSpPr>
            <a:spLocks noGrp="1"/>
          </p:cNvSpPr>
          <p:nvPr>
            <p:ph type="dt" sz="half" idx="10"/>
          </p:nvPr>
        </p:nvSpPr>
        <p:spPr/>
        <p:txBody>
          <a:bodyPr/>
          <a:lstStyle/>
          <a:p>
            <a:fld id="{0ED47AAD-767C-4851-9134-56CE5ACB6F8E}"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59</a:t>
            </a:fld>
            <a:endParaRPr lang="en-IN"/>
          </a:p>
        </p:txBody>
      </p:sp>
    </p:spTree>
    <p:extLst>
      <p:ext uri="{BB962C8B-B14F-4D97-AF65-F5344CB8AC3E}">
        <p14:creationId xmlns:p14="http://schemas.microsoft.com/office/powerpoint/2010/main" val="142279339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76672"/>
            <a:ext cx="7024744" cy="576064"/>
          </a:xfrm>
        </p:spPr>
        <p:txBody>
          <a:bodyPr>
            <a:normAutofit/>
          </a:bodyPr>
          <a:lstStyle/>
          <a:p>
            <a:r>
              <a:rPr lang="en-IN" sz="2400" dirty="0"/>
              <a:t>Advantages of </a:t>
            </a:r>
            <a:r>
              <a:rPr lang="en-IN" sz="2400" dirty="0" smtClean="0"/>
              <a:t>Arrays</a:t>
            </a:r>
            <a:endParaRPr lang="en-IN" sz="2400" dirty="0"/>
          </a:p>
        </p:txBody>
      </p:sp>
      <p:sp>
        <p:nvSpPr>
          <p:cNvPr id="3" name="Content Placeholder 2"/>
          <p:cNvSpPr>
            <a:spLocks noGrp="1"/>
          </p:cNvSpPr>
          <p:nvPr>
            <p:ph idx="1"/>
          </p:nvPr>
        </p:nvSpPr>
        <p:spPr>
          <a:xfrm>
            <a:off x="755576" y="1196752"/>
            <a:ext cx="7488832" cy="4824536"/>
          </a:xfrm>
        </p:spPr>
        <p:txBody>
          <a:bodyPr>
            <a:normAutofit/>
          </a:bodyPr>
          <a:lstStyle/>
          <a:p>
            <a:r>
              <a:rPr lang="en-IN" sz="1800" dirty="0" smtClean="0"/>
              <a:t>Simple to use and define</a:t>
            </a:r>
          </a:p>
          <a:p>
            <a:endParaRPr lang="en-IN" sz="1800" dirty="0" smtClean="0"/>
          </a:p>
          <a:p>
            <a:r>
              <a:rPr lang="en-IN" sz="1800" dirty="0" smtClean="0"/>
              <a:t>Supported by almost all programming languages</a:t>
            </a:r>
          </a:p>
          <a:p>
            <a:endParaRPr lang="en-IN" sz="1800" b="1" dirty="0" smtClean="0"/>
          </a:p>
          <a:p>
            <a:r>
              <a:rPr lang="en-IN" sz="1800" b="1" dirty="0" smtClean="0"/>
              <a:t>Constant access time</a:t>
            </a:r>
          </a:p>
          <a:p>
            <a:pPr lvl="1"/>
            <a:r>
              <a:rPr lang="en-IN" sz="1800" dirty="0" smtClean="0"/>
              <a:t>Array element can be accessed a[</a:t>
            </a:r>
            <a:r>
              <a:rPr lang="en-IN" sz="1800" dirty="0" err="1" smtClean="0"/>
              <a:t>i</a:t>
            </a:r>
            <a:r>
              <a:rPr lang="en-IN" sz="1800" dirty="0"/>
              <a:t>]</a:t>
            </a:r>
            <a:endParaRPr lang="en-IN" sz="1800" dirty="0" smtClean="0"/>
          </a:p>
          <a:p>
            <a:endParaRPr lang="en-IN" sz="1800" dirty="0" smtClean="0"/>
          </a:p>
          <a:p>
            <a:r>
              <a:rPr lang="en-IN" sz="1800" dirty="0" smtClean="0"/>
              <a:t>Mapping by compiler</a:t>
            </a:r>
          </a:p>
          <a:p>
            <a:pPr lvl="1"/>
            <a:r>
              <a:rPr lang="en-IN" sz="1800" dirty="0" smtClean="0"/>
              <a:t>Compiler maps a[</a:t>
            </a:r>
            <a:r>
              <a:rPr lang="en-IN" sz="1800" dirty="0" err="1" smtClean="0"/>
              <a:t>i</a:t>
            </a:r>
            <a:r>
              <a:rPr lang="en-IN" sz="1800" dirty="0" smtClean="0"/>
              <a:t>] to its physical location in memory. </a:t>
            </a:r>
          </a:p>
          <a:p>
            <a:pPr lvl="1"/>
            <a:endParaRPr lang="en-IN" sz="1800" dirty="0" smtClean="0"/>
          </a:p>
          <a:p>
            <a:pPr lvl="1"/>
            <a:r>
              <a:rPr lang="en-IN" sz="1800" b="1" dirty="0" smtClean="0"/>
              <a:t>This mapping is carried out in constant time, irrespective of which element is accessed</a:t>
            </a:r>
          </a:p>
          <a:p>
            <a:pPr lvl="1"/>
            <a:endParaRPr lang="en-IN" b="1" dirty="0"/>
          </a:p>
        </p:txBody>
      </p:sp>
      <p:sp>
        <p:nvSpPr>
          <p:cNvPr id="4" name="Date Placeholder 3"/>
          <p:cNvSpPr>
            <a:spLocks noGrp="1"/>
          </p:cNvSpPr>
          <p:nvPr>
            <p:ph type="dt" sz="half" idx="10"/>
          </p:nvPr>
        </p:nvSpPr>
        <p:spPr/>
        <p:txBody>
          <a:bodyPr/>
          <a:lstStyle/>
          <a:p>
            <a:fld id="{E1AC4061-2CB1-4C9A-8154-1DD29154D47B}"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60</a:t>
            </a:fld>
            <a:endParaRPr lang="en-IN"/>
          </a:p>
        </p:txBody>
      </p:sp>
    </p:spTree>
    <p:extLst>
      <p:ext uri="{BB962C8B-B14F-4D97-AF65-F5344CB8AC3E}">
        <p14:creationId xmlns:p14="http://schemas.microsoft.com/office/powerpoint/2010/main" val="288167858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628800"/>
            <a:ext cx="7024744" cy="541864"/>
          </a:xfrm>
        </p:spPr>
        <p:txBody>
          <a:bodyPr>
            <a:noAutofit/>
          </a:bodyPr>
          <a:lstStyle/>
          <a:p>
            <a:r>
              <a:rPr lang="en-IN" sz="2400" dirty="0" smtClean="0"/>
              <a:t>Arrays suffer from some severe limitations</a:t>
            </a:r>
            <a:endParaRPr lang="en-IN" sz="2400" dirty="0"/>
          </a:p>
        </p:txBody>
      </p:sp>
      <p:sp>
        <p:nvSpPr>
          <p:cNvPr id="3" name="Content Placeholder 2"/>
          <p:cNvSpPr>
            <a:spLocks noGrp="1"/>
          </p:cNvSpPr>
          <p:nvPr>
            <p:ph idx="1"/>
          </p:nvPr>
        </p:nvSpPr>
        <p:spPr/>
        <p:txBody>
          <a:bodyPr>
            <a:normAutofit/>
          </a:bodyPr>
          <a:lstStyle/>
          <a:p>
            <a:r>
              <a:rPr lang="en-IN" sz="2000" b="1" dirty="0" smtClean="0"/>
              <a:t>Static Data Structure-</a:t>
            </a:r>
          </a:p>
          <a:p>
            <a:pPr lvl="1"/>
            <a:r>
              <a:rPr lang="en-IN" sz="1800" b="1" dirty="0" smtClean="0"/>
              <a:t>Size of an array is defined at the time of programming</a:t>
            </a:r>
          </a:p>
          <a:p>
            <a:endParaRPr lang="en-IN" sz="2000" dirty="0" smtClean="0"/>
          </a:p>
          <a:p>
            <a:r>
              <a:rPr lang="en-IN" sz="2000" b="1" dirty="0" smtClean="0"/>
              <a:t>Insertion and Deletion is time consuming</a:t>
            </a:r>
          </a:p>
          <a:p>
            <a:endParaRPr lang="en-IN" sz="2000" dirty="0" smtClean="0"/>
          </a:p>
          <a:p>
            <a:r>
              <a:rPr lang="en-IN" sz="2000" dirty="0" smtClean="0"/>
              <a:t>Requires Contiguous memory</a:t>
            </a:r>
            <a:endParaRPr lang="en-IN" sz="2000" dirty="0"/>
          </a:p>
        </p:txBody>
      </p:sp>
      <p:sp>
        <p:nvSpPr>
          <p:cNvPr id="4" name="Title 1"/>
          <p:cNvSpPr txBox="1">
            <a:spLocks/>
          </p:cNvSpPr>
          <p:nvPr/>
        </p:nvSpPr>
        <p:spPr>
          <a:xfrm>
            <a:off x="827584" y="764704"/>
            <a:ext cx="7024744" cy="571500"/>
          </a:xfrm>
          <a:prstGeom prst="rect">
            <a:avLst/>
          </a:prstGeom>
        </p:spPr>
        <p:txBody>
          <a:bodyPr vert="horz" lIns="91440" tIns="45720" rIns="91440" bIns="45720" rtlCol="0" anchor="b">
            <a:noAutofit/>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dirty="0" smtClean="0"/>
              <a:t>Disadvantages </a:t>
            </a:r>
            <a:r>
              <a:rPr lang="en-IN" sz="2800" dirty="0"/>
              <a:t>of </a:t>
            </a:r>
            <a:r>
              <a:rPr lang="en-IN" sz="2800" dirty="0" smtClean="0"/>
              <a:t>Arrays</a:t>
            </a:r>
            <a:endParaRPr lang="en-IN" sz="2800" dirty="0"/>
          </a:p>
        </p:txBody>
      </p:sp>
      <p:sp>
        <p:nvSpPr>
          <p:cNvPr id="5" name="Date Placeholder 4"/>
          <p:cNvSpPr>
            <a:spLocks noGrp="1"/>
          </p:cNvSpPr>
          <p:nvPr>
            <p:ph type="dt" sz="half" idx="10"/>
          </p:nvPr>
        </p:nvSpPr>
        <p:spPr/>
        <p:txBody>
          <a:bodyPr/>
          <a:lstStyle/>
          <a:p>
            <a:fld id="{D35B3161-2764-4E7B-8DA3-BB068C0D3195}" type="datetime1">
              <a:rPr lang="en-IN" smtClean="0"/>
              <a:t>06-08-2024</a:t>
            </a:fld>
            <a:endParaRPr lang="en-IN"/>
          </a:p>
        </p:txBody>
      </p:sp>
      <p:sp>
        <p:nvSpPr>
          <p:cNvPr id="6" name="Footer Placeholder 5"/>
          <p:cNvSpPr>
            <a:spLocks noGrp="1"/>
          </p:cNvSpPr>
          <p:nvPr>
            <p:ph type="ftr" sz="quarter" idx="11"/>
          </p:nvPr>
        </p:nvSpPr>
        <p:spPr/>
        <p:txBody>
          <a:bodyPr/>
          <a:lstStyle/>
          <a:p>
            <a:r>
              <a:rPr lang="en-IN" smtClean="0"/>
              <a:t>Prof. Shweta Dhawan Chachra</a:t>
            </a:r>
            <a:endParaRPr lang="en-IN"/>
          </a:p>
        </p:txBody>
      </p:sp>
      <p:sp>
        <p:nvSpPr>
          <p:cNvPr id="7" name="Slide Number Placeholder 6"/>
          <p:cNvSpPr>
            <a:spLocks noGrp="1"/>
          </p:cNvSpPr>
          <p:nvPr>
            <p:ph type="sldNum" sz="quarter" idx="12"/>
          </p:nvPr>
        </p:nvSpPr>
        <p:spPr/>
        <p:txBody>
          <a:bodyPr/>
          <a:lstStyle/>
          <a:p>
            <a:fld id="{91FA414A-FC3B-4762-BF9B-190CEE0147BD}" type="slidenum">
              <a:rPr lang="en-IN" smtClean="0"/>
              <a:t>61</a:t>
            </a:fld>
            <a:endParaRPr lang="en-IN"/>
          </a:p>
        </p:txBody>
      </p:sp>
    </p:spTree>
    <p:extLst>
      <p:ext uri="{BB962C8B-B14F-4D97-AF65-F5344CB8AC3E}">
        <p14:creationId xmlns:p14="http://schemas.microsoft.com/office/powerpoint/2010/main" val="87281149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Types of Linked List</a:t>
            </a:r>
            <a:endParaRPr lang="en-IN" dirty="0"/>
          </a:p>
        </p:txBody>
      </p:sp>
      <p:sp>
        <p:nvSpPr>
          <p:cNvPr id="3" name="Content Placeholder 2"/>
          <p:cNvSpPr>
            <a:spLocks noGrp="1"/>
          </p:cNvSpPr>
          <p:nvPr>
            <p:ph idx="1"/>
          </p:nvPr>
        </p:nvSpPr>
        <p:spPr/>
        <p:txBody>
          <a:bodyPr/>
          <a:lstStyle/>
          <a:p>
            <a:r>
              <a:rPr lang="en-IN" dirty="0" smtClean="0"/>
              <a:t>Singly Linked List</a:t>
            </a:r>
          </a:p>
          <a:p>
            <a:r>
              <a:rPr lang="en-IN" dirty="0" smtClean="0"/>
              <a:t>Doubly Linked List</a:t>
            </a:r>
          </a:p>
          <a:p>
            <a:r>
              <a:rPr lang="en-IN" dirty="0" smtClean="0"/>
              <a:t>Circular Linked List</a:t>
            </a:r>
            <a:endParaRPr lang="en-IN" dirty="0"/>
          </a:p>
        </p:txBody>
      </p:sp>
      <p:sp>
        <p:nvSpPr>
          <p:cNvPr id="4" name="Date Placeholder 3"/>
          <p:cNvSpPr>
            <a:spLocks noGrp="1"/>
          </p:cNvSpPr>
          <p:nvPr>
            <p:ph type="dt" sz="half" idx="10"/>
          </p:nvPr>
        </p:nvSpPr>
        <p:spPr/>
        <p:txBody>
          <a:bodyPr/>
          <a:lstStyle/>
          <a:p>
            <a:fld id="{84C9B1FC-1C93-413D-B82E-89C3CACD817B}"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62</a:t>
            </a:fld>
            <a:endParaRPr lang="en-IN"/>
          </a:p>
        </p:txBody>
      </p:sp>
    </p:spTree>
    <p:extLst>
      <p:ext uri="{BB962C8B-B14F-4D97-AF65-F5344CB8AC3E}">
        <p14:creationId xmlns:p14="http://schemas.microsoft.com/office/powerpoint/2010/main" val="103386431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76672"/>
            <a:ext cx="7024744" cy="457120"/>
          </a:xfrm>
        </p:spPr>
        <p:txBody>
          <a:bodyPr>
            <a:normAutofit fontScale="90000"/>
          </a:bodyPr>
          <a:lstStyle/>
          <a:p>
            <a:r>
              <a:rPr lang="en-IN" dirty="0"/>
              <a:t>Singly Linked List</a:t>
            </a:r>
          </a:p>
        </p:txBody>
      </p:sp>
      <p:sp>
        <p:nvSpPr>
          <p:cNvPr id="3" name="Content Placeholder 2"/>
          <p:cNvSpPr>
            <a:spLocks noGrp="1"/>
          </p:cNvSpPr>
          <p:nvPr>
            <p:ph idx="1"/>
          </p:nvPr>
        </p:nvSpPr>
        <p:spPr>
          <a:xfrm>
            <a:off x="755576" y="1268760"/>
            <a:ext cx="6777317" cy="3508977"/>
          </a:xfrm>
        </p:spPr>
        <p:txBody>
          <a:bodyPr>
            <a:normAutofit/>
          </a:bodyPr>
          <a:lstStyle/>
          <a:p>
            <a:r>
              <a:rPr lang="en-IN" sz="2200" dirty="0" smtClean="0"/>
              <a:t>All nodes are linked in sequential manner</a:t>
            </a:r>
          </a:p>
          <a:p>
            <a:r>
              <a:rPr lang="en-IN" sz="2200" dirty="0" smtClean="0"/>
              <a:t>Linear Linked List</a:t>
            </a:r>
          </a:p>
          <a:p>
            <a:r>
              <a:rPr lang="en-IN" sz="2200" dirty="0"/>
              <a:t>One way chain</a:t>
            </a:r>
          </a:p>
          <a:p>
            <a:r>
              <a:rPr lang="en-IN" sz="2200" dirty="0" smtClean="0"/>
              <a:t>It has beginning and end</a:t>
            </a:r>
          </a:p>
        </p:txBody>
      </p:sp>
      <p:pic>
        <p:nvPicPr>
          <p:cNvPr id="11266" name="Picture 2" descr="DS Singly Linked L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4639022"/>
            <a:ext cx="5772150" cy="123825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5197297D-56DC-4493-8C79-20DDB084128C}"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63</a:t>
            </a:fld>
            <a:endParaRPr lang="en-IN"/>
          </a:p>
        </p:txBody>
      </p:sp>
    </p:spTree>
    <p:extLst>
      <p:ext uri="{BB962C8B-B14F-4D97-AF65-F5344CB8AC3E}">
        <p14:creationId xmlns:p14="http://schemas.microsoft.com/office/powerpoint/2010/main" val="299548148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76672"/>
            <a:ext cx="7024744" cy="457120"/>
          </a:xfrm>
        </p:spPr>
        <p:txBody>
          <a:bodyPr>
            <a:normAutofit fontScale="90000"/>
          </a:bodyPr>
          <a:lstStyle/>
          <a:p>
            <a:r>
              <a:rPr lang="en-IN" dirty="0"/>
              <a:t>Singly Linked List</a:t>
            </a:r>
          </a:p>
        </p:txBody>
      </p:sp>
      <p:sp>
        <p:nvSpPr>
          <p:cNvPr id="3" name="Content Placeholder 2"/>
          <p:cNvSpPr>
            <a:spLocks noGrp="1"/>
          </p:cNvSpPr>
          <p:nvPr>
            <p:ph idx="1"/>
          </p:nvPr>
        </p:nvSpPr>
        <p:spPr>
          <a:xfrm>
            <a:off x="755576" y="1268760"/>
            <a:ext cx="6777317" cy="3508977"/>
          </a:xfrm>
        </p:spPr>
        <p:txBody>
          <a:bodyPr>
            <a:normAutofit/>
          </a:bodyPr>
          <a:lstStyle/>
          <a:p>
            <a:r>
              <a:rPr lang="en-IN" sz="2200" dirty="0" smtClean="0"/>
              <a:t>Problem-</a:t>
            </a:r>
          </a:p>
          <a:p>
            <a:pPr lvl="1"/>
            <a:r>
              <a:rPr lang="en-IN" dirty="0" smtClean="0"/>
              <a:t>The predecessor of a node cannot be accessed from the current node.</a:t>
            </a:r>
          </a:p>
          <a:p>
            <a:pPr lvl="1"/>
            <a:r>
              <a:rPr lang="en-IN" dirty="0" smtClean="0"/>
              <a:t>This can be overcome in doubly linked list.</a:t>
            </a:r>
            <a:endParaRPr lang="en-IN" dirty="0"/>
          </a:p>
        </p:txBody>
      </p:sp>
      <p:pic>
        <p:nvPicPr>
          <p:cNvPr id="11266" name="Picture 2" descr="DS Singly Linked L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4639022"/>
            <a:ext cx="5772150" cy="123825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5197297D-56DC-4493-8C79-20DDB084128C}"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64</a:t>
            </a:fld>
            <a:endParaRPr lang="en-IN"/>
          </a:p>
        </p:txBody>
      </p:sp>
    </p:spTree>
    <p:extLst>
      <p:ext uri="{BB962C8B-B14F-4D97-AF65-F5344CB8AC3E}">
        <p14:creationId xmlns:p14="http://schemas.microsoft.com/office/powerpoint/2010/main" val="411387747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76672"/>
            <a:ext cx="7024744" cy="529128"/>
          </a:xfrm>
        </p:spPr>
        <p:txBody>
          <a:bodyPr>
            <a:normAutofit fontScale="90000"/>
          </a:bodyPr>
          <a:lstStyle/>
          <a:p>
            <a:r>
              <a:rPr lang="en-IN" dirty="0"/>
              <a:t>Doubly Linked List</a:t>
            </a:r>
          </a:p>
        </p:txBody>
      </p:sp>
      <p:sp>
        <p:nvSpPr>
          <p:cNvPr id="3" name="Content Placeholder 2"/>
          <p:cNvSpPr>
            <a:spLocks noGrp="1"/>
          </p:cNvSpPr>
          <p:nvPr>
            <p:ph idx="1"/>
          </p:nvPr>
        </p:nvSpPr>
        <p:spPr>
          <a:xfrm>
            <a:off x="614001" y="1215288"/>
            <a:ext cx="6777317" cy="3508977"/>
          </a:xfrm>
        </p:spPr>
        <p:txBody>
          <a:bodyPr>
            <a:normAutofit/>
          </a:bodyPr>
          <a:lstStyle/>
          <a:p>
            <a:r>
              <a:rPr lang="en-IN" sz="2200" dirty="0" smtClean="0"/>
              <a:t>Linked List holds two pointer fields</a:t>
            </a:r>
          </a:p>
          <a:p>
            <a:r>
              <a:rPr lang="en-IN" sz="2200" dirty="0" smtClean="0"/>
              <a:t>Addresses of next as well as preceding elements are linked with current node.</a:t>
            </a:r>
          </a:p>
          <a:p>
            <a:r>
              <a:rPr lang="en-IN" sz="2200" dirty="0" smtClean="0"/>
              <a:t>This helps to traverse in both Forward or Backward direction</a:t>
            </a:r>
          </a:p>
        </p:txBody>
      </p:sp>
      <p:pic>
        <p:nvPicPr>
          <p:cNvPr id="5122" name="Picture 2" descr="https://static.javatpoint.com/ds/images/doubly-linked-list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3717032"/>
            <a:ext cx="6696075" cy="1924051"/>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C0B6C9BB-3909-4EC0-AC82-CA4466DC6439}"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65</a:t>
            </a:fld>
            <a:endParaRPr lang="en-IN"/>
          </a:p>
        </p:txBody>
      </p:sp>
    </p:spTree>
    <p:extLst>
      <p:ext uri="{BB962C8B-B14F-4D97-AF65-F5344CB8AC3E}">
        <p14:creationId xmlns:p14="http://schemas.microsoft.com/office/powerpoint/2010/main" val="81879407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548680"/>
            <a:ext cx="7024744" cy="529128"/>
          </a:xfrm>
        </p:spPr>
        <p:txBody>
          <a:bodyPr>
            <a:normAutofit fontScale="90000"/>
          </a:bodyPr>
          <a:lstStyle/>
          <a:p>
            <a:r>
              <a:rPr lang="en-IN" dirty="0"/>
              <a:t>Circular Linked List</a:t>
            </a:r>
          </a:p>
        </p:txBody>
      </p:sp>
      <p:sp>
        <p:nvSpPr>
          <p:cNvPr id="3" name="Content Placeholder 2"/>
          <p:cNvSpPr>
            <a:spLocks noGrp="1"/>
          </p:cNvSpPr>
          <p:nvPr>
            <p:ph idx="1"/>
          </p:nvPr>
        </p:nvSpPr>
        <p:spPr>
          <a:xfrm>
            <a:off x="683568" y="1196752"/>
            <a:ext cx="6777317" cy="3508977"/>
          </a:xfrm>
        </p:spPr>
        <p:txBody>
          <a:bodyPr/>
          <a:lstStyle/>
          <a:p>
            <a:r>
              <a:rPr lang="en-IN" dirty="0" smtClean="0"/>
              <a:t>The first and last elements are adjacent.</a:t>
            </a:r>
          </a:p>
          <a:p>
            <a:r>
              <a:rPr lang="en-IN" dirty="0" smtClean="0"/>
              <a:t>A linked list can be made circular by </a:t>
            </a:r>
          </a:p>
          <a:p>
            <a:pPr lvl="1"/>
            <a:r>
              <a:rPr lang="en-IN" dirty="0" smtClean="0"/>
              <a:t>Storing the address of the first node in the link field of the last node.</a:t>
            </a:r>
          </a:p>
        </p:txBody>
      </p:sp>
      <p:pic>
        <p:nvPicPr>
          <p:cNvPr id="10242" name="Picture 2" descr="https://static.javatpoint.com/ds/images/circular-singly-linked-lis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129" y="3429000"/>
            <a:ext cx="7315200" cy="1692796"/>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p:cNvSpPr>
            <a:spLocks noGrp="1"/>
          </p:cNvSpPr>
          <p:nvPr>
            <p:ph type="dt" sz="half" idx="10"/>
          </p:nvPr>
        </p:nvSpPr>
        <p:spPr/>
        <p:txBody>
          <a:bodyPr/>
          <a:lstStyle/>
          <a:p>
            <a:fld id="{762B41E3-5701-4ED0-B6F3-D8F70B9D16E6}"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66</a:t>
            </a:fld>
            <a:endParaRPr lang="en-IN"/>
          </a:p>
        </p:txBody>
      </p:sp>
    </p:spTree>
    <p:extLst>
      <p:ext uri="{BB962C8B-B14F-4D97-AF65-F5344CB8AC3E}">
        <p14:creationId xmlns:p14="http://schemas.microsoft.com/office/powerpoint/2010/main" val="175206560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Linked List Operations</a:t>
            </a:r>
            <a:endParaRPr lang="en-IN" b="1" dirty="0"/>
          </a:p>
        </p:txBody>
      </p:sp>
      <p:sp>
        <p:nvSpPr>
          <p:cNvPr id="3" name="Content Placeholder 2"/>
          <p:cNvSpPr>
            <a:spLocks noGrp="1"/>
          </p:cNvSpPr>
          <p:nvPr>
            <p:ph idx="1"/>
          </p:nvPr>
        </p:nvSpPr>
        <p:spPr/>
        <p:txBody>
          <a:bodyPr/>
          <a:lstStyle/>
          <a:p>
            <a:r>
              <a:rPr lang="en-IN" b="1" dirty="0" smtClean="0"/>
              <a:t>Creation</a:t>
            </a:r>
          </a:p>
          <a:p>
            <a:r>
              <a:rPr lang="en-IN" b="1" dirty="0" smtClean="0"/>
              <a:t>Insertion</a:t>
            </a:r>
          </a:p>
          <a:p>
            <a:r>
              <a:rPr lang="en-IN" b="1" dirty="0" smtClean="0"/>
              <a:t>Deletion</a:t>
            </a:r>
          </a:p>
          <a:p>
            <a:r>
              <a:rPr lang="en-IN" b="1" dirty="0" smtClean="0"/>
              <a:t>Traversal</a:t>
            </a:r>
          </a:p>
          <a:p>
            <a:r>
              <a:rPr lang="en-IN" b="1" dirty="0" smtClean="0"/>
              <a:t>Searching</a:t>
            </a:r>
            <a:endParaRPr lang="en-IN" b="1" dirty="0"/>
          </a:p>
        </p:txBody>
      </p:sp>
      <p:sp>
        <p:nvSpPr>
          <p:cNvPr id="4" name="Date Placeholder 3"/>
          <p:cNvSpPr>
            <a:spLocks noGrp="1"/>
          </p:cNvSpPr>
          <p:nvPr>
            <p:ph type="dt" sz="half" idx="10"/>
          </p:nvPr>
        </p:nvSpPr>
        <p:spPr/>
        <p:txBody>
          <a:bodyPr/>
          <a:lstStyle/>
          <a:p>
            <a:fld id="{84C9B1FC-1C93-413D-B82E-89C3CACD817B}"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67</a:t>
            </a:fld>
            <a:endParaRPr lang="en-IN"/>
          </a:p>
        </p:txBody>
      </p:sp>
    </p:spTree>
    <p:extLst>
      <p:ext uri="{BB962C8B-B14F-4D97-AF65-F5344CB8AC3E}">
        <p14:creationId xmlns:p14="http://schemas.microsoft.com/office/powerpoint/2010/main" val="177805049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43600" y="476672"/>
            <a:ext cx="7024744" cy="457120"/>
          </a:xfrm>
          <a:prstGeom prst="rect">
            <a:avLst/>
          </a:prstGeom>
        </p:spPr>
        <p:txBody>
          <a:bodyPr vert="horz" lIns="91440" tIns="45720" rIns="91440" bIns="45720" rtlCol="0" anchor="b">
            <a:normAutofit fontScale="67500" lnSpcReduction="20000"/>
          </a:bodyPr>
          <a:lst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smtClean="0"/>
              <a:t>Implementation of Linked Lists</a:t>
            </a:r>
            <a:endParaRPr lang="en-IN" dirty="0"/>
          </a:p>
        </p:txBody>
      </p:sp>
      <p:sp>
        <p:nvSpPr>
          <p:cNvPr id="6" name="Content Placeholder 2"/>
          <p:cNvSpPr txBox="1">
            <a:spLocks noGrp="1"/>
          </p:cNvSpPr>
          <p:nvPr>
            <p:ph idx="1"/>
          </p:nvPr>
        </p:nvSpPr>
        <p:spPr>
          <a:xfrm>
            <a:off x="767313" y="1196752"/>
            <a:ext cx="6777317" cy="3508977"/>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r>
              <a:rPr lang="en-IN" sz="2000" dirty="0" smtClean="0"/>
              <a:t>Structures in C are used to define a node</a:t>
            </a:r>
          </a:p>
          <a:p>
            <a:endParaRPr lang="en-IN" sz="2000" dirty="0" smtClean="0"/>
          </a:p>
          <a:p>
            <a:r>
              <a:rPr lang="en-IN" sz="2000" dirty="0" smtClean="0"/>
              <a:t>Address of a successor node can be stored in a pointer type variable</a:t>
            </a:r>
            <a:endParaRPr lang="en-IN" sz="2000" dirty="0"/>
          </a:p>
        </p:txBody>
      </p:sp>
      <p:sp>
        <p:nvSpPr>
          <p:cNvPr id="2" name="Date Placeholder 1"/>
          <p:cNvSpPr>
            <a:spLocks noGrp="1"/>
          </p:cNvSpPr>
          <p:nvPr>
            <p:ph type="dt" sz="half" idx="10"/>
          </p:nvPr>
        </p:nvSpPr>
        <p:spPr/>
        <p:txBody>
          <a:bodyPr/>
          <a:lstStyle/>
          <a:p>
            <a:fld id="{E3C7F87B-3541-4809-8F99-2BC2A53121F3}" type="datetime1">
              <a:rPr lang="en-IN" smtClean="0"/>
              <a:t>06-08-2024</a:t>
            </a:fld>
            <a:endParaRPr lang="en-IN"/>
          </a:p>
        </p:txBody>
      </p:sp>
      <p:sp>
        <p:nvSpPr>
          <p:cNvPr id="3" name="Footer Placeholder 2"/>
          <p:cNvSpPr>
            <a:spLocks noGrp="1"/>
          </p:cNvSpPr>
          <p:nvPr>
            <p:ph type="ftr" sz="quarter" idx="11"/>
          </p:nvPr>
        </p:nvSpPr>
        <p:spPr/>
        <p:txBody>
          <a:bodyPr/>
          <a:lstStyle/>
          <a:p>
            <a:r>
              <a:rPr lang="en-IN" smtClean="0"/>
              <a:t>Prof. Shweta Dhawan Chachra</a:t>
            </a:r>
            <a:endParaRPr lang="en-IN"/>
          </a:p>
        </p:txBody>
      </p:sp>
      <p:sp>
        <p:nvSpPr>
          <p:cNvPr id="5" name="Slide Number Placeholder 4"/>
          <p:cNvSpPr>
            <a:spLocks noGrp="1"/>
          </p:cNvSpPr>
          <p:nvPr>
            <p:ph type="sldNum" sz="quarter" idx="12"/>
          </p:nvPr>
        </p:nvSpPr>
        <p:spPr/>
        <p:txBody>
          <a:bodyPr/>
          <a:lstStyle/>
          <a:p>
            <a:fld id="{91FA414A-FC3B-4762-BF9B-190CEE0147BD}" type="slidenum">
              <a:rPr lang="en-IN" smtClean="0"/>
              <a:t>68</a:t>
            </a:fld>
            <a:endParaRPr lang="en-IN"/>
          </a:p>
        </p:txBody>
      </p:sp>
    </p:spTree>
    <p:extLst>
      <p:ext uri="{BB962C8B-B14F-4D97-AF65-F5344CB8AC3E}">
        <p14:creationId xmlns:p14="http://schemas.microsoft.com/office/powerpoint/2010/main" val="196501323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dirty="0" smtClean="0"/>
              <a:t>Linked Lists</a:t>
            </a:r>
            <a:endParaRPr lang="en-IN" dirty="0"/>
          </a:p>
        </p:txBody>
      </p:sp>
      <p:sp>
        <p:nvSpPr>
          <p:cNvPr id="3" name="Content Placeholder 2"/>
          <p:cNvSpPr>
            <a:spLocks noGrp="1"/>
          </p:cNvSpPr>
          <p:nvPr>
            <p:ph idx="1"/>
          </p:nvPr>
        </p:nvSpPr>
        <p:spPr>
          <a:xfrm>
            <a:off x="755576" y="1412776"/>
            <a:ext cx="6777317" cy="3508977"/>
          </a:xfrm>
        </p:spPr>
        <p:txBody>
          <a:bodyPr>
            <a:normAutofit/>
          </a:bodyPr>
          <a:lstStyle/>
          <a:p>
            <a:pPr marL="0" indent="0">
              <a:buNone/>
            </a:pPr>
            <a:r>
              <a:rPr lang="en-IN" sz="2200" dirty="0" err="1" smtClean="0">
                <a:hlinkClick r:id="rId3" action="ppaction://hlinkfile"/>
              </a:rPr>
              <a:t>Struct</a:t>
            </a:r>
            <a:r>
              <a:rPr lang="en-IN" sz="2200" dirty="0" smtClean="0">
                <a:hlinkClick r:id="rId3" action="ppaction://hlinkfile"/>
              </a:rPr>
              <a:t> Basics</a:t>
            </a:r>
            <a:endParaRPr lang="en-IN" sz="2200" dirty="0" smtClean="0"/>
          </a:p>
          <a:p>
            <a:pPr marL="0" indent="0">
              <a:buNone/>
            </a:pPr>
            <a:r>
              <a:rPr lang="en-IN" sz="2200" dirty="0" err="1" smtClean="0"/>
              <a:t>Struct</a:t>
            </a:r>
            <a:r>
              <a:rPr lang="en-IN" sz="2200" dirty="0" smtClean="0"/>
              <a:t> Syntax</a:t>
            </a:r>
          </a:p>
          <a:p>
            <a:pPr marL="0" indent="0">
              <a:buNone/>
            </a:pPr>
            <a:r>
              <a:rPr lang="en-IN" sz="2200" dirty="0" err="1" smtClean="0"/>
              <a:t>Struct</a:t>
            </a:r>
            <a:r>
              <a:rPr lang="en-IN" sz="2200" dirty="0" smtClean="0"/>
              <a:t> examples</a:t>
            </a:r>
          </a:p>
          <a:p>
            <a:pPr marL="0" indent="0">
              <a:buNone/>
            </a:pPr>
            <a:r>
              <a:rPr lang="en-IN" sz="2200" dirty="0" smtClean="0"/>
              <a:t>Pointer to structure</a:t>
            </a:r>
          </a:p>
          <a:p>
            <a:pPr marL="0" indent="0">
              <a:buNone/>
            </a:pPr>
            <a:r>
              <a:rPr lang="en-IN" sz="2200" dirty="0" smtClean="0"/>
              <a:t>Sample Programs for Pointer to structures</a:t>
            </a:r>
          </a:p>
          <a:p>
            <a:pPr marL="0" indent="0">
              <a:buNone/>
            </a:pPr>
            <a:r>
              <a:rPr lang="en-IN" sz="2200" dirty="0" smtClean="0"/>
              <a:t>Initialization of Pointers to Structures</a:t>
            </a:r>
          </a:p>
          <a:p>
            <a:pPr marL="0" indent="0">
              <a:buNone/>
            </a:pPr>
            <a:endParaRPr lang="en-IN" sz="2200" dirty="0" smtClean="0"/>
          </a:p>
        </p:txBody>
      </p:sp>
      <p:sp>
        <p:nvSpPr>
          <p:cNvPr id="8" name="Date Placeholder 7"/>
          <p:cNvSpPr>
            <a:spLocks noGrp="1"/>
          </p:cNvSpPr>
          <p:nvPr>
            <p:ph type="dt" sz="half" idx="10"/>
          </p:nvPr>
        </p:nvSpPr>
        <p:spPr/>
        <p:txBody>
          <a:bodyPr/>
          <a:lstStyle/>
          <a:p>
            <a:fld id="{73E98761-AA6E-49E2-86FB-0F62D7EC4590}" type="datetime1">
              <a:rPr lang="en-IN" smtClean="0"/>
              <a:t>06-08-2024</a:t>
            </a:fld>
            <a:endParaRPr lang="en-IN"/>
          </a:p>
        </p:txBody>
      </p:sp>
      <p:sp>
        <p:nvSpPr>
          <p:cNvPr id="9" name="Footer Placeholder 8"/>
          <p:cNvSpPr>
            <a:spLocks noGrp="1"/>
          </p:cNvSpPr>
          <p:nvPr>
            <p:ph type="ftr" sz="quarter" idx="11"/>
          </p:nvPr>
        </p:nvSpPr>
        <p:spPr/>
        <p:txBody>
          <a:bodyPr/>
          <a:lstStyle/>
          <a:p>
            <a:r>
              <a:rPr lang="en-IN" smtClean="0"/>
              <a:t>Prof. Shweta Dhawan Chachra</a:t>
            </a:r>
            <a:endParaRPr lang="en-IN"/>
          </a:p>
        </p:txBody>
      </p:sp>
      <p:sp>
        <p:nvSpPr>
          <p:cNvPr id="10" name="Slide Number Placeholder 9"/>
          <p:cNvSpPr>
            <a:spLocks noGrp="1"/>
          </p:cNvSpPr>
          <p:nvPr>
            <p:ph type="sldNum" sz="quarter" idx="12"/>
          </p:nvPr>
        </p:nvSpPr>
        <p:spPr/>
        <p:txBody>
          <a:bodyPr/>
          <a:lstStyle/>
          <a:p>
            <a:fld id="{91FA414A-FC3B-4762-BF9B-190CEE0147BD}" type="slidenum">
              <a:rPr lang="en-IN" smtClean="0"/>
              <a:t>69</a:t>
            </a:fld>
            <a:endParaRPr lang="en-IN"/>
          </a:p>
        </p:txBody>
      </p:sp>
    </p:spTree>
    <p:extLst>
      <p:ext uri="{BB962C8B-B14F-4D97-AF65-F5344CB8AC3E}">
        <p14:creationId xmlns:p14="http://schemas.microsoft.com/office/powerpoint/2010/main" val="71757081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dirty="0" smtClean="0"/>
              <a:t>Linked Lists</a:t>
            </a:r>
            <a:endParaRPr lang="en-IN" dirty="0"/>
          </a:p>
        </p:txBody>
      </p:sp>
      <p:sp>
        <p:nvSpPr>
          <p:cNvPr id="3" name="Content Placeholder 2"/>
          <p:cNvSpPr>
            <a:spLocks noGrp="1"/>
          </p:cNvSpPr>
          <p:nvPr>
            <p:ph idx="1"/>
          </p:nvPr>
        </p:nvSpPr>
        <p:spPr>
          <a:xfrm>
            <a:off x="755576" y="1315540"/>
            <a:ext cx="6777317" cy="3508977"/>
          </a:xfrm>
        </p:spPr>
        <p:txBody>
          <a:bodyPr>
            <a:normAutofit/>
          </a:bodyPr>
          <a:lstStyle/>
          <a:p>
            <a:pPr marL="0" indent="0">
              <a:buNone/>
            </a:pPr>
            <a:r>
              <a:rPr lang="en-IN" sz="2200" dirty="0" err="1" smtClean="0"/>
              <a:t>struct</a:t>
            </a:r>
            <a:r>
              <a:rPr lang="en-IN" sz="2200" dirty="0" smtClean="0"/>
              <a:t> node</a:t>
            </a:r>
          </a:p>
          <a:p>
            <a:pPr marL="0" indent="0">
              <a:buNone/>
            </a:pPr>
            <a:r>
              <a:rPr lang="en-IN" sz="2200" dirty="0" smtClean="0"/>
              <a:t>{</a:t>
            </a:r>
          </a:p>
          <a:p>
            <a:pPr marL="0" indent="0">
              <a:buNone/>
            </a:pPr>
            <a:r>
              <a:rPr lang="en-IN" sz="2200" dirty="0" smtClean="0"/>
              <a:t>    </a:t>
            </a:r>
            <a:r>
              <a:rPr lang="en-IN" sz="2200" dirty="0" err="1" smtClean="0"/>
              <a:t>int</a:t>
            </a:r>
            <a:r>
              <a:rPr lang="en-IN" sz="2200" dirty="0" smtClean="0"/>
              <a:t> info;</a:t>
            </a:r>
          </a:p>
          <a:p>
            <a:pPr marL="0" indent="0">
              <a:buNone/>
            </a:pPr>
            <a:r>
              <a:rPr lang="en-IN" sz="2200" dirty="0" smtClean="0"/>
              <a:t>    </a:t>
            </a:r>
            <a:r>
              <a:rPr lang="en-IN" sz="2200" dirty="0" err="1" smtClean="0"/>
              <a:t>struct</a:t>
            </a:r>
            <a:r>
              <a:rPr lang="en-IN" sz="2200" dirty="0" smtClean="0"/>
              <a:t> node *link;</a:t>
            </a:r>
          </a:p>
          <a:p>
            <a:pPr marL="0" indent="0">
              <a:buNone/>
            </a:pPr>
            <a:r>
              <a:rPr lang="en-IN" sz="2200" dirty="0" smtClean="0"/>
              <a:t>}</a:t>
            </a:r>
          </a:p>
          <a:p>
            <a:pPr marL="0" indent="0">
              <a:buNone/>
            </a:pPr>
            <a:endParaRPr lang="en-IN" sz="2200" dirty="0"/>
          </a:p>
          <a:p>
            <a:pPr marL="0" indent="0">
              <a:buNone/>
            </a:pPr>
            <a:r>
              <a:rPr lang="en-IN" sz="2200" dirty="0" smtClean="0"/>
              <a:t> </a:t>
            </a:r>
          </a:p>
        </p:txBody>
      </p:sp>
      <p:sp>
        <p:nvSpPr>
          <p:cNvPr id="4" name="Right Arrow 3"/>
          <p:cNvSpPr/>
          <p:nvPr/>
        </p:nvSpPr>
        <p:spPr>
          <a:xfrm>
            <a:off x="3780028" y="2708920"/>
            <a:ext cx="1512168"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5389131" y="2529770"/>
            <a:ext cx="2927401" cy="923330"/>
          </a:xfrm>
          <a:prstGeom prst="rect">
            <a:avLst/>
          </a:prstGeom>
        </p:spPr>
        <p:txBody>
          <a:bodyPr wrap="square">
            <a:spAutoFit/>
          </a:bodyPr>
          <a:lstStyle/>
          <a:p>
            <a:r>
              <a:rPr lang="en-IN" dirty="0"/>
              <a:t>P</a:t>
            </a:r>
            <a:r>
              <a:rPr lang="en-IN" dirty="0" smtClean="0"/>
              <a:t>ointer that points to the structure itself,</a:t>
            </a:r>
          </a:p>
          <a:p>
            <a:r>
              <a:rPr lang="en-IN" dirty="0" smtClean="0"/>
              <a:t>Thus Linked List.</a:t>
            </a:r>
            <a:endParaRPr lang="en-IN" dirty="0"/>
          </a:p>
        </p:txBody>
      </p:sp>
      <p:sp>
        <p:nvSpPr>
          <p:cNvPr id="6" name="Rectangle 5"/>
          <p:cNvSpPr/>
          <p:nvPr/>
        </p:nvSpPr>
        <p:spPr>
          <a:xfrm>
            <a:off x="5541531" y="1124744"/>
            <a:ext cx="2927401" cy="369332"/>
          </a:xfrm>
          <a:prstGeom prst="rect">
            <a:avLst/>
          </a:prstGeom>
        </p:spPr>
        <p:txBody>
          <a:bodyPr wrap="square">
            <a:spAutoFit/>
          </a:bodyPr>
          <a:lstStyle/>
          <a:p>
            <a:r>
              <a:rPr lang="en-IN" dirty="0" smtClean="0"/>
              <a:t>Information field</a:t>
            </a:r>
            <a:endParaRPr lang="en-IN" dirty="0"/>
          </a:p>
        </p:txBody>
      </p:sp>
      <p:sp>
        <p:nvSpPr>
          <p:cNvPr id="7" name="Right Arrow 6"/>
          <p:cNvSpPr/>
          <p:nvPr/>
        </p:nvSpPr>
        <p:spPr>
          <a:xfrm rot="20640891">
            <a:off x="2083024" y="1784792"/>
            <a:ext cx="3499324" cy="1948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Date Placeholder 7"/>
          <p:cNvSpPr>
            <a:spLocks noGrp="1"/>
          </p:cNvSpPr>
          <p:nvPr>
            <p:ph type="dt" sz="half" idx="10"/>
          </p:nvPr>
        </p:nvSpPr>
        <p:spPr/>
        <p:txBody>
          <a:bodyPr/>
          <a:lstStyle/>
          <a:p>
            <a:fld id="{73E98761-AA6E-49E2-86FB-0F62D7EC4590}" type="datetime1">
              <a:rPr lang="en-IN" smtClean="0"/>
              <a:t>06-08-2024</a:t>
            </a:fld>
            <a:endParaRPr lang="en-IN"/>
          </a:p>
        </p:txBody>
      </p:sp>
      <p:sp>
        <p:nvSpPr>
          <p:cNvPr id="9" name="Footer Placeholder 8"/>
          <p:cNvSpPr>
            <a:spLocks noGrp="1"/>
          </p:cNvSpPr>
          <p:nvPr>
            <p:ph type="ftr" sz="quarter" idx="11"/>
          </p:nvPr>
        </p:nvSpPr>
        <p:spPr/>
        <p:txBody>
          <a:bodyPr/>
          <a:lstStyle/>
          <a:p>
            <a:r>
              <a:rPr lang="en-IN" smtClean="0"/>
              <a:t>Prof. Shweta Dhawan Chachra</a:t>
            </a:r>
            <a:endParaRPr lang="en-IN"/>
          </a:p>
        </p:txBody>
      </p:sp>
      <p:sp>
        <p:nvSpPr>
          <p:cNvPr id="10" name="Slide Number Placeholder 9"/>
          <p:cNvSpPr>
            <a:spLocks noGrp="1"/>
          </p:cNvSpPr>
          <p:nvPr>
            <p:ph type="sldNum" sz="quarter" idx="12"/>
          </p:nvPr>
        </p:nvSpPr>
        <p:spPr/>
        <p:txBody>
          <a:bodyPr/>
          <a:lstStyle/>
          <a:p>
            <a:fld id="{91FA414A-FC3B-4762-BF9B-190CEE0147BD}" type="slidenum">
              <a:rPr lang="en-IN" smtClean="0"/>
              <a:t>70</a:t>
            </a:fld>
            <a:endParaRPr lang="en-IN"/>
          </a:p>
        </p:txBody>
      </p:sp>
    </p:spTree>
    <p:extLst>
      <p:ext uri="{BB962C8B-B14F-4D97-AF65-F5344CB8AC3E}">
        <p14:creationId xmlns:p14="http://schemas.microsoft.com/office/powerpoint/2010/main" val="320265288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4733365" y="2708476"/>
            <a:ext cx="3367027" cy="1702160"/>
          </a:xfrm>
        </p:spPr>
        <p:txBody>
          <a:bodyPr>
            <a:normAutofit/>
          </a:bodyPr>
          <a:lstStyle/>
          <a:p>
            <a:r>
              <a:rPr lang="en-IN" sz="3200" b="1" dirty="0" smtClean="0"/>
              <a:t>Singly Linked List</a:t>
            </a:r>
            <a:endParaRPr lang="en-IN" sz="3200" b="1" dirty="0"/>
          </a:p>
        </p:txBody>
      </p:sp>
      <p:sp>
        <p:nvSpPr>
          <p:cNvPr id="8" name="Subtitle 7"/>
          <p:cNvSpPr>
            <a:spLocks noGrp="1"/>
          </p:cNvSpPr>
          <p:nvPr>
            <p:ph type="subTitle" idx="1"/>
          </p:nvPr>
        </p:nvSpPr>
        <p:spPr/>
        <p:txBody>
          <a:bodyPr/>
          <a:lstStyle/>
          <a:p>
            <a:endParaRPr lang="en-IN"/>
          </a:p>
        </p:txBody>
      </p:sp>
      <p:sp>
        <p:nvSpPr>
          <p:cNvPr id="4" name="Date Placeholder 3"/>
          <p:cNvSpPr>
            <a:spLocks noGrp="1"/>
          </p:cNvSpPr>
          <p:nvPr>
            <p:ph type="dt" sz="half" idx="10"/>
          </p:nvPr>
        </p:nvSpPr>
        <p:spPr/>
        <p:txBody>
          <a:bodyPr/>
          <a:lstStyle/>
          <a:p>
            <a:fld id="{EB710D74-2398-47D4-A516-B8748A1822B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71</a:t>
            </a:fld>
            <a:endParaRPr lang="en-IN"/>
          </a:p>
        </p:txBody>
      </p:sp>
    </p:spTree>
    <p:extLst>
      <p:ext uri="{BB962C8B-B14F-4D97-AF65-F5344CB8AC3E}">
        <p14:creationId xmlns:p14="http://schemas.microsoft.com/office/powerpoint/2010/main" val="65586198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dirty="0" smtClean="0"/>
              <a:t>Creation of a new node</a:t>
            </a:r>
            <a:endParaRPr lang="en-IN" dirty="0"/>
          </a:p>
        </p:txBody>
      </p:sp>
      <p:sp>
        <p:nvSpPr>
          <p:cNvPr id="4" name="Date Placeholder 3"/>
          <p:cNvSpPr>
            <a:spLocks noGrp="1"/>
          </p:cNvSpPr>
          <p:nvPr>
            <p:ph type="dt" sz="half" idx="10"/>
          </p:nvPr>
        </p:nvSpPr>
        <p:spPr/>
        <p:txBody>
          <a:bodyPr/>
          <a:lstStyle/>
          <a:p>
            <a:fld id="{6FDA3727-6AE0-48AA-AEEE-3A4BA6A3DC8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72</a:t>
            </a:fld>
            <a:endParaRPr lang="en-IN"/>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71600" y="1124744"/>
            <a:ext cx="5472608" cy="1844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3140968"/>
            <a:ext cx="6192688" cy="1440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6127" y="4949079"/>
            <a:ext cx="3672408" cy="4132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5595104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dirty="0" smtClean="0"/>
              <a:t>Creation of a new node</a:t>
            </a:r>
            <a:endParaRPr lang="en-IN" dirty="0"/>
          </a:p>
        </p:txBody>
      </p:sp>
      <p:sp>
        <p:nvSpPr>
          <p:cNvPr id="3" name="Content Placeholder 2"/>
          <p:cNvSpPr>
            <a:spLocks noGrp="1"/>
          </p:cNvSpPr>
          <p:nvPr>
            <p:ph idx="1"/>
          </p:nvPr>
        </p:nvSpPr>
        <p:spPr>
          <a:xfrm>
            <a:off x="755576" y="1315540"/>
            <a:ext cx="7560840" cy="4705748"/>
          </a:xfrm>
        </p:spPr>
        <p:txBody>
          <a:bodyPr>
            <a:normAutofit/>
          </a:bodyPr>
          <a:lstStyle/>
          <a:p>
            <a:pPr marL="68580" indent="0">
              <a:buNone/>
            </a:pPr>
            <a:r>
              <a:rPr lang="en-US" sz="2000" dirty="0" smtClean="0"/>
              <a:t>New node=temp</a:t>
            </a:r>
          </a:p>
          <a:p>
            <a:pPr marL="68580" indent="0">
              <a:buNone/>
            </a:pPr>
            <a:endParaRPr lang="en-US" sz="2000" dirty="0" smtClean="0"/>
          </a:p>
          <a:p>
            <a:pPr marL="68580" indent="0">
              <a:buNone/>
            </a:pPr>
            <a:r>
              <a:rPr lang="en-US" sz="2000" dirty="0" smtClean="0"/>
              <a:t>	</a:t>
            </a:r>
            <a:r>
              <a:rPr lang="en-US" sz="2000" b="1" dirty="0" err="1" smtClean="0"/>
              <a:t>struct</a:t>
            </a:r>
            <a:r>
              <a:rPr lang="en-US" sz="2000" b="1" dirty="0" smtClean="0"/>
              <a:t> </a:t>
            </a:r>
            <a:r>
              <a:rPr lang="en-US" sz="2000" b="1" dirty="0"/>
              <a:t>node </a:t>
            </a:r>
            <a:r>
              <a:rPr lang="en-US" sz="2000" b="1" dirty="0" smtClean="0"/>
              <a:t>*</a:t>
            </a:r>
            <a:r>
              <a:rPr lang="en-US" sz="2000" b="1" dirty="0" err="1" smtClean="0"/>
              <a:t>tmp</a:t>
            </a:r>
            <a:r>
              <a:rPr lang="en-US" sz="2000" b="1" dirty="0"/>
              <a:t>;</a:t>
            </a:r>
            <a:endParaRPr lang="en-IN" sz="2000" b="1" dirty="0"/>
          </a:p>
          <a:p>
            <a:pPr marL="68580" indent="0">
              <a:buNone/>
            </a:pPr>
            <a:r>
              <a:rPr lang="en-US" sz="2000" b="1" dirty="0"/>
              <a:t>	</a:t>
            </a:r>
            <a:r>
              <a:rPr lang="en-US" sz="2000" b="1" dirty="0" err="1"/>
              <a:t>tmp</a:t>
            </a:r>
            <a:r>
              <a:rPr lang="en-US" sz="2000" b="1" dirty="0"/>
              <a:t>= </a:t>
            </a:r>
            <a:r>
              <a:rPr lang="en-US" sz="2000" b="1" dirty="0" smtClean="0"/>
              <a:t>(</a:t>
            </a:r>
            <a:r>
              <a:rPr lang="en-US" sz="2000" b="1" dirty="0" err="1" smtClean="0"/>
              <a:t>struct</a:t>
            </a:r>
            <a:r>
              <a:rPr lang="en-US" sz="2000" b="1" dirty="0" smtClean="0"/>
              <a:t> node *) </a:t>
            </a:r>
            <a:r>
              <a:rPr lang="en-US" sz="2000" b="1" dirty="0" err="1" smtClean="0"/>
              <a:t>malloc</a:t>
            </a:r>
            <a:r>
              <a:rPr lang="en-US" sz="2000" b="1" dirty="0" smtClean="0"/>
              <a:t>(</a:t>
            </a:r>
            <a:r>
              <a:rPr lang="en-US" sz="2000" b="1" dirty="0" err="1" smtClean="0"/>
              <a:t>sizeof</a:t>
            </a:r>
            <a:r>
              <a:rPr lang="en-US" sz="2000" b="1" dirty="0" smtClean="0"/>
              <a:t>(</a:t>
            </a:r>
            <a:r>
              <a:rPr lang="en-US" sz="2000" b="1" dirty="0" err="1" smtClean="0"/>
              <a:t>struct</a:t>
            </a:r>
            <a:r>
              <a:rPr lang="en-US" sz="2000" b="1" dirty="0" smtClean="0"/>
              <a:t> </a:t>
            </a:r>
            <a:r>
              <a:rPr lang="en-US" sz="2000" b="1" dirty="0"/>
              <a:t>node));</a:t>
            </a:r>
            <a:endParaRPr lang="en-IN" sz="2000" b="1" dirty="0"/>
          </a:p>
          <a:p>
            <a:pPr marL="68580" indent="0">
              <a:buNone/>
            </a:pPr>
            <a:r>
              <a:rPr lang="en-US" sz="2000" b="1" dirty="0"/>
              <a:t>	</a:t>
            </a:r>
            <a:r>
              <a:rPr lang="en-US" sz="2000" b="1" dirty="0" err="1"/>
              <a:t>tmp</a:t>
            </a:r>
            <a:r>
              <a:rPr lang="en-US" sz="2000" b="1" dirty="0"/>
              <a:t>-&gt;info=data;</a:t>
            </a:r>
            <a:endParaRPr lang="en-IN" sz="2000" b="1" dirty="0"/>
          </a:p>
          <a:p>
            <a:pPr marL="68580" indent="0">
              <a:buNone/>
            </a:pPr>
            <a:r>
              <a:rPr lang="en-US" sz="2000" b="1" dirty="0"/>
              <a:t>	</a:t>
            </a:r>
            <a:r>
              <a:rPr lang="en-US" sz="2000" b="1" dirty="0" err="1"/>
              <a:t>tmp</a:t>
            </a:r>
            <a:r>
              <a:rPr lang="en-US" sz="2000" b="1" dirty="0"/>
              <a:t>-&gt;link=NULL;</a:t>
            </a:r>
            <a:endParaRPr lang="en-IN" sz="2000" b="1" dirty="0"/>
          </a:p>
          <a:p>
            <a:pPr marL="68580" indent="0">
              <a:buNone/>
            </a:pPr>
            <a:r>
              <a:rPr lang="en-US" sz="2000" b="1" dirty="0"/>
              <a:t> </a:t>
            </a:r>
            <a:endParaRPr lang="en-IN" sz="2000" b="1" dirty="0"/>
          </a:p>
        </p:txBody>
      </p:sp>
      <p:sp>
        <p:nvSpPr>
          <p:cNvPr id="4" name="Date Placeholder 3"/>
          <p:cNvSpPr>
            <a:spLocks noGrp="1"/>
          </p:cNvSpPr>
          <p:nvPr>
            <p:ph type="dt" sz="half" idx="10"/>
          </p:nvPr>
        </p:nvSpPr>
        <p:spPr/>
        <p:txBody>
          <a:bodyPr/>
          <a:lstStyle/>
          <a:p>
            <a:fld id="{6FDA3727-6AE0-48AA-AEEE-3A4BA6A3DC8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73</a:t>
            </a:fld>
            <a:endParaRPr lang="en-IN"/>
          </a:p>
        </p:txBody>
      </p:sp>
    </p:spTree>
    <p:extLst>
      <p:ext uri="{BB962C8B-B14F-4D97-AF65-F5344CB8AC3E}">
        <p14:creationId xmlns:p14="http://schemas.microsoft.com/office/powerpoint/2010/main" val="64030175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600" y="476672"/>
            <a:ext cx="7024744" cy="457120"/>
          </a:xfrm>
        </p:spPr>
        <p:txBody>
          <a:bodyPr>
            <a:normAutofit fontScale="90000"/>
          </a:bodyPr>
          <a:lstStyle/>
          <a:p>
            <a:r>
              <a:rPr lang="en-IN" dirty="0" smtClean="0"/>
              <a:t>Creating a Linked List</a:t>
            </a:r>
            <a:endParaRPr lang="en-IN" dirty="0"/>
          </a:p>
        </p:txBody>
      </p:sp>
      <p:sp>
        <p:nvSpPr>
          <p:cNvPr id="3" name="Content Placeholder 2"/>
          <p:cNvSpPr>
            <a:spLocks noGrp="1"/>
          </p:cNvSpPr>
          <p:nvPr>
            <p:ph idx="1"/>
          </p:nvPr>
        </p:nvSpPr>
        <p:spPr>
          <a:xfrm>
            <a:off x="755576" y="1315540"/>
            <a:ext cx="6777317" cy="4705748"/>
          </a:xfrm>
        </p:spPr>
        <p:txBody>
          <a:bodyPr>
            <a:normAutofit fontScale="70000" lnSpcReduction="20000"/>
          </a:bodyPr>
          <a:lstStyle/>
          <a:p>
            <a:pPr marL="68580" indent="0">
              <a:buNone/>
            </a:pPr>
            <a:r>
              <a:rPr lang="en-US" sz="2000" dirty="0" err="1"/>
              <a:t>create_list</a:t>
            </a:r>
            <a:r>
              <a:rPr lang="en-US" sz="2000" dirty="0"/>
              <a:t>(</a:t>
            </a:r>
            <a:r>
              <a:rPr lang="en-US" sz="2000" dirty="0" err="1"/>
              <a:t>int</a:t>
            </a:r>
            <a:r>
              <a:rPr lang="en-US" sz="2000" dirty="0"/>
              <a:t> data)</a:t>
            </a:r>
            <a:endParaRPr lang="en-IN" sz="2000" dirty="0"/>
          </a:p>
          <a:p>
            <a:pPr marL="68580" indent="0">
              <a:buNone/>
            </a:pPr>
            <a:r>
              <a:rPr lang="en-US" sz="2000" dirty="0"/>
              <a:t>{</a:t>
            </a:r>
            <a:endParaRPr lang="en-IN" sz="2000" dirty="0"/>
          </a:p>
          <a:p>
            <a:pPr marL="68580" indent="0">
              <a:buNone/>
            </a:pPr>
            <a:r>
              <a:rPr lang="en-US" sz="2000" dirty="0"/>
              <a:t>	</a:t>
            </a:r>
            <a:r>
              <a:rPr lang="en-US" sz="2000" dirty="0" err="1"/>
              <a:t>struct</a:t>
            </a:r>
            <a:r>
              <a:rPr lang="en-US" sz="2000" dirty="0"/>
              <a:t> node *q,*</a:t>
            </a:r>
            <a:r>
              <a:rPr lang="en-US" sz="2000" dirty="0" err="1"/>
              <a:t>tmp</a:t>
            </a:r>
            <a:r>
              <a:rPr lang="en-US" sz="2000" dirty="0"/>
              <a:t>;</a:t>
            </a:r>
            <a:endParaRPr lang="en-IN" sz="2000" dirty="0"/>
          </a:p>
          <a:p>
            <a:pPr marL="68580" indent="0">
              <a:buNone/>
            </a:pPr>
            <a:r>
              <a:rPr lang="en-US" sz="2000" dirty="0"/>
              <a:t>	</a:t>
            </a:r>
            <a:r>
              <a:rPr lang="en-US" sz="2000" dirty="0" err="1"/>
              <a:t>tmp</a:t>
            </a:r>
            <a:r>
              <a:rPr lang="en-US" sz="2000" dirty="0"/>
              <a:t>= </a:t>
            </a:r>
            <a:r>
              <a:rPr lang="en-US" sz="2000" dirty="0" smtClean="0"/>
              <a:t>(</a:t>
            </a:r>
            <a:r>
              <a:rPr lang="en-US" sz="2000" dirty="0" err="1" smtClean="0"/>
              <a:t>struct</a:t>
            </a:r>
            <a:r>
              <a:rPr lang="en-US" sz="2000" dirty="0" smtClean="0"/>
              <a:t> node *) </a:t>
            </a:r>
            <a:r>
              <a:rPr lang="en-US" sz="2000" dirty="0" err="1" smtClean="0"/>
              <a:t>malloc</a:t>
            </a:r>
            <a:r>
              <a:rPr lang="en-US" sz="2000" dirty="0" smtClean="0"/>
              <a:t>(</a:t>
            </a:r>
            <a:r>
              <a:rPr lang="en-US" sz="2000" dirty="0" err="1" smtClean="0"/>
              <a:t>sizeof</a:t>
            </a:r>
            <a:r>
              <a:rPr lang="en-US" sz="2000" dirty="0" smtClean="0"/>
              <a:t>(</a:t>
            </a:r>
            <a:r>
              <a:rPr lang="en-US" sz="2000" dirty="0" err="1" smtClean="0"/>
              <a:t>struct</a:t>
            </a:r>
            <a:r>
              <a:rPr lang="en-US" sz="2000" dirty="0" smtClean="0"/>
              <a:t> </a:t>
            </a:r>
            <a:r>
              <a:rPr lang="en-US" sz="2000" dirty="0"/>
              <a:t>node));</a:t>
            </a:r>
            <a:endParaRPr lang="en-IN" sz="2000" dirty="0"/>
          </a:p>
          <a:p>
            <a:pPr marL="68580" indent="0">
              <a:buNone/>
            </a:pPr>
            <a:r>
              <a:rPr lang="en-US" sz="2000" dirty="0"/>
              <a:t>	</a:t>
            </a:r>
            <a:r>
              <a:rPr lang="en-US" sz="2000" dirty="0" err="1"/>
              <a:t>tmp</a:t>
            </a:r>
            <a:r>
              <a:rPr lang="en-US" sz="2000" dirty="0"/>
              <a:t>-&gt;info=data;</a:t>
            </a:r>
            <a:endParaRPr lang="en-IN" sz="2000" dirty="0"/>
          </a:p>
          <a:p>
            <a:pPr marL="68580" indent="0">
              <a:buNone/>
            </a:pPr>
            <a:r>
              <a:rPr lang="en-US" sz="2000" dirty="0"/>
              <a:t>	</a:t>
            </a:r>
            <a:r>
              <a:rPr lang="en-US" sz="2000" dirty="0" err="1"/>
              <a:t>tmp</a:t>
            </a:r>
            <a:r>
              <a:rPr lang="en-US" sz="2000" dirty="0"/>
              <a:t>-&gt;link=NULL;</a:t>
            </a:r>
            <a:endParaRPr lang="en-IN" sz="2000" dirty="0"/>
          </a:p>
          <a:p>
            <a:pPr marL="68580" indent="0">
              <a:buNone/>
            </a:pPr>
            <a:r>
              <a:rPr lang="en-US" sz="2000" dirty="0"/>
              <a:t> </a:t>
            </a:r>
            <a:endParaRPr lang="en-IN" sz="2000" dirty="0"/>
          </a:p>
          <a:p>
            <a:pPr marL="68580" indent="0">
              <a:buNone/>
            </a:pPr>
            <a:r>
              <a:rPr lang="en-US" sz="2000" dirty="0"/>
              <a:t>	if(start==NULL) /*If list is empty */</a:t>
            </a:r>
            <a:endParaRPr lang="en-IN" sz="2000" dirty="0"/>
          </a:p>
          <a:p>
            <a:pPr marL="68580" indent="0">
              <a:buNone/>
            </a:pPr>
            <a:r>
              <a:rPr lang="en-US" sz="2000" dirty="0"/>
              <a:t>	</a:t>
            </a:r>
            <a:r>
              <a:rPr lang="en-US" sz="2000" dirty="0" smtClean="0"/>
              <a:t>{</a:t>
            </a:r>
            <a:r>
              <a:rPr lang="en-US" sz="2000" dirty="0"/>
              <a:t>	</a:t>
            </a:r>
            <a:endParaRPr lang="en-US" sz="2000" dirty="0" smtClean="0"/>
          </a:p>
          <a:p>
            <a:pPr marL="68580" indent="0">
              <a:buNone/>
            </a:pPr>
            <a:r>
              <a:rPr lang="en-US" sz="2000" dirty="0"/>
              <a:t>	</a:t>
            </a:r>
            <a:r>
              <a:rPr lang="en-US" sz="2000" dirty="0" smtClean="0"/>
              <a:t>	start=</a:t>
            </a:r>
            <a:r>
              <a:rPr lang="en-US" sz="2000" dirty="0" err="1" smtClean="0"/>
              <a:t>tmp</a:t>
            </a:r>
            <a:r>
              <a:rPr lang="en-US" sz="2000" dirty="0" smtClean="0"/>
              <a:t>;</a:t>
            </a:r>
          </a:p>
          <a:p>
            <a:pPr marL="68580" indent="0">
              <a:buNone/>
            </a:pPr>
            <a:r>
              <a:rPr lang="en-US" sz="2000" dirty="0"/>
              <a:t>	</a:t>
            </a:r>
            <a:r>
              <a:rPr lang="en-US" sz="2000" dirty="0" smtClean="0"/>
              <a:t>}</a:t>
            </a:r>
            <a:endParaRPr lang="en-IN" sz="2000" dirty="0"/>
          </a:p>
          <a:p>
            <a:pPr marL="68580" indent="0">
              <a:buNone/>
            </a:pPr>
            <a:r>
              <a:rPr lang="en-US" sz="2000" dirty="0"/>
              <a:t>	else</a:t>
            </a:r>
            <a:endParaRPr lang="en-IN" sz="2000" dirty="0"/>
          </a:p>
          <a:p>
            <a:pPr marL="68580" indent="0">
              <a:buNone/>
            </a:pPr>
            <a:r>
              <a:rPr lang="en-US" sz="2000" dirty="0"/>
              <a:t>	{       /*Element inserted at the end */</a:t>
            </a:r>
            <a:endParaRPr lang="en-IN" sz="2000" dirty="0"/>
          </a:p>
          <a:p>
            <a:pPr marL="68580" indent="0">
              <a:buNone/>
            </a:pPr>
            <a:r>
              <a:rPr lang="en-US" sz="2000" dirty="0"/>
              <a:t>		q=start;</a:t>
            </a:r>
            <a:endParaRPr lang="en-IN" sz="2000" dirty="0"/>
          </a:p>
          <a:p>
            <a:pPr marL="68580" indent="0">
              <a:buNone/>
            </a:pPr>
            <a:r>
              <a:rPr lang="en-US" sz="2000" dirty="0"/>
              <a:t>		while(q-&gt;link!=NULL)</a:t>
            </a:r>
            <a:endParaRPr lang="en-IN" sz="2000" dirty="0"/>
          </a:p>
          <a:p>
            <a:pPr marL="68580" indent="0">
              <a:buNone/>
            </a:pPr>
            <a:r>
              <a:rPr lang="en-US" sz="2000" dirty="0"/>
              <a:t>			</a:t>
            </a:r>
            <a:r>
              <a:rPr lang="en-US" sz="2000" dirty="0" smtClean="0"/>
              <a:t>{</a:t>
            </a:r>
          </a:p>
          <a:p>
            <a:pPr marL="68580" indent="0">
              <a:buNone/>
            </a:pPr>
            <a:r>
              <a:rPr lang="en-US" sz="2000" dirty="0"/>
              <a:t>	</a:t>
            </a:r>
            <a:r>
              <a:rPr lang="en-US" sz="2000" dirty="0" smtClean="0"/>
              <a:t>		q=q-</a:t>
            </a:r>
            <a:r>
              <a:rPr lang="en-US" sz="2000" dirty="0"/>
              <a:t>&gt;link</a:t>
            </a:r>
            <a:r>
              <a:rPr lang="en-US" sz="2000" dirty="0" smtClean="0"/>
              <a:t>;</a:t>
            </a:r>
          </a:p>
          <a:p>
            <a:pPr marL="68580" indent="0">
              <a:buNone/>
            </a:pPr>
            <a:r>
              <a:rPr lang="en-US" sz="2000" dirty="0"/>
              <a:t>	</a:t>
            </a:r>
            <a:r>
              <a:rPr lang="en-US" sz="2000" dirty="0" smtClean="0"/>
              <a:t>		}</a:t>
            </a:r>
            <a:endParaRPr lang="en-IN" sz="2000" dirty="0"/>
          </a:p>
          <a:p>
            <a:pPr marL="68580" indent="0">
              <a:buNone/>
            </a:pPr>
            <a:r>
              <a:rPr lang="en-US" sz="2000" dirty="0"/>
              <a:t>		q-&gt;link=</a:t>
            </a:r>
            <a:r>
              <a:rPr lang="en-US" sz="2000" dirty="0" err="1"/>
              <a:t>tmp</a:t>
            </a:r>
            <a:r>
              <a:rPr lang="en-US" sz="2000" dirty="0"/>
              <a:t>;</a:t>
            </a:r>
            <a:endParaRPr lang="en-IN" sz="2000" dirty="0"/>
          </a:p>
          <a:p>
            <a:pPr marL="68580" indent="0">
              <a:buNone/>
            </a:pPr>
            <a:r>
              <a:rPr lang="en-US" sz="2000" dirty="0"/>
              <a:t>	}</a:t>
            </a:r>
            <a:endParaRPr lang="en-IN" sz="2000" dirty="0"/>
          </a:p>
          <a:p>
            <a:pPr marL="68580" indent="0">
              <a:buNone/>
            </a:pPr>
            <a:r>
              <a:rPr lang="en-US" sz="2000" dirty="0"/>
              <a:t>}/*End of </a:t>
            </a:r>
            <a:r>
              <a:rPr lang="en-US" sz="2000" dirty="0" err="1"/>
              <a:t>create_list</a:t>
            </a:r>
            <a:r>
              <a:rPr lang="en-US" sz="2000" dirty="0"/>
              <a:t>()*/</a:t>
            </a:r>
            <a:endParaRPr lang="en-IN" sz="2000" dirty="0"/>
          </a:p>
        </p:txBody>
      </p:sp>
      <p:sp>
        <p:nvSpPr>
          <p:cNvPr id="4" name="Date Placeholder 3"/>
          <p:cNvSpPr>
            <a:spLocks noGrp="1"/>
          </p:cNvSpPr>
          <p:nvPr>
            <p:ph type="dt" sz="half" idx="10"/>
          </p:nvPr>
        </p:nvSpPr>
        <p:spPr/>
        <p:txBody>
          <a:bodyPr/>
          <a:lstStyle/>
          <a:p>
            <a:fld id="{6FDA3727-6AE0-48AA-AEEE-3A4BA6A3DC8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74</a:t>
            </a:fld>
            <a:endParaRPr lang="en-IN"/>
          </a:p>
        </p:txBody>
      </p:sp>
    </p:spTree>
    <p:extLst>
      <p:ext uri="{BB962C8B-B14F-4D97-AF65-F5344CB8AC3E}">
        <p14:creationId xmlns:p14="http://schemas.microsoft.com/office/powerpoint/2010/main" val="270027770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620688"/>
            <a:ext cx="7024744" cy="385112"/>
          </a:xfrm>
        </p:spPr>
        <p:txBody>
          <a:bodyPr>
            <a:noAutofit/>
          </a:bodyPr>
          <a:lstStyle/>
          <a:p>
            <a:r>
              <a:rPr lang="en-IN" sz="2000" dirty="0" smtClean="0"/>
              <a:t>Explanation-</a:t>
            </a:r>
            <a:endParaRPr lang="en-IN" sz="2000" dirty="0"/>
          </a:p>
        </p:txBody>
      </p:sp>
      <p:sp>
        <p:nvSpPr>
          <p:cNvPr id="4" name="Date Placeholder 3"/>
          <p:cNvSpPr>
            <a:spLocks noGrp="1"/>
          </p:cNvSpPr>
          <p:nvPr>
            <p:ph type="dt" sz="half" idx="10"/>
          </p:nvPr>
        </p:nvSpPr>
        <p:spPr/>
        <p:txBody>
          <a:bodyPr/>
          <a:lstStyle/>
          <a:p>
            <a:fld id="{EB710D74-2398-47D4-A516-B8748A1822B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75</a:t>
            </a:fld>
            <a:endParaRPr lang="en-IN"/>
          </a:p>
        </p:txBody>
      </p:sp>
      <p:sp>
        <p:nvSpPr>
          <p:cNvPr id="7" name="Content Placeholder 6"/>
          <p:cNvSpPr>
            <a:spLocks noGrp="1"/>
          </p:cNvSpPr>
          <p:nvPr>
            <p:ph idx="1"/>
          </p:nvPr>
        </p:nvSpPr>
        <p:spPr>
          <a:xfrm>
            <a:off x="1115616" y="1268760"/>
            <a:ext cx="6768752" cy="4635877"/>
          </a:xfrm>
        </p:spPr>
        <p:txBody>
          <a:bodyPr>
            <a:normAutofit/>
          </a:bodyPr>
          <a:lstStyle/>
          <a:p>
            <a:pPr marL="68580" indent="0">
              <a:buNone/>
            </a:pPr>
            <a:r>
              <a:rPr lang="en-US" sz="2000" b="1" dirty="0"/>
              <a:t>if(start==NULL) /*If list is empty */</a:t>
            </a:r>
            <a:endParaRPr lang="en-IN" sz="2000" b="1" dirty="0"/>
          </a:p>
          <a:p>
            <a:pPr marL="68580" indent="0">
              <a:buNone/>
            </a:pPr>
            <a:r>
              <a:rPr lang="en-US" sz="2000" b="1" dirty="0"/>
              <a:t>	{	</a:t>
            </a:r>
          </a:p>
          <a:p>
            <a:pPr marL="68580" indent="0">
              <a:buNone/>
            </a:pPr>
            <a:r>
              <a:rPr lang="en-US" sz="2000" b="1" dirty="0"/>
              <a:t>	start=tmp;</a:t>
            </a:r>
          </a:p>
          <a:p>
            <a:pPr marL="68580" indent="0">
              <a:buNone/>
            </a:pPr>
            <a:r>
              <a:rPr lang="en-US" sz="2000" b="1" dirty="0"/>
              <a:t>	}</a:t>
            </a:r>
            <a:endParaRPr lang="en-IN" sz="2000" b="1" dirty="0"/>
          </a:p>
        </p:txBody>
      </p:sp>
    </p:spTree>
    <p:extLst>
      <p:ext uri="{BB962C8B-B14F-4D97-AF65-F5344CB8AC3E}">
        <p14:creationId xmlns:p14="http://schemas.microsoft.com/office/powerpoint/2010/main" val="61910543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620688"/>
            <a:ext cx="7024744" cy="385112"/>
          </a:xfrm>
        </p:spPr>
        <p:txBody>
          <a:bodyPr>
            <a:noAutofit/>
          </a:bodyPr>
          <a:lstStyle/>
          <a:p>
            <a:r>
              <a:rPr lang="en-IN" sz="2000" dirty="0" smtClean="0"/>
              <a:t>Explanation-</a:t>
            </a:r>
            <a:endParaRPr lang="en-IN" sz="2000" dirty="0"/>
          </a:p>
        </p:txBody>
      </p:sp>
      <p:sp>
        <p:nvSpPr>
          <p:cNvPr id="4" name="Date Placeholder 3"/>
          <p:cNvSpPr>
            <a:spLocks noGrp="1"/>
          </p:cNvSpPr>
          <p:nvPr>
            <p:ph type="dt" sz="half" idx="10"/>
          </p:nvPr>
        </p:nvSpPr>
        <p:spPr/>
        <p:txBody>
          <a:bodyPr/>
          <a:lstStyle/>
          <a:p>
            <a:fld id="{EB710D74-2398-47D4-A516-B8748A1822BD}" type="datetime1">
              <a:rPr lang="en-IN" smtClean="0"/>
              <a:t>06-08-2024</a:t>
            </a:fld>
            <a:endParaRPr lang="en-IN"/>
          </a:p>
        </p:txBody>
      </p:sp>
      <p:sp>
        <p:nvSpPr>
          <p:cNvPr id="5" name="Footer Placeholder 4"/>
          <p:cNvSpPr>
            <a:spLocks noGrp="1"/>
          </p:cNvSpPr>
          <p:nvPr>
            <p:ph type="ftr" sz="quarter" idx="11"/>
          </p:nvPr>
        </p:nvSpPr>
        <p:spPr/>
        <p:txBody>
          <a:bodyPr/>
          <a:lstStyle/>
          <a:p>
            <a:r>
              <a:rPr lang="en-IN" smtClean="0"/>
              <a:t>Prof. Shweta Dhawan Chachra</a:t>
            </a:r>
            <a:endParaRPr lang="en-IN"/>
          </a:p>
        </p:txBody>
      </p:sp>
      <p:sp>
        <p:nvSpPr>
          <p:cNvPr id="6" name="Slide Number Placeholder 5"/>
          <p:cNvSpPr>
            <a:spLocks noGrp="1"/>
          </p:cNvSpPr>
          <p:nvPr>
            <p:ph type="sldNum" sz="quarter" idx="12"/>
          </p:nvPr>
        </p:nvSpPr>
        <p:spPr/>
        <p:txBody>
          <a:bodyPr/>
          <a:lstStyle/>
          <a:p>
            <a:fld id="{91FA414A-FC3B-4762-BF9B-190CEE0147BD}" type="slidenum">
              <a:rPr lang="en-IN" smtClean="0"/>
              <a:t>76</a:t>
            </a:fld>
            <a:endParaRPr lang="en-IN"/>
          </a:p>
        </p:txBody>
      </p:sp>
      <p:sp>
        <p:nvSpPr>
          <p:cNvPr id="7" name="Content Placeholder 6"/>
          <p:cNvSpPr>
            <a:spLocks noGrp="1"/>
          </p:cNvSpPr>
          <p:nvPr>
            <p:ph idx="1"/>
          </p:nvPr>
        </p:nvSpPr>
        <p:spPr>
          <a:xfrm>
            <a:off x="1115616" y="1268760"/>
            <a:ext cx="6768752" cy="4635877"/>
          </a:xfrm>
        </p:spPr>
        <p:txBody>
          <a:bodyPr>
            <a:normAutofit/>
          </a:bodyPr>
          <a:lstStyle/>
          <a:p>
            <a:pPr marL="68580" indent="0">
              <a:buNone/>
            </a:pPr>
            <a:r>
              <a:rPr lang="en-IN" sz="2000" b="1" dirty="0"/>
              <a:t>else</a:t>
            </a:r>
          </a:p>
          <a:p>
            <a:pPr marL="68580" indent="0">
              <a:buNone/>
            </a:pPr>
            <a:r>
              <a:rPr lang="en-IN" sz="2000" b="1" dirty="0"/>
              <a:t>	{       /*Element inserted at the end */</a:t>
            </a:r>
          </a:p>
          <a:p>
            <a:pPr marL="68580" indent="0">
              <a:buNone/>
            </a:pPr>
            <a:r>
              <a:rPr lang="en-IN" sz="2000" b="1" dirty="0"/>
              <a:t>	</a:t>
            </a:r>
            <a:r>
              <a:rPr lang="en-IN" sz="2000" b="1" dirty="0" smtClean="0"/>
              <a:t>q=start</a:t>
            </a:r>
            <a:r>
              <a:rPr lang="en-IN" sz="2000" b="1" dirty="0"/>
              <a:t>;</a:t>
            </a:r>
          </a:p>
          <a:p>
            <a:pPr marL="68580" indent="0">
              <a:buNone/>
            </a:pPr>
            <a:r>
              <a:rPr lang="en-IN" sz="2000" b="1" dirty="0"/>
              <a:t>	while(q-&gt;link!=NULL)</a:t>
            </a:r>
          </a:p>
          <a:p>
            <a:pPr marL="68580" indent="0">
              <a:buNone/>
            </a:pPr>
            <a:r>
              <a:rPr lang="en-IN" sz="2000" b="1" dirty="0"/>
              <a:t>		</a:t>
            </a:r>
            <a:r>
              <a:rPr lang="en-IN" sz="2000" b="1" dirty="0" smtClean="0"/>
              <a:t>{</a:t>
            </a:r>
          </a:p>
          <a:p>
            <a:pPr marL="68580" indent="0">
              <a:buNone/>
            </a:pPr>
            <a:r>
              <a:rPr lang="en-IN" sz="2000" b="1" dirty="0"/>
              <a:t>	</a:t>
            </a:r>
            <a:r>
              <a:rPr lang="en-IN" sz="2000" b="1" dirty="0" smtClean="0"/>
              <a:t>	q=q-</a:t>
            </a:r>
            <a:r>
              <a:rPr lang="en-IN" sz="2000" b="1" dirty="0"/>
              <a:t>&gt;link</a:t>
            </a:r>
            <a:r>
              <a:rPr lang="en-IN" sz="2000" b="1" dirty="0" smtClean="0"/>
              <a:t>;</a:t>
            </a:r>
          </a:p>
          <a:p>
            <a:pPr marL="68580" indent="0">
              <a:buNone/>
            </a:pPr>
            <a:r>
              <a:rPr lang="en-IN" sz="2000" b="1" dirty="0"/>
              <a:t>	</a:t>
            </a:r>
            <a:r>
              <a:rPr lang="en-IN" sz="2000" b="1" dirty="0" smtClean="0"/>
              <a:t>	}</a:t>
            </a:r>
            <a:endParaRPr lang="en-IN" sz="2000" b="1" dirty="0"/>
          </a:p>
          <a:p>
            <a:pPr marL="68580" indent="0">
              <a:buNone/>
            </a:pPr>
            <a:r>
              <a:rPr lang="en-IN" sz="2000" b="1" dirty="0"/>
              <a:t>	</a:t>
            </a:r>
            <a:r>
              <a:rPr lang="en-IN" sz="2000" b="1" dirty="0" smtClean="0"/>
              <a:t>q-</a:t>
            </a:r>
            <a:r>
              <a:rPr lang="en-IN" sz="2000" b="1" dirty="0"/>
              <a:t>&gt;link=tmp;</a:t>
            </a:r>
          </a:p>
          <a:p>
            <a:pPr marL="68580" indent="0">
              <a:buNone/>
            </a:pPr>
            <a:r>
              <a:rPr lang="en-IN" sz="2000" b="1" dirty="0"/>
              <a:t>	}</a:t>
            </a:r>
          </a:p>
        </p:txBody>
      </p:sp>
    </p:spTree>
    <p:extLst>
      <p:ext uri="{BB962C8B-B14F-4D97-AF65-F5344CB8AC3E}">
        <p14:creationId xmlns:p14="http://schemas.microsoft.com/office/powerpoint/2010/main" val="58931982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11814</TotalTime>
  <Words>2740</Words>
  <Application>Microsoft Office PowerPoint</Application>
  <PresentationFormat>On-screen Show (4:3)</PresentationFormat>
  <Paragraphs>720</Paragraphs>
  <Slides>76</Slides>
  <Notes>5</Notes>
  <HiddenSlides>0</HiddenSlides>
  <MMClips>0</MMClips>
  <ScaleCrop>false</ScaleCrop>
  <HeadingPairs>
    <vt:vector size="4" baseType="variant">
      <vt:variant>
        <vt:lpstr>Theme</vt:lpstr>
      </vt:variant>
      <vt:variant>
        <vt:i4>1</vt:i4>
      </vt:variant>
      <vt:variant>
        <vt:lpstr>Slide Titles</vt:lpstr>
      </vt:variant>
      <vt:variant>
        <vt:i4>76</vt:i4>
      </vt:variant>
    </vt:vector>
  </HeadingPairs>
  <TitlesOfParts>
    <vt:vector size="77" baseType="lpstr">
      <vt:lpstr>Austin</vt:lpstr>
      <vt:lpstr>Module 2.0</vt:lpstr>
      <vt:lpstr>Memory Allocation &amp; Deallocation for Linked List</vt:lpstr>
      <vt:lpstr>Memory Allocation</vt:lpstr>
      <vt:lpstr>Compile Time or Static Allocation</vt:lpstr>
      <vt:lpstr>Compile Time or Static Allocation</vt:lpstr>
      <vt:lpstr>Compile Time or Static Allocation</vt:lpstr>
      <vt:lpstr>Compile Time or Static Allocation</vt:lpstr>
      <vt:lpstr>Compile Time or Static Allocation</vt:lpstr>
      <vt:lpstr>Compile Time or Static Allocation</vt:lpstr>
      <vt:lpstr>Runtime or Dynamic Allocation</vt:lpstr>
      <vt:lpstr>Runtime or Dynamic Allocation</vt:lpstr>
      <vt:lpstr>Runtime or Dynamic Allocation</vt:lpstr>
      <vt:lpstr>The malloc() fn</vt:lpstr>
      <vt:lpstr>The malloc() fn</vt:lpstr>
      <vt:lpstr>The malloc() fn</vt:lpstr>
      <vt:lpstr>The mallloc() fn</vt:lpstr>
      <vt:lpstr>The mallloc() fn</vt:lpstr>
      <vt:lpstr>The mallloc() fn</vt:lpstr>
      <vt:lpstr>The mallloc() fn</vt:lpstr>
      <vt:lpstr>The mallloc() fn</vt:lpstr>
      <vt:lpstr>The mallloc() fn- Usage in Linked List</vt:lpstr>
      <vt:lpstr>The callloc() fn</vt:lpstr>
      <vt:lpstr>The callloc() fn</vt:lpstr>
      <vt:lpstr>Malloc() vs callloc() fn</vt:lpstr>
      <vt:lpstr>Malloc() vs callloc() fn</vt:lpstr>
      <vt:lpstr>The free() fn</vt:lpstr>
      <vt:lpstr>PowerPoint Presentation</vt:lpstr>
      <vt:lpstr>PowerPoint Presentation</vt:lpstr>
      <vt:lpstr>PowerPoint Presentation</vt:lpstr>
      <vt:lpstr>What happens when you don’t free memory after using malloc()</vt:lpstr>
      <vt:lpstr>What happens when you don’t free memory after using malloc()</vt:lpstr>
      <vt:lpstr>Memory Leak ?</vt:lpstr>
      <vt:lpstr>The realloc() fn</vt:lpstr>
      <vt:lpstr>The realloc() fn</vt:lpstr>
      <vt:lpstr>Eg of mallloc() fn</vt:lpstr>
      <vt:lpstr>Eg of mallloc() fn</vt:lpstr>
      <vt:lpstr>PowerPoint Presentation</vt:lpstr>
      <vt:lpstr>PowerPoint Presentation</vt:lpstr>
      <vt:lpstr>Pointers and arrays</vt:lpstr>
      <vt:lpstr>Which part of the memory is allocated when static memory allocation is used, for int,char,float,arrays,struct,unions…..?  Which part of the memory is allocated when malloc and calloc are called for any variable?</vt:lpstr>
      <vt:lpstr>Stack</vt:lpstr>
      <vt:lpstr>Stack</vt:lpstr>
      <vt:lpstr>Heap</vt:lpstr>
      <vt:lpstr>Stack</vt:lpstr>
      <vt:lpstr>Stack</vt:lpstr>
      <vt:lpstr>PowerPoint Presentation</vt:lpstr>
      <vt:lpstr>PowerPoint Presentation</vt:lpstr>
      <vt:lpstr>Stack and Heap </vt:lpstr>
      <vt:lpstr>Heap</vt:lpstr>
      <vt:lpstr>Stack vs Heap</vt:lpstr>
      <vt:lpstr>Stack</vt:lpstr>
      <vt:lpstr>Heap</vt:lpstr>
      <vt:lpstr>Linked List</vt:lpstr>
      <vt:lpstr>Linked Lists</vt:lpstr>
      <vt:lpstr>Linked Lists</vt:lpstr>
      <vt:lpstr>Linked Lists</vt:lpstr>
      <vt:lpstr>Comparison between Array and Linked List</vt:lpstr>
      <vt:lpstr>Advantages of Linked List</vt:lpstr>
      <vt:lpstr>Disadvantages of Linked List</vt:lpstr>
      <vt:lpstr>Advantages of Arrays</vt:lpstr>
      <vt:lpstr>Arrays suffer from some severe limitations</vt:lpstr>
      <vt:lpstr>Types of Linked List</vt:lpstr>
      <vt:lpstr>Singly Linked List</vt:lpstr>
      <vt:lpstr>Singly Linked List</vt:lpstr>
      <vt:lpstr>Doubly Linked List</vt:lpstr>
      <vt:lpstr>Circular Linked List</vt:lpstr>
      <vt:lpstr>Linked List Operations</vt:lpstr>
      <vt:lpstr>PowerPoint Presentation</vt:lpstr>
      <vt:lpstr>Linked Lists</vt:lpstr>
      <vt:lpstr>Linked Lists</vt:lpstr>
      <vt:lpstr>Singly Linked List</vt:lpstr>
      <vt:lpstr>Creation of a new node</vt:lpstr>
      <vt:lpstr>Creation of a new node</vt:lpstr>
      <vt:lpstr>Creating a Linked List</vt:lpstr>
      <vt:lpstr>Explanation-</vt:lpstr>
      <vt:lpstr>Explanation-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445</cp:revision>
  <dcterms:created xsi:type="dcterms:W3CDTF">2020-07-14T06:20:56Z</dcterms:created>
  <dcterms:modified xsi:type="dcterms:W3CDTF">2024-08-06T09:05:11Z</dcterms:modified>
</cp:coreProperties>
</file>
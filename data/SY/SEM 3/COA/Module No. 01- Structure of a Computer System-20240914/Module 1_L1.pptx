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850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SH KORGAONKAR" userId="5c3538acdedae3a3" providerId="LiveId" clId="{14208C4A-A860-49C0-8B74-1F11CD3E0260}"/>
    <pc:docChg chg="modSld">
      <pc:chgData name="SAISH KORGAONKAR" userId="5c3538acdedae3a3" providerId="LiveId" clId="{14208C4A-A860-49C0-8B74-1F11CD3E0260}" dt="2024-09-26T03:21:56.443" v="0" actId="1038"/>
      <pc:docMkLst>
        <pc:docMk/>
      </pc:docMkLst>
      <pc:sldChg chg="modSp mod">
        <pc:chgData name="SAISH KORGAONKAR" userId="5c3538acdedae3a3" providerId="LiveId" clId="{14208C4A-A860-49C0-8B74-1F11CD3E0260}" dt="2024-09-26T03:21:56.443" v="0" actId="1038"/>
        <pc:sldMkLst>
          <pc:docMk/>
          <pc:sldMk cId="0" sldId="265"/>
        </pc:sldMkLst>
        <pc:grpChg chg="mod">
          <ac:chgData name="SAISH KORGAONKAR" userId="5c3538acdedae3a3" providerId="LiveId" clId="{14208C4A-A860-49C0-8B74-1F11CD3E0260}" dt="2024-09-26T03:21:56.443" v="0" actId="1038"/>
          <ac:grpSpMkLst>
            <pc:docMk/>
            <pc:sldMk cId="0" sldId="265"/>
            <ac:grpSpMk id="3" creationId="{00000000-0000-0000-0000-000000000000}"/>
          </ac:grpSpMkLst>
        </pc:gr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6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996567" y="34290"/>
            <a:ext cx="8204200" cy="7660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rgbClr val="C00000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812698" y="1210437"/>
            <a:ext cx="9512935" cy="2800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rgbClr val="252525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9/26/2024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0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3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2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4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5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6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9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0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1.jpg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7874" y="631316"/>
            <a:ext cx="1003427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/>
              <a:t>Computer</a:t>
            </a:r>
            <a:r>
              <a:rPr sz="4400" spc="95" dirty="0"/>
              <a:t> </a:t>
            </a:r>
            <a:r>
              <a:rPr sz="4400" dirty="0"/>
              <a:t>Organization</a:t>
            </a:r>
            <a:r>
              <a:rPr sz="4400" spc="100" dirty="0"/>
              <a:t> </a:t>
            </a:r>
            <a:r>
              <a:rPr sz="4400" dirty="0"/>
              <a:t>and</a:t>
            </a:r>
            <a:r>
              <a:rPr sz="4400" spc="95" dirty="0"/>
              <a:t> </a:t>
            </a:r>
            <a:r>
              <a:rPr sz="4400" spc="-10" dirty="0"/>
              <a:t>Architecture</a:t>
            </a:r>
            <a:endParaRPr sz="4400"/>
          </a:p>
        </p:txBody>
      </p:sp>
      <p:grpSp>
        <p:nvGrpSpPr>
          <p:cNvPr id="4" name="object 4"/>
          <p:cNvGrpSpPr/>
          <p:nvPr/>
        </p:nvGrpSpPr>
        <p:grpSpPr>
          <a:xfrm>
            <a:off x="605" y="0"/>
            <a:ext cx="777240" cy="6858000"/>
            <a:chOff x="605" y="0"/>
            <a:chExt cx="777240" cy="68580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05" y="2158"/>
              <a:ext cx="566953" cy="685583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7562" y="0"/>
              <a:ext cx="209677" cy="5440680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35258" y="5830823"/>
            <a:ext cx="868679" cy="6474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39479" y="5828982"/>
            <a:ext cx="2593330" cy="663892"/>
          </a:xfrm>
          <a:prstGeom prst="rect">
            <a:avLst/>
          </a:prstGeom>
        </p:spPr>
      </p:pic>
      <p:sp>
        <p:nvSpPr>
          <p:cNvPr id="9" name="object 3"/>
          <p:cNvSpPr txBox="1"/>
          <p:nvPr/>
        </p:nvSpPr>
        <p:spPr>
          <a:xfrm>
            <a:off x="5248593" y="2280288"/>
            <a:ext cx="1694814" cy="2297424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>
            <a:defPPr>
              <a:defRPr kern="0"/>
            </a:defPPr>
          </a:lstStyle>
          <a:p>
            <a:pPr marL="273685" marR="265430" indent="245110">
              <a:lnSpc>
                <a:spcPts val="2480"/>
              </a:lnSpc>
              <a:spcBef>
                <a:spcPts val="415"/>
              </a:spcBef>
            </a:pPr>
            <a:r>
              <a:rPr sz="2300" dirty="0">
                <a:solidFill>
                  <a:srgbClr val="262626"/>
                </a:solidFill>
                <a:latin typeface="Trebuchet MS"/>
                <a:cs typeface="Trebuchet MS"/>
              </a:rPr>
              <a:t>Div</a:t>
            </a:r>
            <a:r>
              <a:rPr sz="2300" spc="-25" dirty="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sz="2300" spc="-50" dirty="0">
                <a:solidFill>
                  <a:srgbClr val="262626"/>
                </a:solidFill>
                <a:latin typeface="Trebuchet MS"/>
                <a:cs typeface="Trebuchet MS"/>
              </a:rPr>
              <a:t>C </a:t>
            </a:r>
            <a:r>
              <a:rPr sz="2300" dirty="0">
                <a:solidFill>
                  <a:srgbClr val="262626"/>
                </a:solidFill>
                <a:latin typeface="Trebuchet MS"/>
                <a:cs typeface="Trebuchet MS"/>
              </a:rPr>
              <a:t>SY</a:t>
            </a:r>
            <a:r>
              <a:rPr sz="2300" spc="-40" dirty="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sz="2300" spc="-20" dirty="0">
                <a:solidFill>
                  <a:srgbClr val="262626"/>
                </a:solidFill>
                <a:latin typeface="Trebuchet MS"/>
                <a:cs typeface="Trebuchet MS"/>
              </a:rPr>
              <a:t>COMP</a:t>
            </a:r>
            <a:endParaRPr sz="2300" dirty="0">
              <a:latin typeface="Trebuchet MS"/>
              <a:cs typeface="Trebuchet MS"/>
            </a:endParaRPr>
          </a:p>
          <a:p>
            <a:pPr marL="394335">
              <a:lnSpc>
                <a:spcPts val="2450"/>
              </a:lnSpc>
            </a:pPr>
            <a:r>
              <a:rPr sz="2300" spc="70" dirty="0">
                <a:solidFill>
                  <a:srgbClr val="262626"/>
                </a:solidFill>
                <a:latin typeface="Trebuchet MS"/>
                <a:cs typeface="Trebuchet MS"/>
              </a:rPr>
              <a:t>Sem</a:t>
            </a:r>
            <a:r>
              <a:rPr sz="2300" spc="-85" dirty="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sz="2300" spc="-25" dirty="0">
                <a:solidFill>
                  <a:srgbClr val="262626"/>
                </a:solidFill>
                <a:latin typeface="Trebuchet MS"/>
                <a:cs typeface="Trebuchet MS"/>
              </a:rPr>
              <a:t>III</a:t>
            </a:r>
            <a:endParaRPr sz="2300" dirty="0">
              <a:latin typeface="Trebuchet MS"/>
              <a:cs typeface="Trebuchet MS"/>
            </a:endParaRPr>
          </a:p>
          <a:p>
            <a:pPr marL="172720" marR="5080" indent="-160655" algn="ctr">
              <a:lnSpc>
                <a:spcPts val="2480"/>
              </a:lnSpc>
              <a:spcBef>
                <a:spcPts val="2525"/>
              </a:spcBef>
            </a:pPr>
            <a:r>
              <a:rPr lang="en-US" sz="2300" spc="-40" dirty="0" err="1">
                <a:solidFill>
                  <a:srgbClr val="262626"/>
                </a:solidFill>
                <a:latin typeface="Trebuchet MS"/>
                <a:cs typeface="Trebuchet MS"/>
              </a:rPr>
              <a:t>Sn</a:t>
            </a:r>
            <a:r>
              <a:rPr sz="2300" spc="-10" dirty="0" err="1">
                <a:solidFill>
                  <a:srgbClr val="262626"/>
                </a:solidFill>
                <a:latin typeface="Trebuchet MS"/>
                <a:cs typeface="Trebuchet MS"/>
              </a:rPr>
              <a:t>e</a:t>
            </a:r>
            <a:r>
              <a:rPr lang="en-US" sz="2300" spc="-10" dirty="0" err="1">
                <a:solidFill>
                  <a:srgbClr val="262626"/>
                </a:solidFill>
                <a:latin typeface="Trebuchet MS"/>
                <a:cs typeface="Trebuchet MS"/>
              </a:rPr>
              <a:t>hal</a:t>
            </a:r>
            <a:r>
              <a:rPr lang="en-US" sz="2300" spc="-10" dirty="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</a:p>
          <a:p>
            <a:pPr marL="172720" marR="5080" indent="-160655" algn="ctr">
              <a:lnSpc>
                <a:spcPts val="2480"/>
              </a:lnSpc>
              <a:spcBef>
                <a:spcPts val="2525"/>
              </a:spcBef>
            </a:pPr>
            <a:r>
              <a:rPr sz="2300" spc="-120" dirty="0">
                <a:solidFill>
                  <a:srgbClr val="262626"/>
                </a:solidFill>
                <a:latin typeface="Trebuchet MS"/>
                <a:cs typeface="Trebuchet MS"/>
              </a:rPr>
              <a:t>AY</a:t>
            </a:r>
            <a:r>
              <a:rPr sz="2300" spc="-35" dirty="0">
                <a:solidFill>
                  <a:srgbClr val="262626"/>
                </a:solidFill>
                <a:latin typeface="Trebuchet MS"/>
                <a:cs typeface="Trebuchet MS"/>
              </a:rPr>
              <a:t> </a:t>
            </a:r>
            <a:r>
              <a:rPr sz="2300" spc="-95" dirty="0">
                <a:solidFill>
                  <a:srgbClr val="262626"/>
                </a:solidFill>
                <a:latin typeface="Trebuchet MS"/>
                <a:cs typeface="Trebuchet MS"/>
              </a:rPr>
              <a:t>202</a:t>
            </a:r>
            <a:r>
              <a:rPr lang="en-US" sz="2300" spc="-95" dirty="0">
                <a:solidFill>
                  <a:srgbClr val="262626"/>
                </a:solidFill>
                <a:latin typeface="Trebuchet MS"/>
                <a:cs typeface="Trebuchet MS"/>
              </a:rPr>
              <a:t>4</a:t>
            </a:r>
            <a:r>
              <a:rPr sz="2300" spc="-95" dirty="0">
                <a:solidFill>
                  <a:srgbClr val="262626"/>
                </a:solidFill>
                <a:latin typeface="Trebuchet MS"/>
                <a:cs typeface="Trebuchet MS"/>
              </a:rPr>
              <a:t>-</a:t>
            </a:r>
            <a:r>
              <a:rPr sz="2300" spc="-25" dirty="0">
                <a:solidFill>
                  <a:srgbClr val="262626"/>
                </a:solidFill>
                <a:latin typeface="Trebuchet MS"/>
                <a:cs typeface="Trebuchet MS"/>
              </a:rPr>
              <a:t>2</a:t>
            </a:r>
            <a:r>
              <a:rPr lang="en-US" sz="2300" spc="-25" dirty="0">
                <a:solidFill>
                  <a:srgbClr val="262626"/>
                </a:solidFill>
                <a:latin typeface="Trebuchet MS"/>
                <a:cs typeface="Trebuchet MS"/>
              </a:rPr>
              <a:t>5</a:t>
            </a:r>
            <a:endParaRPr sz="2300" dirty="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96567" y="226314"/>
            <a:ext cx="82042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Computer</a:t>
            </a:r>
            <a:r>
              <a:rPr spc="55" dirty="0"/>
              <a:t> </a:t>
            </a:r>
            <a:r>
              <a:rPr dirty="0"/>
              <a:t>Organization</a:t>
            </a:r>
            <a:r>
              <a:rPr spc="50" dirty="0"/>
              <a:t> </a:t>
            </a:r>
            <a:r>
              <a:rPr dirty="0"/>
              <a:t>and</a:t>
            </a:r>
            <a:r>
              <a:rPr spc="75" dirty="0"/>
              <a:t> </a:t>
            </a:r>
            <a:r>
              <a:rPr spc="-10" dirty="0"/>
              <a:t>Architecture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083970" y="780414"/>
            <a:ext cx="10215880" cy="453898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980"/>
              </a:lnSpc>
              <a:spcBef>
                <a:spcPts val="105"/>
              </a:spcBef>
            </a:pP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Course</a:t>
            </a:r>
            <a:r>
              <a:rPr sz="2600" b="1" spc="-4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600" b="1" spc="-10" dirty="0">
                <a:solidFill>
                  <a:srgbClr val="252525"/>
                </a:solidFill>
                <a:latin typeface="Arial"/>
                <a:cs typeface="Arial"/>
              </a:rPr>
              <a:t>Outcomes</a:t>
            </a:r>
            <a:endParaRPr sz="2600">
              <a:latin typeface="Arial"/>
              <a:cs typeface="Arial"/>
            </a:endParaRPr>
          </a:p>
          <a:p>
            <a:pPr marL="12700">
              <a:lnSpc>
                <a:spcPts val="2740"/>
              </a:lnSpc>
            </a:pP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At</a:t>
            </a:r>
            <a:r>
              <a:rPr sz="2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end</a:t>
            </a:r>
            <a:r>
              <a:rPr sz="24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successful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completion</a:t>
            </a:r>
            <a:r>
              <a:rPr sz="24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course</a:t>
            </a:r>
            <a:r>
              <a:rPr sz="24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student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will</a:t>
            </a:r>
            <a:r>
              <a:rPr sz="24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be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able</a:t>
            </a:r>
            <a:r>
              <a:rPr sz="2400" spc="-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25" dirty="0">
                <a:solidFill>
                  <a:srgbClr val="252525"/>
                </a:solidFill>
                <a:latin typeface="Tahoma"/>
                <a:cs typeface="Tahoma"/>
              </a:rPr>
              <a:t>to</a:t>
            </a:r>
            <a:endParaRPr sz="24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400">
              <a:latin typeface="Tahoma"/>
              <a:cs typeface="Tahoma"/>
            </a:endParaRPr>
          </a:p>
          <a:p>
            <a:pPr marL="12700" marR="5080">
              <a:lnSpc>
                <a:spcPts val="2640"/>
              </a:lnSpc>
            </a:pP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CO 1.</a:t>
            </a:r>
            <a:r>
              <a:rPr sz="2600" b="1" spc="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Describe</a:t>
            </a:r>
            <a:r>
              <a:rPr sz="24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define</a:t>
            </a:r>
            <a:r>
              <a:rPr sz="24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4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ahoma"/>
                <a:cs typeface="Tahoma"/>
              </a:rPr>
              <a:t>structure</a:t>
            </a:r>
            <a:r>
              <a:rPr sz="24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4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6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24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computer</a:t>
            </a:r>
            <a:r>
              <a:rPr sz="2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55" dirty="0">
                <a:solidFill>
                  <a:srgbClr val="252525"/>
                </a:solidFill>
                <a:latin typeface="Tahoma"/>
                <a:cs typeface="Tahoma"/>
              </a:rPr>
              <a:t>with</a:t>
            </a:r>
            <a:r>
              <a:rPr sz="24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252525"/>
                </a:solidFill>
                <a:latin typeface="Tahoma"/>
                <a:cs typeface="Tahoma"/>
              </a:rPr>
              <a:t>buses</a:t>
            </a:r>
            <a:r>
              <a:rPr sz="2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structure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4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detail</a:t>
            </a:r>
            <a:r>
              <a:rPr sz="24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working</a:t>
            </a:r>
            <a:r>
              <a:rPr sz="2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4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4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ahoma"/>
                <a:cs typeface="Tahoma"/>
              </a:rPr>
              <a:t>arithmetic</a:t>
            </a:r>
            <a:r>
              <a:rPr sz="24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logic</a:t>
            </a:r>
            <a:r>
              <a:rPr sz="24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30" dirty="0">
                <a:solidFill>
                  <a:srgbClr val="252525"/>
                </a:solidFill>
                <a:latin typeface="Tahoma"/>
                <a:cs typeface="Tahoma"/>
              </a:rPr>
              <a:t>unit</a:t>
            </a:r>
            <a:r>
              <a:rPr sz="24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4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its</a:t>
            </a:r>
            <a:r>
              <a:rPr sz="24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sub</a:t>
            </a:r>
            <a:r>
              <a:rPr sz="24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modules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980"/>
              </a:lnSpc>
              <a:spcBef>
                <a:spcPts val="2440"/>
              </a:spcBef>
            </a:pP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CO</a:t>
            </a:r>
            <a:r>
              <a:rPr sz="2600" b="1" spc="7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2.</a:t>
            </a:r>
            <a:r>
              <a:rPr sz="2600" b="1" spc="9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Understand</a:t>
            </a:r>
            <a:r>
              <a:rPr sz="2400" spc="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4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Central</a:t>
            </a:r>
            <a:r>
              <a:rPr sz="2400" spc="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processing</a:t>
            </a:r>
            <a:r>
              <a:rPr sz="2400" spc="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35" dirty="0">
                <a:solidFill>
                  <a:srgbClr val="252525"/>
                </a:solidFill>
                <a:latin typeface="Tahoma"/>
                <a:cs typeface="Tahoma"/>
              </a:rPr>
              <a:t>unit</a:t>
            </a:r>
            <a:r>
              <a:rPr sz="2400" spc="-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50" dirty="0">
                <a:solidFill>
                  <a:srgbClr val="252525"/>
                </a:solidFill>
                <a:latin typeface="Tahoma"/>
                <a:cs typeface="Tahoma"/>
              </a:rPr>
              <a:t>with</a:t>
            </a:r>
            <a:r>
              <a:rPr sz="2400" spc="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addressing</a:t>
            </a:r>
            <a:r>
              <a:rPr sz="2400" spc="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modes </a:t>
            </a:r>
            <a:r>
              <a:rPr sz="2400" spc="-25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ts val="2740"/>
              </a:lnSpc>
            </a:pP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working</a:t>
            </a:r>
            <a:r>
              <a:rPr sz="2400" spc="-1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400" spc="-1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control</a:t>
            </a:r>
            <a:r>
              <a:rPr sz="2400" spc="-1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20" dirty="0">
                <a:solidFill>
                  <a:srgbClr val="252525"/>
                </a:solidFill>
                <a:latin typeface="Tahoma"/>
                <a:cs typeface="Tahoma"/>
              </a:rPr>
              <a:t>unit</a:t>
            </a:r>
            <a:r>
              <a:rPr sz="2400" spc="-1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sz="2400" spc="-1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depth</a:t>
            </a:r>
            <a:endParaRPr sz="24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275"/>
              </a:spcBef>
            </a:pP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CO</a:t>
            </a:r>
            <a:r>
              <a:rPr sz="2600" b="1" spc="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3.</a:t>
            </a:r>
            <a:r>
              <a:rPr sz="2600" b="1" spc="-2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Learn</a:t>
            </a:r>
            <a:r>
              <a:rPr sz="24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4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evaluate</a:t>
            </a:r>
            <a:r>
              <a:rPr sz="24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memory</a:t>
            </a:r>
            <a:r>
              <a:rPr sz="24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organization</a:t>
            </a:r>
            <a:r>
              <a:rPr sz="2400" spc="-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4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55" dirty="0">
                <a:solidFill>
                  <a:srgbClr val="252525"/>
                </a:solidFill>
                <a:latin typeface="Tahoma"/>
                <a:cs typeface="Tahoma"/>
              </a:rPr>
              <a:t>cache</a:t>
            </a:r>
            <a:r>
              <a:rPr sz="24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structure</a:t>
            </a:r>
            <a:endParaRPr sz="2400">
              <a:latin typeface="Tahoma"/>
              <a:cs typeface="Tahoma"/>
            </a:endParaRPr>
          </a:p>
          <a:p>
            <a:pPr marL="12700" marR="1800225">
              <a:lnSpc>
                <a:spcPts val="2640"/>
              </a:lnSpc>
              <a:spcBef>
                <a:spcPts val="2770"/>
              </a:spcBef>
            </a:pP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CO</a:t>
            </a:r>
            <a:r>
              <a:rPr sz="2600" b="1" spc="6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600" b="1" dirty="0">
                <a:solidFill>
                  <a:srgbClr val="252525"/>
                </a:solidFill>
                <a:latin typeface="Arial"/>
                <a:cs typeface="Arial"/>
              </a:rPr>
              <a:t>4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.</a:t>
            </a:r>
            <a:r>
              <a:rPr sz="24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Summarize</a:t>
            </a:r>
            <a:r>
              <a:rPr sz="24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80" dirty="0">
                <a:solidFill>
                  <a:srgbClr val="252525"/>
                </a:solidFill>
                <a:latin typeface="Tahoma"/>
                <a:cs typeface="Tahoma"/>
              </a:rPr>
              <a:t>Input</a:t>
            </a:r>
            <a:r>
              <a:rPr sz="2400" spc="-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45" dirty="0">
                <a:solidFill>
                  <a:srgbClr val="252525"/>
                </a:solidFill>
                <a:latin typeface="Tahoma"/>
                <a:cs typeface="Tahoma"/>
              </a:rPr>
              <a:t>output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techniques</a:t>
            </a:r>
            <a:r>
              <a:rPr sz="2400" spc="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4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400" spc="-10" dirty="0">
                <a:solidFill>
                  <a:srgbClr val="252525"/>
                </a:solidFill>
                <a:latin typeface="Tahoma"/>
                <a:cs typeface="Tahoma"/>
              </a:rPr>
              <a:t>multiprocessor configurations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3162935">
              <a:lnSpc>
                <a:spcPct val="100000"/>
              </a:lnSpc>
              <a:spcBef>
                <a:spcPts val="100"/>
              </a:spcBef>
            </a:pPr>
            <a:r>
              <a:rPr dirty="0"/>
              <a:t>Module</a:t>
            </a:r>
            <a:r>
              <a:rPr spc="135" dirty="0"/>
              <a:t> </a:t>
            </a:r>
            <a:r>
              <a:rPr spc="-50" dirty="0"/>
              <a:t>1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05890" y="999871"/>
            <a:ext cx="8136255" cy="37458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Structure</a:t>
            </a:r>
            <a:r>
              <a:rPr sz="2800" b="1" spc="-7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of</a:t>
            </a:r>
            <a:r>
              <a:rPr sz="2800" b="1" spc="-7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a</a:t>
            </a:r>
            <a:r>
              <a:rPr sz="2800" b="1" spc="-8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Computer</a:t>
            </a:r>
            <a:r>
              <a:rPr sz="2800" b="1" spc="-3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252525"/>
                </a:solidFill>
                <a:latin typeface="Arial"/>
                <a:cs typeface="Arial"/>
              </a:rPr>
              <a:t>System</a:t>
            </a:r>
            <a:endParaRPr sz="2800">
              <a:latin typeface="Arial"/>
              <a:cs typeface="Arial"/>
            </a:endParaRPr>
          </a:p>
          <a:p>
            <a:pPr marL="12700">
              <a:lnSpc>
                <a:spcPts val="3210"/>
              </a:lnSpc>
              <a:spcBef>
                <a:spcPts val="2690"/>
              </a:spcBef>
            </a:pPr>
            <a:r>
              <a:rPr sz="2800" b="1" spc="-25" dirty="0">
                <a:solidFill>
                  <a:srgbClr val="252525"/>
                </a:solidFill>
                <a:latin typeface="Arial"/>
                <a:cs typeface="Arial"/>
              </a:rPr>
              <a:t>1.1</a:t>
            </a:r>
            <a:endParaRPr sz="2800">
              <a:latin typeface="Arial"/>
              <a:cs typeface="Arial"/>
            </a:endParaRPr>
          </a:p>
          <a:p>
            <a:pPr marL="12700" marR="5080">
              <a:lnSpc>
                <a:spcPct val="90000"/>
              </a:lnSpc>
              <a:spcBef>
                <a:spcPts val="160"/>
              </a:spcBef>
            </a:pPr>
            <a:r>
              <a:rPr sz="2600" spc="-45" dirty="0">
                <a:solidFill>
                  <a:srgbClr val="252525"/>
                </a:solidFill>
                <a:latin typeface="Tahoma"/>
                <a:cs typeface="Tahoma"/>
              </a:rPr>
              <a:t>Introduction</a:t>
            </a:r>
            <a:r>
              <a:rPr sz="2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computer</a:t>
            </a:r>
            <a:r>
              <a:rPr sz="26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system</a:t>
            </a:r>
            <a:r>
              <a:rPr sz="26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600" spc="-7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its</a:t>
            </a:r>
            <a:r>
              <a:rPr sz="2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sub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252525"/>
                </a:solidFill>
                <a:latin typeface="Tahoma"/>
                <a:cs typeface="Tahoma"/>
              </a:rPr>
              <a:t>modules, </a:t>
            </a:r>
            <a:r>
              <a:rPr sz="2600" spc="95" dirty="0">
                <a:solidFill>
                  <a:srgbClr val="252525"/>
                </a:solidFill>
                <a:latin typeface="Tahoma"/>
                <a:cs typeface="Tahoma"/>
              </a:rPr>
              <a:t>Basic</a:t>
            </a:r>
            <a:r>
              <a:rPr sz="26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organization</a:t>
            </a:r>
            <a:r>
              <a:rPr sz="26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600" spc="-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computer</a:t>
            </a:r>
            <a:r>
              <a:rPr sz="26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600" spc="-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block</a:t>
            </a:r>
            <a:r>
              <a:rPr sz="26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252525"/>
                </a:solidFill>
                <a:latin typeface="Tahoma"/>
                <a:cs typeface="Tahoma"/>
              </a:rPr>
              <a:t>level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description</a:t>
            </a:r>
            <a:r>
              <a:rPr sz="2600" spc="-1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20" dirty="0">
                <a:solidFill>
                  <a:srgbClr val="252525"/>
                </a:solidFill>
                <a:latin typeface="Tahoma"/>
                <a:cs typeface="Tahoma"/>
              </a:rPr>
              <a:t>functional</a:t>
            </a:r>
            <a:r>
              <a:rPr sz="2600" spc="-10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252525"/>
                </a:solidFill>
                <a:latin typeface="Tahoma"/>
                <a:cs typeface="Tahoma"/>
              </a:rPr>
              <a:t>units.</a:t>
            </a:r>
            <a:r>
              <a:rPr sz="26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70" dirty="0">
                <a:solidFill>
                  <a:srgbClr val="252525"/>
                </a:solidFill>
                <a:latin typeface="Tahoma"/>
                <a:cs typeface="Tahoma"/>
              </a:rPr>
              <a:t>Von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Neumann</a:t>
            </a:r>
            <a:r>
              <a:rPr sz="26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252525"/>
                </a:solidFill>
                <a:latin typeface="Tahoma"/>
                <a:cs typeface="Tahoma"/>
              </a:rPr>
              <a:t>model</a:t>
            </a:r>
            <a:endParaRPr sz="2600">
              <a:latin typeface="Tahoma"/>
              <a:cs typeface="Tahoma"/>
            </a:endParaRPr>
          </a:p>
          <a:p>
            <a:pPr marL="12700">
              <a:lnSpc>
                <a:spcPts val="3210"/>
              </a:lnSpc>
              <a:spcBef>
                <a:spcPts val="2465"/>
              </a:spcBef>
            </a:pPr>
            <a:r>
              <a:rPr sz="2800" b="1" spc="-25" dirty="0">
                <a:solidFill>
                  <a:srgbClr val="252525"/>
                </a:solidFill>
                <a:latin typeface="Arial"/>
                <a:cs typeface="Arial"/>
              </a:rPr>
              <a:t>1.2</a:t>
            </a:r>
            <a:endParaRPr sz="2800">
              <a:latin typeface="Arial"/>
              <a:cs typeface="Arial"/>
            </a:endParaRPr>
          </a:p>
          <a:p>
            <a:pPr marL="12700" marR="485775">
              <a:lnSpc>
                <a:spcPts val="2810"/>
              </a:lnSpc>
              <a:spcBef>
                <a:spcPts val="200"/>
              </a:spcBef>
            </a:pPr>
            <a:r>
              <a:rPr sz="2600" spc="-45" dirty="0">
                <a:solidFill>
                  <a:srgbClr val="252525"/>
                </a:solidFill>
                <a:latin typeface="Tahoma"/>
                <a:cs typeface="Tahoma"/>
              </a:rPr>
              <a:t>Introduction</a:t>
            </a:r>
            <a:r>
              <a:rPr sz="26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30" dirty="0">
                <a:solidFill>
                  <a:srgbClr val="252525"/>
                </a:solidFill>
                <a:latin typeface="Tahoma"/>
                <a:cs typeface="Tahoma"/>
              </a:rPr>
              <a:t>to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buses,</a:t>
            </a:r>
            <a:r>
              <a:rPr sz="26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bus</a:t>
            </a:r>
            <a:r>
              <a:rPr sz="26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types,</a:t>
            </a:r>
            <a:r>
              <a:rPr sz="2600" spc="-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6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connection</a:t>
            </a:r>
            <a:r>
              <a:rPr sz="26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25" dirty="0">
                <a:solidFill>
                  <a:srgbClr val="252525"/>
                </a:solidFill>
                <a:latin typeface="Tahoma"/>
                <a:cs typeface="Tahoma"/>
              </a:rPr>
              <a:t>I/O </a:t>
            </a:r>
            <a:r>
              <a:rPr sz="2600" spc="55" dirty="0">
                <a:solidFill>
                  <a:srgbClr val="252525"/>
                </a:solidFill>
                <a:latin typeface="Tahoma"/>
                <a:cs typeface="Tahoma"/>
              </a:rPr>
              <a:t>devices</a:t>
            </a:r>
            <a:r>
              <a:rPr sz="26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252525"/>
                </a:solidFill>
                <a:latin typeface="Tahoma"/>
                <a:cs typeface="Tahoma"/>
              </a:rPr>
              <a:t>to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254" dirty="0">
                <a:solidFill>
                  <a:srgbClr val="252525"/>
                </a:solidFill>
                <a:latin typeface="Tahoma"/>
                <a:cs typeface="Tahoma"/>
              </a:rPr>
              <a:t>CPU</a:t>
            </a:r>
            <a:r>
              <a:rPr sz="26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600" spc="-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-10" dirty="0">
                <a:solidFill>
                  <a:srgbClr val="252525"/>
                </a:solidFill>
                <a:latin typeface="Tahoma"/>
                <a:cs typeface="Tahoma"/>
              </a:rPr>
              <a:t>memory,</a:t>
            </a:r>
            <a:r>
              <a:rPr sz="26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114" dirty="0">
                <a:solidFill>
                  <a:srgbClr val="252525"/>
                </a:solidFill>
                <a:latin typeface="Tahoma"/>
                <a:cs typeface="Tahoma"/>
              </a:rPr>
              <a:t>PCI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dirty="0">
                <a:solidFill>
                  <a:srgbClr val="252525"/>
                </a:solidFill>
                <a:latin typeface="Tahoma"/>
                <a:cs typeface="Tahoma"/>
              </a:rPr>
              <a:t>and</a:t>
            </a:r>
            <a:r>
              <a:rPr sz="26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600" spc="125" dirty="0">
                <a:solidFill>
                  <a:srgbClr val="252525"/>
                </a:solidFill>
                <a:latin typeface="Tahoma"/>
                <a:cs typeface="Tahoma"/>
              </a:rPr>
              <a:t>SCSI</a:t>
            </a:r>
            <a:endParaRPr sz="26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306195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10" dirty="0"/>
              <a:t>Organization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1205890" y="1193037"/>
            <a:ext cx="8929370" cy="3140710"/>
          </a:xfrm>
          <a:prstGeom prst="rect">
            <a:avLst/>
          </a:prstGeom>
        </p:spPr>
        <p:txBody>
          <a:bodyPr vert="horz" wrap="square" lIns="0" tIns="60960" rIns="0" bIns="0" rtlCol="0">
            <a:spAutoFit/>
          </a:bodyPr>
          <a:lstStyle/>
          <a:p>
            <a:pPr marL="233679" marR="777240" indent="-221615">
              <a:lnSpc>
                <a:spcPts val="3020"/>
              </a:lnSpc>
              <a:spcBef>
                <a:spcPts val="480"/>
              </a:spcBef>
              <a:buChar char="•"/>
              <a:tabLst>
                <a:tab pos="469265" algn="l"/>
              </a:tabLst>
            </a:pP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Architecture</a:t>
            </a:r>
            <a:r>
              <a:rPr sz="2800" b="1" spc="-10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spc="-45" dirty="0">
                <a:solidFill>
                  <a:srgbClr val="252525"/>
                </a:solidFill>
                <a:latin typeface="Tahoma"/>
                <a:cs typeface="Tahoma"/>
              </a:rPr>
              <a:t>:Attributes</a:t>
            </a:r>
            <a:r>
              <a:rPr sz="2800" spc="-15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visible</a:t>
            </a:r>
            <a:r>
              <a:rPr sz="2800" spc="-1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30" dirty="0">
                <a:solidFill>
                  <a:srgbClr val="252525"/>
                </a:solidFill>
                <a:latin typeface="Tahoma"/>
                <a:cs typeface="Tahoma"/>
              </a:rPr>
              <a:t>to</a:t>
            </a:r>
            <a:r>
              <a:rPr sz="2800" spc="-1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800" spc="-1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programmer 	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–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252525"/>
                </a:solidFill>
                <a:latin typeface="Tahoma"/>
                <a:cs typeface="Tahoma"/>
              </a:rPr>
              <a:t>Instruction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set,</a:t>
            </a:r>
            <a:r>
              <a:rPr sz="2800" spc="-1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number</a:t>
            </a:r>
            <a:r>
              <a:rPr sz="28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8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bits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used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252525"/>
                </a:solidFill>
                <a:latin typeface="Tahoma"/>
                <a:cs typeface="Tahoma"/>
              </a:rPr>
              <a:t>for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Tahoma"/>
                <a:cs typeface="Tahoma"/>
              </a:rPr>
              <a:t>data</a:t>
            </a:r>
            <a:endParaRPr sz="2800">
              <a:latin typeface="Tahoma"/>
              <a:cs typeface="Tahoma"/>
            </a:endParaRPr>
          </a:p>
          <a:p>
            <a:pPr marL="12700">
              <a:lnSpc>
                <a:spcPts val="2985"/>
              </a:lnSpc>
            </a:pP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representation,</a:t>
            </a:r>
            <a:r>
              <a:rPr sz="2800" spc="6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45" dirty="0">
                <a:solidFill>
                  <a:srgbClr val="252525"/>
                </a:solidFill>
                <a:latin typeface="Tahoma"/>
                <a:cs typeface="Tahoma"/>
              </a:rPr>
              <a:t>I/O</a:t>
            </a:r>
            <a:r>
              <a:rPr sz="2800" spc="6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mechanisms,</a:t>
            </a:r>
            <a:r>
              <a:rPr sz="2800" spc="8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addressing</a:t>
            </a:r>
            <a:r>
              <a:rPr sz="2800" spc="7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techniques.</a:t>
            </a:r>
            <a:endParaRPr sz="2800">
              <a:latin typeface="Tahoma"/>
              <a:cs typeface="Tahoma"/>
            </a:endParaRPr>
          </a:p>
          <a:p>
            <a:pPr marL="234315" indent="-221615">
              <a:lnSpc>
                <a:spcPts val="3190"/>
              </a:lnSpc>
              <a:spcBef>
                <a:spcPts val="2690"/>
              </a:spcBef>
              <a:buChar char="•"/>
              <a:tabLst>
                <a:tab pos="234315" algn="l"/>
              </a:tabLst>
            </a:pP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Organization</a:t>
            </a:r>
            <a:r>
              <a:rPr sz="2800" b="1" spc="-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252525"/>
                </a:solidFill>
                <a:latin typeface="Arial"/>
                <a:cs typeface="Arial"/>
              </a:rPr>
              <a:t>:</a:t>
            </a:r>
            <a:r>
              <a:rPr sz="2800" b="1" spc="-15" dirty="0">
                <a:solidFill>
                  <a:srgbClr val="252525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How</a:t>
            </a:r>
            <a:r>
              <a:rPr sz="2800" spc="-9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features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are</a:t>
            </a:r>
            <a:r>
              <a:rPr sz="2800" spc="-1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implemented</a:t>
            </a:r>
            <a:endParaRPr sz="2800">
              <a:latin typeface="Tahoma"/>
              <a:cs typeface="Tahoma"/>
            </a:endParaRPr>
          </a:p>
          <a:p>
            <a:pPr marL="309245" indent="-296545">
              <a:lnSpc>
                <a:spcPts val="3025"/>
              </a:lnSpc>
              <a:buFont typeface="Arial"/>
              <a:buChar char="–"/>
              <a:tabLst>
                <a:tab pos="309245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Control</a:t>
            </a:r>
            <a:r>
              <a:rPr sz="2800" spc="-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signals,</a:t>
            </a:r>
            <a:r>
              <a:rPr sz="2800" spc="-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interfaces,</a:t>
            </a:r>
            <a:r>
              <a:rPr sz="2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memory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technology.</a:t>
            </a:r>
            <a:endParaRPr sz="2800">
              <a:latin typeface="Tahoma"/>
              <a:cs typeface="Tahoma"/>
            </a:endParaRPr>
          </a:p>
          <a:p>
            <a:pPr marL="12700" marR="461645" indent="296545">
              <a:lnSpc>
                <a:spcPts val="3030"/>
              </a:lnSpc>
              <a:spcBef>
                <a:spcPts val="209"/>
              </a:spcBef>
              <a:buChar char="–"/>
              <a:tabLst>
                <a:tab pos="309245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e.g.</a:t>
            </a:r>
            <a:r>
              <a:rPr sz="2800" spc="-1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2800" spc="-1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there</a:t>
            </a:r>
            <a:r>
              <a:rPr sz="2800" spc="-1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252525"/>
                </a:solidFill>
                <a:latin typeface="Tahoma"/>
                <a:cs typeface="Tahoma"/>
              </a:rPr>
              <a:t>a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hardware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multiply</a:t>
            </a:r>
            <a:r>
              <a:rPr sz="2800" spc="-1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40" dirty="0">
                <a:solidFill>
                  <a:srgbClr val="252525"/>
                </a:solidFill>
                <a:latin typeface="Tahoma"/>
                <a:cs typeface="Tahoma"/>
              </a:rPr>
              <a:t>unit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or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2800" spc="-1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75" dirty="0">
                <a:solidFill>
                  <a:srgbClr val="252525"/>
                </a:solidFill>
                <a:latin typeface="Tahoma"/>
                <a:cs typeface="Tahoma"/>
              </a:rPr>
              <a:t>it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done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by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repeated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addition?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306195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10" dirty="0"/>
              <a:t>Organization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8982" y="1155852"/>
            <a:ext cx="8804275" cy="322643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780"/>
              </a:spcBef>
              <a:buChar char="●"/>
              <a:tabLst>
                <a:tab pos="4191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Architecture</a:t>
            </a:r>
            <a:r>
              <a:rPr sz="2800" spc="-5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involves</a:t>
            </a:r>
            <a:r>
              <a:rPr sz="2800" spc="-4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40" dirty="0">
                <a:solidFill>
                  <a:srgbClr val="252525"/>
                </a:solidFill>
                <a:latin typeface="Tahoma"/>
                <a:cs typeface="Tahoma"/>
              </a:rPr>
              <a:t>Logic</a:t>
            </a:r>
            <a:endParaRPr sz="2800">
              <a:latin typeface="Tahoma"/>
              <a:cs typeface="Tahoma"/>
            </a:endParaRPr>
          </a:p>
          <a:p>
            <a:pPr marL="12700" marR="5080">
              <a:lnSpc>
                <a:spcPts val="5040"/>
              </a:lnSpc>
              <a:spcBef>
                <a:spcPts val="445"/>
              </a:spcBef>
            </a:pPr>
            <a:r>
              <a:rPr sz="2800" spc="-50" dirty="0">
                <a:solidFill>
                  <a:srgbClr val="252525"/>
                </a:solidFill>
                <a:latin typeface="Tahoma"/>
                <a:cs typeface="Tahoma"/>
              </a:rPr>
              <a:t>(Instruction</a:t>
            </a:r>
            <a:r>
              <a:rPr sz="2800" spc="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sets,</a:t>
            </a:r>
            <a:r>
              <a:rPr sz="2800" spc="-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Addressing</a:t>
            </a:r>
            <a:r>
              <a:rPr sz="2800" spc="3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modes,</a:t>
            </a:r>
            <a:r>
              <a:rPr sz="2800" spc="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Data</a:t>
            </a:r>
            <a:r>
              <a:rPr sz="2800" spc="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types,</a:t>
            </a:r>
            <a:r>
              <a:rPr sz="2800" spc="1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85" dirty="0">
                <a:solidFill>
                  <a:srgbClr val="252525"/>
                </a:solidFill>
                <a:latin typeface="Tahoma"/>
                <a:cs typeface="Tahoma"/>
              </a:rPr>
              <a:t>Cache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optimization)</a:t>
            </a:r>
            <a:endParaRPr sz="2800">
              <a:latin typeface="Tahoma"/>
              <a:cs typeface="Tahoma"/>
            </a:endParaRPr>
          </a:p>
          <a:p>
            <a:pPr marL="12700" marR="1437640" indent="406400">
              <a:lnSpc>
                <a:spcPts val="5040"/>
              </a:lnSpc>
              <a:buChar char="●"/>
              <a:tabLst>
                <a:tab pos="4191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Organization</a:t>
            </a:r>
            <a:r>
              <a:rPr sz="2800" spc="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involves</a:t>
            </a:r>
            <a:r>
              <a:rPr sz="2800" spc="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75" dirty="0">
                <a:solidFill>
                  <a:srgbClr val="252525"/>
                </a:solidFill>
                <a:latin typeface="Tahoma"/>
                <a:cs typeface="Tahoma"/>
              </a:rPr>
              <a:t>Physical</a:t>
            </a:r>
            <a:r>
              <a:rPr sz="2800" spc="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Components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(Circuit</a:t>
            </a:r>
            <a:r>
              <a:rPr sz="2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design,</a:t>
            </a:r>
            <a:r>
              <a:rPr sz="2800" spc="-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Adders,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45" dirty="0">
                <a:solidFill>
                  <a:srgbClr val="252525"/>
                </a:solidFill>
                <a:latin typeface="Tahoma"/>
                <a:cs typeface="Tahoma"/>
              </a:rPr>
              <a:t>Signals,</a:t>
            </a:r>
            <a:r>
              <a:rPr sz="2800" spc="-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Peripherals)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306195">
              <a:lnSpc>
                <a:spcPct val="100000"/>
              </a:lnSpc>
              <a:spcBef>
                <a:spcPts val="100"/>
              </a:spcBef>
            </a:pPr>
            <a:r>
              <a:rPr dirty="0"/>
              <a:t>Architecture</a:t>
            </a:r>
            <a:r>
              <a:rPr spc="-165" dirty="0"/>
              <a:t> </a:t>
            </a:r>
            <a:r>
              <a:rPr dirty="0"/>
              <a:t>&amp;</a:t>
            </a:r>
            <a:r>
              <a:rPr spc="-175" dirty="0"/>
              <a:t> </a:t>
            </a:r>
            <a:r>
              <a:rPr spc="-10" dirty="0"/>
              <a:t>Organization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405765" indent="-393065">
              <a:lnSpc>
                <a:spcPct val="100000"/>
              </a:lnSpc>
              <a:spcBef>
                <a:spcPts val="105"/>
              </a:spcBef>
              <a:buChar char="●"/>
              <a:tabLst>
                <a:tab pos="405765" algn="l"/>
              </a:tabLst>
            </a:pPr>
            <a:r>
              <a:rPr dirty="0"/>
              <a:t>All</a:t>
            </a:r>
            <a:r>
              <a:rPr spc="-70" dirty="0"/>
              <a:t> </a:t>
            </a:r>
            <a:r>
              <a:rPr spc="-75" dirty="0"/>
              <a:t>Intel</a:t>
            </a:r>
            <a:r>
              <a:rPr spc="-65" dirty="0"/>
              <a:t> </a:t>
            </a:r>
            <a:r>
              <a:rPr dirty="0"/>
              <a:t>x86</a:t>
            </a:r>
            <a:r>
              <a:rPr spc="-85" dirty="0"/>
              <a:t> </a:t>
            </a:r>
            <a:r>
              <a:rPr spc="-10" dirty="0"/>
              <a:t>family</a:t>
            </a:r>
            <a:r>
              <a:rPr spc="-80" dirty="0"/>
              <a:t> </a:t>
            </a:r>
            <a:r>
              <a:rPr dirty="0"/>
              <a:t>share</a:t>
            </a:r>
            <a:r>
              <a:rPr spc="-8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55" dirty="0"/>
              <a:t>same</a:t>
            </a:r>
            <a:r>
              <a:rPr spc="-80" dirty="0"/>
              <a:t> </a:t>
            </a:r>
            <a:r>
              <a:rPr spc="55" dirty="0"/>
              <a:t>basic</a:t>
            </a:r>
            <a:r>
              <a:rPr spc="-90" dirty="0"/>
              <a:t> </a:t>
            </a:r>
            <a:r>
              <a:rPr spc="-10" dirty="0"/>
              <a:t>architecture</a:t>
            </a:r>
          </a:p>
          <a:p>
            <a:pPr marL="405765" indent="-393065">
              <a:lnSpc>
                <a:spcPct val="100000"/>
              </a:lnSpc>
              <a:spcBef>
                <a:spcPts val="3120"/>
              </a:spcBef>
              <a:buChar char="●"/>
              <a:tabLst>
                <a:tab pos="405765" algn="l"/>
              </a:tabLst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IBM</a:t>
            </a:r>
            <a:r>
              <a:rPr spc="-45" dirty="0"/>
              <a:t> </a:t>
            </a:r>
            <a:r>
              <a:rPr dirty="0"/>
              <a:t>System/370</a:t>
            </a:r>
            <a:r>
              <a:rPr spc="-65" dirty="0"/>
              <a:t> </a:t>
            </a:r>
            <a:r>
              <a:rPr spc="-10" dirty="0"/>
              <a:t>family</a:t>
            </a:r>
            <a:r>
              <a:rPr spc="-45" dirty="0"/>
              <a:t> </a:t>
            </a:r>
            <a:r>
              <a:rPr dirty="0"/>
              <a:t>share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spc="55" dirty="0"/>
              <a:t>same</a:t>
            </a:r>
            <a:r>
              <a:rPr spc="-55" dirty="0"/>
              <a:t> </a:t>
            </a:r>
            <a:r>
              <a:rPr spc="55" dirty="0"/>
              <a:t>basic</a:t>
            </a:r>
            <a:r>
              <a:rPr spc="-65" dirty="0"/>
              <a:t> </a:t>
            </a:r>
            <a:r>
              <a:rPr spc="-10" dirty="0"/>
              <a:t>architecture</a:t>
            </a:r>
          </a:p>
          <a:p>
            <a:pPr marL="405765" indent="-393065">
              <a:lnSpc>
                <a:spcPct val="100000"/>
              </a:lnSpc>
              <a:spcBef>
                <a:spcPts val="3125"/>
              </a:spcBef>
              <a:buChar char="●"/>
              <a:tabLst>
                <a:tab pos="405765" algn="l"/>
              </a:tabLst>
            </a:pP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gives</a:t>
            </a:r>
            <a:r>
              <a:rPr spc="-40" dirty="0"/>
              <a:t> </a:t>
            </a:r>
            <a:r>
              <a:rPr spc="50" dirty="0"/>
              <a:t>code</a:t>
            </a:r>
            <a:r>
              <a:rPr spc="-15" dirty="0"/>
              <a:t> </a:t>
            </a:r>
            <a:r>
              <a:rPr spc="-20" dirty="0"/>
              <a:t>compatibility</a:t>
            </a:r>
            <a:r>
              <a:rPr spc="-25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dirty="0"/>
              <a:t>At</a:t>
            </a:r>
            <a:r>
              <a:rPr spc="-20" dirty="0"/>
              <a:t> </a:t>
            </a:r>
            <a:r>
              <a:rPr dirty="0"/>
              <a:t>least</a:t>
            </a:r>
            <a:r>
              <a:rPr spc="-40" dirty="0"/>
              <a:t> </a:t>
            </a:r>
            <a:r>
              <a:rPr spc="-10" dirty="0"/>
              <a:t>backwards</a:t>
            </a:r>
          </a:p>
          <a:p>
            <a:pPr marL="405765" indent="-393065">
              <a:lnSpc>
                <a:spcPct val="100000"/>
              </a:lnSpc>
              <a:spcBef>
                <a:spcPts val="3120"/>
              </a:spcBef>
              <a:buChar char="●"/>
              <a:tabLst>
                <a:tab pos="405765" algn="l"/>
              </a:tabLst>
            </a:pPr>
            <a:r>
              <a:rPr dirty="0"/>
              <a:t>Organization</a:t>
            </a:r>
            <a:r>
              <a:rPr spc="-105" dirty="0"/>
              <a:t> </a:t>
            </a:r>
            <a:r>
              <a:rPr dirty="0"/>
              <a:t>differs</a:t>
            </a:r>
            <a:r>
              <a:rPr spc="-85" dirty="0"/>
              <a:t> </a:t>
            </a:r>
            <a:r>
              <a:rPr dirty="0"/>
              <a:t>between</a:t>
            </a:r>
            <a:r>
              <a:rPr spc="-95" dirty="0"/>
              <a:t> </a:t>
            </a:r>
            <a:r>
              <a:rPr spc="-25" dirty="0"/>
              <a:t>different</a:t>
            </a:r>
            <a:r>
              <a:rPr spc="-85" dirty="0"/>
              <a:t> </a:t>
            </a:r>
            <a:r>
              <a:rPr spc="-10" dirty="0"/>
              <a:t>versions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472565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-10" dirty="0"/>
              <a:t>Computer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805992" y="857402"/>
            <a:ext cx="3607435" cy="3867150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80"/>
              </a:spcBef>
            </a:pP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Parameters</a:t>
            </a:r>
            <a:endParaRPr sz="28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685"/>
              </a:spcBef>
              <a:buFont typeface="Wingdings"/>
              <a:buChar char=""/>
              <a:tabLst>
                <a:tab pos="469265" algn="l"/>
              </a:tabLst>
            </a:pPr>
            <a:r>
              <a:rPr sz="2800" spc="80" dirty="0">
                <a:solidFill>
                  <a:srgbClr val="252525"/>
                </a:solidFill>
                <a:latin typeface="Tahoma"/>
                <a:cs typeface="Tahoma"/>
              </a:rPr>
              <a:t>Clock</a:t>
            </a:r>
            <a:r>
              <a:rPr sz="2800" spc="-9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70" dirty="0">
                <a:solidFill>
                  <a:srgbClr val="252525"/>
                </a:solidFill>
                <a:latin typeface="Tahoma"/>
                <a:cs typeface="Tahoma"/>
              </a:rPr>
              <a:t>Speed</a:t>
            </a:r>
            <a:endParaRPr sz="28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69265" algn="l"/>
              </a:tabLst>
            </a:pPr>
            <a:r>
              <a:rPr sz="2800" spc="100" dirty="0">
                <a:solidFill>
                  <a:srgbClr val="252525"/>
                </a:solidFill>
                <a:latin typeface="Tahoma"/>
                <a:cs typeface="Tahoma"/>
              </a:rPr>
              <a:t>Bus</a:t>
            </a:r>
            <a:r>
              <a:rPr sz="2800" spc="-8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0" dirty="0">
                <a:solidFill>
                  <a:srgbClr val="252525"/>
                </a:solidFill>
                <a:latin typeface="Tahoma"/>
                <a:cs typeface="Tahoma"/>
              </a:rPr>
              <a:t>Width</a:t>
            </a:r>
            <a:endParaRPr sz="28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69265" algn="l"/>
              </a:tabLst>
            </a:pPr>
            <a:r>
              <a:rPr sz="2800" spc="105" dirty="0">
                <a:solidFill>
                  <a:srgbClr val="252525"/>
                </a:solidFill>
                <a:latin typeface="Tahoma"/>
                <a:cs typeface="Tahoma"/>
              </a:rPr>
              <a:t>MIPS</a:t>
            </a:r>
            <a:endParaRPr sz="28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69265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Power</a:t>
            </a:r>
            <a:r>
              <a:rPr sz="2800" spc="1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consumption</a:t>
            </a:r>
            <a:endParaRPr sz="2800">
              <a:latin typeface="Tahoma"/>
              <a:cs typeface="Tahoma"/>
            </a:endParaRPr>
          </a:p>
          <a:p>
            <a:pPr marL="469265" indent="-4565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469265" algn="l"/>
              </a:tabLst>
            </a:pPr>
            <a:r>
              <a:rPr sz="2800" spc="65" dirty="0">
                <a:solidFill>
                  <a:srgbClr val="252525"/>
                </a:solidFill>
                <a:latin typeface="Tahoma"/>
                <a:cs typeface="Tahoma"/>
              </a:rPr>
              <a:t>Price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447800">
              <a:lnSpc>
                <a:spcPct val="100000"/>
              </a:lnSpc>
              <a:spcBef>
                <a:spcPts val="100"/>
              </a:spcBef>
            </a:pPr>
            <a:r>
              <a:rPr dirty="0"/>
              <a:t>Performance</a:t>
            </a:r>
            <a:r>
              <a:rPr spc="-15" dirty="0"/>
              <a:t> </a:t>
            </a:r>
            <a:r>
              <a:rPr dirty="0"/>
              <a:t>of</a:t>
            </a:r>
            <a:r>
              <a:rPr spc="-25" dirty="0"/>
              <a:t> </a:t>
            </a:r>
            <a:r>
              <a:rPr spc="90" dirty="0"/>
              <a:t>Processor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781265"/>
            <a:ext cx="12192000" cy="6076950"/>
            <a:chOff x="0" y="781265"/>
            <a:chExt cx="12192000" cy="607695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59305" y="781265"/>
              <a:ext cx="9028684" cy="52618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791335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spc="-95" dirty="0"/>
              <a:t> </a:t>
            </a:r>
            <a:r>
              <a:rPr dirty="0"/>
              <a:t>and</a:t>
            </a:r>
            <a:r>
              <a:rPr spc="-105" dirty="0"/>
              <a:t> </a:t>
            </a:r>
            <a:r>
              <a:rPr spc="-10" dirty="0"/>
              <a:t>Function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798982" y="857402"/>
            <a:ext cx="10521950" cy="4373245"/>
          </a:xfrm>
          <a:prstGeom prst="rect">
            <a:avLst/>
          </a:prstGeom>
        </p:spPr>
        <p:txBody>
          <a:bodyPr vert="horz" wrap="square" lIns="0" tIns="226060" rIns="0" bIns="0" rtlCol="0">
            <a:spAutoFit/>
          </a:bodyPr>
          <a:lstStyle/>
          <a:p>
            <a:pPr marL="419100" indent="-406400">
              <a:lnSpc>
                <a:spcPct val="100000"/>
              </a:lnSpc>
              <a:spcBef>
                <a:spcPts val="1780"/>
              </a:spcBef>
              <a:buChar char="●"/>
              <a:tabLst>
                <a:tab pos="4191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Structure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2800" spc="-1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way</a:t>
            </a:r>
            <a:r>
              <a:rPr sz="28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in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which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components</a:t>
            </a:r>
            <a:r>
              <a:rPr sz="28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relate</a:t>
            </a:r>
            <a:r>
              <a:rPr sz="2800" spc="-114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35" dirty="0">
                <a:solidFill>
                  <a:srgbClr val="252525"/>
                </a:solidFill>
                <a:latin typeface="Tahoma"/>
                <a:cs typeface="Tahoma"/>
              </a:rPr>
              <a:t>to</a:t>
            </a:r>
            <a:r>
              <a:rPr sz="2800" spc="-1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55" dirty="0">
                <a:solidFill>
                  <a:srgbClr val="252525"/>
                </a:solidFill>
                <a:latin typeface="Tahoma"/>
                <a:cs typeface="Tahoma"/>
              </a:rPr>
              <a:t>each</a:t>
            </a:r>
            <a:r>
              <a:rPr sz="28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other</a:t>
            </a:r>
            <a:endParaRPr sz="2800">
              <a:latin typeface="Tahoma"/>
              <a:cs typeface="Tahoma"/>
            </a:endParaRPr>
          </a:p>
          <a:p>
            <a:pPr marL="419100" marR="5080" indent="-407034">
              <a:lnSpc>
                <a:spcPct val="150000"/>
              </a:lnSpc>
              <a:spcBef>
                <a:spcPts val="5"/>
              </a:spcBef>
              <a:buChar char="●"/>
              <a:tabLst>
                <a:tab pos="4191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Function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60" dirty="0">
                <a:solidFill>
                  <a:srgbClr val="252525"/>
                </a:solidFill>
                <a:latin typeface="Tahoma"/>
                <a:cs typeface="Tahoma"/>
              </a:rPr>
              <a:t>is</a:t>
            </a:r>
            <a:r>
              <a:rPr sz="2800" spc="-1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the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operation</a:t>
            </a:r>
            <a:r>
              <a:rPr sz="2800" spc="-10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800" spc="-13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individual</a:t>
            </a:r>
            <a:r>
              <a:rPr sz="28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components</a:t>
            </a:r>
            <a:r>
              <a:rPr sz="2800" spc="-1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105" dirty="0">
                <a:solidFill>
                  <a:srgbClr val="252525"/>
                </a:solidFill>
                <a:latin typeface="Tahoma"/>
                <a:cs typeface="Tahoma"/>
              </a:rPr>
              <a:t>as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part</a:t>
            </a:r>
            <a:r>
              <a:rPr sz="2800" spc="-12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of</a:t>
            </a:r>
            <a:r>
              <a:rPr sz="2800" spc="-12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25" dirty="0">
                <a:solidFill>
                  <a:srgbClr val="252525"/>
                </a:solidFill>
                <a:latin typeface="Tahoma"/>
                <a:cs typeface="Tahoma"/>
              </a:rPr>
              <a:t>the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structure</a:t>
            </a:r>
            <a:endParaRPr sz="2800">
              <a:latin typeface="Tahoma"/>
              <a:cs typeface="Tahoma"/>
            </a:endParaRPr>
          </a:p>
          <a:p>
            <a:pPr marL="419100" indent="-406400">
              <a:lnSpc>
                <a:spcPct val="100000"/>
              </a:lnSpc>
              <a:spcBef>
                <a:spcPts val="1680"/>
              </a:spcBef>
              <a:buChar char="●"/>
              <a:tabLst>
                <a:tab pos="4191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Computer</a:t>
            </a:r>
            <a:r>
              <a:rPr sz="2800" spc="45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Functions:</a:t>
            </a:r>
            <a:endParaRPr sz="2800">
              <a:latin typeface="Tahoma"/>
              <a:cs typeface="Tahoma"/>
            </a:endParaRPr>
          </a:p>
          <a:p>
            <a:pPr marL="1790700" lvl="1" indent="-407034">
              <a:lnSpc>
                <a:spcPct val="100000"/>
              </a:lnSpc>
              <a:spcBef>
                <a:spcPts val="625"/>
              </a:spcBef>
              <a:buChar char="○"/>
              <a:tabLst>
                <a:tab pos="17907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Data</a:t>
            </a:r>
            <a:r>
              <a:rPr sz="2800" spc="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processing</a:t>
            </a:r>
            <a:endParaRPr sz="2800">
              <a:latin typeface="Tahoma"/>
              <a:cs typeface="Tahoma"/>
            </a:endParaRPr>
          </a:p>
          <a:p>
            <a:pPr marL="1790700" lvl="1" indent="-407034">
              <a:lnSpc>
                <a:spcPct val="100000"/>
              </a:lnSpc>
              <a:buChar char="○"/>
              <a:tabLst>
                <a:tab pos="17907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Data</a:t>
            </a:r>
            <a:r>
              <a:rPr sz="2800" spc="10" dirty="0">
                <a:solidFill>
                  <a:srgbClr val="252525"/>
                </a:solidFill>
                <a:latin typeface="Tahoma"/>
                <a:cs typeface="Tahoma"/>
              </a:rPr>
              <a:t>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storage</a:t>
            </a:r>
            <a:endParaRPr sz="2800">
              <a:latin typeface="Tahoma"/>
              <a:cs typeface="Tahoma"/>
            </a:endParaRPr>
          </a:p>
          <a:p>
            <a:pPr marL="1790700" lvl="1" indent="-407034">
              <a:lnSpc>
                <a:spcPct val="100000"/>
              </a:lnSpc>
              <a:spcBef>
                <a:spcPts val="5"/>
              </a:spcBef>
              <a:buChar char="○"/>
              <a:tabLst>
                <a:tab pos="1790700" algn="l"/>
              </a:tabLst>
            </a:pPr>
            <a:r>
              <a:rPr sz="2800" dirty="0">
                <a:solidFill>
                  <a:srgbClr val="252525"/>
                </a:solidFill>
                <a:latin typeface="Tahoma"/>
                <a:cs typeface="Tahoma"/>
              </a:rPr>
              <a:t>Data </a:t>
            </a: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movement</a:t>
            </a:r>
            <a:endParaRPr sz="2800">
              <a:latin typeface="Tahoma"/>
              <a:cs typeface="Tahoma"/>
            </a:endParaRPr>
          </a:p>
          <a:p>
            <a:pPr marL="1790700" lvl="1" indent="-407034">
              <a:lnSpc>
                <a:spcPct val="100000"/>
              </a:lnSpc>
              <a:buChar char="○"/>
              <a:tabLst>
                <a:tab pos="1790700" algn="l"/>
              </a:tabLst>
            </a:pPr>
            <a:r>
              <a:rPr sz="2800" spc="-10" dirty="0">
                <a:solidFill>
                  <a:srgbClr val="252525"/>
                </a:solidFill>
                <a:latin typeface="Tahoma"/>
                <a:cs typeface="Tahoma"/>
              </a:rPr>
              <a:t>Control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79040">
              <a:lnSpc>
                <a:spcPct val="100000"/>
              </a:lnSpc>
              <a:spcBef>
                <a:spcPts val="100"/>
              </a:spcBef>
            </a:pPr>
            <a:r>
              <a:rPr dirty="0"/>
              <a:t>Functional</a:t>
            </a:r>
            <a:r>
              <a:rPr spc="145" dirty="0"/>
              <a:t> </a:t>
            </a:r>
            <a:r>
              <a:rPr spc="30" dirty="0"/>
              <a:t>View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76200" y="739140"/>
            <a:ext cx="12192000" cy="6118860"/>
            <a:chOff x="0" y="739140"/>
            <a:chExt cx="12192000" cy="611886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4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777488" y="739140"/>
              <a:ext cx="4592446" cy="5769737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2489200">
              <a:lnSpc>
                <a:spcPct val="100000"/>
              </a:lnSpc>
              <a:spcBef>
                <a:spcPts val="100"/>
              </a:spcBef>
            </a:pPr>
            <a:r>
              <a:rPr dirty="0"/>
              <a:t>Data</a:t>
            </a:r>
            <a:r>
              <a:rPr spc="5" dirty="0"/>
              <a:t> </a:t>
            </a:r>
            <a:r>
              <a:rPr spc="-10" dirty="0"/>
              <a:t>Movement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769289"/>
            <a:ext cx="12192000" cy="6089015"/>
            <a:chOff x="0" y="769289"/>
            <a:chExt cx="12192000" cy="60890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4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41370" y="769289"/>
              <a:ext cx="6808724" cy="48412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663064">
              <a:lnSpc>
                <a:spcPct val="100000"/>
              </a:lnSpc>
              <a:spcBef>
                <a:spcPts val="100"/>
              </a:spcBef>
            </a:pPr>
            <a:r>
              <a:rPr spc="45" dirty="0"/>
              <a:t>Storage</a:t>
            </a:r>
            <a:r>
              <a:rPr spc="-80" dirty="0"/>
              <a:t> </a:t>
            </a:r>
            <a:r>
              <a:rPr dirty="0"/>
              <a:t>and</a:t>
            </a:r>
            <a:r>
              <a:rPr spc="-60" dirty="0"/>
              <a:t> </a:t>
            </a:r>
            <a:r>
              <a:rPr spc="75" dirty="0"/>
              <a:t>Processing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5440819"/>
            <a:ext cx="12192000" cy="1417320"/>
            <a:chOff x="0" y="5440819"/>
            <a:chExt cx="12192000" cy="141732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13535" y="913638"/>
            <a:ext cx="3941826" cy="428650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212204" y="913638"/>
            <a:ext cx="4488560" cy="427498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04901"/>
            <a:ext cx="12192000" cy="6653530"/>
            <a:chOff x="0" y="204901"/>
            <a:chExt cx="12192000" cy="665353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4"/>
              <a:ext cx="12192000" cy="365123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42107" y="204901"/>
              <a:ext cx="5984367" cy="540562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97993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spc="-100" dirty="0"/>
              <a:t> </a:t>
            </a:r>
            <a:r>
              <a:rPr spc="-285" dirty="0"/>
              <a:t>:</a:t>
            </a:r>
            <a:r>
              <a:rPr spc="-100" dirty="0"/>
              <a:t> </a:t>
            </a:r>
            <a:r>
              <a:rPr dirty="0"/>
              <a:t>Top</a:t>
            </a:r>
            <a:r>
              <a:rPr spc="-100" dirty="0"/>
              <a:t> </a:t>
            </a:r>
            <a:r>
              <a:rPr spc="50" dirty="0"/>
              <a:t>Level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031113"/>
            <a:ext cx="12192000" cy="5827395"/>
            <a:chOff x="0" y="1031113"/>
            <a:chExt cx="12192000" cy="58273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30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389885" y="1031113"/>
              <a:ext cx="8047354" cy="479577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584200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spc="-75" dirty="0"/>
              <a:t> </a:t>
            </a:r>
            <a:r>
              <a:rPr spc="-285" dirty="0"/>
              <a:t>:</a:t>
            </a:r>
            <a:r>
              <a:rPr spc="-75" dirty="0"/>
              <a:t> </a:t>
            </a:r>
            <a:r>
              <a:rPr dirty="0"/>
              <a:t>Central</a:t>
            </a:r>
            <a:r>
              <a:rPr spc="-70" dirty="0"/>
              <a:t> </a:t>
            </a:r>
            <a:r>
              <a:rPr spc="75" dirty="0"/>
              <a:t>Processing</a:t>
            </a:r>
            <a:r>
              <a:rPr spc="-100" dirty="0"/>
              <a:t> </a:t>
            </a:r>
            <a:r>
              <a:rPr spc="-20" dirty="0"/>
              <a:t>Unit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913638"/>
            <a:ext cx="12192000" cy="5944870"/>
            <a:chOff x="0" y="913638"/>
            <a:chExt cx="12192000" cy="59448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30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609342" y="913638"/>
              <a:ext cx="7723758" cy="452716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1777364">
              <a:lnSpc>
                <a:spcPct val="100000"/>
              </a:lnSpc>
              <a:spcBef>
                <a:spcPts val="100"/>
              </a:spcBef>
            </a:pPr>
            <a:r>
              <a:rPr dirty="0"/>
              <a:t>Structure</a:t>
            </a:r>
            <a:r>
              <a:rPr spc="-110" dirty="0"/>
              <a:t> </a:t>
            </a:r>
            <a:r>
              <a:rPr spc="-285" dirty="0"/>
              <a:t>:</a:t>
            </a:r>
            <a:r>
              <a:rPr spc="-110" dirty="0"/>
              <a:t> </a:t>
            </a:r>
            <a:r>
              <a:rPr dirty="0"/>
              <a:t>Control</a:t>
            </a:r>
            <a:r>
              <a:rPr spc="-110" dirty="0"/>
              <a:t> </a:t>
            </a:r>
            <a:r>
              <a:rPr spc="-20" dirty="0"/>
              <a:t>Unit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821563"/>
            <a:ext cx="12192000" cy="6036945"/>
            <a:chOff x="0" y="821563"/>
            <a:chExt cx="12192000" cy="603694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30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407539" y="821563"/>
              <a:ext cx="7893050" cy="461924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3441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Recap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048766"/>
            <a:ext cx="12192000" cy="5809615"/>
            <a:chOff x="0" y="1048766"/>
            <a:chExt cx="12192000" cy="580961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860039" y="1048766"/>
              <a:ext cx="6803390" cy="4392040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3441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Recap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728319"/>
            <a:ext cx="12192000" cy="6130290"/>
            <a:chOff x="0" y="728319"/>
            <a:chExt cx="12192000" cy="613029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28391" y="728319"/>
              <a:ext cx="6290309" cy="5451729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04723" rIns="0" bIns="0" rtlCol="0">
            <a:spAutoFit/>
          </a:bodyPr>
          <a:lstStyle/>
          <a:p>
            <a:pPr marL="3441700">
              <a:lnSpc>
                <a:spcPct val="100000"/>
              </a:lnSpc>
              <a:spcBef>
                <a:spcPts val="100"/>
              </a:spcBef>
            </a:pPr>
            <a:r>
              <a:rPr spc="120" dirty="0"/>
              <a:t>Recap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1066012"/>
            <a:ext cx="12192000" cy="5792470"/>
            <a:chOff x="0" y="1066012"/>
            <a:chExt cx="12192000" cy="579247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6492875"/>
              <a:ext cx="12192000" cy="365123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6332448"/>
              <a:ext cx="9288436" cy="17640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28401" y="5610529"/>
              <a:ext cx="968400" cy="7218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3260" y="5440819"/>
              <a:ext cx="3172492" cy="81142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518153" y="1066012"/>
              <a:ext cx="5559171" cy="51140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132</TotalTime>
  <Words>365</Words>
  <Application>Microsoft Office PowerPoint</Application>
  <PresentationFormat>Widescreen</PresentationFormat>
  <Paragraphs>60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Tahoma</vt:lpstr>
      <vt:lpstr>Trebuchet MS</vt:lpstr>
      <vt:lpstr>Wingdings</vt:lpstr>
      <vt:lpstr>Office Theme</vt:lpstr>
      <vt:lpstr>Computer Organization and Architecture</vt:lpstr>
      <vt:lpstr>Computer Organization and Architecture</vt:lpstr>
      <vt:lpstr>Module 1</vt:lpstr>
      <vt:lpstr>Architecture &amp; Organization</vt:lpstr>
      <vt:lpstr>Architecture &amp; Organization</vt:lpstr>
      <vt:lpstr>Architecture &amp; Organization</vt:lpstr>
      <vt:lpstr>Performance of Computer</vt:lpstr>
      <vt:lpstr>Performance of Processor</vt:lpstr>
      <vt:lpstr>Structure and Function</vt:lpstr>
      <vt:lpstr>Functional View</vt:lpstr>
      <vt:lpstr>Data Movement</vt:lpstr>
      <vt:lpstr>Storage and Processing</vt:lpstr>
      <vt:lpstr>PowerPoint Presentation</vt:lpstr>
      <vt:lpstr>Structure : Top Level</vt:lpstr>
      <vt:lpstr>Structure : Central Processing Unit</vt:lpstr>
      <vt:lpstr>Structure : Control Unit</vt:lpstr>
      <vt:lpstr>Recap</vt:lpstr>
      <vt:lpstr>Recap</vt:lpstr>
      <vt:lpstr>Recap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Computer Organization and Architecture</dc:title>
  <dc:creator>Aditi  Rajani</dc:creator>
  <cp:lastModifiedBy>SAISH KORGAONKAR</cp:lastModifiedBy>
  <cp:revision>1</cp:revision>
  <dcterms:created xsi:type="dcterms:W3CDTF">2024-07-22T10:45:15Z</dcterms:created>
  <dcterms:modified xsi:type="dcterms:W3CDTF">2024-09-26T03:22:07Z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2023-07-18T00:00:00Z</vt:filetime>
  </property>
  <property fmtid="{D5CDD505-2E9C-101B-9397-08002B2CF9AE}" pid="3" name="Creator">
    <vt:lpwstr>Microsoft® PowerPoint® 2010</vt:lpwstr>
  </property>
  <property fmtid="{D5CDD505-2E9C-101B-9397-08002B2CF9AE}" pid="4" name="LastSaved">
    <vt:filetime>2024-07-22T00:00:00Z</vt:filetime>
  </property>
  <property fmtid="{D5CDD505-2E9C-101B-9397-08002B2CF9AE}" pid="5" name="Producer">
    <vt:lpwstr>Microsoft® PowerPoint® 2010</vt:lpwstr>
  </property>
</Properties>
</file>
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332" r:id="rId3"/>
    <p:sldId id="318" r:id="rId4"/>
    <p:sldId id="305" r:id="rId5"/>
    <p:sldId id="355" r:id="rId6"/>
    <p:sldId id="262" r:id="rId7"/>
    <p:sldId id="356" r:id="rId8"/>
    <p:sldId id="357" r:id="rId9"/>
    <p:sldId id="306" r:id="rId10"/>
    <p:sldId id="260" r:id="rId11"/>
    <p:sldId id="319" r:id="rId12"/>
    <p:sldId id="257" r:id="rId13"/>
    <p:sldId id="307" r:id="rId14"/>
    <p:sldId id="382" r:id="rId15"/>
    <p:sldId id="261" r:id="rId16"/>
    <p:sldId id="320" r:id="rId17"/>
    <p:sldId id="258" r:id="rId18"/>
    <p:sldId id="321" r:id="rId19"/>
    <p:sldId id="259" r:id="rId20"/>
    <p:sldId id="342" r:id="rId21"/>
    <p:sldId id="344" r:id="rId22"/>
    <p:sldId id="343" r:id="rId23"/>
    <p:sldId id="345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5730" autoAdjust="0"/>
  </p:normalViewPr>
  <p:slideViewPr>
    <p:cSldViewPr>
      <p:cViewPr>
        <p:scale>
          <a:sx n="70" d="100"/>
          <a:sy n="70" d="100"/>
        </p:scale>
        <p:origin x="-1156" y="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DA1AF-E95E-4B32-A40C-9C90E2F1E3F1}" type="datetimeFigureOut">
              <a:rPr lang="en-IN" smtClean="0"/>
              <a:t>23-07-2024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ABAE7C-2912-4FA5-91F2-18403500A0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926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95FBCFD6-14AA-4539-8BEC-D08F0543DDEF}" type="datetime1">
              <a:rPr lang="en-IN" smtClean="0"/>
              <a:t>23-07-2024</a:t>
            </a:fld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0B929-E354-432E-8221-6763CE0EAF3E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FA724-BC02-4785-98F1-26F228807165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05E0D-5B10-466B-A3E7-80501D82B095}" type="datetime1">
              <a:rPr lang="en-IN" smtClean="0"/>
              <a:t>23-07-2024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64789-320F-46D3-AB20-1B61A6EDCF91}" type="datetime1">
              <a:rPr lang="en-IN" smtClean="0"/>
              <a:t>23-07-2024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D006C-B462-49DF-AE50-EF5C127657C4}" type="datetime1">
              <a:rPr lang="en-IN" smtClean="0"/>
              <a:t>23-07-2024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4A87B-CF82-4536-A92D-E45C9E5CCB5A}" type="datetime1">
              <a:rPr lang="en-IN" smtClean="0"/>
              <a:t>23-07-2024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E288E-7EF4-412F-BF40-93EA2B4EE9BD}" type="datetime1">
              <a:rPr lang="en-IN" smtClean="0"/>
              <a:t>23-07-2024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295E1-61EE-416E-853E-70B48C7AA35B}" type="datetime1">
              <a:rPr lang="en-IN" smtClean="0"/>
              <a:t>23-07-2024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BF320-7CBB-402E-8AF3-2FBA575E9216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528E-97ED-49D5-9F9B-D1C2AAF06514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7EFF85BA-B395-40D1-886F-FAE8080B26BA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28AE083A-A8D2-44CB-8B9E-864FBE8ED9C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Stacks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EBE04-D57B-40E9-B3FB-FBCF5217E7BE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36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524000"/>
            <a:ext cx="8229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Stack is a linear data structure which follows a particular order in which the operations are performed. </a:t>
            </a:r>
            <a:endParaRPr lang="en-I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smtClean="0"/>
              <a:t>The </a:t>
            </a:r>
            <a:r>
              <a:rPr lang="en-IN" dirty="0"/>
              <a:t>order may be LIFO(Last In First Out) or FILO(First In Last Out).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69294" y="332656"/>
            <a:ext cx="8229600" cy="495300"/>
          </a:xfrm>
          <a:prstGeom prst="rect">
            <a:avLst/>
          </a:prstGeom>
        </p:spPr>
        <p:txBody>
          <a:bodyPr vert="horz" lIns="0" rIns="0" bIns="0" anchor="b">
            <a:normAutofit fontScale="70000" lnSpcReduction="20000"/>
          </a:bodyPr>
          <a:lstStyle/>
          <a:p>
            <a:pPr marL="914400" marR="0" lvl="0" indent="-9144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Stacks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52937"/>
            <a:ext cx="4762500" cy="309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2459-0127-460C-A212-3F66F841BAC9}" type="datetime1">
              <a:rPr lang="en-IN" smtClean="0"/>
              <a:t>23-07-2024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36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377868" y="228078"/>
            <a:ext cx="8229600" cy="495300"/>
          </a:xfrm>
          <a:prstGeom prst="rect">
            <a:avLst/>
          </a:prstGeom>
        </p:spPr>
        <p:txBody>
          <a:bodyPr vert="horz" lIns="0" rIns="0" bIns="0" anchor="b">
            <a:normAutofit fontScale="70000" lnSpcReduction="20000"/>
          </a:bodyPr>
          <a:lstStyle/>
          <a:p>
            <a:pPr marL="914400" marR="0" lvl="0" indent="-9144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Operation on Stacks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3526" y="1143000"/>
            <a:ext cx="8229600" cy="4389120"/>
          </a:xfrm>
        </p:spPr>
        <p:txBody>
          <a:bodyPr>
            <a:normAutofit/>
          </a:bodyPr>
          <a:lstStyle/>
          <a:p>
            <a:r>
              <a:rPr lang="en-IN" sz="2000" b="1" dirty="0" smtClean="0"/>
              <a:t>Push operation</a:t>
            </a:r>
            <a:r>
              <a:rPr lang="en-IN" sz="2000" dirty="0" smtClean="0"/>
              <a:t>-The </a:t>
            </a:r>
            <a:r>
              <a:rPr lang="en-IN" sz="2000" dirty="0"/>
              <a:t>insertion of an element into stack </a:t>
            </a:r>
          </a:p>
          <a:p>
            <a:r>
              <a:rPr lang="en-IN" sz="2000" b="1" dirty="0" smtClean="0"/>
              <a:t>Pop </a:t>
            </a:r>
            <a:r>
              <a:rPr lang="en-IN" sz="2000" b="1" dirty="0"/>
              <a:t>operation </a:t>
            </a:r>
            <a:r>
              <a:rPr lang="en-IN" sz="2000" dirty="0" smtClean="0"/>
              <a:t>- Deletion </a:t>
            </a:r>
            <a:r>
              <a:rPr lang="en-IN" sz="2000" dirty="0"/>
              <a:t>of an element from the stack </a:t>
            </a:r>
          </a:p>
          <a:p>
            <a:endParaRPr lang="en-IN" sz="2000" dirty="0" smtClean="0"/>
          </a:p>
          <a:p>
            <a:r>
              <a:rPr lang="en-IN" sz="2000" dirty="0" smtClean="0"/>
              <a:t>In </a:t>
            </a:r>
            <a:r>
              <a:rPr lang="en-IN" sz="2000" dirty="0"/>
              <a:t>stack we always keep track of the last element present in the list with a pointer called top.</a:t>
            </a:r>
          </a:p>
        </p:txBody>
      </p:sp>
      <p:pic>
        <p:nvPicPr>
          <p:cNvPr id="3077" name="Picture 5" descr="https://lh4.ggpht.com/-yPC1y5pyEK8/UI5YdsZz_oI/AAAAAAAAA1Y/zSzytUOxVWA/clip_image001_thumb%25255B1%25255D.gif?imgmax=8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124201"/>
            <a:ext cx="6553200" cy="2753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CB3DB-546E-4C91-A6DB-5C51CAC0293A}" type="datetime1">
              <a:rPr lang="en-IN" smtClean="0"/>
              <a:t>23-07-2024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940D-CEA6-4B61-8AC9-96FB911D8B9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572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77" r="31783" b="7919"/>
          <a:stretch/>
        </p:blipFill>
        <p:spPr bwMode="auto">
          <a:xfrm>
            <a:off x="1187624" y="2348880"/>
            <a:ext cx="6336704" cy="3205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043490" y="1027664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smtClean="0"/>
              <a:t>Array Implementation of Stack </a:t>
            </a:r>
            <a:endParaRPr lang="en-IN" sz="3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81B86-E532-454C-A032-51847482C43E}" type="datetime1">
              <a:rPr lang="en-IN" smtClean="0"/>
              <a:t>23-07-2024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683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39552" y="404664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b="1" dirty="0" smtClean="0"/>
              <a:t>Array Implementation of Stack </a:t>
            </a:r>
            <a:endParaRPr lang="en-IN" sz="32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81B86-E532-454C-A032-51847482C43E}" type="datetime1">
              <a:rPr lang="en-IN" smtClean="0"/>
              <a:t>23-07-2024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755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457120"/>
          </a:xfrm>
        </p:spPr>
        <p:txBody>
          <a:bodyPr>
            <a:normAutofit fontScale="90000"/>
          </a:bodyPr>
          <a:lstStyle/>
          <a:p>
            <a:r>
              <a:rPr lang="en-IN" sz="3200" dirty="0" smtClean="0"/>
              <a:t>Array Implementation of Stack 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3" y="1772816"/>
            <a:ext cx="4176580" cy="4059813"/>
          </a:xfrm>
        </p:spPr>
        <p:txBody>
          <a:bodyPr>
            <a:normAutofit/>
          </a:bodyPr>
          <a:lstStyle/>
          <a:p>
            <a:r>
              <a:rPr lang="en-IN" sz="1600" dirty="0" smtClean="0"/>
              <a:t>Push element one by one onto stack from 0</a:t>
            </a:r>
            <a:r>
              <a:rPr lang="en-IN" sz="1600" baseline="30000" dirty="0" smtClean="0"/>
              <a:t>th</a:t>
            </a:r>
            <a:r>
              <a:rPr lang="en-IN" sz="1600" dirty="0" smtClean="0"/>
              <a:t> position to n-1 </a:t>
            </a:r>
            <a:r>
              <a:rPr lang="en-IN" sz="1600" dirty="0" err="1" smtClean="0"/>
              <a:t>th</a:t>
            </a:r>
            <a:r>
              <a:rPr lang="en-IN" sz="1600" dirty="0" smtClean="0"/>
              <a:t> position.</a:t>
            </a:r>
          </a:p>
          <a:p>
            <a:endParaRPr lang="en-IN" sz="1600" dirty="0" smtClean="0"/>
          </a:p>
          <a:p>
            <a:r>
              <a:rPr lang="en-IN" sz="1600" dirty="0" smtClean="0"/>
              <a:t>Variable top=position of the top element in the array</a:t>
            </a:r>
          </a:p>
          <a:p>
            <a:endParaRPr lang="en-IN" sz="1600" dirty="0" smtClean="0"/>
          </a:p>
          <a:p>
            <a:r>
              <a:rPr lang="en-IN" sz="1600" dirty="0" smtClean="0"/>
              <a:t>If there is no element in the stack, value of top will be -1</a:t>
            </a:r>
            <a:endParaRPr lang="en-IN" sz="1600" dirty="0"/>
          </a:p>
        </p:txBody>
      </p:sp>
      <p:pic>
        <p:nvPicPr>
          <p:cNvPr id="1026" name="Picture 2" descr="ds stack,introduction to data structure,file structure,tree,graph,multiple stack,circular linked list,node,stack in data structure,data structures and algorithms lectures,data structures in 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2276872"/>
            <a:ext cx="321945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C0C59-5C94-4994-9C70-44EA7443CCC1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758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200" dirty="0" smtClean="0"/>
              <a:t>Stack Overflow /</a:t>
            </a:r>
            <a:r>
              <a:rPr lang="en-IN" sz="3200" dirty="0" err="1" smtClean="0"/>
              <a:t>FullCondition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lvl="1" indent="0">
              <a:buNone/>
            </a:pPr>
            <a:r>
              <a:rPr lang="en-IN" sz="2000" dirty="0" smtClean="0"/>
              <a:t>If(top==MAX-1)</a:t>
            </a:r>
          </a:p>
          <a:p>
            <a:pPr marL="365760" lvl="1" indent="0">
              <a:buNone/>
            </a:pPr>
            <a:r>
              <a:rPr lang="en-IN" sz="2000" dirty="0" smtClean="0"/>
              <a:t>Then print stack is full or overflowing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F44A-F5C1-4677-9E35-CD91A3F6A17A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685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200" dirty="0" smtClean="0"/>
              <a:t>Stack Underflow /Empty Condition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760" lvl="1" indent="0">
              <a:buNone/>
            </a:pPr>
            <a:r>
              <a:rPr lang="en-IN" sz="2000" dirty="0"/>
              <a:t>If(top== -1)</a:t>
            </a:r>
          </a:p>
          <a:p>
            <a:pPr marL="365760" lvl="1" indent="0">
              <a:buNone/>
            </a:pPr>
            <a:r>
              <a:rPr lang="en-IN" sz="2000" dirty="0"/>
              <a:t>Then print stack is </a:t>
            </a:r>
            <a:r>
              <a:rPr lang="en-IN" sz="2000" dirty="0" smtClean="0"/>
              <a:t>empty or </a:t>
            </a:r>
            <a:r>
              <a:rPr lang="en-IN" sz="2000" dirty="0" err="1" smtClean="0"/>
              <a:t>underflowing</a:t>
            </a:r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F44A-F5C1-4677-9E35-CD91A3F6A17A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4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044184" y="620688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 smtClean="0"/>
              <a:t>PUSH Operation on Stack </a:t>
            </a:r>
            <a:endParaRPr lang="en-IN" sz="32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46" y="1365840"/>
            <a:ext cx="3528392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60" y="2884085"/>
            <a:ext cx="3520978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46" y="4439686"/>
            <a:ext cx="3456384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734" y="1365840"/>
            <a:ext cx="3743722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734" y="3022025"/>
            <a:ext cx="3724325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734" y="4593227"/>
            <a:ext cx="3715147" cy="1237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Down Arrow 8"/>
          <p:cNvSpPr/>
          <p:nvPr/>
        </p:nvSpPr>
        <p:spPr>
          <a:xfrm>
            <a:off x="4340650" y="1509856"/>
            <a:ext cx="232044" cy="41044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029A6-BDF7-4A65-BFDB-60669B8D08D7}" type="datetime1">
              <a:rPr lang="en-IN" smtClean="0"/>
              <a:t>23-07-2024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876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200" dirty="0" smtClean="0"/>
              <a:t>Algorithm for PUSH Operation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Check Stack Full condition</a:t>
            </a:r>
          </a:p>
          <a:p>
            <a:pPr marL="365760" lvl="1" indent="0">
              <a:buNone/>
            </a:pPr>
            <a:r>
              <a:rPr lang="en-IN" sz="2000" dirty="0" smtClean="0"/>
              <a:t>If(top==MAX-1)</a:t>
            </a:r>
          </a:p>
          <a:p>
            <a:pPr marL="365760" lvl="1" indent="0">
              <a:buNone/>
            </a:pPr>
            <a:r>
              <a:rPr lang="en-IN" sz="2000" dirty="0" smtClean="0"/>
              <a:t>Then print stack is full or overflow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Otherwise increase the top value by 1</a:t>
            </a:r>
          </a:p>
          <a:p>
            <a:pPr marL="365760" lvl="1" indent="0">
              <a:buNone/>
            </a:pPr>
            <a:r>
              <a:rPr lang="en-IN" sz="2000" dirty="0" smtClean="0"/>
              <a:t>top=top+1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Input the value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Assign the item at top position </a:t>
            </a:r>
            <a:r>
              <a:rPr lang="en-IN" sz="2000" dirty="0" err="1" smtClean="0"/>
              <a:t>stack_arr</a:t>
            </a:r>
            <a:r>
              <a:rPr lang="en-IN" sz="2000" dirty="0" smtClean="0"/>
              <a:t>[top]=</a:t>
            </a:r>
            <a:r>
              <a:rPr lang="en-IN" sz="2000" dirty="0" err="1" smtClean="0"/>
              <a:t>pushed_item</a:t>
            </a:r>
            <a:endParaRPr lang="en-IN" sz="2000" dirty="0" smtClean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F44A-F5C1-4677-9E35-CD91A3F6A17A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959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 smtClean="0"/>
              <a:t>Try writing the code for Push Operation function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FC00E-946E-43F0-AEBE-3F0A38C8F90B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05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PUSH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68580" indent="0">
              <a:buNone/>
            </a:pPr>
            <a:r>
              <a:rPr lang="en-US" dirty="0"/>
              <a:t>push()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{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pushed_item</a:t>
            </a:r>
            <a:r>
              <a:rPr lang="en-US" dirty="0"/>
              <a:t>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if(top == (MAX-1))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("Stack Overflow\n");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else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{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("Enter the item to be pushed in stack : ");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</a:t>
            </a:r>
            <a:r>
              <a:rPr lang="en-US" dirty="0" err="1"/>
              <a:t>scanf</a:t>
            </a:r>
            <a:r>
              <a:rPr lang="en-US" dirty="0"/>
              <a:t>("%d",&amp;</a:t>
            </a:r>
            <a:r>
              <a:rPr lang="en-US" dirty="0" err="1"/>
              <a:t>pushed_item</a:t>
            </a:r>
            <a:r>
              <a:rPr lang="en-US" dirty="0"/>
              <a:t>);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top=top+1;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</a:t>
            </a:r>
            <a:r>
              <a:rPr lang="en-US" dirty="0" err="1"/>
              <a:t>stack_arr</a:t>
            </a:r>
            <a:r>
              <a:rPr lang="en-US" dirty="0"/>
              <a:t>[top] = </a:t>
            </a:r>
            <a:r>
              <a:rPr lang="en-US" dirty="0" err="1"/>
              <a:t>pushed_item</a:t>
            </a:r>
            <a:r>
              <a:rPr lang="en-US" dirty="0"/>
              <a:t>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}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}/*End of push()*/</a:t>
            </a:r>
            <a:endParaRPr lang="en-IN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B6EB1-8500-4335-B95F-1E727CF0B609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080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93" y="1052736"/>
            <a:ext cx="4895850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467544" y="332656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 smtClean="0"/>
              <a:t>POP Operation on Stack </a:t>
            </a:r>
            <a:endParaRPr lang="en-IN" sz="3200" dirty="0"/>
          </a:p>
        </p:txBody>
      </p:sp>
      <p:sp>
        <p:nvSpPr>
          <p:cNvPr id="4" name="Rectangle 3"/>
          <p:cNvSpPr/>
          <p:nvPr/>
        </p:nvSpPr>
        <p:spPr>
          <a:xfrm>
            <a:off x="827584" y="2852936"/>
            <a:ext cx="60486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"/>
            <a:r>
              <a:rPr lang="en-IN" sz="2000" b="1" dirty="0"/>
              <a:t>Stack Underflow condition</a:t>
            </a:r>
          </a:p>
          <a:p>
            <a:pPr marL="365760" lvl="1" indent="0">
              <a:buNone/>
            </a:pPr>
            <a:r>
              <a:rPr lang="en-IN" sz="2000" b="1" dirty="0"/>
              <a:t>If(top== -1)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01D99-1101-4853-A68B-6F301A6BC098}" type="datetime1">
              <a:rPr lang="en-IN" smtClean="0"/>
              <a:t>23-07-2024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988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988840"/>
            <a:ext cx="4905375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93" y="3429000"/>
            <a:ext cx="4895850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37" y="4941168"/>
            <a:ext cx="4876800" cy="1080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467544" y="332656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3200" dirty="0" smtClean="0"/>
              <a:t>POP Operation on Stack </a:t>
            </a:r>
            <a:endParaRPr lang="en-IN" sz="3200" dirty="0"/>
          </a:p>
        </p:txBody>
      </p:sp>
      <p:sp>
        <p:nvSpPr>
          <p:cNvPr id="4" name="Rectangle 3"/>
          <p:cNvSpPr/>
          <p:nvPr/>
        </p:nvSpPr>
        <p:spPr>
          <a:xfrm>
            <a:off x="899592" y="1340768"/>
            <a:ext cx="47525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"/>
            <a:r>
              <a:rPr lang="en-IN" dirty="0" smtClean="0"/>
              <a:t>Popping the elements</a:t>
            </a:r>
            <a:endParaRPr lang="en-IN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01D99-1101-4853-A68B-6F301A6BC098}" type="datetime1">
              <a:rPr lang="en-IN" smtClean="0"/>
              <a:t>23-07-2024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45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200" dirty="0" smtClean="0"/>
              <a:t>Algorithm for POP Operation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Check Stack Underflow condition</a:t>
            </a:r>
          </a:p>
          <a:p>
            <a:pPr marL="365760" lvl="1" indent="0">
              <a:buNone/>
            </a:pPr>
            <a:r>
              <a:rPr lang="en-IN" sz="2000" dirty="0" smtClean="0"/>
              <a:t>If(top== -1)</a:t>
            </a:r>
          </a:p>
          <a:p>
            <a:pPr marL="365760" lvl="1" indent="0">
              <a:buNone/>
            </a:pPr>
            <a:r>
              <a:rPr lang="en-IN" sz="2000" dirty="0" smtClean="0"/>
              <a:t>Then print stack is underflow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Otherwise, delete the top position element</a:t>
            </a:r>
          </a:p>
          <a:p>
            <a:pPr marL="365760" lvl="1" indent="0">
              <a:buNone/>
            </a:pPr>
            <a:r>
              <a:rPr lang="en-IN" sz="1800" dirty="0" err="1" smtClean="0"/>
              <a:t>Popped_item</a:t>
            </a:r>
            <a:r>
              <a:rPr lang="en-IN" sz="1800" dirty="0" smtClean="0"/>
              <a:t>=</a:t>
            </a:r>
            <a:r>
              <a:rPr lang="en-IN" sz="1800" dirty="0" err="1" smtClean="0"/>
              <a:t>stack_arr</a:t>
            </a:r>
            <a:r>
              <a:rPr lang="en-IN" sz="1800" dirty="0" smtClean="0"/>
              <a:t>[top]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Decrease the position of top </a:t>
            </a:r>
          </a:p>
          <a:p>
            <a:pPr marL="365760" lvl="1" indent="0">
              <a:buNone/>
            </a:pPr>
            <a:r>
              <a:rPr lang="en-IN" sz="1800" dirty="0" smtClean="0"/>
              <a:t>top=top-1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2000" dirty="0" smtClean="0"/>
              <a:t>Print the </a:t>
            </a:r>
            <a:r>
              <a:rPr lang="en-IN" sz="2000" dirty="0" err="1" smtClean="0"/>
              <a:t>popped_item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FD131-4DB6-4B32-A1EC-E7EB5F799A3A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73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 smtClean="0"/>
              <a:t>Try writing the code for Pop Operation function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601B-453D-47D9-B625-D3C9D435C615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13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POP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68580" indent="0">
              <a:buNone/>
            </a:pPr>
            <a:r>
              <a:rPr lang="en-IN" dirty="0"/>
              <a:t>pop()</a:t>
            </a:r>
          </a:p>
          <a:p>
            <a:pPr marL="68580" indent="0">
              <a:buNone/>
            </a:pPr>
            <a:r>
              <a:rPr lang="en-IN" dirty="0"/>
              <a:t>{</a:t>
            </a:r>
          </a:p>
          <a:p>
            <a:pPr marL="68580" indent="0">
              <a:buNone/>
            </a:pPr>
            <a:r>
              <a:rPr lang="en-IN" dirty="0"/>
              <a:t>	if(top == -1)</a:t>
            </a:r>
          </a:p>
          <a:p>
            <a:pPr marL="6858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("Stack Underflow\n");</a:t>
            </a:r>
          </a:p>
          <a:p>
            <a:pPr marL="68580" indent="0">
              <a:buNone/>
            </a:pPr>
            <a:r>
              <a:rPr lang="en-IN" dirty="0"/>
              <a:t>	else</a:t>
            </a:r>
          </a:p>
          <a:p>
            <a:pPr marL="68580" indent="0">
              <a:buNone/>
            </a:pPr>
            <a:r>
              <a:rPr lang="en-IN" dirty="0"/>
              <a:t>	{</a:t>
            </a:r>
          </a:p>
          <a:p>
            <a:pPr marL="68580" indent="0">
              <a:buNone/>
            </a:pPr>
            <a:r>
              <a:rPr lang="en-IN" dirty="0"/>
              <a:t>		</a:t>
            </a:r>
            <a:r>
              <a:rPr lang="en-IN" dirty="0" err="1"/>
              <a:t>printf</a:t>
            </a:r>
            <a:r>
              <a:rPr lang="en-IN" dirty="0"/>
              <a:t>("Popped element is : %d\n",</a:t>
            </a:r>
            <a:r>
              <a:rPr lang="en-IN" dirty="0" err="1"/>
              <a:t>stack_arr</a:t>
            </a:r>
            <a:r>
              <a:rPr lang="en-IN" dirty="0"/>
              <a:t>[top]);</a:t>
            </a:r>
          </a:p>
          <a:p>
            <a:pPr marL="68580" indent="0">
              <a:buNone/>
            </a:pPr>
            <a:r>
              <a:rPr lang="en-IN" dirty="0"/>
              <a:t>		top=top-1;</a:t>
            </a:r>
          </a:p>
          <a:p>
            <a:pPr marL="68580" indent="0">
              <a:buNone/>
            </a:pPr>
            <a:r>
              <a:rPr lang="en-IN" dirty="0"/>
              <a:t>	}</a:t>
            </a:r>
          </a:p>
          <a:p>
            <a:pPr marL="68580" indent="0">
              <a:buNone/>
            </a:pPr>
            <a:r>
              <a:rPr lang="en-IN" dirty="0"/>
              <a:t>}/*End of pop()*/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FF719-7A7A-474B-B3E0-858DAA64C3F0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069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 smtClean="0"/>
              <a:t>Try writing the code for Display Operation function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3DA3E-C99E-4633-ADB1-43E3B3EFD659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13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Display </a:t>
            </a:r>
            <a:r>
              <a:rPr lang="en-IN" dirty="0" err="1" smtClean="0"/>
              <a:t>fn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68580" indent="0">
              <a:buNone/>
            </a:pPr>
            <a:r>
              <a:rPr lang="en-US" dirty="0"/>
              <a:t>display()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{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if(top == -1)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("Stack is empty\n");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else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{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</a:t>
            </a:r>
            <a:r>
              <a:rPr lang="en-US" dirty="0" err="1"/>
              <a:t>printf</a:t>
            </a:r>
            <a:r>
              <a:rPr lang="en-US" dirty="0"/>
              <a:t>("Stack elements :\n");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for(</a:t>
            </a:r>
            <a:r>
              <a:rPr lang="en-US" dirty="0" err="1"/>
              <a:t>i</a:t>
            </a:r>
            <a:r>
              <a:rPr lang="en-US" dirty="0"/>
              <a:t> = top; </a:t>
            </a:r>
            <a:r>
              <a:rPr lang="en-US" dirty="0" err="1"/>
              <a:t>i</a:t>
            </a:r>
            <a:r>
              <a:rPr lang="en-US" dirty="0"/>
              <a:t> &gt;=0; </a:t>
            </a:r>
            <a:r>
              <a:rPr lang="en-US" dirty="0" err="1"/>
              <a:t>i</a:t>
            </a:r>
            <a:r>
              <a:rPr lang="en-US" dirty="0"/>
              <a:t>--)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		</a:t>
            </a:r>
            <a:r>
              <a:rPr lang="en-US" dirty="0" err="1"/>
              <a:t>printf</a:t>
            </a:r>
            <a:r>
              <a:rPr lang="en-US" dirty="0"/>
              <a:t>("%d\n", </a:t>
            </a:r>
            <a:r>
              <a:rPr lang="en-US" dirty="0" err="1"/>
              <a:t>stack_arr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 );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	}</a:t>
            </a:r>
            <a:endParaRPr lang="en-IN" dirty="0"/>
          </a:p>
          <a:p>
            <a:pPr marL="68580" indent="0">
              <a:buNone/>
            </a:pPr>
            <a:r>
              <a:rPr lang="en-US" dirty="0"/>
              <a:t>}/*End of display()*/</a:t>
            </a:r>
            <a:endParaRPr lang="en-IN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02D92-97DD-449F-B59E-585A7CA053E4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161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457120"/>
          </a:xfrm>
        </p:spPr>
        <p:txBody>
          <a:bodyPr>
            <a:normAutofit fontScale="90000"/>
          </a:bodyPr>
          <a:lstStyle/>
          <a:p>
            <a:r>
              <a:rPr lang="en-IN" sz="2800" b="1" dirty="0" smtClean="0"/>
              <a:t>Peek Operation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772816"/>
            <a:ext cx="6777317" cy="4059813"/>
          </a:xfrm>
        </p:spPr>
        <p:txBody>
          <a:bodyPr>
            <a:noAutofit/>
          </a:bodyPr>
          <a:lstStyle/>
          <a:p>
            <a:r>
              <a:rPr lang="en-IN" sz="2000" dirty="0" smtClean="0"/>
              <a:t>An </a:t>
            </a:r>
            <a:r>
              <a:rPr lang="en-IN" sz="2000" dirty="0"/>
              <a:t>operation on certain abstract data types, specifically sequential collections such as stacks and queues, </a:t>
            </a:r>
            <a:endParaRPr lang="en-IN" sz="2000" dirty="0" smtClean="0"/>
          </a:p>
          <a:p>
            <a:pPr lvl="1"/>
            <a:r>
              <a:rPr lang="en-IN" sz="1800" dirty="0" smtClean="0"/>
              <a:t>which </a:t>
            </a:r>
            <a:r>
              <a:rPr lang="en-IN" sz="1800" dirty="0"/>
              <a:t>returns the value of the top ("front") of the collection </a:t>
            </a:r>
            <a:endParaRPr lang="en-IN" sz="1800" dirty="0" smtClean="0"/>
          </a:p>
          <a:p>
            <a:pPr lvl="1"/>
            <a:endParaRPr lang="en-IN" sz="1800" dirty="0" smtClean="0"/>
          </a:p>
          <a:p>
            <a:pPr lvl="1"/>
            <a:r>
              <a:rPr lang="en-IN" sz="1800" dirty="0" smtClean="0"/>
              <a:t>without </a:t>
            </a:r>
            <a:r>
              <a:rPr lang="en-IN" sz="1800" dirty="0"/>
              <a:t>removing the element from the collection. </a:t>
            </a:r>
            <a:endParaRPr lang="en-IN" sz="1800" dirty="0" smtClean="0"/>
          </a:p>
          <a:p>
            <a:pPr lvl="1"/>
            <a:endParaRPr lang="en-IN" sz="1800" dirty="0" smtClean="0"/>
          </a:p>
          <a:p>
            <a:pPr lvl="1"/>
            <a:r>
              <a:rPr lang="en-IN" sz="1800" dirty="0" smtClean="0"/>
              <a:t>It </a:t>
            </a:r>
            <a:r>
              <a:rPr lang="en-IN" sz="1800" dirty="0"/>
              <a:t>thus returns the same value as operations such as "pop" or "</a:t>
            </a:r>
            <a:r>
              <a:rPr lang="en-IN" sz="1800" dirty="0" err="1"/>
              <a:t>dequeue</a:t>
            </a:r>
            <a:r>
              <a:rPr lang="en-IN" sz="1800" dirty="0"/>
              <a:t>", but does not modify the data.</a:t>
            </a:r>
          </a:p>
          <a:p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9547D-49DF-44AF-AF93-AEC9692D3F45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98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457120"/>
          </a:xfrm>
        </p:spPr>
        <p:txBody>
          <a:bodyPr>
            <a:normAutofit fontScale="90000"/>
          </a:bodyPr>
          <a:lstStyle/>
          <a:p>
            <a:r>
              <a:rPr lang="en-IN" sz="2800" b="1" dirty="0" smtClean="0"/>
              <a:t>Peek Operation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772816"/>
            <a:ext cx="6777317" cy="4059813"/>
          </a:xfrm>
        </p:spPr>
        <p:txBody>
          <a:bodyPr>
            <a:noAutofit/>
          </a:bodyPr>
          <a:lstStyle/>
          <a:p>
            <a:r>
              <a:rPr lang="en-IN" sz="1800" dirty="0" smtClean="0"/>
              <a:t>The </a:t>
            </a:r>
            <a:r>
              <a:rPr lang="en-IN" sz="1800" dirty="0"/>
              <a:t>name "peek" </a:t>
            </a:r>
            <a:endParaRPr lang="en-IN" sz="1800" dirty="0" smtClean="0"/>
          </a:p>
          <a:p>
            <a:pPr lvl="1"/>
            <a:r>
              <a:rPr lang="en-IN" sz="1800" dirty="0" smtClean="0"/>
              <a:t>the </a:t>
            </a:r>
            <a:r>
              <a:rPr lang="en-IN" sz="1800" dirty="0"/>
              <a:t>name for this operation varies depending on data type and language. </a:t>
            </a:r>
            <a:endParaRPr lang="en-IN" sz="1800" dirty="0" smtClean="0"/>
          </a:p>
          <a:p>
            <a:endParaRPr lang="en-IN" sz="1800" dirty="0" smtClean="0"/>
          </a:p>
          <a:p>
            <a:r>
              <a:rPr lang="en-IN" sz="1800" dirty="0" smtClean="0"/>
              <a:t>Peek </a:t>
            </a:r>
            <a:r>
              <a:rPr lang="en-IN" sz="1800" dirty="0"/>
              <a:t>is generally considered an inessential operation, </a:t>
            </a:r>
            <a:endParaRPr lang="en-IN" sz="1800" dirty="0" smtClean="0"/>
          </a:p>
          <a:p>
            <a:pPr lvl="1"/>
            <a:r>
              <a:rPr lang="en-IN" sz="1800" dirty="0" smtClean="0"/>
              <a:t>not included </a:t>
            </a:r>
            <a:r>
              <a:rPr lang="en-IN" sz="1800" dirty="0"/>
              <a:t>in the basic definition of these data types.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CC129-24E2-4047-B0E9-76BBA9D787A1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49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457120"/>
          </a:xfrm>
        </p:spPr>
        <p:txBody>
          <a:bodyPr>
            <a:normAutofit fontScale="90000"/>
          </a:bodyPr>
          <a:lstStyle/>
          <a:p>
            <a:r>
              <a:rPr lang="en-IN" sz="2800" b="1" dirty="0" smtClean="0"/>
              <a:t>Peek Operation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772816"/>
            <a:ext cx="6777317" cy="4059813"/>
          </a:xfrm>
        </p:spPr>
        <p:txBody>
          <a:bodyPr>
            <a:noAutofit/>
          </a:bodyPr>
          <a:lstStyle/>
          <a:p>
            <a:r>
              <a:rPr lang="en-IN" sz="2000" dirty="0"/>
              <a:t>Sequential types for which peek is often implemented include:</a:t>
            </a:r>
          </a:p>
          <a:p>
            <a:pPr lvl="1"/>
            <a:r>
              <a:rPr lang="en-IN" sz="1800" dirty="0" smtClean="0"/>
              <a:t>    </a:t>
            </a:r>
            <a:r>
              <a:rPr lang="en-IN" sz="1800" dirty="0"/>
              <a:t>Stack</a:t>
            </a:r>
          </a:p>
          <a:p>
            <a:pPr lvl="1"/>
            <a:r>
              <a:rPr lang="en-IN" sz="1800" dirty="0"/>
              <a:t>    Queue</a:t>
            </a:r>
          </a:p>
          <a:p>
            <a:pPr lvl="1"/>
            <a:r>
              <a:rPr lang="en-IN" sz="1800" dirty="0"/>
              <a:t>    Priority queue (such as a heap)</a:t>
            </a:r>
          </a:p>
          <a:p>
            <a:pPr lvl="1"/>
            <a:r>
              <a:rPr lang="en-IN" sz="1800" dirty="0"/>
              <a:t>    Double-ended queue (</a:t>
            </a:r>
            <a:r>
              <a:rPr lang="en-IN" sz="1800" dirty="0" err="1"/>
              <a:t>deque</a:t>
            </a:r>
            <a:r>
              <a:rPr lang="en-IN" sz="1800" dirty="0"/>
              <a:t>)</a:t>
            </a:r>
          </a:p>
          <a:p>
            <a:pPr lvl="1"/>
            <a:r>
              <a:rPr lang="en-IN" sz="1600" dirty="0"/>
              <a:t>    Double-ended priority queue (DEPQ)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D40E9-557A-4951-80F4-BD7E10E5CFEA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055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457120"/>
          </a:xfrm>
        </p:spPr>
        <p:txBody>
          <a:bodyPr>
            <a:normAutofit fontScale="90000"/>
          </a:bodyPr>
          <a:lstStyle/>
          <a:p>
            <a:r>
              <a:rPr lang="en-IN" sz="2800" b="1" dirty="0" smtClean="0"/>
              <a:t>Peek Operation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772816"/>
            <a:ext cx="6777317" cy="4059813"/>
          </a:xfrm>
        </p:spPr>
        <p:txBody>
          <a:bodyPr>
            <a:noAutofit/>
          </a:bodyPr>
          <a:lstStyle/>
          <a:p>
            <a:r>
              <a:rPr lang="en-IN" sz="2000" dirty="0"/>
              <a:t>Single-ended types, such as stack, </a:t>
            </a:r>
            <a:endParaRPr lang="en-IN" sz="2000" dirty="0" smtClean="0"/>
          </a:p>
          <a:p>
            <a:pPr lvl="1"/>
            <a:r>
              <a:rPr lang="en-IN" sz="1800" dirty="0" smtClean="0"/>
              <a:t>generally </a:t>
            </a:r>
            <a:r>
              <a:rPr lang="en-IN" sz="1800" dirty="0"/>
              <a:t>only admit a single peek, at the end that is modified. </a:t>
            </a:r>
            <a:endParaRPr lang="en-IN" sz="1800" dirty="0" smtClean="0"/>
          </a:p>
          <a:p>
            <a:r>
              <a:rPr lang="en-IN" sz="2000" dirty="0" smtClean="0"/>
              <a:t>Double-ended </a:t>
            </a:r>
            <a:r>
              <a:rPr lang="en-IN" sz="2000" dirty="0"/>
              <a:t>types, such as </a:t>
            </a:r>
            <a:r>
              <a:rPr lang="en-IN" sz="2000" dirty="0" err="1"/>
              <a:t>deques</a:t>
            </a:r>
            <a:r>
              <a:rPr lang="en-IN" sz="2000" dirty="0"/>
              <a:t>, </a:t>
            </a:r>
            <a:endParaRPr lang="en-IN" sz="2000" dirty="0" smtClean="0"/>
          </a:p>
          <a:p>
            <a:pPr lvl="1"/>
            <a:r>
              <a:rPr lang="en-IN" sz="1800" dirty="0" smtClean="0"/>
              <a:t>admit </a:t>
            </a:r>
            <a:r>
              <a:rPr lang="en-IN" sz="1800" dirty="0"/>
              <a:t>two peeks, one at each end.</a:t>
            </a:r>
          </a:p>
          <a:p>
            <a:endParaRPr lang="en-IN" sz="2000" dirty="0"/>
          </a:p>
          <a:p>
            <a:r>
              <a:rPr lang="en-IN" sz="2000" dirty="0"/>
              <a:t>Names for peek vary. </a:t>
            </a:r>
            <a:endParaRPr lang="en-IN" sz="2000" dirty="0" smtClean="0"/>
          </a:p>
          <a:p>
            <a:pPr lvl="1"/>
            <a:r>
              <a:rPr lang="en-IN" sz="1800" dirty="0" smtClean="0"/>
              <a:t>For </a:t>
            </a:r>
            <a:r>
              <a:rPr lang="en-IN" sz="1800" dirty="0"/>
              <a:t>queues "front" is common. </a:t>
            </a:r>
            <a:endParaRPr lang="en-IN" sz="1800" dirty="0" smtClean="0"/>
          </a:p>
          <a:p>
            <a:pPr lvl="1"/>
            <a:r>
              <a:rPr lang="en-IN" sz="1800" dirty="0" err="1" smtClean="0"/>
              <a:t>Dequeues</a:t>
            </a:r>
            <a:r>
              <a:rPr lang="en-IN" sz="1800" dirty="0" smtClean="0"/>
              <a:t> </a:t>
            </a:r>
            <a:r>
              <a:rPr lang="en-IN" sz="1800" dirty="0"/>
              <a:t>have varied names, often "front" and "back" or "first" and "last". </a:t>
            </a:r>
            <a:endParaRPr lang="en-IN" sz="1800" dirty="0" smtClean="0"/>
          </a:p>
          <a:p>
            <a:pPr lvl="1"/>
            <a:r>
              <a:rPr lang="en-IN" sz="1800" dirty="0" smtClean="0"/>
              <a:t>The </a:t>
            </a:r>
            <a:r>
              <a:rPr lang="en-IN" sz="1800" dirty="0"/>
              <a:t>name "peak" is also occasionally found</a:t>
            </a:r>
            <a:endParaRPr lang="en-IN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6017E-E7AD-49A2-841A-6DF931E28878}" type="datetime1">
              <a:rPr lang="en-IN" smtClean="0"/>
              <a:t>23-07-2024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Prof. Shweta Dhawan Chachra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E083A-A8D2-44CB-8B9E-864FBE8ED9CF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74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5281</TotalTime>
  <Words>681</Words>
  <Application>Microsoft Office PowerPoint</Application>
  <PresentationFormat>On-screen Show (4:3)</PresentationFormat>
  <Paragraphs>187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Austin</vt:lpstr>
      <vt:lpstr>Stacks</vt:lpstr>
      <vt:lpstr>PowerPoint Presentation</vt:lpstr>
      <vt:lpstr>PowerPoint Presentation</vt:lpstr>
      <vt:lpstr>PowerPoint Presentation</vt:lpstr>
      <vt:lpstr>PowerPoint Presentation</vt:lpstr>
      <vt:lpstr>Array Implementation of Stack </vt:lpstr>
      <vt:lpstr>Stack Overflow /FullCondition</vt:lpstr>
      <vt:lpstr>Stack Underflow /Empty Condition</vt:lpstr>
      <vt:lpstr>PowerPoint Presentation</vt:lpstr>
      <vt:lpstr>Algorithm for PUSH Operation</vt:lpstr>
      <vt:lpstr>Try writing the code for Push Operation function</vt:lpstr>
      <vt:lpstr>PUSH Operation</vt:lpstr>
      <vt:lpstr>PowerPoint Presentation</vt:lpstr>
      <vt:lpstr>PowerPoint Presentation</vt:lpstr>
      <vt:lpstr>Algorithm for POP Operation</vt:lpstr>
      <vt:lpstr>Try writing the code for Pop Operation function</vt:lpstr>
      <vt:lpstr>POP Operation</vt:lpstr>
      <vt:lpstr>Try writing the code for Display Operation function</vt:lpstr>
      <vt:lpstr>Display fn</vt:lpstr>
      <vt:lpstr>Peek Operation</vt:lpstr>
      <vt:lpstr>Peek Operation</vt:lpstr>
      <vt:lpstr>Peek Operation</vt:lpstr>
      <vt:lpstr>Peek Operation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Stacks</dc:title>
  <dc:creator>Admin</dc:creator>
  <cp:lastModifiedBy>Admin</cp:lastModifiedBy>
  <cp:revision>217</cp:revision>
  <dcterms:created xsi:type="dcterms:W3CDTF">2020-07-23T11:45:28Z</dcterms:created>
  <dcterms:modified xsi:type="dcterms:W3CDTF">2024-07-23T10:29:36Z</dcterms:modified>
</cp:coreProperties>
</file>
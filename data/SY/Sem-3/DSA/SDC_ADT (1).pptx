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notesSlides/notesSlide24.xml" ContentType="application/vnd.openxmlformats-officedocument.presentationml.notesSlide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6"/>
  </p:notesMasterIdLst>
  <p:sldIdLst>
    <p:sldId id="256" r:id="rId2"/>
    <p:sldId id="297" r:id="rId3"/>
    <p:sldId id="298" r:id="rId4"/>
    <p:sldId id="259" r:id="rId5"/>
    <p:sldId id="268" r:id="rId6"/>
    <p:sldId id="269" r:id="rId7"/>
    <p:sldId id="270" r:id="rId8"/>
    <p:sldId id="296" r:id="rId9"/>
    <p:sldId id="293" r:id="rId10"/>
    <p:sldId id="294" r:id="rId11"/>
    <p:sldId id="295" r:id="rId12"/>
    <p:sldId id="260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90" r:id="rId25"/>
    <p:sldId id="283" r:id="rId26"/>
    <p:sldId id="284" r:id="rId27"/>
    <p:sldId id="285" r:id="rId28"/>
    <p:sldId id="299" r:id="rId29"/>
    <p:sldId id="303" r:id="rId30"/>
    <p:sldId id="301" r:id="rId31"/>
    <p:sldId id="300" r:id="rId32"/>
    <p:sldId id="302" r:id="rId33"/>
    <p:sldId id="286" r:id="rId34"/>
    <p:sldId id="287" r:id="rId35"/>
    <p:sldId id="288" r:id="rId36"/>
    <p:sldId id="257" r:id="rId37"/>
    <p:sldId id="262" r:id="rId38"/>
    <p:sldId id="267" r:id="rId39"/>
    <p:sldId id="261" r:id="rId40"/>
    <p:sldId id="263" r:id="rId41"/>
    <p:sldId id="264" r:id="rId42"/>
    <p:sldId id="258" r:id="rId43"/>
    <p:sldId id="265" r:id="rId44"/>
    <p:sldId id="266" r:id="rId4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6" y="-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44.32901" units="1/cm"/>
          <inkml:channelProperty channel="Y" name="resolution" value="44.39306" units="1/cm"/>
        </inkml:channelProperties>
      </inkml:inkSource>
      <inkml:timestamp xml:id="ts0" timeString="2022-05-05T04:36:22.06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2480 5159,'100'0,"-51"0,1 0,24 0,26 0,73-24,75-1,0-50,25 51,-25-26,-99 50,-25-25,-74 25,-75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44.32901" units="1/cm"/>
          <inkml:channelProperty channel="Y" name="resolution" value="44.39306" units="1/cm"/>
        </inkml:channelProperties>
      </inkml:inkSource>
      <inkml:timestamp xml:id="ts0" timeString="2022-05-05T04:36:23.79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2356 5457,'25'0,"25"0,-1 0,1 0,24 0,1-25,24 25,0-25,25 25,-24-24,-1 24,-25 0,-24 0,-1 0,26 0,-50 0,-1 0,1 0,25-25,-1 25,1 0,-25 0,0-25,24 25,-24 0,0 0,0 0,0 0,-1 0,1 0,0 0,0 0,0 0,-1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44.32901" units="1/cm"/>
          <inkml:channelProperty channel="Y" name="resolution" value="44.39306" units="1/cm"/>
        </inkml:channelProperties>
      </inkml:inkSource>
      <inkml:timestamp xml:id="ts0" timeString="2022-05-05T04:36:35.41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4018 5333,'-24'0,"-1"25,0 0,0-1,-24 1,24 0,0 0,-49 0,24-1,-25 26,-49-25,50 24,0 1,-1-25,1-25,-1 25,26-25,-1 24,25-24,1 0,-26 0,25 0,0 0,25 25,-24-25,24 25,-25 0,0-25,0 25,25 0,-25-1,25 1,-24-25,-1 0,0 0,0 0,0 0,0 0,1 0,-1 0,50 0,-1 0,1 0,25 0,0 0,49 0,50 0,24 0,-49 0,75-25,-26 25,1 0,24-24,-98 24,-1 0,-25 0,-24 0,-25 0,-1 0,-48 0,-1 0,0 0,-49 24,-1 1,1 0,-1-25,26 0,-1 0,25 0,1 0,-1 0,0 0,0 0,-24 0,-1 0,0 0,25 0,-24 0,-26 0,26 0,-1 0,25 0,-24 0,-1 0,25 0,-24 0,24 0,0 0,25 25,-25-25,1 0,-1 0,0 25,-25-25,1 24,-26 1,1-25,24 50,-24-25,49-25,-25 24,75-24,0 0,0 0,0 0,0 0,24 25,26-25,-1 25,50-25,-25 0,50 0,0 25,-25-25,0 0,-25 0,-24 0,-1 0,-24 0,-26 0,1 0,0 0,0 0,0 0,-1 0,1 0,0 0,49 0,-24 0,-25 0,24 0,-24 0,50 0,-51 0,26 0,-25 0,0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44.32901" units="1/cm"/>
          <inkml:channelProperty channel="Y" name="resolution" value="44.39306" units="1/cm"/>
        </inkml:channelProperties>
      </inkml:inkSource>
      <inkml:timestamp xml:id="ts0" timeString="2022-05-05T04:37:03.22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2480 7119,'0'-25,"0"0,25 25,25 0,-1 0,51 25,73-25,51 25,48 0,26 0,25-25,-1 0,-49 0,0 0,-100 24,-73-24,-51 0,-49 25,0 0,-25-25,1 0,-1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44.32901" units="1/cm"/>
          <inkml:channelProperty channel="Y" name="resolution" value="44.39306" units="1/cm"/>
        </inkml:channelProperties>
      </inkml:inkSource>
      <inkml:timestamp xml:id="ts0" timeString="2022-05-05T04:37:04.69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2431 8533,'25'0,"24"0,26 25,24-1,75 26,74 0,74-26,100 51,198-50,124 24,99-24,-49-25,-50 0,-198 0,-124 0,-75 0,-124 0,-74 0,-174 0,0 0,1 0,-1 0,-25 0,25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44.32901" units="1/cm"/>
          <inkml:channelProperty channel="Y" name="resolution" value="44.39306" units="1/cm"/>
        </inkml:channelProperties>
      </inkml:inkSource>
      <inkml:timestamp xml:id="ts0" timeString="2022-05-05T04:37:07.60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2406 10319,'25'0,"24"0,-24 0,50 0,74 0,-25 0,74 0,0 0,26 0,49 0,24 0,26 0,-26 0,1 0,-75 0,-74 0,-75 0,-49 0,-50 0,50 0,25 0,-1 0,26 0,-50 0,24 0,-24 0,25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44.32901" units="1/cm"/>
          <inkml:channelProperty channel="Y" name="resolution" value="44.39306" units="1/cm"/>
        </inkml:channelProperties>
      </inkml:inkSource>
      <inkml:timestamp xml:id="ts0" timeString="2022-05-05T04:37:12.34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2530 11311,'99'0,"-74"0,25 0,-1 0,1 0,24 0,26 0,-1 0,0 0,0 0,0 0,25 0,-49 0,-1 0,-24 0,0 0,-26 0,1 0,0 0,0 0,0 0,24 0,-24 0,0 0,0 0,-1 0,1 0,0 0,0 0,0 0,-1 0,26 0,-25 0,0 0,-1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44.32901" units="1/cm"/>
          <inkml:channelProperty channel="Y" name="resolution" value="44.39306" units="1/cm"/>
        </inkml:channelProperties>
      </inkml:inkSource>
      <inkml:timestamp xml:id="ts0" timeString="2022-05-05T04:37:16.10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2505 12080,'25'0,"25"0,-26 0,26 0,25 0,49 25,74-1,50 1,50 0,-1-25,26 25,-50 0,-1 0,-73-25,-50 0,0 0,-100 0,-24 0,-50 0,0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44.32901" units="1/cm"/>
          <inkml:channelProperty channel="Y" name="resolution" value="44.39306" units="1/cm"/>
        </inkml:channelProperties>
      </inkml:inkSource>
      <inkml:timestamp xml:id="ts0" timeString="2022-05-05T04:37:17.90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2580 12998,'198'0,"-123"0,-1 0,0 0,50 24,25-24,0 0,0 0,0 0,-25 0,-25 0,0 0,-24 0,-26 0,-24 0,0 0,0 0,-1 0,1 0,0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44.32901" units="1/cm"/>
          <inkml:channelProperty channel="Y" name="resolution" value="44.39306" units="1/cm"/>
        </inkml:channelProperties>
      </inkml:inkSource>
      <inkml:timestamp xml:id="ts0" timeString="2022-05-05T04:37:27.55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3249 11559,'25'0,"50"25,-1-25,50 25,0-25,0 0,25 24,-50 1,-49-25,24 0,-24 25,-25-25,-1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44.32901" units="1/cm"/>
          <inkml:channelProperty channel="Y" name="resolution" value="44.39306" units="1/cm"/>
        </inkml:channelProperties>
      </inkml:inkSource>
      <inkml:timestamp xml:id="ts0" timeString="2022-05-05T04:37:28.50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3026 12204,'50'0,"-1"0,1 0,49 0,0 0,75 0,25 0,24 0,0 0,25 0,-25 0,1 0,-51 0,-24 0,-75 0,-49 0,-50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44.32901" units="1/cm"/>
          <inkml:channelProperty channel="Y" name="resolution" value="44.39306" units="1/cm"/>
        </inkml:channelProperties>
      </inkml:inkSource>
      <inkml:timestamp xml:id="ts0" timeString="2022-05-05T04:37:29.37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3349 12551,'24'0,"26"0,74 0,50 0,24 0,75 0,25 0,-1 0,-49 0,-49 0,-1 0,-49 0,-50 0,-49 0,-25 0,-25 25,-25-25,0 0,0 0,0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44.32901" units="1/cm"/>
          <inkml:channelProperty channel="Y" name="resolution" value="44.39306" units="1/cm"/>
        </inkml:channelProperties>
      </inkml:inkSource>
      <inkml:timestamp xml:id="ts0" timeString="2022-05-05T04:37:30.18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3572 13022,'49'0,"51"0,98 0,50 0,0 0,0 0,-24 0,-51 0,-74 0,-49 0,0 0,-75 0,0 0,25 25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44.32901" units="1/cm"/>
          <inkml:channelProperty channel="Y" name="resolution" value="44.39306" units="1/cm"/>
        </inkml:channelProperties>
      </inkml:inkSource>
      <inkml:timestamp xml:id="ts0" timeString="2022-05-05T04:37:30.75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3225 13692,'24'0,"1"0,25 0,24 0,75 0,99 0,50 0,99 0,24 0,-49 25,-49 0,-125 0,-98-25,-51 0,-74 0,1 0,-1 0,0 0,0 0,0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44.32901" units="1/cm"/>
          <inkml:channelProperty channel="Y" name="resolution" value="44.39306" units="1/cm"/>
        </inkml:channelProperties>
      </inkml:inkSource>
      <inkml:timestamp xml:id="ts0" timeString="2022-05-05T04:37:31.33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4093 13965,'25'0,"-1"0,26 0,49 0,75 25,99-25,24 25,1-25,49 24,-74-24,0 0,-99 25,-100-25,-99 0,-24 0,24 0,0 0,-25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44.32901" units="1/cm"/>
          <inkml:channelProperty channel="Y" name="resolution" value="44.39306" units="1/cm"/>
        </inkml:channelProperties>
      </inkml:inkSource>
      <inkml:timestamp xml:id="ts0" timeString="2022-05-05T04:37:36.92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9723 10071,'25'0,"0"0,0 0,0 0,-1 0,1 0,0 0,0 0,24 0,-24 0,0 0,0 0,25 0,-26 0,26 0,0 0,-26 0,51 0,-26 0,-24 0,0 0,25 0,-26 0,1 0,0 0,0 0,0 0,-1 0,1 0,0 0,0 0,0 0,-1 0,1 0,25 0,-25 0,24 0,-24 0,49 0,-49 0,0 0,0 0,24 0,-24 0,25 0,-25 0,49 0,-49 0,0 0,24 0,1 0,-25 0,24 0,-24 0,0 0,0 0,0 0,-1 0,1 0,0 0,0 0,0 0,-1 0,26 0,-25 0,0 0,-1 0,26 0,-25 0,0 0,24 25,-24-25,0 0,0 0,24 24,-24-24,0 0,25 0,-26 0,1 0,0 0,25 0,-1 0,1 0,-1 0,26 0,-1 0,25 0,1 0,48 0,-24 0,75 25,-1-25,75 50,0-25,-75-1,26-24,24 25,-50-25,-74 25,-25-25,25 25,-99-25,0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44.32901" units="1/cm"/>
          <inkml:channelProperty channel="Y" name="resolution" value="44.39306" units="1/cm"/>
        </inkml:channelProperties>
      </inkml:inkSource>
      <inkml:timestamp xml:id="ts0" timeString="2022-05-05T04:37:40.16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8186 11286,'74'0,"-49"25,49-25,25 25,75 0,24-25,-24 24,25-24,-51 0,-24 0,-49 0,-1 0,-49 0,0 0,-50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44.32901" units="1/cm"/>
          <inkml:channelProperty channel="Y" name="resolution" value="44.39306" units="1/cm"/>
        </inkml:channelProperties>
      </inkml:inkSource>
      <inkml:timestamp xml:id="ts0" timeString="2022-05-05T04:37:41.70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8136 11807,'25'0,"0"0,-1 0,1 0,25 0,-1 0,51 0,-51 0,50 0,-49 0,24 0,-24 0,0 0,-1 0,1 0,-1 0,-24 0,25 0,-25 0,0 0,-1 0,1-25,25 25,-25 0,-1-25,1 25,0 0,-25-24,-25 24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44.32901" units="1/cm"/>
          <inkml:channelProperty channel="Y" name="resolution" value="44.39306" units="1/cm"/>
        </inkml:channelProperties>
      </inkml:inkSource>
      <inkml:timestamp xml:id="ts0" timeString="2022-05-05T04:37:43.08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10319 11286,'25'0,"-1"0,1 0,0 0,0 0,24 0,-24 0,50 0,-26 0,26 0,-26 25,1-25,-25 0,24 0,-24 0,0 0,0 0,-1 0,1 0,0 0,0 0,0 0,-1 0,-48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44.32901" units="1/cm"/>
          <inkml:channelProperty channel="Y" name="resolution" value="44.39306" units="1/cm"/>
        </inkml:channelProperties>
      </inkml:inkSource>
      <inkml:timestamp xml:id="ts0" timeString="2022-05-05T04:37:45.86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10542 11410,'25'0,"24"0,26 0,24 25,0-25,0 0,-24 0,-1 0,-24 0,-25 0,-50 0,0 0,0 0,25 25,-25-25,1 0,-1 0,-25 0,25 25,1-25,-1 0,-25 24,25-24,1 0,-1 0,-25 0,25 0,-24 0,-1 0,1 0,24 0,25 25,-25-25,-49 25,24 0,0 0,-49-1,-50 26,25 0,50-26,49 1,50-25,0 0,-1 0,26 0,25 0,24 0,0-25,-25 25,26-24,-26 24,0-25,1 25,-1 0,1 0,-26 0,1 0,-1 0,-24 0,0 0,0 0,-25-25,25 25,-1 0,-24-25,-24 25,-1 0,-25 0,25 0,1 0,48 0,1 0,0 0,0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44.32901" units="1/cm"/>
          <inkml:channelProperty channel="Y" name="resolution" value="44.39306" units="1/cm"/>
        </inkml:channelProperties>
      </inkml:inkSource>
      <inkml:timestamp xml:id="ts0" timeString="2022-05-05T04:37:51.19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12427 11534,'25'0,"0"0,24 0,1 0,0 0,-1-25,-24 25,25 0,-1 0,-24 0,0 0,24 0,1-24,-25 24,24 0,-24-25,25 25,-25 0,49 0,1 0,-51 0,26 0,-25 0,0 0,-1 0,-48 0,-1 0,0 0,-25 0,26 25,-1-25,-25 24,0 1,1 0,-1-25,25 0,-24 25,24 0,0-25,0 0,1 0,-1 0,25 24,-25-24,0 0,0 0,1 0,-1 25,0-25,25 25,-25-25,0 0,1 0,-1 25,0-25,0 0,25 25,-25-25,1 0,24 24,-25-24,25 25,25-25,-1 0,1 0,25 0,-25 0,-1 0,26 0,24 0,-49 0,25 0,-1 0,-24 0,0 0,0 0,0 0,-1 0,1 0,0 0,0 0,0 0,-1 0,1 0,0 0,0 0,0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44.32901" units="1/cm"/>
          <inkml:channelProperty channel="Y" name="resolution" value="44.39306" units="1/cm"/>
        </inkml:channelProperties>
      </inkml:inkSource>
      <inkml:timestamp xml:id="ts0" timeString="2022-05-05T04:37:57.99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14238 11485,'25'0,"-1"0,1 0,25 0,-25 0,24-25,-24 25,25 0,-1 0,-24 0,25 0,-50-25,25 25,-1 0,1 0,0 0,0 0,0 0,-1-25,1 25,0 0,25 0,-26 0,26 0,-25 0,0 0,24 0,-24 0,25 0,-50-25,24 25,-48 0,-1 0,0 0,0 0,-24 0,24 25,-25-25,25 0,1 25,-26-25,25 0,0 0,1 25,-1-25,0 0,0 0,0 0,1 0,-1 0,25 25,-25-25,0 24,0-24,1 0,-1 25,0-25,0 0,25 25,-25-25,25 25,-24-25,24 25,-25-25,25 24,0 1,-25-25,25 25,0 0,0 0,0-1,0 1,0 0,50-25,-26 0,1 0,0 0,49 0,-49 0,50 0,-1 0,0 0,-24 0,0 0,-1 0,1 0,-1 0,-24 0,0 0,0 0,0 0,-1-25,-48 25,-1 0,0-25,-25 1,1-1,-1 25,-24-25,24 0,-24 25,-1-25,1 25,0 0,49 0,0 0,-25 0,26 0,24-24,24 24,-24-25,25 25,0-25,0 25,0 0,24-25,1 25,-1-25,1 25,24-49,1 49,-1-25,-49 25,0-25,0 25,-25-25,24 25,26 0,-25 0,-50 0,25-24,-25 24,0 0,1 0,-1 0,-25 0,25 0,1 0,-26 0,25 0,0 0,1 0,-26 0,25 0,-24 0,24 0,-25 0,1 0,24 0,0 0,0 0,0 0,1 0,-1 0,25-25,49 25,-49-25,25 25,0 0,0-25,0 25,-1 0,26-25,-25 1,24 24,26-25,-26 0,-24 25,25-25,-1 25,-24-25,0 25,0 0,0 0,-1 0,26-25,0 25,-26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44.32901" units="1/cm"/>
          <inkml:channelProperty channel="Y" name="resolution" value="44.39306" units="1/cm"/>
        </inkml:channelProperties>
      </inkml:inkSource>
      <inkml:timestamp xml:id="ts0" timeString="2022-05-05T04:38:07.94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2555 8310,'49'0,"1"0,74 0,75 0,73 0,26 0,49 0,-24 0,-26 0,-49 0,-49 0,-75 0,-50 0,-98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44.32901" units="1/cm"/>
          <inkml:channelProperty channel="Y" name="resolution" value="44.39306" units="1/cm"/>
        </inkml:channelProperties>
      </inkml:inkSource>
      <inkml:timestamp xml:id="ts0" timeString="2022-05-05T04:38:10.18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2356 9376,'25'0,"50"-25,24 1,50-1,49-25,1 25,24 1,-50-26,-49 25,-24 25,-26-25,1 25,-100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44.32901" units="1/cm"/>
          <inkml:channelProperty channel="Y" name="resolution" value="44.39306" units="1/cm"/>
        </inkml:channelProperties>
      </inkml:inkSource>
      <inkml:timestamp xml:id="ts0" timeString="2022-05-05T04:38:12.83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2158 10964,'25'0,"24"0,1-25,49 25,50-25,25 0,24 0,1 1,-51 24,26-25,-50 25,-50-25,26 25,-51 0,1 0,-25 0,0 0,-1 0,26 0,0 0,-1 0,26 0,-26 0,26 0,-26 0,1 0,-1 0,26 0,-50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44.32901" units="1/cm"/>
          <inkml:channelProperty channel="Y" name="resolution" value="44.39306" units="1/cm"/>
        </inkml:channelProperties>
      </inkml:inkSource>
      <inkml:timestamp xml:id="ts0" timeString="2022-05-05T04:38:38.93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2456 12601,'24'0,"51"0,24 0,25 0,75 0,73 0,26 0,49 0,75-25,74-25,-124 26,-74 24,-75-50,-124 50,-49 0,-100 0,25 0,1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44.32901" units="1/cm"/>
          <inkml:channelProperty channel="Y" name="resolution" value="44.39306" units="1/cm"/>
        </inkml:channelProperties>
      </inkml:inkSource>
      <inkml:timestamp xml:id="ts0" timeString="2022-05-05T04:38:40.25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2307 13295,'25'0,"99"0,49 0,125 0,74 0,124 50,248-50,-74 0,0 0,-100-25,-148 25,-100 0,-98 0,-51 0,-98 0,-100 0,0 0,0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44.32901" units="1/cm"/>
          <inkml:channelProperty channel="Y" name="resolution" value="44.39306" units="1/cm"/>
        </inkml:channelProperties>
      </inkml:inkSource>
      <inkml:timestamp xml:id="ts0" timeString="2022-05-05T04:38:42.72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2604 14039,'0'25,"0"0,0 25,-24-1,24-24,-25 49,0-49,25 0,0 0,74-25,26 0,49 0,173 0,199 0,223 0,124 0,-99-50,-74 1,-150 24,-197 0,-100-25,-124 26,-75-1,-98 25,-1 0,25 0,0 0,1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44.32901" units="1/cm"/>
          <inkml:channelProperty channel="Y" name="resolution" value="44.39306" units="1/cm"/>
        </inkml:channelProperties>
      </inkml:inkSource>
      <inkml:timestamp xml:id="ts0" timeString="2022-05-05T04:38:48.22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5184 6003,'25'0,"0"0,24 0,-24 0,25 0,24 0,1 0,-1 0,25 0,-24 0,49 0,-25 0,0 0,0 0,1-25,-1 25,-25 0,25 0,-24 0,24-25,0 25,1 0,48 0,-24-25,50 25,-50 0,74 0,-24-24,0 24,24-25,-49-25,25 50,-26 0,26-25,0 0,-1 25,1-24,49 24,-24 0,24 0,25 0,-50 0,26 0,-1 0,0-25,-24 0,-1 25,-24 0,-26 0,26 0,25 0,-1 0,0-25,1 25,49-25,-25 25,0 0,25-24,-24 24,-26 0,1 0,73-25,-48 25,-26 0,50 0,-49 0,-51 0,51-25,-75 25,-75 0,26 0,49 0,74-50,125 26,98-51,175-24,-26 25,-49-1,-74 26,-150-1,-49 25,0 0,-99 25,0 0,25-24,-1 24,-49-25,25 0,-50 25,-24 0,-26-25,1 25,24-25,-24 1,-25 24,0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44.32901" units="1/cm"/>
          <inkml:channelProperty channel="Y" name="resolution" value="44.39306" units="1/cm"/>
        </inkml:channelProperties>
      </inkml:inkSource>
      <inkml:timestamp xml:id="ts0" timeString="2022-05-05T04:38:54.77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9128 8409,'25'0,"25"0,49 25,74-1,125 26,25-25,49 0,-100-25,-48 0,-100 0,-50 0,-49 24,-75-24,25 0,-49 0,-25 0,-50 25,50 25,74-50,-25 0,50 25,-24-25,-1 0,0 0,-25 0,-24 0,24 0,1 0,-1 0,1 0,-26 0,26 0,-26 0,25 0,-24 0,0 0,24 0,-24 0,-1 0,1 0,-1 0,26 0,24 0,0 0,0 0,-24 0,-1 0,-24 0,-1 0,26 0,-26 0,50 0,50 0,25-25,0 25,49-25,0 25,99-25,1 0,-1 1,-24-1,-25 0,-50-25,0 50,-49-24,-25 24,-25-25,-25 25,0 0,0 0,-24-25,-26 0,1 0,-25 1,-50-26,0 0,0 1,50 24,24 0,1 25,24 0,1 0,24 0,0 0,0 0,1 0,24 25,49 25,1-50,-1 24,26-24,-1 0,1 0,-26 0,1 0,-1 0,-24 0,-50 0,1 0,-1 0,-25 0,1 0,-1 0,0 0,1 0,24 0,-25 0,26 0,24 25,24-25,1 0,0 0,25 0,24 0,25 25,25-25,-49 0,-26 0,-24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44.32901" units="1/cm"/>
          <inkml:channelProperty channel="Y" name="resolution" value="44.39306" units="1/cm"/>
        </inkml:channelProperties>
      </inkml:inkSource>
      <inkml:timestamp xml:id="ts0" timeString="2022-05-05T04:38:56.58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11857 8310,'-25'0,"0"0,25 24,-25-24,75 0,24 0,-24 0,49 0,-25 0,26 0,-26 0,25 0,-24 0,24 0,-74 0,24 0,-73 0,-1 0,0 25,-25-25,1 25,-26 0,1 0,-50-1,25 1,49 0,25-25,0 0,50 0,25 0,49 0,0 0,50 0,-50 0,1 0,-1 0,-74 0,-1 0,-48 0,24 25,0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44.32901" units="1/cm"/>
          <inkml:channelProperty channel="Y" name="resolution" value="44.39306" units="1/cm"/>
        </inkml:channelProperties>
      </inkml:inkSource>
      <inkml:timestamp xml:id="ts0" timeString="2022-05-05T04:38:59.17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4887 10864,'0'25,"49"25,75-25,50 24,24-24,25 0,50 0,25-1,0-24,-1 0,-24 0,-25 0,-49 0,24 0,-25 0,-24 0,0 0,-1 0,-74 0,25 0,25 25,-50-25,1 0,-1 0,50 0,-50 25,25-25,25 0,-50 0,25 0,-25 0,50 0,-25 0,50 0,-50 0,25 0,-50 0,74 0,-49 0,50 0,0 0,24 0,-49 0,0 0,-25 0,50 0,-75 0,50 0,-50 0,-25 0,25 0,-49 0,-25 0,0 0,-50 0,25 25,74-25,25 0,75 0,49 0,75 0,0 0,-1 0,-24 0,0 0,25 0,49 0,50 0,74 0,25-50,50 50,-50 0,-99 0,-25 0,-25 0,-24-25,24 25,-49 0,-1-24,1-26,-50 25,-25 0,-24-24,-75 49,0-25,-75 0,-24 25,-50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44.32901" units="1/cm"/>
          <inkml:channelProperty channel="Y" name="resolution" value="44.39306" units="1/cm"/>
        </inkml:channelProperties>
      </inkml:inkSource>
      <inkml:timestamp xml:id="ts0" timeString="2022-05-05T04:39:03.45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14660 8409,'24'0,"26"0,0 0,49 0,0 0,0 0,25 0,-49 0,-1 0,-24 0,-25 0,-1 0,1 0,0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44.32901" units="1/cm"/>
          <inkml:channelProperty channel="Y" name="resolution" value="44.39306" units="1/cm"/>
        </inkml:channelProperties>
      </inkml:inkSource>
      <inkml:timestamp xml:id="ts0" timeString="2022-05-05T04:39:10.23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17066 8434,'24'0,"1"0,0 0,25 0,24 0,0 0,26 0,24 0,-50 0,1 0,-26 0,1 0,-75 0,0 0,0 0,1 0,-1 0,0 0,0 0,-24 0,-1 0,25 0,0 0,0 0,1 0,-1 0,0 0,25 24,-25-24,0 0,50 0,25 0,-25 0,24 0,1 25,49-25,-24 0,24 0,0 0,-25 0,-49 0,-25 25,0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44.32901" units="1/cm"/>
          <inkml:channelProperty channel="Y" name="resolution" value="44.39306" units="1/cm"/>
        </inkml:channelProperties>
      </inkml:inkSource>
      <inkml:timestamp xml:id="ts0" timeString="2022-05-05T04:40:09.42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4366 7045,'24'0,"1"0,50 0,24 0,99 0,75 0,25 0,49 0,25 0,-74-25,-1 0,-73 0,24-24,-124-1,25 25,-100 0,-24 25,-50 0,0 0,1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44.32901" units="1/cm"/>
          <inkml:channelProperty channel="Y" name="resolution" value="44.39306" units="1/cm"/>
        </inkml:channelProperties>
      </inkml:inkSource>
      <inkml:timestamp xml:id="ts0" timeString="2022-05-05T04:40:11.32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4018 7888,'25'0,"25"0,24 0,50 0,99 0,100-25,99 0,148-49,50 24,-124 50,-148-25,-26 1,-74 24,-124-25,-49 25,-26 0,-74 0,1 0,-1 0,0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44.32901" units="1/cm"/>
          <inkml:channelProperty channel="Y" name="resolution" value="44.39306" units="1/cm"/>
        </inkml:channelProperties>
      </inkml:inkSource>
      <inkml:timestamp xml:id="ts0" timeString="2022-05-05T04:40:12.51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4068 9773,'25'0,"0"0,-1 0,26-25,99 25,99-49,74-1,100 0,99-24,-25 0,-149 49,-99 0,-49 0,-125 25,-24 0,-75 0,0 0,0 0,1 0,-1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44.32901" units="1/cm"/>
          <inkml:channelProperty channel="Y" name="resolution" value="44.39306" units="1/cm"/>
        </inkml:channelProperties>
      </inkml:inkSource>
      <inkml:timestamp xml:id="ts0" timeString="2022-05-05T04:40:14.39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4217 11261,'49'0,"1"0,24 0,26 0,24-24,24 24,-23 0,48 0,-49-25,50 25,-1 0,1-25,-50 25,0-25,-74 25,-25 0,-50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44.32901" units="1/cm"/>
          <inkml:channelProperty channel="Y" name="resolution" value="44.39306" units="1/cm"/>
        </inkml:channelProperties>
      </inkml:inkSource>
      <inkml:timestamp xml:id="ts0" timeString="2022-05-05T04:40:20.36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4217 12328,'25'0,"24"0,26 0,49-25,49 25,26 0,24 0,25 0,-25 0,0 0,-24 0,-25 0,-75 0,-25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44.32901" units="1/cm"/>
          <inkml:channelProperty channel="Y" name="resolution" value="44.39306" units="1/cm"/>
        </inkml:channelProperties>
      </inkml:inkSource>
      <inkml:timestamp xml:id="ts0" timeString="2022-05-05T04:40:21.66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4068 13965,'25'0,"0"0,49 0,50 0,99 0,75 0,0 0,24 0,-24 0,-50 0,-99 0,-50 0,-50 0,-73 0,-1 0,0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56BE02-4DD7-4F42-B213-B285ECA719F9}" type="datetimeFigureOut">
              <a:rPr lang="en-IN" smtClean="0"/>
              <a:t>23-07-2024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7B8DBB-B7C6-42B5-9BB4-62684B2953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4244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8" name="Google Shape;38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9" name="Google Shape;39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1" name="Google Shape;48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2" name="Google Shape;49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3" name="Google Shape;50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4" name="Google Shape;514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5" name="Google Shape;52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36" name="Google Shape;536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7" name="Google Shape;547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8" name="Google Shape;558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9" name="Google Shape;39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569" name="Google Shape;569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81" name="Google Shape;581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9" name="Google Shape;39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7" name="Google Shape;547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7" name="Google Shape;547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8" name="Google Shape;558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569" name="Google Shape;569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569" name="Google Shape;569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93" name="Google Shape;593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05" name="Google Shape;605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18" name="Google Shape;618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7B8DBB-B7C6-42B5-9BB4-62684B2953C2}" type="slidenum">
              <a:rPr lang="en-IN" smtClean="0"/>
              <a:t>42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13256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7B8DBB-B7C6-42B5-9BB4-62684B2953C2}" type="slidenum">
              <a:rPr lang="en-IN" smtClean="0"/>
              <a:t>43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13256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7B8DBB-B7C6-42B5-9BB4-62684B2953C2}" type="slidenum">
              <a:rPr lang="en-IN" smtClean="0"/>
              <a:t>44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132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47E02EC0-6C20-4401-B345-0D396F3BBE74}" type="datetimeFigureOut">
              <a:rPr lang="en-IN" smtClean="0"/>
              <a:t>23-07-2024</a:t>
            </a:fld>
            <a:endParaRPr lang="en-IN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48ADE76B-BB10-44A6-8294-C5C80AF8C9E8}" type="slidenum">
              <a:rPr lang="en-IN" smtClean="0"/>
              <a:t>‹#›</a:t>
            </a:fld>
            <a:endParaRPr lang="en-IN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2EC0-6C20-4401-B345-0D396F3BBE74}" type="datetimeFigureOut">
              <a:rPr lang="en-IN" smtClean="0"/>
              <a:t>23-07-2024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DE76B-BB10-44A6-8294-C5C80AF8C9E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2EC0-6C20-4401-B345-0D396F3BBE74}" type="datetimeFigureOut">
              <a:rPr lang="en-IN" smtClean="0"/>
              <a:t>23-07-2024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DE76B-BB10-44A6-8294-C5C80AF8C9E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2EC0-6C20-4401-B345-0D396F3BBE74}" type="datetimeFigureOut">
              <a:rPr lang="en-IN" smtClean="0"/>
              <a:t>23-07-2024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DE76B-BB10-44A6-8294-C5C80AF8C9E8}" type="slidenum">
              <a:rPr lang="en-IN" smtClean="0"/>
              <a:t>‹#›</a:t>
            </a:fld>
            <a:endParaRPr lang="en-I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2EC0-6C20-4401-B345-0D396F3BBE74}" type="datetimeFigureOut">
              <a:rPr lang="en-IN" smtClean="0"/>
              <a:t>23-07-2024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DE76B-BB10-44A6-8294-C5C80AF8C9E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2EC0-6C20-4401-B345-0D396F3BBE74}" type="datetimeFigureOut">
              <a:rPr lang="en-IN" smtClean="0"/>
              <a:t>23-07-2024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DE76B-BB10-44A6-8294-C5C80AF8C9E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2EC0-6C20-4401-B345-0D396F3BBE74}" type="datetimeFigureOut">
              <a:rPr lang="en-IN" smtClean="0"/>
              <a:t>23-07-2024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DE76B-BB10-44A6-8294-C5C80AF8C9E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2EC0-6C20-4401-B345-0D396F3BBE74}" type="datetimeFigureOut">
              <a:rPr lang="en-IN" smtClean="0"/>
              <a:t>23-07-2024</a:t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DE76B-BB10-44A6-8294-C5C80AF8C9E8}" type="slidenum">
              <a:rPr lang="en-IN" smtClean="0"/>
              <a:t>‹#›</a:t>
            </a:fld>
            <a:endParaRPr lang="en-IN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2EC0-6C20-4401-B345-0D396F3BBE74}" type="datetimeFigureOut">
              <a:rPr lang="en-IN" smtClean="0"/>
              <a:t>23-07-2024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DE76B-BB10-44A6-8294-C5C80AF8C9E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2EC0-6C20-4401-B345-0D396F3BBE74}" type="datetimeFigureOut">
              <a:rPr lang="en-IN" smtClean="0"/>
              <a:t>23-07-2024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DE76B-BB10-44A6-8294-C5C80AF8C9E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2EC0-6C20-4401-B345-0D396F3BBE74}" type="datetimeFigureOut">
              <a:rPr lang="en-IN" smtClean="0"/>
              <a:t>23-07-2024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DE76B-BB10-44A6-8294-C5C80AF8C9E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47E02EC0-6C20-4401-B345-0D396F3BBE74}" type="datetimeFigureOut">
              <a:rPr lang="en-IN" smtClean="0"/>
              <a:t>23-07-2024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48ADE76B-BB10-44A6-8294-C5C80AF8C9E8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Integer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mp.nus.edu.sg/~stevenha/cs1020e/lectures/L5%20-%20ADT.pdf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hyperlink" Target="https://www.comp.nus.edu.sg/~stevenha/cs1020e/lectures/L5%20-%20ADT.pdf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hyperlink" Target="https://www.comp.nus.edu.sg/~stevenha/cs1020e/lectures/L5%20-%20ADT.pdf" TargetMode="Externa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32.emf"/><Relationship Id="rId18" Type="http://schemas.openxmlformats.org/officeDocument/2006/relationships/customXml" Target="../ink/ink9.xml"/><Relationship Id="rId3" Type="http://schemas.openxmlformats.org/officeDocument/2006/relationships/image" Target="../media/image27.emf"/><Relationship Id="rId7" Type="http://schemas.openxmlformats.org/officeDocument/2006/relationships/image" Target="../media/image29.emf"/><Relationship Id="rId12" Type="http://schemas.openxmlformats.org/officeDocument/2006/relationships/customXml" Target="../ink/ink6.xml"/><Relationship Id="rId17" Type="http://schemas.openxmlformats.org/officeDocument/2006/relationships/image" Target="../media/image34.emf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31.emf"/><Relationship Id="rId5" Type="http://schemas.openxmlformats.org/officeDocument/2006/relationships/image" Target="../media/image28.emf"/><Relationship Id="rId15" Type="http://schemas.openxmlformats.org/officeDocument/2006/relationships/image" Target="../media/image33.emf"/><Relationship Id="rId10" Type="http://schemas.openxmlformats.org/officeDocument/2006/relationships/customXml" Target="../ink/ink5.xml"/><Relationship Id="rId19" Type="http://schemas.openxmlformats.org/officeDocument/2006/relationships/image" Target="../media/image35.emf"/><Relationship Id="rId4" Type="http://schemas.openxmlformats.org/officeDocument/2006/relationships/customXml" Target="../ink/ink2.xml"/><Relationship Id="rId9" Type="http://schemas.openxmlformats.org/officeDocument/2006/relationships/image" Target="../media/image30.emf"/><Relationship Id="rId14" Type="http://schemas.openxmlformats.org/officeDocument/2006/relationships/customXml" Target="../ink/ink7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emf"/><Relationship Id="rId13" Type="http://schemas.openxmlformats.org/officeDocument/2006/relationships/customXml" Target="../ink/ink15.xml"/><Relationship Id="rId18" Type="http://schemas.openxmlformats.org/officeDocument/2006/relationships/image" Target="../media/image44.emf"/><Relationship Id="rId26" Type="http://schemas.openxmlformats.org/officeDocument/2006/relationships/image" Target="../media/image48.emf"/><Relationship Id="rId3" Type="http://schemas.openxmlformats.org/officeDocument/2006/relationships/customXml" Target="../ink/ink10.xml"/><Relationship Id="rId21" Type="http://schemas.openxmlformats.org/officeDocument/2006/relationships/customXml" Target="../ink/ink19.xml"/><Relationship Id="rId7" Type="http://schemas.openxmlformats.org/officeDocument/2006/relationships/customXml" Target="../ink/ink12.xml"/><Relationship Id="rId12" Type="http://schemas.openxmlformats.org/officeDocument/2006/relationships/image" Target="../media/image41.emf"/><Relationship Id="rId17" Type="http://schemas.openxmlformats.org/officeDocument/2006/relationships/customXml" Target="../ink/ink17.xml"/><Relationship Id="rId25" Type="http://schemas.openxmlformats.org/officeDocument/2006/relationships/customXml" Target="../ink/ink21.xml"/><Relationship Id="rId2" Type="http://schemas.openxmlformats.org/officeDocument/2006/relationships/image" Target="../media/image9.png"/><Relationship Id="rId16" Type="http://schemas.openxmlformats.org/officeDocument/2006/relationships/image" Target="../media/image43.emf"/><Relationship Id="rId20" Type="http://schemas.openxmlformats.org/officeDocument/2006/relationships/image" Target="../media/image4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emf"/><Relationship Id="rId11" Type="http://schemas.openxmlformats.org/officeDocument/2006/relationships/customXml" Target="../ink/ink14.xml"/><Relationship Id="rId24" Type="http://schemas.openxmlformats.org/officeDocument/2006/relationships/image" Target="../media/image47.emf"/><Relationship Id="rId5" Type="http://schemas.openxmlformats.org/officeDocument/2006/relationships/customXml" Target="../ink/ink11.xml"/><Relationship Id="rId15" Type="http://schemas.openxmlformats.org/officeDocument/2006/relationships/customXml" Target="../ink/ink16.xml"/><Relationship Id="rId23" Type="http://schemas.openxmlformats.org/officeDocument/2006/relationships/customXml" Target="../ink/ink20.xml"/><Relationship Id="rId28" Type="http://schemas.openxmlformats.org/officeDocument/2006/relationships/image" Target="../media/image49.emf"/><Relationship Id="rId10" Type="http://schemas.openxmlformats.org/officeDocument/2006/relationships/image" Target="../media/image40.emf"/><Relationship Id="rId19" Type="http://schemas.openxmlformats.org/officeDocument/2006/relationships/customXml" Target="../ink/ink18.xml"/><Relationship Id="rId4" Type="http://schemas.openxmlformats.org/officeDocument/2006/relationships/image" Target="../media/image37.emf"/><Relationship Id="rId9" Type="http://schemas.openxmlformats.org/officeDocument/2006/relationships/customXml" Target="../ink/ink13.xml"/><Relationship Id="rId14" Type="http://schemas.openxmlformats.org/officeDocument/2006/relationships/image" Target="../media/image42.emf"/><Relationship Id="rId22" Type="http://schemas.openxmlformats.org/officeDocument/2006/relationships/image" Target="../media/image46.emf"/><Relationship Id="rId27" Type="http://schemas.openxmlformats.org/officeDocument/2006/relationships/customXml" Target="../ink/ink2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customXml" Target="../ink/ink26.xml"/><Relationship Id="rId13" Type="http://schemas.openxmlformats.org/officeDocument/2006/relationships/image" Target="../media/image55.emf"/><Relationship Id="rId3" Type="http://schemas.openxmlformats.org/officeDocument/2006/relationships/image" Target="../media/image50.emf"/><Relationship Id="rId7" Type="http://schemas.openxmlformats.org/officeDocument/2006/relationships/image" Target="../media/image52.emf"/><Relationship Id="rId12" Type="http://schemas.openxmlformats.org/officeDocument/2006/relationships/customXml" Target="../ink/ink28.xml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5.xml"/><Relationship Id="rId11" Type="http://schemas.openxmlformats.org/officeDocument/2006/relationships/image" Target="../media/image54.emf"/><Relationship Id="rId5" Type="http://schemas.openxmlformats.org/officeDocument/2006/relationships/image" Target="../media/image51.emf"/><Relationship Id="rId10" Type="http://schemas.openxmlformats.org/officeDocument/2006/relationships/customXml" Target="../ink/ink27.xml"/><Relationship Id="rId4" Type="http://schemas.openxmlformats.org/officeDocument/2006/relationships/customXml" Target="../ink/ink24.xml"/><Relationship Id="rId9" Type="http://schemas.openxmlformats.org/officeDocument/2006/relationships/image" Target="../media/image53.e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1.xml"/><Relationship Id="rId13" Type="http://schemas.openxmlformats.org/officeDocument/2006/relationships/image" Target="../media/image61.emf"/><Relationship Id="rId3" Type="http://schemas.openxmlformats.org/officeDocument/2006/relationships/image" Target="../media/image10.png"/><Relationship Id="rId7" Type="http://schemas.openxmlformats.org/officeDocument/2006/relationships/image" Target="../media/image58.emf"/><Relationship Id="rId12" Type="http://schemas.openxmlformats.org/officeDocument/2006/relationships/customXml" Target="../ink/ink33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0.xml"/><Relationship Id="rId11" Type="http://schemas.openxmlformats.org/officeDocument/2006/relationships/image" Target="../media/image60.emf"/><Relationship Id="rId5" Type="http://schemas.openxmlformats.org/officeDocument/2006/relationships/image" Target="../media/image57.emf"/><Relationship Id="rId15" Type="http://schemas.openxmlformats.org/officeDocument/2006/relationships/image" Target="../media/image62.emf"/><Relationship Id="rId10" Type="http://schemas.openxmlformats.org/officeDocument/2006/relationships/customXml" Target="../ink/ink32.xml"/><Relationship Id="rId4" Type="http://schemas.openxmlformats.org/officeDocument/2006/relationships/customXml" Target="../ink/ink29.xml"/><Relationship Id="rId9" Type="http://schemas.openxmlformats.org/officeDocument/2006/relationships/image" Target="../media/image59.emf"/><Relationship Id="rId14" Type="http://schemas.openxmlformats.org/officeDocument/2006/relationships/customXml" Target="../ink/ink3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emf"/><Relationship Id="rId13" Type="http://schemas.openxmlformats.org/officeDocument/2006/relationships/customXml" Target="../ink/ink40.xml"/><Relationship Id="rId3" Type="http://schemas.openxmlformats.org/officeDocument/2006/relationships/customXml" Target="../ink/ink35.xml"/><Relationship Id="rId7" Type="http://schemas.openxmlformats.org/officeDocument/2006/relationships/customXml" Target="../ink/ink37.xml"/><Relationship Id="rId12" Type="http://schemas.openxmlformats.org/officeDocument/2006/relationships/image" Target="../media/image67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emf"/><Relationship Id="rId11" Type="http://schemas.openxmlformats.org/officeDocument/2006/relationships/customXml" Target="../ink/ink39.xml"/><Relationship Id="rId5" Type="http://schemas.openxmlformats.org/officeDocument/2006/relationships/customXml" Target="../ink/ink36.xml"/><Relationship Id="rId10" Type="http://schemas.openxmlformats.org/officeDocument/2006/relationships/image" Target="../media/image66.emf"/><Relationship Id="rId4" Type="http://schemas.openxmlformats.org/officeDocument/2006/relationships/image" Target="../media/image63.emf"/><Relationship Id="rId9" Type="http://schemas.openxmlformats.org/officeDocument/2006/relationships/customXml" Target="../ink/ink38.xml"/><Relationship Id="rId14" Type="http://schemas.openxmlformats.org/officeDocument/2006/relationships/image" Target="../media/image6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ADT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1996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241096"/>
          </a:xfrm>
        </p:spPr>
        <p:txBody>
          <a:bodyPr>
            <a:noAutofit/>
          </a:bodyPr>
          <a:lstStyle/>
          <a:p>
            <a:r>
              <a:rPr lang="en-IN" sz="2400" b="1" dirty="0" smtClean="0"/>
              <a:t>Abstract Data Type-Definition</a:t>
            </a:r>
            <a:endParaRPr lang="en-IN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5616" y="1628800"/>
            <a:ext cx="6777317" cy="3508977"/>
          </a:xfrm>
        </p:spPr>
        <p:txBody>
          <a:bodyPr>
            <a:noAutofit/>
          </a:bodyPr>
          <a:lstStyle/>
          <a:p>
            <a:r>
              <a:rPr lang="en-IN" sz="2000" b="1" dirty="0" smtClean="0"/>
              <a:t>A mathematical concept that defines the data type.</a:t>
            </a:r>
          </a:p>
          <a:p>
            <a:r>
              <a:rPr lang="en-IN" sz="2000" b="1" dirty="0" smtClean="0"/>
              <a:t>This mathematical construct may be implemented using a particular hardware or software data structure.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0408D-954B-4DD7-8A5A-8FE57F80CE76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 smtClean="0"/>
              <a:t>2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611560" y="6179190"/>
            <a:ext cx="806489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/>
              <a:t>Data Structures using C: </a:t>
            </a:r>
            <a:r>
              <a:rPr lang="en-US" sz="1400" dirty="0" err="1" smtClean="0"/>
              <a:t>Tenanbaum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74726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241096"/>
          </a:xfrm>
        </p:spPr>
        <p:txBody>
          <a:bodyPr>
            <a:noAutofit/>
          </a:bodyPr>
          <a:lstStyle/>
          <a:p>
            <a:r>
              <a:rPr lang="en-IN" sz="2400" b="1" dirty="0" smtClean="0"/>
              <a:t>Abstract Data Type-Definition</a:t>
            </a:r>
            <a:endParaRPr lang="en-IN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5616" y="1628800"/>
            <a:ext cx="6777317" cy="3508977"/>
          </a:xfrm>
        </p:spPr>
        <p:txBody>
          <a:bodyPr>
            <a:noAutofit/>
          </a:bodyPr>
          <a:lstStyle/>
          <a:p>
            <a:r>
              <a:rPr lang="en-IN" sz="1800" dirty="0" smtClean="0"/>
              <a:t>A </a:t>
            </a:r>
            <a:r>
              <a:rPr lang="en-IN" sz="1800" dirty="0"/>
              <a:t>mathematical model, together with various operations defined on the model</a:t>
            </a:r>
          </a:p>
          <a:p>
            <a:endParaRPr lang="en-IN" sz="1800" dirty="0" smtClean="0"/>
          </a:p>
          <a:p>
            <a:r>
              <a:rPr lang="en-IN" sz="1800" b="1" dirty="0" smtClean="0"/>
              <a:t>An </a:t>
            </a:r>
            <a:r>
              <a:rPr lang="en-IN" sz="1800" b="1" dirty="0"/>
              <a:t>ADT is a collection of data and associated operations for manipulating that data</a:t>
            </a:r>
          </a:p>
          <a:p>
            <a:endParaRPr lang="en-IN" sz="1800" b="1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0408D-954B-4DD7-8A5A-8FE57F80CE76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 smtClean="0"/>
              <a:t>3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611560" y="6179190"/>
            <a:ext cx="806489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/>
              <a:t>Courtesy: https</a:t>
            </a:r>
            <a:r>
              <a:rPr lang="en-US" sz="1400" dirty="0"/>
              <a:t>://www.geeksforgeeks.org/abstract-data-types/</a:t>
            </a:r>
          </a:p>
        </p:txBody>
      </p:sp>
    </p:spTree>
    <p:extLst>
      <p:ext uri="{BB962C8B-B14F-4D97-AF65-F5344CB8AC3E}">
        <p14:creationId xmlns:p14="http://schemas.microsoft.com/office/powerpoint/2010/main" val="3223981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241096"/>
          </a:xfrm>
        </p:spPr>
        <p:txBody>
          <a:bodyPr>
            <a:noAutofit/>
          </a:bodyPr>
          <a:lstStyle/>
          <a:p>
            <a:r>
              <a:rPr lang="en-IN" sz="2400" b="1" dirty="0" smtClean="0"/>
              <a:t>Abstract Data Type-Definition</a:t>
            </a:r>
            <a:endParaRPr lang="en-IN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5616" y="1628800"/>
            <a:ext cx="6777317" cy="3508977"/>
          </a:xfrm>
        </p:spPr>
        <p:txBody>
          <a:bodyPr>
            <a:noAutofit/>
          </a:bodyPr>
          <a:lstStyle/>
          <a:p>
            <a:r>
              <a:rPr lang="en-IN" sz="1800" dirty="0" smtClean="0"/>
              <a:t>Defined as a "class of objects whose logical </a:t>
            </a:r>
            <a:r>
              <a:rPr lang="en-IN" sz="1800" dirty="0" err="1" smtClean="0"/>
              <a:t>behavior</a:t>
            </a:r>
            <a:r>
              <a:rPr lang="en-IN" sz="1800" dirty="0" smtClean="0"/>
              <a:t> is defined by </a:t>
            </a:r>
            <a:r>
              <a:rPr lang="en-IN" sz="1800" b="1" dirty="0" smtClean="0"/>
              <a:t>a set of values and a set of operations“</a:t>
            </a:r>
          </a:p>
          <a:p>
            <a:endParaRPr lang="en-IN" sz="1800" dirty="0"/>
          </a:p>
          <a:p>
            <a:r>
              <a:rPr lang="en-IN" sz="1800" dirty="0" smtClean="0"/>
              <a:t>The definition of ADT only mentions </a:t>
            </a:r>
          </a:p>
          <a:p>
            <a:pPr lvl="1"/>
            <a:r>
              <a:rPr lang="en-IN" sz="1800" b="1" dirty="0" smtClean="0"/>
              <a:t>what operations are to be performed </a:t>
            </a:r>
          </a:p>
          <a:p>
            <a:pPr lvl="1"/>
            <a:r>
              <a:rPr lang="en-IN" sz="1800" b="1" dirty="0" smtClean="0"/>
              <a:t>but not how these operations will be implemented.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0408D-954B-4DD7-8A5A-8FE57F80CE76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 smtClean="0"/>
              <a:t>4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611560" y="6179190"/>
            <a:ext cx="806489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/>
              <a:t>Courtesy: https</a:t>
            </a:r>
            <a:r>
              <a:rPr lang="en-US" sz="1400" dirty="0"/>
              <a:t>://www.geeksforgeeks.org/abstract-data-types/</a:t>
            </a:r>
          </a:p>
        </p:txBody>
      </p:sp>
    </p:spTree>
    <p:extLst>
      <p:ext uri="{BB962C8B-B14F-4D97-AF65-F5344CB8AC3E}">
        <p14:creationId xmlns:p14="http://schemas.microsoft.com/office/powerpoint/2010/main" val="3895277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241096"/>
          </a:xfrm>
        </p:spPr>
        <p:txBody>
          <a:bodyPr>
            <a:noAutofit/>
          </a:bodyPr>
          <a:lstStyle/>
          <a:p>
            <a:r>
              <a:rPr lang="en-IN" sz="2400" b="1" dirty="0" smtClean="0"/>
              <a:t>Abstract Data Type</a:t>
            </a:r>
            <a:endParaRPr lang="en-IN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5616" y="1628800"/>
            <a:ext cx="6777317" cy="3508977"/>
          </a:xfrm>
        </p:spPr>
        <p:txBody>
          <a:bodyPr>
            <a:noAutofit/>
          </a:bodyPr>
          <a:lstStyle/>
          <a:p>
            <a:endParaRPr lang="en-IN" sz="1800" dirty="0" smtClean="0"/>
          </a:p>
          <a:p>
            <a:r>
              <a:rPr lang="en-IN" sz="1800" dirty="0" smtClean="0"/>
              <a:t>It does not specify </a:t>
            </a:r>
          </a:p>
          <a:p>
            <a:pPr lvl="1"/>
            <a:r>
              <a:rPr lang="en-IN" sz="1800" dirty="0" smtClean="0"/>
              <a:t>how data will be organized in memory and </a:t>
            </a:r>
          </a:p>
          <a:p>
            <a:pPr lvl="1"/>
            <a:r>
              <a:rPr lang="en-IN" sz="1800" dirty="0" smtClean="0"/>
              <a:t>what algorithms will be used for implementing the operations. </a:t>
            </a:r>
          </a:p>
          <a:p>
            <a:pPr lvl="1"/>
            <a:r>
              <a:rPr lang="en-IN" sz="1800" dirty="0" smtClean="0"/>
              <a:t>Not concerned with space and time complexity</a:t>
            </a:r>
          </a:p>
          <a:p>
            <a:pPr lvl="1"/>
            <a:r>
              <a:rPr lang="en-IN" sz="1800" dirty="0" smtClean="0"/>
              <a:t>Not concerned with implementation details at all</a:t>
            </a:r>
          </a:p>
          <a:p>
            <a:endParaRPr lang="en-IN" sz="18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0408D-954B-4DD7-8A5A-8FE57F80CE76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 smtClean="0"/>
              <a:t>5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611560" y="6179190"/>
            <a:ext cx="806489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/>
              <a:t>Courtesy: https</a:t>
            </a:r>
            <a:r>
              <a:rPr lang="en-US" sz="1400" dirty="0"/>
              <a:t>://www.geeksforgeeks.org/abstract-data-types/</a:t>
            </a:r>
          </a:p>
        </p:txBody>
      </p:sp>
    </p:spTree>
    <p:extLst>
      <p:ext uri="{BB962C8B-B14F-4D97-AF65-F5344CB8AC3E}">
        <p14:creationId xmlns:p14="http://schemas.microsoft.com/office/powerpoint/2010/main" val="2567216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241096"/>
          </a:xfrm>
        </p:spPr>
        <p:txBody>
          <a:bodyPr>
            <a:noAutofit/>
          </a:bodyPr>
          <a:lstStyle/>
          <a:p>
            <a:r>
              <a:rPr lang="en-IN" sz="2400" b="1" dirty="0" smtClean="0"/>
              <a:t>Abstract Data Type</a:t>
            </a:r>
            <a:endParaRPr lang="en-IN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5616" y="1628800"/>
            <a:ext cx="6777317" cy="3508977"/>
          </a:xfrm>
        </p:spPr>
        <p:txBody>
          <a:bodyPr>
            <a:noAutofit/>
          </a:bodyPr>
          <a:lstStyle/>
          <a:p>
            <a:endParaRPr lang="en-IN" sz="1800" dirty="0" smtClean="0"/>
          </a:p>
          <a:p>
            <a:r>
              <a:rPr lang="en-IN" sz="1800" dirty="0" smtClean="0"/>
              <a:t>May not even be possible to implement a particular ADT on a particular piece of hardware or using a particular software system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0408D-954B-4DD7-8A5A-8FE57F80CE76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 smtClean="0"/>
              <a:t>6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611560" y="6179190"/>
            <a:ext cx="806489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/>
              <a:t>Courtesy: https</a:t>
            </a:r>
            <a:r>
              <a:rPr lang="en-US" sz="1400" dirty="0"/>
              <a:t>://www.geeksforgeeks.org/abstract-data-types/</a:t>
            </a:r>
          </a:p>
        </p:txBody>
      </p:sp>
    </p:spTree>
    <p:extLst>
      <p:ext uri="{BB962C8B-B14F-4D97-AF65-F5344CB8AC3E}">
        <p14:creationId xmlns:p14="http://schemas.microsoft.com/office/powerpoint/2010/main" val="2611807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2204864"/>
            <a:ext cx="6777317" cy="3508977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US" sz="2000" dirty="0" smtClean="0"/>
              <a:t>Data </a:t>
            </a:r>
            <a:r>
              <a:rPr lang="en-US" sz="2000" dirty="0"/>
              <a:t>abstraction </a:t>
            </a:r>
            <a:endParaRPr lang="en-US" sz="2000" dirty="0" smtClean="0"/>
          </a:p>
          <a:p>
            <a:r>
              <a:rPr lang="en-US" sz="2000" dirty="0" smtClean="0"/>
              <a:t>Providing </a:t>
            </a:r>
            <a:r>
              <a:rPr lang="en-US" sz="2000" dirty="0"/>
              <a:t>only essential information about the data to the outside world, hiding the background details or implementation. </a:t>
            </a:r>
            <a:endParaRPr lang="en-US" sz="2000" dirty="0" smtClean="0"/>
          </a:p>
          <a:p>
            <a:endParaRPr lang="en-IN" sz="22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29D8D-2608-48B0-9091-9BBABCCCF613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 smtClean="0"/>
              <a:t>7</a:t>
            </a:fld>
            <a:endParaRPr lang="en-IN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043490" y="1027664"/>
            <a:ext cx="7024744" cy="24109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2400" b="1" smtClean="0"/>
              <a:t>Abstract Data Type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384132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2204864"/>
            <a:ext cx="6777317" cy="3508977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Consider a</a:t>
            </a:r>
            <a:r>
              <a:rPr lang="en-US" sz="2000" b="1" i="1" dirty="0"/>
              <a:t> real-life example of a man driving a car</a:t>
            </a:r>
            <a:r>
              <a:rPr lang="en-US" sz="2000" dirty="0"/>
              <a:t>. </a:t>
            </a:r>
            <a:endParaRPr lang="en-US" sz="2000" dirty="0" smtClean="0"/>
          </a:p>
          <a:p>
            <a:r>
              <a:rPr lang="en-US" sz="2000" dirty="0" smtClean="0"/>
              <a:t>The </a:t>
            </a:r>
            <a:r>
              <a:rPr lang="en-US" sz="2000" dirty="0"/>
              <a:t>man only knows that </a:t>
            </a:r>
            <a:r>
              <a:rPr lang="en-US" sz="2000" b="1" dirty="0"/>
              <a:t>pressing the accelerator will increase the speed of the car or applying brakes will stop the ca</a:t>
            </a:r>
            <a:r>
              <a:rPr lang="en-US" sz="2000" dirty="0"/>
              <a:t>r </a:t>
            </a:r>
            <a:endParaRPr lang="en-US" sz="2000" dirty="0" smtClean="0"/>
          </a:p>
          <a:p>
            <a:r>
              <a:rPr lang="en-US" sz="2000" dirty="0" smtClean="0"/>
              <a:t>but </a:t>
            </a:r>
            <a:r>
              <a:rPr lang="en-US" sz="2000" dirty="0"/>
              <a:t>he does not know how on pressing the accelerator the speed is actually increasing, </a:t>
            </a:r>
            <a:endParaRPr lang="en-US" sz="2000" dirty="0" smtClean="0"/>
          </a:p>
          <a:p>
            <a:r>
              <a:rPr lang="en-US" sz="2000" dirty="0" smtClean="0"/>
              <a:t>he </a:t>
            </a:r>
            <a:r>
              <a:rPr lang="en-US" sz="2000" dirty="0"/>
              <a:t>does not know about the inner mechanism of the car or </a:t>
            </a:r>
            <a:endParaRPr lang="en-US" sz="2000" dirty="0" smtClean="0"/>
          </a:p>
          <a:p>
            <a:r>
              <a:rPr lang="en-US" sz="2000" dirty="0" smtClean="0"/>
              <a:t>the </a:t>
            </a:r>
            <a:r>
              <a:rPr lang="en-US" sz="2000" dirty="0"/>
              <a:t>implementation of the accelerator, brakes, </a:t>
            </a:r>
            <a:r>
              <a:rPr lang="en-US" sz="2000" dirty="0" err="1"/>
              <a:t>etc</a:t>
            </a:r>
            <a:r>
              <a:rPr lang="en-US" sz="2000" dirty="0"/>
              <a:t> in the car.</a:t>
            </a:r>
            <a:endParaRPr lang="en-IN" sz="22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29D8D-2608-48B0-9091-9BBABCCCF613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 smtClean="0"/>
              <a:t>8</a:t>
            </a:fld>
            <a:endParaRPr lang="en-IN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043490" y="1027664"/>
            <a:ext cx="7024744" cy="24109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2400" b="1" smtClean="0"/>
              <a:t>Abstract Data Type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205578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9592" y="1412776"/>
            <a:ext cx="6777317" cy="3508977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200" dirty="0" smtClean="0"/>
              <a:t>Encapsulation-</a:t>
            </a:r>
          </a:p>
          <a:p>
            <a:r>
              <a:rPr lang="en-US" sz="2000" b="1" dirty="0" smtClean="0"/>
              <a:t>Encapsulation</a:t>
            </a:r>
            <a:r>
              <a:rPr lang="en-US" sz="2000" dirty="0"/>
              <a:t> refers to the bundling of data with </a:t>
            </a:r>
            <a:r>
              <a:rPr lang="en-US" sz="2000" dirty="0" smtClean="0"/>
              <a:t>the </a:t>
            </a:r>
            <a:r>
              <a:rPr lang="en-US" sz="2000" dirty="0"/>
              <a:t>methods that operate on the data</a:t>
            </a:r>
            <a:r>
              <a:rPr lang="en-US" sz="2000" dirty="0" smtClean="0"/>
              <a:t>.</a:t>
            </a:r>
          </a:p>
          <a:p>
            <a:r>
              <a:rPr lang="en-US" sz="2000" dirty="0"/>
              <a:t>In Object Oriented Programming, Encapsulation is defined as </a:t>
            </a:r>
            <a:r>
              <a:rPr lang="en-US" sz="2000" b="1" dirty="0"/>
              <a:t>binding together the data and the functions that manipulate them</a:t>
            </a:r>
            <a:r>
              <a:rPr lang="en-US" sz="2000" b="1" dirty="0" smtClean="0"/>
              <a:t>.</a:t>
            </a:r>
            <a:endParaRPr lang="en-IN" sz="2000" b="1" dirty="0"/>
          </a:p>
          <a:p>
            <a:endParaRPr lang="en-IN" sz="20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29D8D-2608-48B0-9091-9BBABCCCF613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 smtClean="0"/>
              <a:t>9</a:t>
            </a:fld>
            <a:endParaRPr lang="en-IN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043490" y="1027664"/>
            <a:ext cx="7024744" cy="24109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2400" b="1" smtClean="0"/>
              <a:t>Abstract Data Type</a:t>
            </a:r>
            <a:endParaRPr lang="en-IN" sz="2400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3858257"/>
            <a:ext cx="3456384" cy="21434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93226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2204864"/>
            <a:ext cx="6777317" cy="3508977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200" dirty="0" smtClean="0"/>
              <a:t>Encapsulation-</a:t>
            </a:r>
          </a:p>
          <a:p>
            <a:r>
              <a:rPr lang="en-US" sz="2200" dirty="0"/>
              <a:t>Most OOP languages </a:t>
            </a:r>
            <a:r>
              <a:rPr lang="en-US" sz="2200" b="1" dirty="0"/>
              <a:t>implement encapsulation primarily through classes and the objects instantiated through those classes. </a:t>
            </a:r>
            <a:endParaRPr lang="en-US" sz="2200" b="1" dirty="0" smtClean="0"/>
          </a:p>
          <a:p>
            <a:r>
              <a:rPr lang="en-US" sz="2200" dirty="0" smtClean="0"/>
              <a:t>A </a:t>
            </a:r>
            <a:r>
              <a:rPr lang="en-US" sz="2200" dirty="0"/>
              <a:t>class defines a set of attributes for the data and the methods used to carry out operations related to the data</a:t>
            </a:r>
            <a:r>
              <a:rPr lang="en-US" sz="2200" dirty="0" smtClean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29D8D-2608-48B0-9091-9BBABCCCF613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 smtClean="0"/>
              <a:t>10</a:t>
            </a:fld>
            <a:endParaRPr lang="en-IN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043490" y="1027664"/>
            <a:ext cx="7024744" cy="24109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2400" b="1" smtClean="0"/>
              <a:t>Abstract Data Type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223082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2204864"/>
            <a:ext cx="6777317" cy="3508977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200" dirty="0" smtClean="0"/>
              <a:t>Encapsulation-</a:t>
            </a:r>
          </a:p>
          <a:p>
            <a:r>
              <a:rPr lang="en-IN" sz="2200" dirty="0" smtClean="0"/>
              <a:t>Think of ADT as a black box which hides the inner structure and design of the data type. </a:t>
            </a:r>
          </a:p>
          <a:p>
            <a:r>
              <a:rPr lang="en-IN" sz="2200" dirty="0" smtClean="0"/>
              <a:t>The principle of </a:t>
            </a:r>
            <a:r>
              <a:rPr lang="en-IN" sz="2200" b="1" dirty="0" smtClean="0"/>
              <a:t>hiding the used data structure and to only provide a well-defined interface </a:t>
            </a:r>
            <a:r>
              <a:rPr lang="en-IN" sz="2200" dirty="0" smtClean="0"/>
              <a:t>is known as encapsulation.</a:t>
            </a:r>
          </a:p>
          <a:p>
            <a:endParaRPr lang="en-IN" sz="2000" dirty="0" smtClean="0"/>
          </a:p>
          <a:p>
            <a:endParaRPr lang="en-IN" sz="20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29D8D-2608-48B0-9091-9BBABCCCF613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 smtClean="0"/>
              <a:t>11</a:t>
            </a:fld>
            <a:endParaRPr lang="en-IN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043490" y="1027664"/>
            <a:ext cx="7024744" cy="24109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2400" b="1" smtClean="0"/>
              <a:t>Abstract Data Type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841338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dirty="0"/>
              <a:t>ADTs support abstraction, encapsulation, and information hiding.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29D8D-2608-48B0-9091-9BBABCCCF613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 smtClean="0"/>
              <a:t>12</a:t>
            </a:fld>
            <a:endParaRPr lang="en-IN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043490" y="1027664"/>
            <a:ext cx="7024744" cy="24109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2400" b="1" smtClean="0"/>
              <a:t>Abstract Data Type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284577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6"/>
          <p:cNvSpPr txBox="1">
            <a:spLocks noGrp="1"/>
          </p:cNvSpPr>
          <p:nvPr>
            <p:ph type="title"/>
          </p:nvPr>
        </p:nvSpPr>
        <p:spPr>
          <a:xfrm>
            <a:off x="2164608" y="539227"/>
            <a:ext cx="54236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/>
              <a:buNone/>
            </a:pPr>
            <a:r>
              <a:rPr lang="en-US" sz="3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ADT Operations </a:t>
            </a:r>
            <a:endParaRPr sz="3200"/>
          </a:p>
        </p:txBody>
      </p:sp>
      <p:sp>
        <p:nvSpPr>
          <p:cNvPr id="384" name="Google Shape;384;p16"/>
          <p:cNvSpPr txBox="1"/>
          <p:nvPr/>
        </p:nvSpPr>
        <p:spPr>
          <a:xfrm>
            <a:off x="611560" y="1709789"/>
            <a:ext cx="7736306" cy="4239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Arial"/>
              <a:buNone/>
            </a:pPr>
            <a:r>
              <a:rPr lang="en-US" sz="2000" i="0" u="none" strike="noStrike" cap="none" dirty="0">
                <a:solidFill>
                  <a:srgbClr val="262626"/>
                </a:solidFill>
                <a:ea typeface="Arial"/>
                <a:cs typeface="Arial"/>
                <a:sym typeface="Arial"/>
              </a:rPr>
              <a:t>Every Collection ADT should provide a way to:</a:t>
            </a:r>
            <a:endParaRPr sz="2000" i="0" u="none" strike="noStrike" cap="none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Arial"/>
              <a:buChar char="•"/>
            </a:pPr>
            <a:r>
              <a:rPr lang="en-US" sz="2000" b="1" i="0" u="none" strike="noStrike" cap="none" dirty="0">
                <a:solidFill>
                  <a:srgbClr val="262626"/>
                </a:solidFill>
                <a:ea typeface="Arial"/>
                <a:cs typeface="Arial"/>
                <a:sym typeface="Arial"/>
              </a:rPr>
              <a:t>Create data structure</a:t>
            </a:r>
            <a:endParaRPr sz="2000" b="1" i="0" u="none" strike="noStrike" cap="none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Arial"/>
              <a:buChar char="•"/>
            </a:pPr>
            <a:r>
              <a:rPr lang="en-US" sz="2000" b="1" i="0" u="none" strike="noStrike" cap="none" dirty="0">
                <a:solidFill>
                  <a:srgbClr val="262626"/>
                </a:solidFill>
                <a:ea typeface="Arial"/>
                <a:cs typeface="Arial"/>
                <a:sym typeface="Arial"/>
              </a:rPr>
              <a:t>add an item</a:t>
            </a:r>
            <a:endParaRPr sz="2000" b="1" i="0" u="none" strike="noStrike" cap="none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Arial"/>
              <a:buChar char="•"/>
            </a:pPr>
            <a:r>
              <a:rPr lang="en-US" sz="2000" b="1" i="0" u="none" strike="noStrike" cap="none" dirty="0">
                <a:solidFill>
                  <a:srgbClr val="262626"/>
                </a:solidFill>
                <a:ea typeface="Arial"/>
                <a:cs typeface="Arial"/>
                <a:sym typeface="Arial"/>
              </a:rPr>
              <a:t>remove an item</a:t>
            </a:r>
            <a:endParaRPr sz="2000" b="1" i="0" u="none" strike="noStrike" cap="none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Arial"/>
              <a:buChar char="•"/>
            </a:pPr>
            <a:r>
              <a:rPr lang="en-US" sz="2000" b="1" i="0" u="none" strike="noStrike" cap="none" dirty="0">
                <a:solidFill>
                  <a:srgbClr val="262626"/>
                </a:solidFill>
                <a:ea typeface="Arial"/>
                <a:cs typeface="Arial"/>
                <a:sym typeface="Arial"/>
              </a:rPr>
              <a:t>find, retrieve, or access an item</a:t>
            </a:r>
            <a:endParaRPr sz="2000" b="1" i="0" u="none" strike="noStrike" cap="none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000" i="0" u="none" strike="noStrike" cap="none" dirty="0">
              <a:solidFill>
                <a:srgbClr val="262626"/>
              </a:solidFill>
              <a:ea typeface="Arial"/>
              <a:cs typeface="Arial"/>
              <a:sym typeface="Arial"/>
            </a:endParaRPr>
          </a:p>
          <a:p>
            <a:pPr marL="0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i="0" u="none" strike="noStrike" cap="none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No single data structure works well for all purposes, and so it is important to know the strengths and limitations of several of them</a:t>
            </a:r>
            <a:endParaRPr sz="2000" i="0" u="none" strike="noStrike" cap="none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24495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7"/>
          <p:cNvSpPr txBox="1">
            <a:spLocks noGrp="1"/>
          </p:cNvSpPr>
          <p:nvPr>
            <p:ph type="title"/>
          </p:nvPr>
        </p:nvSpPr>
        <p:spPr>
          <a:xfrm>
            <a:off x="1676400" y="1219583"/>
            <a:ext cx="5911857" cy="685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/>
              <a:buNone/>
            </a:pPr>
            <a:r>
              <a:rPr lang="en-US" sz="3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ADT Syntax : Value Definition </a:t>
            </a:r>
            <a:endParaRPr sz="3200">
              <a:solidFill>
                <a:srgbClr val="C00000"/>
              </a:solidFill>
            </a:endParaRPr>
          </a:p>
        </p:txBody>
      </p:sp>
      <p:sp>
        <p:nvSpPr>
          <p:cNvPr id="395" name="Google Shape;395;p17"/>
          <p:cNvSpPr txBox="1"/>
          <p:nvPr/>
        </p:nvSpPr>
        <p:spPr>
          <a:xfrm>
            <a:off x="533400" y="2133601"/>
            <a:ext cx="7736306" cy="345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800" b="0" i="0" u="none" strike="noStrike" cap="none" dirty="0" smtClean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bstract </a:t>
            </a:r>
            <a:r>
              <a:rPr lang="en-US" sz="2800" b="0" i="0" u="none" strike="noStrike" cap="none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typedef</a:t>
            </a:r>
            <a:r>
              <a:rPr lang="en-US" sz="28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&lt; </a:t>
            </a:r>
            <a:r>
              <a:rPr lang="en-US" sz="2400" b="0" i="1" u="none" strike="noStrike" cap="none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ParameterType</a:t>
            </a:r>
            <a:r>
              <a:rPr lang="en-US" sz="2400" b="0" i="1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Parameter1, </a:t>
            </a:r>
            <a:r>
              <a:rPr lang="en-US" sz="2400" b="0" i="1" u="none" strike="noStrike" cap="none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ParameterType</a:t>
            </a:r>
            <a:r>
              <a:rPr lang="en-US" sz="2400" b="0" i="1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Parameter2……, </a:t>
            </a:r>
            <a:r>
              <a:rPr lang="en-US" sz="2400" b="0" i="1" u="none" strike="noStrike" cap="none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ParameterType</a:t>
            </a:r>
            <a:r>
              <a:rPr lang="en-US" sz="2400" b="0" i="1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1" u="none" strike="noStrike" cap="none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ParameterN</a:t>
            </a:r>
            <a:r>
              <a:rPr lang="en-US" sz="2400" b="0" i="1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&gt; </a:t>
            </a:r>
            <a:r>
              <a:rPr lang="en-US" sz="2800" b="0" i="0" u="none" strike="noStrike" cap="none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ADTType</a:t>
            </a:r>
            <a:endParaRPr sz="2800" b="0" i="0" u="none" strike="noStrike" cap="none" dirty="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condition: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60864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8"/>
          <p:cNvSpPr txBox="1">
            <a:spLocks noGrp="1"/>
          </p:cNvSpPr>
          <p:nvPr>
            <p:ph type="title"/>
          </p:nvPr>
        </p:nvSpPr>
        <p:spPr>
          <a:xfrm>
            <a:off x="2209800" y="602234"/>
            <a:ext cx="6299391" cy="685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/>
              <a:buNone/>
            </a:pPr>
            <a:r>
              <a:rPr lang="en-US" sz="3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ADT Syntax : Operator definition</a:t>
            </a:r>
            <a:endParaRPr sz="3200">
              <a:solidFill>
                <a:srgbClr val="C00000"/>
              </a:solidFill>
            </a:endParaRPr>
          </a:p>
        </p:txBody>
      </p:sp>
      <p:sp>
        <p:nvSpPr>
          <p:cNvPr id="406" name="Google Shape;406;p18"/>
          <p:cNvSpPr txBox="1"/>
          <p:nvPr/>
        </p:nvSpPr>
        <p:spPr>
          <a:xfrm>
            <a:off x="533400" y="1447800"/>
            <a:ext cx="7736306" cy="4573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Arial"/>
              <a:buNone/>
            </a:pPr>
            <a:r>
              <a:rPr lang="en-US" sz="2800" b="0" i="1" u="none" strike="noStrike" cap="none" dirty="0" smtClean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abstract </a:t>
            </a:r>
            <a:r>
              <a:rPr lang="en-US" sz="2800" b="0" i="1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ReturnType</a:t>
            </a:r>
            <a:r>
              <a:rPr lang="en-US" sz="28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OperationName</a:t>
            </a:r>
            <a:r>
              <a:rPr lang="en-US" sz="28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2800" b="0" i="0" u="none" strike="noStrike" cap="none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ParameterType</a:t>
            </a:r>
            <a:r>
              <a:rPr lang="en-US" sz="28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Parameter1, </a:t>
            </a:r>
            <a:r>
              <a:rPr lang="en-US" sz="2800" b="0" i="0" u="none" strike="noStrike" cap="none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ParameterType</a:t>
            </a:r>
            <a:r>
              <a:rPr lang="en-US" sz="28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Parameter2……, </a:t>
            </a:r>
            <a:r>
              <a:rPr lang="en-US" sz="2800" b="0" i="0" u="none" strike="noStrike" cap="none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ParameterType</a:t>
            </a:r>
            <a:r>
              <a:rPr lang="en-US" sz="28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ParameterN</a:t>
            </a:r>
            <a:r>
              <a:rPr lang="en-US" sz="28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/>
              <a:buNone/>
            </a:pPr>
            <a:r>
              <a:rPr lang="en-US" sz="28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Precondition: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/>
              <a:buNone/>
            </a:pPr>
            <a:r>
              <a:rPr lang="en-US" sz="2800" b="0" i="0" u="none" strike="noStrike" cap="none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Postcondition</a:t>
            </a:r>
            <a:r>
              <a:rPr lang="en-US" sz="28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/>
              <a:buNone/>
            </a:pPr>
            <a:r>
              <a:rPr lang="en-US" sz="28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Arial"/>
              <a:buNone/>
            </a:pPr>
            <a:r>
              <a:rPr lang="en-US" sz="2800" i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800" b="0" i="1" u="none" strike="noStrike" cap="none" dirty="0" smtClean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bstract </a:t>
            </a:r>
            <a:r>
              <a:rPr lang="en-US" sz="2800" b="0" i="1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ReturnType</a:t>
            </a:r>
            <a:r>
              <a:rPr lang="en-US" sz="28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OperationName</a:t>
            </a:r>
            <a:r>
              <a:rPr lang="en-US" sz="28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(Parameter1, Parameter2……, </a:t>
            </a:r>
            <a:r>
              <a:rPr lang="en-US" sz="2800" b="0" i="0" u="none" strike="noStrike" cap="none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ParameterN</a:t>
            </a:r>
            <a:r>
              <a:rPr lang="en-US" sz="28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/>
              <a:buNone/>
            </a:pPr>
            <a:r>
              <a:rPr lang="en-US" sz="2800" b="0" i="0" u="none" strike="noStrike" cap="none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ParameterType</a:t>
            </a:r>
            <a:r>
              <a:rPr lang="en-US" sz="28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Parameter1, </a:t>
            </a:r>
            <a:r>
              <a:rPr lang="en-US" sz="2800" b="0" i="0" u="none" strike="noStrike" cap="none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ParameterType</a:t>
            </a:r>
            <a:r>
              <a:rPr lang="en-US" sz="28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Parameter2……, </a:t>
            </a:r>
            <a:r>
              <a:rPr lang="en-US" sz="2800" b="0" i="0" u="none" strike="noStrike" cap="none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ParameterType</a:t>
            </a:r>
            <a:r>
              <a:rPr lang="en-US" sz="28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ParameterN</a:t>
            </a:r>
            <a:endParaRPr sz="2800" b="0" i="0" u="none" strike="noStrike" cap="none" dirty="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/>
              <a:buNone/>
            </a:pPr>
            <a:r>
              <a:rPr lang="en-US" sz="28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Precondition: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/>
              <a:buNone/>
            </a:pPr>
            <a:r>
              <a:rPr lang="en-US" sz="2800" b="0" i="0" u="none" strike="noStrike" cap="none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Postcondition</a:t>
            </a:r>
            <a:r>
              <a:rPr lang="en-US" sz="28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2800" b="0" i="0" u="none" strike="noStrike" cap="none" dirty="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2800" b="0" i="0" u="none" strike="noStrike" cap="none" dirty="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33132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5"/>
          <p:cNvSpPr txBox="1">
            <a:spLocks noGrp="1"/>
          </p:cNvSpPr>
          <p:nvPr>
            <p:ph type="title"/>
          </p:nvPr>
        </p:nvSpPr>
        <p:spPr>
          <a:xfrm>
            <a:off x="2057400" y="365126"/>
            <a:ext cx="64579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Arial"/>
              <a:buNone/>
            </a:pPr>
            <a:r>
              <a:rPr lang="en-US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Example ADT : String</a:t>
            </a:r>
            <a:endParaRPr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2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Definition: String is a sequence of characters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Operations: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StringLength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StringCompare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StringConcat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StringCopy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6" name="Google Shape;486;p25" descr="A close up of a sig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3124" y="5835859"/>
            <a:ext cx="726409" cy="7219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39016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6"/>
          <p:cNvSpPr txBox="1">
            <a:spLocks noGrp="1"/>
          </p:cNvSpPr>
          <p:nvPr>
            <p:ph type="title"/>
          </p:nvPr>
        </p:nvSpPr>
        <p:spPr>
          <a:xfrm>
            <a:off x="2506017" y="365126"/>
            <a:ext cx="600933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Arial"/>
              <a:buNone/>
            </a:pPr>
            <a:r>
              <a:rPr lang="en-US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Example ADT : String</a:t>
            </a:r>
            <a:endParaRPr/>
          </a:p>
        </p:txBody>
      </p:sp>
      <p:sp>
        <p:nvSpPr>
          <p:cNvPr id="495" name="Google Shape;495;p2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b="1" dirty="0"/>
              <a:t>Value Definition</a:t>
            </a:r>
            <a:endParaRPr b="1" dirty="0"/>
          </a:p>
          <a:p>
            <a:pPr marL="0" indent="0">
              <a:spcBef>
                <a:spcPts val="640"/>
              </a:spcBef>
              <a:buClr>
                <a:schemeClr val="dk1"/>
              </a:buClr>
              <a:buSzPts val="3200"/>
              <a:buNone/>
            </a:pPr>
            <a:r>
              <a:rPr lang="en-US" b="1" dirty="0"/>
              <a:t>a</a:t>
            </a:r>
            <a:r>
              <a:rPr lang="en-US" b="1" dirty="0" smtClean="0"/>
              <a:t>bstract </a:t>
            </a:r>
            <a:r>
              <a:rPr lang="en-US" b="1" dirty="0" err="1"/>
              <a:t>Typedef</a:t>
            </a:r>
            <a:r>
              <a:rPr lang="en-US" b="1" dirty="0"/>
              <a:t> &lt;&lt;</a:t>
            </a:r>
            <a:r>
              <a:rPr lang="en-US" b="1" dirty="0" smtClean="0"/>
              <a:t>Char s&gt;&gt;</a:t>
            </a:r>
            <a:r>
              <a:rPr lang="en-US" b="1" dirty="0" err="1" smtClean="0"/>
              <a:t>StringType</a:t>
            </a:r>
            <a:endParaRPr lang="en-US" b="1" dirty="0" smtClean="0"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b="1" dirty="0" smtClean="0"/>
              <a:t>Condition</a:t>
            </a:r>
            <a:r>
              <a:rPr lang="en-US" b="1" dirty="0"/>
              <a:t>: None (A string may contain n characters where </a:t>
            </a:r>
            <a:r>
              <a:rPr lang="en-US" b="1" dirty="0" smtClean="0"/>
              <a:t>n&gt;=0)</a:t>
            </a:r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lang="en-US" b="1" dirty="0"/>
          </a:p>
          <a:p>
            <a:pPr marL="0" lvl="0" indent="0">
              <a:lnSpc>
                <a:spcPct val="90000"/>
              </a:lnSpc>
              <a:spcBef>
                <a:spcPts val="0"/>
              </a:spcBef>
              <a:buClr>
                <a:srgbClr val="262626"/>
              </a:buClr>
              <a:buSzPts val="2800"/>
              <a:buNone/>
            </a:pPr>
            <a:r>
              <a:rPr lang="en-US" dirty="0" smtClean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abstract </a:t>
            </a:r>
            <a:r>
              <a:rPr lang="en-US" dirty="0" err="1" smtClean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Typedef</a:t>
            </a:r>
            <a:r>
              <a:rPr lang="en-US" dirty="0" smtClean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&lt; </a:t>
            </a:r>
            <a:r>
              <a:rPr lang="en-US" sz="2000" i="1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ParameterType</a:t>
            </a:r>
            <a:r>
              <a:rPr lang="en-US" sz="2000" i="1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Parameter1, </a:t>
            </a:r>
            <a:r>
              <a:rPr lang="en-US" sz="2000" i="1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ParameterType</a:t>
            </a:r>
            <a:r>
              <a:rPr lang="en-US" sz="2000" i="1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Parameter2……, </a:t>
            </a:r>
            <a:r>
              <a:rPr lang="en-US" sz="2000" i="1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ParameterType</a:t>
            </a:r>
            <a:r>
              <a:rPr lang="en-US" sz="2000" i="1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ParameterN</a:t>
            </a:r>
            <a:r>
              <a:rPr lang="en-US" sz="2000" i="1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&gt; </a:t>
            </a:r>
            <a:r>
              <a:rPr lang="en-US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ADTType</a:t>
            </a:r>
            <a:endParaRPr lang="en-US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>
              <a:lnSpc>
                <a:spcPct val="90000"/>
              </a:lnSpc>
              <a:spcBef>
                <a:spcPts val="1000"/>
              </a:spcBef>
              <a:buClr>
                <a:srgbClr val="262626"/>
              </a:buClr>
              <a:buSzPts val="2800"/>
              <a:buNone/>
            </a:pPr>
            <a:r>
              <a:rPr lang="en-US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condition:</a:t>
            </a:r>
            <a:endParaRPr lang="en-US" sz="1200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b="1"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solidFill>
                <a:srgbClr val="FF0000"/>
              </a:solidFill>
            </a:endParaRPr>
          </a:p>
        </p:txBody>
      </p:sp>
      <p:pic>
        <p:nvPicPr>
          <p:cNvPr id="497" name="Google Shape;497;p26" descr="A close up of a sig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3124" y="5835859"/>
            <a:ext cx="726409" cy="7219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02737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27"/>
          <p:cNvSpPr txBox="1">
            <a:spLocks noGrp="1"/>
          </p:cNvSpPr>
          <p:nvPr>
            <p:ph type="title"/>
          </p:nvPr>
        </p:nvSpPr>
        <p:spPr>
          <a:xfrm>
            <a:off x="2400301" y="789669"/>
            <a:ext cx="6102803" cy="957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Arial"/>
              <a:buNone/>
            </a:pPr>
            <a:r>
              <a:rPr lang="en-US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Example ADT : String Operator Definition</a:t>
            </a:r>
            <a:r>
              <a:rPr lang="en-US"/>
              <a:t/>
            </a:r>
            <a:br>
              <a:rPr lang="en-US"/>
            </a:br>
            <a:endParaRPr/>
          </a:p>
        </p:txBody>
      </p:sp>
      <p:sp>
        <p:nvSpPr>
          <p:cNvPr id="506" name="Google Shape;506;p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1. abstract Integer</a:t>
            </a:r>
            <a:r>
              <a:rPr lang="en-US" b="1" dirty="0"/>
              <a:t> </a:t>
            </a:r>
            <a:r>
              <a:rPr lang="en-US" b="1" dirty="0" err="1">
                <a:latin typeface="Arial"/>
                <a:ea typeface="Arial"/>
                <a:cs typeface="Arial"/>
                <a:sym typeface="Arial"/>
              </a:rPr>
              <a:t>StringLength</a:t>
            </a:r>
            <a:r>
              <a:rPr lang="en-US" b="1" dirty="0"/>
              <a:t> (</a:t>
            </a:r>
            <a:r>
              <a:rPr lang="en-US" b="1" dirty="0" err="1"/>
              <a:t>StringType</a:t>
            </a:r>
            <a:r>
              <a:rPr lang="en-US" b="1" dirty="0"/>
              <a:t> String)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b="1" dirty="0"/>
              <a:t>Precondition: None (A string may contain n characters where n=&gt;0)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b="1" dirty="0" err="1"/>
              <a:t>Postcondition</a:t>
            </a:r>
            <a:r>
              <a:rPr lang="en-US" b="1" dirty="0"/>
              <a:t>: </a:t>
            </a:r>
            <a:r>
              <a:rPr lang="en-US" b="1" dirty="0" err="1"/>
              <a:t>Stringlength</a:t>
            </a:r>
            <a:r>
              <a:rPr lang="en-US" b="1" dirty="0"/>
              <a:t>= </a:t>
            </a:r>
            <a:r>
              <a:rPr lang="en-US" b="1" dirty="0" err="1"/>
              <a:t>NumberOfCharacters</a:t>
            </a:r>
            <a:r>
              <a:rPr lang="en-US" b="1" dirty="0"/>
              <a:t>(String</a:t>
            </a:r>
            <a:r>
              <a:rPr lang="en-US" b="1" dirty="0" smtClean="0"/>
              <a:t>)</a:t>
            </a:r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lang="en-US" b="1" dirty="0"/>
          </a:p>
          <a:p>
            <a:pPr marL="0" lvl="0" indent="0">
              <a:lnSpc>
                <a:spcPct val="90000"/>
              </a:lnSpc>
              <a:spcBef>
                <a:spcPts val="0"/>
              </a:spcBef>
              <a:buClr>
                <a:srgbClr val="0070C0"/>
              </a:buClr>
              <a:buSzPct val="100000"/>
              <a:buNone/>
            </a:pPr>
            <a:r>
              <a:rPr lang="en-US" i="1" dirty="0" smtClean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abstract </a:t>
            </a:r>
            <a:r>
              <a:rPr lang="en-US" i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ReturnType</a:t>
            </a:r>
            <a:r>
              <a:rPr lang="en-US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OperationName</a:t>
            </a:r>
            <a:r>
              <a:rPr lang="en-US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ParameterType</a:t>
            </a:r>
            <a:r>
              <a:rPr lang="en-US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Parameter1, </a:t>
            </a:r>
            <a:r>
              <a:rPr lang="en-US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ParameterType</a:t>
            </a:r>
            <a:r>
              <a:rPr lang="en-US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Parameter2……, </a:t>
            </a:r>
            <a:r>
              <a:rPr lang="en-US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ParameterType</a:t>
            </a:r>
            <a:r>
              <a:rPr lang="en-US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ParameterN</a:t>
            </a:r>
            <a:r>
              <a:rPr lang="en-US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lang="en-US" sz="1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>
              <a:lnSpc>
                <a:spcPct val="90000"/>
              </a:lnSpc>
              <a:spcBef>
                <a:spcPts val="1000"/>
              </a:spcBef>
              <a:buClr>
                <a:srgbClr val="262626"/>
              </a:buClr>
              <a:buSzPct val="100000"/>
              <a:buNone/>
            </a:pPr>
            <a:r>
              <a:rPr lang="en-US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Precondition:</a:t>
            </a:r>
            <a:endParaRPr lang="en-US" sz="1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>
              <a:lnSpc>
                <a:spcPct val="90000"/>
              </a:lnSpc>
              <a:spcBef>
                <a:spcPts val="1000"/>
              </a:spcBef>
              <a:buClr>
                <a:srgbClr val="262626"/>
              </a:buClr>
              <a:buSzPct val="100000"/>
              <a:buNone/>
            </a:pPr>
            <a:r>
              <a:rPr lang="en-US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Postcondition</a:t>
            </a:r>
            <a:r>
              <a:rPr lang="en-US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lang="en-US" sz="1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b="1" dirty="0"/>
          </a:p>
        </p:txBody>
      </p:sp>
      <p:pic>
        <p:nvPicPr>
          <p:cNvPr id="508" name="Google Shape;508;p27" descr="A close up of a sig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3124" y="5835859"/>
            <a:ext cx="726409" cy="7219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97873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8"/>
          <p:cNvSpPr txBox="1">
            <a:spLocks noGrp="1"/>
          </p:cNvSpPr>
          <p:nvPr>
            <p:ph type="title"/>
          </p:nvPr>
        </p:nvSpPr>
        <p:spPr>
          <a:xfrm>
            <a:off x="2400301" y="789669"/>
            <a:ext cx="6102803" cy="957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Arial"/>
              <a:buNone/>
            </a:pPr>
            <a:r>
              <a:rPr lang="en-US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Example ADT : String Operator Definition</a:t>
            </a:r>
            <a:r>
              <a:rPr lang="en-US"/>
              <a:t/>
            </a:r>
            <a:br>
              <a:rPr lang="en-US"/>
            </a:br>
            <a:endParaRPr/>
          </a:p>
        </p:txBody>
      </p:sp>
      <p:sp>
        <p:nvSpPr>
          <p:cNvPr id="517" name="Google Shape;517;p2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b="1" dirty="0"/>
              <a:t>2. </a:t>
            </a: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abstract </a:t>
            </a:r>
            <a:r>
              <a:rPr lang="en-US" b="1" dirty="0" err="1">
                <a:solidFill>
                  <a:srgbClr val="0070C0"/>
                </a:solidFill>
              </a:rPr>
              <a:t>StringType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/>
              <a:t>StringConcat</a:t>
            </a:r>
            <a:r>
              <a:rPr lang="en-US" b="1" dirty="0"/>
              <a:t>( </a:t>
            </a:r>
            <a:r>
              <a:rPr lang="en-US" b="1" dirty="0" err="1"/>
              <a:t>StringType</a:t>
            </a:r>
            <a:r>
              <a:rPr lang="en-US" b="1" dirty="0"/>
              <a:t> String1, </a:t>
            </a:r>
            <a:r>
              <a:rPr lang="en-US" b="1" dirty="0" err="1"/>
              <a:t>StringType</a:t>
            </a:r>
            <a:r>
              <a:rPr lang="en-US" b="1" dirty="0"/>
              <a:t> String2)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b="1" dirty="0"/>
              <a:t>Precondition: None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b="1" dirty="0" err="1"/>
              <a:t>Postcondition</a:t>
            </a:r>
            <a:r>
              <a:rPr lang="en-US" b="1" dirty="0"/>
              <a:t>: </a:t>
            </a:r>
            <a:r>
              <a:rPr lang="en-US" b="1" dirty="0" err="1"/>
              <a:t>StringConcat</a:t>
            </a:r>
            <a:r>
              <a:rPr lang="en-US" b="1" dirty="0"/>
              <a:t>= String1+String2 / All the characters in Strings1 immediately followed by all the characters in String2 are returned as result.</a:t>
            </a:r>
            <a:endParaRPr b="1" dirty="0"/>
          </a:p>
          <a:p>
            <a:pPr marL="0" lvl="0" indent="0">
              <a:lnSpc>
                <a:spcPct val="90000"/>
              </a:lnSpc>
              <a:spcBef>
                <a:spcPts val="0"/>
              </a:spcBef>
              <a:buClr>
                <a:srgbClr val="0070C0"/>
              </a:buClr>
              <a:buSzPct val="100000"/>
              <a:buNone/>
            </a:pPr>
            <a:endParaRPr lang="en-US" i="1" dirty="0" smtClean="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>
              <a:lnSpc>
                <a:spcPct val="90000"/>
              </a:lnSpc>
              <a:spcBef>
                <a:spcPts val="0"/>
              </a:spcBef>
              <a:buClr>
                <a:srgbClr val="0070C0"/>
              </a:buClr>
              <a:buSzPct val="100000"/>
              <a:buNone/>
            </a:pPr>
            <a:r>
              <a:rPr lang="en-US" i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i="1" dirty="0" smtClean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bstract </a:t>
            </a:r>
            <a:r>
              <a:rPr lang="en-US" i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ReturnType</a:t>
            </a:r>
            <a:r>
              <a:rPr lang="en-US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OperationName</a:t>
            </a:r>
            <a:r>
              <a:rPr lang="en-US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ParameterType</a:t>
            </a:r>
            <a:r>
              <a:rPr lang="en-US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Parameter1, </a:t>
            </a:r>
            <a:r>
              <a:rPr lang="en-US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ParameterType</a:t>
            </a:r>
            <a:r>
              <a:rPr lang="en-US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Parameter2……, </a:t>
            </a:r>
            <a:r>
              <a:rPr lang="en-US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ParameterType</a:t>
            </a:r>
            <a:r>
              <a:rPr lang="en-US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ParameterN</a:t>
            </a:r>
            <a:r>
              <a:rPr lang="en-US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lang="en-US" sz="1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>
              <a:lnSpc>
                <a:spcPct val="90000"/>
              </a:lnSpc>
              <a:spcBef>
                <a:spcPts val="1000"/>
              </a:spcBef>
              <a:buClr>
                <a:srgbClr val="262626"/>
              </a:buClr>
              <a:buSzPct val="100000"/>
              <a:buNone/>
            </a:pPr>
            <a:r>
              <a:rPr lang="en-US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Precondition:</a:t>
            </a:r>
            <a:endParaRPr lang="en-US" sz="1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>
              <a:lnSpc>
                <a:spcPct val="90000"/>
              </a:lnSpc>
              <a:spcBef>
                <a:spcPts val="1000"/>
              </a:spcBef>
              <a:buClr>
                <a:srgbClr val="262626"/>
              </a:buClr>
              <a:buSzPct val="100000"/>
              <a:buNone/>
            </a:pPr>
            <a:r>
              <a:rPr lang="en-US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Postcondition</a:t>
            </a:r>
            <a:r>
              <a:rPr lang="en-US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lang="en-US" sz="1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</p:txBody>
      </p:sp>
      <p:pic>
        <p:nvPicPr>
          <p:cNvPr id="519" name="Google Shape;519;p28" descr="A close up of a sig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3124" y="5835859"/>
            <a:ext cx="726409" cy="7219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0823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29"/>
          <p:cNvSpPr txBox="1">
            <a:spLocks noGrp="1"/>
          </p:cNvSpPr>
          <p:nvPr>
            <p:ph type="title"/>
          </p:nvPr>
        </p:nvSpPr>
        <p:spPr>
          <a:xfrm>
            <a:off x="2400301" y="789669"/>
            <a:ext cx="6102803" cy="957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Arial"/>
              <a:buNone/>
            </a:pPr>
            <a:r>
              <a:rPr lang="en-US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Example ADT : String Operator Definition</a:t>
            </a:r>
            <a:r>
              <a:rPr lang="en-US"/>
              <a:t/>
            </a:r>
            <a:br>
              <a:rPr lang="en-US"/>
            </a:br>
            <a:endParaRPr/>
          </a:p>
        </p:txBody>
      </p:sp>
      <p:sp>
        <p:nvSpPr>
          <p:cNvPr id="528" name="Google Shape;528;p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3. abstract Boolean </a:t>
            </a:r>
            <a:r>
              <a:rPr lang="en-US" b="1" dirty="0" err="1"/>
              <a:t>StringCompare</a:t>
            </a:r>
            <a:r>
              <a:rPr lang="en-US" b="1" dirty="0"/>
              <a:t>( </a:t>
            </a:r>
            <a:r>
              <a:rPr lang="en-US" b="1" dirty="0" err="1"/>
              <a:t>StringType</a:t>
            </a:r>
            <a:r>
              <a:rPr lang="en-US" b="1" dirty="0"/>
              <a:t> String1, </a:t>
            </a:r>
            <a:r>
              <a:rPr lang="en-US" b="1" dirty="0" err="1"/>
              <a:t>StringType</a:t>
            </a:r>
            <a:r>
              <a:rPr lang="en-US" b="1" dirty="0"/>
              <a:t> String2)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b="1" dirty="0"/>
              <a:t>Precondition: None 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b="1" dirty="0" err="1"/>
              <a:t>Postcondition</a:t>
            </a:r>
            <a:r>
              <a:rPr lang="en-US" b="1" dirty="0"/>
              <a:t>: </a:t>
            </a:r>
            <a:r>
              <a:rPr lang="en-US" b="1" dirty="0" err="1"/>
              <a:t>StringCompare</a:t>
            </a:r>
            <a:r>
              <a:rPr lang="en-US" b="1" dirty="0"/>
              <a:t>= True if strings are equal, </a:t>
            </a:r>
            <a:r>
              <a:rPr lang="en-US" b="1" dirty="0" err="1"/>
              <a:t>StringCompare</a:t>
            </a:r>
            <a:r>
              <a:rPr lang="en-US" b="1" dirty="0"/>
              <a:t>= False if they are unequal . (Function returns 1 if strings are same, otherwise zero)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</p:txBody>
      </p:sp>
      <p:pic>
        <p:nvPicPr>
          <p:cNvPr id="530" name="Google Shape;530;p29" descr="A close up of a sig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3124" y="5835859"/>
            <a:ext cx="726409" cy="7219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26703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0"/>
          <p:cNvSpPr txBox="1">
            <a:spLocks noGrp="1"/>
          </p:cNvSpPr>
          <p:nvPr>
            <p:ph type="title"/>
          </p:nvPr>
        </p:nvSpPr>
        <p:spPr>
          <a:xfrm>
            <a:off x="2400301" y="789669"/>
            <a:ext cx="6102803" cy="957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Arial"/>
              <a:buNone/>
            </a:pPr>
            <a:r>
              <a:rPr lang="en-US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Example ADT : String Operator Definition</a:t>
            </a:r>
            <a:r>
              <a:rPr lang="en-US"/>
              <a:t/>
            </a:r>
            <a:br>
              <a:rPr lang="en-US"/>
            </a:br>
            <a:endParaRPr/>
          </a:p>
        </p:txBody>
      </p:sp>
      <p:sp>
        <p:nvSpPr>
          <p:cNvPr id="539" name="Google Shape;539;p3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b="1" dirty="0"/>
              <a:t>4. </a:t>
            </a: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abstract </a:t>
            </a:r>
            <a:r>
              <a:rPr lang="en-US" b="1" dirty="0" err="1">
                <a:solidFill>
                  <a:srgbClr val="0070C0"/>
                </a:solidFill>
              </a:rPr>
              <a:t>StringType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/>
              <a:t>StringCopy</a:t>
            </a:r>
            <a:r>
              <a:rPr lang="en-US" b="1" dirty="0"/>
              <a:t>( </a:t>
            </a:r>
            <a:r>
              <a:rPr lang="en-US" b="1" dirty="0" err="1"/>
              <a:t>StringType</a:t>
            </a:r>
            <a:r>
              <a:rPr lang="en-US" b="1" dirty="0"/>
              <a:t> String1, </a:t>
            </a:r>
            <a:r>
              <a:rPr lang="en-US" b="1" dirty="0" err="1"/>
              <a:t>StringType</a:t>
            </a:r>
            <a:r>
              <a:rPr lang="en-US" b="1" dirty="0"/>
              <a:t> String2)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b="1" dirty="0"/>
              <a:t>Precondition: None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b="1" dirty="0" err="1"/>
              <a:t>Postcondition</a:t>
            </a:r>
            <a:r>
              <a:rPr lang="en-US" b="1" dirty="0"/>
              <a:t>: </a:t>
            </a:r>
            <a:r>
              <a:rPr lang="en-US" b="1" dirty="0" err="1"/>
              <a:t>StringCopy</a:t>
            </a:r>
            <a:r>
              <a:rPr lang="en-US" b="1" dirty="0"/>
              <a:t>: String1= String2 / All the characters in Strings2 are copied/overwritten into String1. 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b="1" dirty="0"/>
          </a:p>
        </p:txBody>
      </p:sp>
      <p:pic>
        <p:nvPicPr>
          <p:cNvPr id="541" name="Google Shape;541;p30" descr="A close up of a sig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3124" y="5835859"/>
            <a:ext cx="726409" cy="7219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52769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1"/>
          <p:cNvSpPr txBox="1">
            <a:spLocks noGrp="1"/>
          </p:cNvSpPr>
          <p:nvPr>
            <p:ph type="title"/>
          </p:nvPr>
        </p:nvSpPr>
        <p:spPr>
          <a:xfrm>
            <a:off x="899592" y="365126"/>
            <a:ext cx="761575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Arial"/>
              <a:buNone/>
            </a:pPr>
            <a:r>
              <a:rPr lang="en-US" sz="3600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Example ADT : Rational Number</a:t>
            </a:r>
            <a:endParaRPr sz="3600" dirty="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3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Definition:  </a:t>
            </a:r>
            <a:r>
              <a:rPr lang="en-US" b="1" dirty="0"/>
              <a:t>expressed as the quotient or fraction of two </a:t>
            </a:r>
            <a:r>
              <a:rPr lang="en-US" b="1" u="sng" dirty="0">
                <a:solidFill>
                  <a:schemeClr val="hlink"/>
                </a:solidFill>
                <a:hlinkClick r:id="rId3"/>
              </a:rPr>
              <a:t>integers</a:t>
            </a:r>
            <a:r>
              <a:rPr lang="en-US" b="1" dirty="0"/>
              <a:t>,</a:t>
            </a:r>
            <a:endParaRPr b="1" dirty="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Operations:</a:t>
            </a:r>
            <a:endParaRPr b="1" dirty="0"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b="1" dirty="0" err="1" smtClean="0">
                <a:latin typeface="Arial"/>
                <a:ea typeface="Arial"/>
                <a:cs typeface="Arial"/>
                <a:sym typeface="Arial"/>
              </a:rPr>
              <a:t>makeRational</a:t>
            </a:r>
            <a:r>
              <a:rPr lang="en-US" b="1" smtClean="0">
                <a:latin typeface="Arial"/>
                <a:ea typeface="Arial"/>
                <a:cs typeface="Arial"/>
                <a:sym typeface="Arial"/>
              </a:rPr>
              <a:t>()</a:t>
            </a:r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b="1" dirty="0" err="1" smtClean="0">
                <a:latin typeface="Arial"/>
                <a:ea typeface="Arial"/>
                <a:cs typeface="Arial"/>
                <a:sym typeface="Arial"/>
              </a:rPr>
              <a:t>IsEqualRational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()</a:t>
            </a:r>
            <a:endParaRPr b="1" dirty="0"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b="1" dirty="0" err="1">
                <a:latin typeface="Arial"/>
                <a:ea typeface="Arial"/>
                <a:cs typeface="Arial"/>
                <a:sym typeface="Arial"/>
              </a:rPr>
              <a:t>MultiplyRationa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()</a:t>
            </a:r>
            <a:endParaRPr b="1" dirty="0"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b="1" dirty="0" err="1">
                <a:latin typeface="Arial"/>
                <a:ea typeface="Arial"/>
                <a:cs typeface="Arial"/>
                <a:sym typeface="Arial"/>
              </a:rPr>
              <a:t>AddRational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()</a:t>
            </a:r>
            <a:endParaRPr b="1" dirty="0"/>
          </a:p>
        </p:txBody>
      </p:sp>
      <p:pic>
        <p:nvPicPr>
          <p:cNvPr id="552" name="Google Shape;552;p31" descr="A close up of a sign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124" y="5835859"/>
            <a:ext cx="726409" cy="7219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29983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2"/>
          <p:cNvSpPr txBox="1">
            <a:spLocks noGrp="1"/>
          </p:cNvSpPr>
          <p:nvPr>
            <p:ph type="title"/>
          </p:nvPr>
        </p:nvSpPr>
        <p:spPr>
          <a:xfrm>
            <a:off x="539552" y="365126"/>
            <a:ext cx="840034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Arial"/>
              <a:buNone/>
            </a:pPr>
            <a:r>
              <a:rPr lang="en-US" sz="3600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Example ADT : Rational Number</a:t>
            </a:r>
            <a:endParaRPr sz="3600" dirty="0"/>
          </a:p>
        </p:txBody>
      </p:sp>
      <p:sp>
        <p:nvSpPr>
          <p:cNvPr id="561" name="Google Shape;561;p3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b="1" dirty="0"/>
              <a:t>Value Definition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b="1" dirty="0"/>
              <a:t>abstract  </a:t>
            </a:r>
            <a:r>
              <a:rPr lang="en-US" b="1" dirty="0" err="1" smtClean="0"/>
              <a:t>TypeDef</a:t>
            </a:r>
            <a:r>
              <a:rPr lang="en-US" b="1" dirty="0" smtClean="0"/>
              <a:t>&lt;integer x, integer y&gt; </a:t>
            </a:r>
            <a:r>
              <a:rPr lang="en-US" b="1" dirty="0" err="1"/>
              <a:t>RATIONALType</a:t>
            </a:r>
            <a:r>
              <a:rPr lang="en-US" b="1" dirty="0"/>
              <a:t>; 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b="1" dirty="0"/>
              <a:t>Condition: </a:t>
            </a:r>
            <a:r>
              <a:rPr lang="en-US" b="1" dirty="0" err="1"/>
              <a:t>RATIONALType</a:t>
            </a:r>
            <a:r>
              <a:rPr lang="en-US" b="1" dirty="0"/>
              <a:t> [1]!=0;</a:t>
            </a:r>
            <a:endParaRPr b="1" dirty="0"/>
          </a:p>
        </p:txBody>
      </p:sp>
      <p:pic>
        <p:nvPicPr>
          <p:cNvPr id="563" name="Google Shape;563;p32" descr="A close up of a sig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3124" y="5835859"/>
            <a:ext cx="726409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395;p17"/>
          <p:cNvSpPr txBox="1"/>
          <p:nvPr/>
        </p:nvSpPr>
        <p:spPr>
          <a:xfrm>
            <a:off x="533400" y="4005063"/>
            <a:ext cx="7736306" cy="1584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Arial"/>
              <a:buNone/>
            </a:pPr>
            <a:r>
              <a:rPr lang="en-US" sz="2800" b="0" i="0" u="none" strike="noStrike" cap="none" dirty="0" smtClean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abstract </a:t>
            </a:r>
            <a:r>
              <a:rPr lang="en-US" sz="2800" b="0" i="0" u="none" strike="noStrike" cap="none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typedef</a:t>
            </a:r>
            <a:r>
              <a:rPr lang="en-US" sz="28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&lt; </a:t>
            </a:r>
            <a:r>
              <a:rPr lang="en-US" sz="2400" b="0" i="1" u="none" strike="noStrike" cap="none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ParameterType</a:t>
            </a:r>
            <a:r>
              <a:rPr lang="en-US" sz="2400" b="0" i="1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Parameter1, </a:t>
            </a:r>
            <a:r>
              <a:rPr lang="en-US" sz="2400" b="0" i="1" u="none" strike="noStrike" cap="none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ParameterType</a:t>
            </a:r>
            <a:r>
              <a:rPr lang="en-US" sz="2400" b="0" i="1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Parameter2……, </a:t>
            </a:r>
            <a:r>
              <a:rPr lang="en-US" sz="2400" b="0" i="1" u="none" strike="noStrike" cap="none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ParameterType</a:t>
            </a:r>
            <a:r>
              <a:rPr lang="en-US" sz="2400" b="0" i="1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1" u="none" strike="noStrike" cap="none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ParameterN</a:t>
            </a:r>
            <a:r>
              <a:rPr lang="en-US" sz="2400" b="0" i="1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&gt; </a:t>
            </a:r>
            <a:r>
              <a:rPr lang="en-US" sz="2800" b="0" i="0" u="none" strike="noStrike" cap="none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ADTType</a:t>
            </a:r>
            <a:endParaRPr sz="2800" b="0" i="0" u="none" strike="noStrike" cap="none" dirty="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condition: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9767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8"/>
          <p:cNvSpPr txBox="1">
            <a:spLocks noGrp="1"/>
          </p:cNvSpPr>
          <p:nvPr>
            <p:ph type="title"/>
          </p:nvPr>
        </p:nvSpPr>
        <p:spPr>
          <a:xfrm>
            <a:off x="2209800" y="602234"/>
            <a:ext cx="6299391" cy="685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/>
              <a:buNone/>
            </a:pPr>
            <a:r>
              <a:rPr lang="en-US" sz="3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ADT Syntax : Operator definition</a:t>
            </a:r>
            <a:endParaRPr sz="3200">
              <a:solidFill>
                <a:srgbClr val="C00000"/>
              </a:solidFill>
            </a:endParaRPr>
          </a:p>
        </p:txBody>
      </p:sp>
      <p:sp>
        <p:nvSpPr>
          <p:cNvPr id="406" name="Google Shape;406;p18"/>
          <p:cNvSpPr txBox="1"/>
          <p:nvPr/>
        </p:nvSpPr>
        <p:spPr>
          <a:xfrm>
            <a:off x="533400" y="1447800"/>
            <a:ext cx="7736306" cy="4573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Arial"/>
              <a:buNone/>
            </a:pPr>
            <a:r>
              <a:rPr lang="en-US" sz="2800" i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800" b="0" i="1" u="none" strike="noStrike" cap="none" dirty="0" smtClean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bstract </a:t>
            </a:r>
            <a:r>
              <a:rPr lang="en-US" sz="2800" b="0" i="1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ReturnType</a:t>
            </a:r>
            <a:r>
              <a:rPr lang="en-US" sz="28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OperationName</a:t>
            </a:r>
            <a:r>
              <a:rPr lang="en-US" sz="28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2800" b="0" i="0" u="none" strike="noStrike" cap="none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ParameterType</a:t>
            </a:r>
            <a:r>
              <a:rPr lang="en-US" sz="28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Parameter1, </a:t>
            </a:r>
            <a:r>
              <a:rPr lang="en-US" sz="2800" b="0" i="0" u="none" strike="noStrike" cap="none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ParameterType</a:t>
            </a:r>
            <a:r>
              <a:rPr lang="en-US" sz="28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Parameter2……, </a:t>
            </a:r>
            <a:r>
              <a:rPr lang="en-US" sz="2800" b="0" i="0" u="none" strike="noStrike" cap="none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ParameterType</a:t>
            </a:r>
            <a:r>
              <a:rPr lang="en-US" sz="28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ParameterN</a:t>
            </a:r>
            <a:r>
              <a:rPr lang="en-US" sz="28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/>
              <a:buNone/>
            </a:pPr>
            <a:r>
              <a:rPr lang="en-US" sz="28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Precondition: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/>
              <a:buNone/>
            </a:pPr>
            <a:r>
              <a:rPr lang="en-US" sz="2800" b="0" i="0" u="none" strike="noStrike" cap="none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Postcondition</a:t>
            </a:r>
            <a:r>
              <a:rPr lang="en-US" sz="28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/>
              <a:buNone/>
            </a:pPr>
            <a:r>
              <a:rPr lang="en-US" sz="28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Arial"/>
              <a:buNone/>
            </a:pPr>
            <a:r>
              <a:rPr lang="en-US" sz="2800" i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800" b="0" i="1" u="none" strike="noStrike" cap="none" dirty="0" smtClean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bstract </a:t>
            </a:r>
            <a:r>
              <a:rPr lang="en-US" sz="2800" b="0" i="1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ReturnType</a:t>
            </a:r>
            <a:r>
              <a:rPr lang="en-US" sz="28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OperationName</a:t>
            </a:r>
            <a:r>
              <a:rPr lang="en-US" sz="28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(Parameter1, Parameter2……, </a:t>
            </a:r>
            <a:r>
              <a:rPr lang="en-US" sz="2800" b="0" i="0" u="none" strike="noStrike" cap="none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ParameterN</a:t>
            </a:r>
            <a:r>
              <a:rPr lang="en-US" sz="28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/>
              <a:buNone/>
            </a:pPr>
            <a:r>
              <a:rPr lang="en-US" sz="2800" b="0" i="0" u="none" strike="noStrike" cap="none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ParameterType</a:t>
            </a:r>
            <a:r>
              <a:rPr lang="en-US" sz="28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Parameter1, </a:t>
            </a:r>
            <a:r>
              <a:rPr lang="en-US" sz="2800" b="0" i="0" u="none" strike="noStrike" cap="none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ParameterType</a:t>
            </a:r>
            <a:r>
              <a:rPr lang="en-US" sz="28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Parameter2……, </a:t>
            </a:r>
            <a:r>
              <a:rPr lang="en-US" sz="2800" b="0" i="0" u="none" strike="noStrike" cap="none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ParameterType</a:t>
            </a:r>
            <a:r>
              <a:rPr lang="en-US" sz="28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ParameterN</a:t>
            </a:r>
            <a:endParaRPr sz="2800" b="0" i="0" u="none" strike="noStrike" cap="none" dirty="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/>
              <a:buNone/>
            </a:pPr>
            <a:r>
              <a:rPr lang="en-US" sz="28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Precondition: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/>
              <a:buNone/>
            </a:pPr>
            <a:r>
              <a:rPr lang="en-US" sz="2800" b="0" i="0" u="none" strike="noStrike" cap="none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Postcondition</a:t>
            </a:r>
            <a:r>
              <a:rPr lang="en-US" sz="28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2800" b="0" i="0" u="none" strike="noStrike" cap="none" dirty="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2800" b="0" i="0" u="none" strike="noStrike" cap="none" dirty="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4580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33"/>
          <p:cNvSpPr txBox="1">
            <a:spLocks noGrp="1"/>
          </p:cNvSpPr>
          <p:nvPr>
            <p:ph type="title"/>
          </p:nvPr>
        </p:nvSpPr>
        <p:spPr>
          <a:xfrm>
            <a:off x="-150876" y="838200"/>
            <a:ext cx="929487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Example ADT : Rational Number Operator </a:t>
            </a:r>
            <a:r>
              <a:rPr lang="en-US" sz="2800" dirty="0" smtClean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Definition`</a:t>
            </a:r>
            <a:endParaRPr sz="2800" dirty="0"/>
          </a:p>
        </p:txBody>
      </p:sp>
      <p:sp>
        <p:nvSpPr>
          <p:cNvPr id="572" name="Google Shape;572;p33"/>
          <p:cNvSpPr txBox="1">
            <a:spLocks noGrp="1"/>
          </p:cNvSpPr>
          <p:nvPr>
            <p:ph type="body" idx="4294967295"/>
          </p:nvPr>
        </p:nvSpPr>
        <p:spPr>
          <a:xfrm>
            <a:off x="413124" y="19050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 dirty="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abstract </a:t>
            </a:r>
            <a:r>
              <a:rPr lang="en-US" b="1" dirty="0" err="1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RATIONALType</a:t>
            </a:r>
            <a:r>
              <a:rPr lang="en-US" b="1" dirty="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 smtClean="0">
                <a:latin typeface="Arial"/>
                <a:ea typeface="Arial"/>
                <a:cs typeface="Arial"/>
                <a:sym typeface="Arial"/>
              </a:rPr>
              <a:t>makerational</a:t>
            </a:r>
            <a:r>
              <a:rPr lang="en-US" b="1" dirty="0" smtClean="0"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b="1" dirty="0" err="1" smtClean="0">
                <a:latin typeface="Arial"/>
                <a:ea typeface="Arial"/>
                <a:cs typeface="Arial"/>
                <a:sym typeface="Arial"/>
              </a:rPr>
              <a:t>x,y</a:t>
            </a:r>
            <a:r>
              <a:rPr lang="en-US" b="1" dirty="0" smtClean="0">
                <a:latin typeface="Arial"/>
                <a:ea typeface="Arial"/>
                <a:cs typeface="Arial"/>
                <a:sym typeface="Arial"/>
              </a:rPr>
              <a:t>&gt; 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dirty="0" smtClean="0">
                <a:latin typeface="Arial"/>
                <a:ea typeface="Arial"/>
                <a:cs typeface="Arial"/>
                <a:sym typeface="Arial"/>
              </a:rPr>
              <a:t>integer </a:t>
            </a:r>
            <a:r>
              <a:rPr lang="en-US" b="1" dirty="0" err="1" smtClean="0">
                <a:latin typeface="Arial"/>
                <a:ea typeface="Arial"/>
                <a:cs typeface="Arial"/>
                <a:sym typeface="Arial"/>
              </a:rPr>
              <a:t>x,y</a:t>
            </a:r>
            <a:r>
              <a:rPr lang="en-US" b="1" dirty="0" smtClean="0">
                <a:latin typeface="Arial"/>
                <a:ea typeface="Arial"/>
                <a:cs typeface="Arial"/>
                <a:sym typeface="Arial"/>
              </a:rPr>
              <a:t>; </a:t>
            </a:r>
            <a:endParaRPr b="1" dirty="0" smtClean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dirty="0" err="1" smtClean="0">
                <a:latin typeface="Arial"/>
                <a:ea typeface="Arial"/>
                <a:cs typeface="Arial"/>
                <a:sym typeface="Arial"/>
              </a:rPr>
              <a:t>Preconditon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:  </a:t>
            </a:r>
            <a:r>
              <a:rPr lang="en-US" b="1" dirty="0" smtClean="0">
                <a:latin typeface="Arial"/>
                <a:ea typeface="Arial"/>
                <a:cs typeface="Arial"/>
                <a:sym typeface="Arial"/>
              </a:rPr>
              <a:t>y!=0 </a:t>
            </a:r>
            <a:endParaRPr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dirty="0" err="1">
                <a:latin typeface="Arial"/>
                <a:ea typeface="Arial"/>
                <a:cs typeface="Arial"/>
                <a:sym typeface="Arial"/>
              </a:rPr>
              <a:t>postcondition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 : 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dirty="0" err="1">
                <a:latin typeface="Arial"/>
                <a:ea typeface="Arial"/>
                <a:cs typeface="Arial"/>
                <a:sym typeface="Arial"/>
              </a:rPr>
              <a:t>makerational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 [0] </a:t>
            </a:r>
            <a:r>
              <a:rPr lang="en-US" b="1" dirty="0" smtClean="0">
                <a:latin typeface="Arial"/>
                <a:ea typeface="Arial"/>
                <a:cs typeface="Arial"/>
                <a:sym typeface="Arial"/>
              </a:rPr>
              <a:t>=x</a:t>
            </a:r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dirty="0" err="1" smtClean="0">
                <a:latin typeface="Arial"/>
                <a:ea typeface="Arial"/>
                <a:cs typeface="Arial"/>
                <a:sym typeface="Arial"/>
              </a:rPr>
              <a:t>makerational</a:t>
            </a:r>
            <a:r>
              <a:rPr lang="en-US" b="1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[1] </a:t>
            </a:r>
            <a:r>
              <a:rPr lang="en-US" b="1" dirty="0" smtClean="0">
                <a:latin typeface="Arial"/>
                <a:ea typeface="Arial"/>
                <a:cs typeface="Arial"/>
                <a:sym typeface="Arial"/>
              </a:rPr>
              <a:t>=y</a:t>
            </a:r>
            <a:endParaRPr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33"/>
          <p:cNvSpPr txBox="1">
            <a:spLocks noGrp="1"/>
          </p:cNvSpPr>
          <p:nvPr>
            <p:ph type="body" idx="4294967295"/>
          </p:nvPr>
        </p:nvSpPr>
        <p:spPr>
          <a:xfrm>
            <a:off x="4770730" y="1905000"/>
            <a:ext cx="4265765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 dirty="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abstract </a:t>
            </a:r>
            <a:r>
              <a:rPr lang="en-US" b="1" dirty="0" err="1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RATIONALtype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 add&lt;</a:t>
            </a:r>
            <a:r>
              <a:rPr lang="en-US" b="1" dirty="0" err="1">
                <a:latin typeface="Arial"/>
                <a:ea typeface="Arial"/>
                <a:cs typeface="Arial"/>
                <a:sym typeface="Arial"/>
              </a:rPr>
              <a:t>a,b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&gt;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dirty="0" err="1">
                <a:latin typeface="Arial"/>
                <a:ea typeface="Arial"/>
                <a:cs typeface="Arial"/>
                <a:sym typeface="Arial"/>
              </a:rPr>
              <a:t>RATIONALType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latin typeface="Arial"/>
                <a:ea typeface="Arial"/>
                <a:cs typeface="Arial"/>
                <a:sym typeface="Arial"/>
              </a:rPr>
              <a:t>a,b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; 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Precondition: none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dirty="0" err="1">
                <a:latin typeface="Arial"/>
                <a:ea typeface="Arial"/>
                <a:cs typeface="Arial"/>
                <a:sym typeface="Arial"/>
              </a:rPr>
              <a:t>postcondition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 : </a:t>
            </a:r>
            <a:endParaRPr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add[0] = a[0]*b[1]+b[0]*a[1] 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add[1] =  a[1] * b[1] 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5" name="Google Shape;575;p33" descr="A close up of a sig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3124" y="5835859"/>
            <a:ext cx="726409" cy="7219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46983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34"/>
          <p:cNvSpPr txBox="1">
            <a:spLocks noGrp="1"/>
          </p:cNvSpPr>
          <p:nvPr>
            <p:ph type="body" idx="4294967295"/>
          </p:nvPr>
        </p:nvSpPr>
        <p:spPr>
          <a:xfrm>
            <a:off x="486717" y="2024889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dirty="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abstract </a:t>
            </a:r>
            <a:r>
              <a:rPr lang="en-US" b="1" dirty="0" err="1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RATIONALType</a:t>
            </a:r>
            <a:r>
              <a:rPr lang="en-US" b="1" dirty="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latin typeface="Arial"/>
                <a:ea typeface="Arial"/>
                <a:cs typeface="Arial"/>
                <a:sym typeface="Arial"/>
              </a:rPr>
              <a:t>mult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&lt;a, b&gt;</a:t>
            </a:r>
            <a:endParaRPr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latin typeface="Arial"/>
                <a:ea typeface="Arial"/>
                <a:cs typeface="Arial"/>
                <a:sym typeface="Arial"/>
              </a:rPr>
              <a:t>RATIONALType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latin typeface="Arial"/>
                <a:ea typeface="Arial"/>
                <a:cs typeface="Arial"/>
                <a:sym typeface="Arial"/>
              </a:rPr>
              <a:t>a,b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; </a:t>
            </a:r>
            <a:endParaRPr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Precondition: none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dirty="0" err="1" smtClean="0">
                <a:latin typeface="Arial"/>
                <a:ea typeface="Arial"/>
                <a:cs typeface="Arial"/>
                <a:sym typeface="Arial"/>
              </a:rPr>
              <a:t>Postcondition</a:t>
            </a:r>
            <a:r>
              <a:rPr lang="en-US" b="1" dirty="0" smtClean="0">
                <a:latin typeface="Arial"/>
                <a:ea typeface="Arial"/>
                <a:cs typeface="Arial"/>
                <a:sym typeface="Arial"/>
              </a:rPr>
              <a:t> : 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dirty="0" err="1">
                <a:latin typeface="Arial"/>
                <a:ea typeface="Arial"/>
                <a:cs typeface="Arial"/>
                <a:sym typeface="Arial"/>
              </a:rPr>
              <a:t>mult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[0] = </a:t>
            </a:r>
            <a:r>
              <a:rPr lang="en-US" b="1" dirty="0" smtClean="0">
                <a:latin typeface="Arial"/>
                <a:ea typeface="Arial"/>
                <a:cs typeface="Arial"/>
                <a:sym typeface="Arial"/>
              </a:rPr>
              <a:t>a[0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]*b[0] 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dirty="0" err="1">
                <a:latin typeface="Arial"/>
                <a:ea typeface="Arial"/>
                <a:cs typeface="Arial"/>
                <a:sym typeface="Arial"/>
              </a:rPr>
              <a:t>mult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[1] = </a:t>
            </a:r>
            <a:r>
              <a:rPr lang="en-US" b="1" dirty="0" smtClean="0">
                <a:latin typeface="Arial"/>
                <a:ea typeface="Arial"/>
                <a:cs typeface="Arial"/>
                <a:sym typeface="Arial"/>
              </a:rPr>
              <a:t>a[1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]*b[1] </a:t>
            </a:r>
            <a:endParaRPr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34"/>
          <p:cNvSpPr txBox="1">
            <a:spLocks noGrp="1"/>
          </p:cNvSpPr>
          <p:nvPr>
            <p:ph type="body" idx="4294967295"/>
          </p:nvPr>
        </p:nvSpPr>
        <p:spPr>
          <a:xfrm>
            <a:off x="4639256" y="2133600"/>
            <a:ext cx="4187108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  <a:buClr>
                <a:schemeClr val="dk1"/>
              </a:buClr>
              <a:buSzPts val="2800"/>
              <a:buNone/>
            </a:pPr>
            <a:r>
              <a:rPr lang="en-US" b="1" dirty="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abstract </a:t>
            </a:r>
            <a:r>
              <a:rPr lang="en-US" b="1" dirty="0" err="1" smtClean="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ReturnType</a:t>
            </a:r>
            <a:r>
              <a:rPr lang="en-US" b="1" dirty="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? </a:t>
            </a:r>
            <a:r>
              <a:rPr lang="en-US" b="1" dirty="0" smtClean="0">
                <a:latin typeface="Arial"/>
                <a:ea typeface="Arial"/>
                <a:cs typeface="Arial"/>
                <a:sym typeface="Arial"/>
              </a:rPr>
              <a:t>Equal&lt;</a:t>
            </a:r>
            <a:r>
              <a:rPr lang="en-US" b="1" dirty="0" err="1" smtClean="0">
                <a:latin typeface="Arial"/>
                <a:ea typeface="Arial"/>
                <a:cs typeface="Arial"/>
                <a:sym typeface="Arial"/>
              </a:rPr>
              <a:t>a,b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&gt;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dirty="0" err="1">
                <a:latin typeface="Arial"/>
                <a:ea typeface="Arial"/>
                <a:cs typeface="Arial"/>
                <a:sym typeface="Arial"/>
              </a:rPr>
              <a:t>RATIONALType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latin typeface="Arial"/>
                <a:ea typeface="Arial"/>
                <a:cs typeface="Arial"/>
                <a:sym typeface="Arial"/>
              </a:rPr>
              <a:t>a,b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; 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Precondition: none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dirty="0" err="1" smtClean="0">
                <a:latin typeface="Arial"/>
                <a:ea typeface="Arial"/>
                <a:cs typeface="Arial"/>
                <a:sym typeface="Arial"/>
              </a:rPr>
              <a:t>Postcondition</a:t>
            </a:r>
            <a:r>
              <a:rPr lang="en-US" b="1" dirty="0" smtClean="0">
                <a:latin typeface="Arial"/>
                <a:ea typeface="Arial"/>
                <a:cs typeface="Arial"/>
                <a:sym typeface="Arial"/>
              </a:rPr>
              <a:t>: equal=true  if a[0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] * b[1] = = b[0] * a[1</a:t>
            </a:r>
            <a:r>
              <a:rPr lang="en-US" b="1" dirty="0" smtClean="0">
                <a:latin typeface="Arial"/>
                <a:ea typeface="Arial"/>
                <a:cs typeface="Arial"/>
                <a:sym typeface="Arial"/>
              </a:rPr>
              <a:t>]</a:t>
            </a:r>
            <a:endParaRPr b="1" dirty="0"/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6" name="Google Shape;586;p34" descr="A close up of a sig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3124" y="5835859"/>
            <a:ext cx="726409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34"/>
          <p:cNvSpPr txBox="1">
            <a:spLocks noGrp="1"/>
          </p:cNvSpPr>
          <p:nvPr>
            <p:ph type="title"/>
          </p:nvPr>
        </p:nvSpPr>
        <p:spPr>
          <a:xfrm>
            <a:off x="91275" y="944944"/>
            <a:ext cx="897406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Arial"/>
              <a:buNone/>
            </a:pPr>
            <a:r>
              <a:rPr lang="en-US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Example ADT : Rational Number Operator Definition</a:t>
            </a:r>
            <a:r>
              <a:rPr lang="en-US" dirty="0"/>
              <a:t/>
            </a:r>
            <a:br>
              <a:rPr lang="en-US" dirty="0"/>
            </a:b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49907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8"/>
          <p:cNvSpPr txBox="1">
            <a:spLocks noGrp="1"/>
          </p:cNvSpPr>
          <p:nvPr>
            <p:ph type="title"/>
          </p:nvPr>
        </p:nvSpPr>
        <p:spPr>
          <a:xfrm>
            <a:off x="2209800" y="602234"/>
            <a:ext cx="6299391" cy="685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/>
              <a:buNone/>
            </a:pPr>
            <a:r>
              <a:rPr lang="en-US" sz="3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ADT Syntax : Operator definition</a:t>
            </a:r>
            <a:endParaRPr sz="3200">
              <a:solidFill>
                <a:srgbClr val="C00000"/>
              </a:solidFill>
            </a:endParaRPr>
          </a:p>
        </p:txBody>
      </p:sp>
      <p:sp>
        <p:nvSpPr>
          <p:cNvPr id="406" name="Google Shape;406;p18"/>
          <p:cNvSpPr txBox="1"/>
          <p:nvPr/>
        </p:nvSpPr>
        <p:spPr>
          <a:xfrm>
            <a:off x="533400" y="1447800"/>
            <a:ext cx="7736306" cy="4573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Arial"/>
              <a:buNone/>
            </a:pPr>
            <a:r>
              <a:rPr lang="en-US" sz="2800" b="0" i="1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Abstract </a:t>
            </a:r>
            <a:r>
              <a:rPr lang="en-US" sz="2800" b="0" i="1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ReturnType</a:t>
            </a:r>
            <a:r>
              <a:rPr lang="en-US" sz="28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OperationName</a:t>
            </a:r>
            <a:r>
              <a:rPr lang="en-US" sz="28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2800" b="0" i="0" u="none" strike="noStrike" cap="none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ParameterType</a:t>
            </a:r>
            <a:r>
              <a:rPr lang="en-US" sz="28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Parameter1, </a:t>
            </a:r>
            <a:r>
              <a:rPr lang="en-US" sz="2800" b="0" i="0" u="none" strike="noStrike" cap="none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ParameterType</a:t>
            </a:r>
            <a:r>
              <a:rPr lang="en-US" sz="28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Parameter2……, </a:t>
            </a:r>
            <a:r>
              <a:rPr lang="en-US" sz="2800" b="0" i="0" u="none" strike="noStrike" cap="none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ParameterType</a:t>
            </a:r>
            <a:r>
              <a:rPr lang="en-US" sz="28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ParameterN</a:t>
            </a:r>
            <a:r>
              <a:rPr lang="en-US" sz="28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/>
              <a:buNone/>
            </a:pPr>
            <a:r>
              <a:rPr lang="en-US" sz="28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Precondition: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/>
              <a:buNone/>
            </a:pPr>
            <a:r>
              <a:rPr lang="en-US" sz="2800" b="0" i="0" u="none" strike="noStrike" cap="none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Postcondition</a:t>
            </a:r>
            <a:r>
              <a:rPr lang="en-US" sz="28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/>
              <a:buNone/>
            </a:pPr>
            <a:r>
              <a:rPr lang="en-US" sz="28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Arial"/>
              <a:buNone/>
            </a:pPr>
            <a:r>
              <a:rPr lang="en-US" sz="2800" b="0" i="1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Abstract </a:t>
            </a:r>
            <a:r>
              <a:rPr lang="en-US" sz="2800" b="0" i="1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ReturnType</a:t>
            </a:r>
            <a:r>
              <a:rPr lang="en-US" sz="28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OperationName</a:t>
            </a:r>
            <a:r>
              <a:rPr lang="en-US" sz="28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(Parameter1, Parameter2……, </a:t>
            </a:r>
            <a:r>
              <a:rPr lang="en-US" sz="2800" b="0" i="0" u="none" strike="noStrike" cap="none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ParameterN</a:t>
            </a:r>
            <a:r>
              <a:rPr lang="en-US" sz="28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/>
              <a:buNone/>
            </a:pPr>
            <a:r>
              <a:rPr lang="en-US" sz="2800" b="0" i="0" u="none" strike="noStrike" cap="none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ParameterType</a:t>
            </a:r>
            <a:r>
              <a:rPr lang="en-US" sz="28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Parameter1, </a:t>
            </a:r>
            <a:r>
              <a:rPr lang="en-US" sz="2800" b="0" i="0" u="none" strike="noStrike" cap="none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ParameterType</a:t>
            </a:r>
            <a:r>
              <a:rPr lang="en-US" sz="28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Parameter2……, </a:t>
            </a:r>
            <a:r>
              <a:rPr lang="en-US" sz="2800" b="0" i="0" u="none" strike="noStrike" cap="none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ParameterType</a:t>
            </a:r>
            <a:r>
              <a:rPr lang="en-US" sz="28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ParameterN</a:t>
            </a:r>
            <a:endParaRPr sz="2800" b="0" i="0" u="none" strike="noStrike" cap="none" dirty="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/>
              <a:buNone/>
            </a:pPr>
            <a:r>
              <a:rPr lang="en-US" sz="28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Precondition: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/>
              <a:buNone/>
            </a:pPr>
            <a:r>
              <a:rPr lang="en-US" sz="2800" b="0" i="0" u="none" strike="noStrike" cap="none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Postcondition</a:t>
            </a:r>
            <a:r>
              <a:rPr lang="en-US" sz="28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2800" b="0" i="0" u="none" strike="noStrike" cap="none" dirty="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2800" b="0" i="0" u="none" strike="noStrike" cap="none" dirty="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33596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1"/>
          <p:cNvSpPr txBox="1">
            <a:spLocks noGrp="1"/>
          </p:cNvSpPr>
          <p:nvPr>
            <p:ph type="title"/>
          </p:nvPr>
        </p:nvSpPr>
        <p:spPr>
          <a:xfrm>
            <a:off x="899592" y="365126"/>
            <a:ext cx="761575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Arial"/>
              <a:buNone/>
            </a:pPr>
            <a:r>
              <a:rPr lang="en-US" sz="3600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Example ADT : </a:t>
            </a:r>
            <a:r>
              <a:rPr lang="en-US" sz="3600" dirty="0" smtClean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Complex </a:t>
            </a:r>
            <a:r>
              <a:rPr lang="en-US" sz="3600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Number</a:t>
            </a:r>
            <a:endParaRPr sz="3600" dirty="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3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Definition:  </a:t>
            </a:r>
            <a:r>
              <a:rPr lang="en-US" b="1" dirty="0"/>
              <a:t>expressed </a:t>
            </a:r>
            <a:r>
              <a:rPr lang="en-US" b="1" dirty="0" smtClean="0"/>
              <a:t>as summation of </a:t>
            </a:r>
            <a:r>
              <a:rPr lang="en-US" b="1" dirty="0"/>
              <a:t>the </a:t>
            </a:r>
            <a:r>
              <a:rPr lang="en-US" b="1" dirty="0" smtClean="0"/>
              <a:t>real and imaginary part </a:t>
            </a:r>
            <a:endParaRPr b="1" dirty="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Operations:</a:t>
            </a:r>
            <a:endParaRPr b="1" dirty="0"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b="1" dirty="0" err="1" smtClean="0">
                <a:latin typeface="Arial"/>
                <a:ea typeface="Arial"/>
                <a:cs typeface="Arial"/>
                <a:sym typeface="Arial"/>
              </a:rPr>
              <a:t>makeComplex</a:t>
            </a:r>
            <a:r>
              <a:rPr lang="en-US" b="1" dirty="0" smtClean="0">
                <a:latin typeface="Arial"/>
                <a:ea typeface="Arial"/>
                <a:cs typeface="Arial"/>
                <a:sym typeface="Arial"/>
              </a:rPr>
              <a:t>()</a:t>
            </a:r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b="1" dirty="0" err="1" smtClean="0">
                <a:latin typeface="Arial"/>
                <a:ea typeface="Arial"/>
                <a:cs typeface="Arial"/>
                <a:sym typeface="Arial"/>
              </a:rPr>
              <a:t>IsEqualComplex</a:t>
            </a:r>
            <a:r>
              <a:rPr lang="en-US" b="1" dirty="0" smtClean="0">
                <a:latin typeface="Arial"/>
                <a:ea typeface="Arial"/>
                <a:cs typeface="Arial"/>
                <a:sym typeface="Arial"/>
              </a:rPr>
              <a:t>()</a:t>
            </a:r>
            <a:endParaRPr b="1" dirty="0"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b="1" dirty="0" smtClean="0">
                <a:latin typeface="Arial"/>
                <a:ea typeface="Arial"/>
                <a:cs typeface="Arial"/>
                <a:sym typeface="Arial"/>
              </a:rPr>
              <a:t>add()</a:t>
            </a:r>
            <a:endParaRPr b="1" dirty="0"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b="1" dirty="0" smtClean="0">
                <a:latin typeface="Arial"/>
                <a:ea typeface="Arial"/>
                <a:cs typeface="Arial"/>
                <a:sym typeface="Arial"/>
              </a:rPr>
              <a:t>sub()</a:t>
            </a:r>
          </a:p>
          <a:p>
            <a:pPr marL="742950" lvl="1" indent="-285750">
              <a:spcBef>
                <a:spcPts val="560"/>
              </a:spcBef>
              <a:buClr>
                <a:schemeClr val="dk1"/>
              </a:buClr>
              <a:buSzPts val="2800"/>
              <a:buFont typeface="Wingdings 2" pitchFamily="18" charset="2"/>
              <a:buChar char="–"/>
            </a:pPr>
            <a:r>
              <a:rPr lang="en-US" b="1" dirty="0" err="1" smtClean="0">
                <a:latin typeface="Arial"/>
                <a:ea typeface="Arial"/>
                <a:cs typeface="Arial"/>
                <a:sym typeface="Arial"/>
              </a:rPr>
              <a:t>mul</a:t>
            </a:r>
            <a:r>
              <a:rPr lang="en-US" b="1" dirty="0" smtClean="0">
                <a:latin typeface="Arial"/>
                <a:ea typeface="Arial"/>
                <a:cs typeface="Arial"/>
                <a:sym typeface="Arial"/>
              </a:rPr>
              <a:t>()</a:t>
            </a:r>
            <a:endParaRPr lang="en-US" b="1" dirty="0"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endParaRPr b="1" dirty="0"/>
          </a:p>
        </p:txBody>
      </p:sp>
      <p:pic>
        <p:nvPicPr>
          <p:cNvPr id="552" name="Google Shape;552;p31" descr="A close up of a sig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3124" y="5835859"/>
            <a:ext cx="726409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AutoShape 2" descr="Multiplication of Complex Numbers - How to Find the Product of Complex  Number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5178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1"/>
          <p:cNvSpPr txBox="1">
            <a:spLocks noGrp="1"/>
          </p:cNvSpPr>
          <p:nvPr>
            <p:ph type="title"/>
          </p:nvPr>
        </p:nvSpPr>
        <p:spPr>
          <a:xfrm>
            <a:off x="899592" y="365126"/>
            <a:ext cx="761575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Arial"/>
              <a:buNone/>
            </a:pPr>
            <a:r>
              <a:rPr lang="en-US" sz="3600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Example ADT : </a:t>
            </a:r>
            <a:r>
              <a:rPr lang="en-US" sz="3600" dirty="0" smtClean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Complex </a:t>
            </a:r>
            <a:r>
              <a:rPr lang="en-US" sz="3600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Number</a:t>
            </a:r>
            <a:endParaRPr sz="3600" dirty="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2" name="Google Shape;552;p31" descr="A close up of a sig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3124" y="5835859"/>
            <a:ext cx="726409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AutoShape 2" descr="Multiplication of Complex Numbers - How to Find the Product of Complex  Number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32" b="19219"/>
          <a:stretch/>
        </p:blipFill>
        <p:spPr bwMode="auto">
          <a:xfrm>
            <a:off x="1000125" y="1844824"/>
            <a:ext cx="7143750" cy="2664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56544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2"/>
          <p:cNvSpPr txBox="1">
            <a:spLocks noGrp="1"/>
          </p:cNvSpPr>
          <p:nvPr>
            <p:ph type="title"/>
          </p:nvPr>
        </p:nvSpPr>
        <p:spPr>
          <a:xfrm>
            <a:off x="539552" y="365126"/>
            <a:ext cx="840034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Arial"/>
              <a:buNone/>
            </a:pPr>
            <a:r>
              <a:rPr lang="en-US" sz="3600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Example ADT </a:t>
            </a:r>
            <a:r>
              <a:rPr lang="en-US" sz="3600" dirty="0" smtClean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: Complex Number</a:t>
            </a:r>
            <a:endParaRPr sz="3600" dirty="0"/>
          </a:p>
        </p:txBody>
      </p:sp>
      <p:sp>
        <p:nvSpPr>
          <p:cNvPr id="561" name="Google Shape;561;p3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b="1" dirty="0"/>
              <a:t>Value Definition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b="1" dirty="0"/>
              <a:t>abstract  </a:t>
            </a:r>
            <a:r>
              <a:rPr lang="en-US" b="1" dirty="0" err="1" smtClean="0"/>
              <a:t>TypeDef</a:t>
            </a:r>
            <a:r>
              <a:rPr lang="en-US" b="1" dirty="0" smtClean="0"/>
              <a:t>&lt;integer x, integer y&gt; </a:t>
            </a:r>
            <a:r>
              <a:rPr lang="en-US" b="1" dirty="0" err="1" smtClean="0"/>
              <a:t>COMPLEXType</a:t>
            </a:r>
            <a:r>
              <a:rPr lang="en-US" b="1" dirty="0"/>
              <a:t>; 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b="1" dirty="0"/>
              <a:t>Condition: </a:t>
            </a:r>
            <a:r>
              <a:rPr lang="en-US" b="1" dirty="0" err="1" smtClean="0"/>
              <a:t>COMPLEXType</a:t>
            </a:r>
            <a:r>
              <a:rPr lang="en-US" b="1" dirty="0" smtClean="0"/>
              <a:t> </a:t>
            </a:r>
            <a:r>
              <a:rPr lang="en-US" b="1" dirty="0"/>
              <a:t>[1]!=0;</a:t>
            </a:r>
            <a:endParaRPr b="1" dirty="0"/>
          </a:p>
        </p:txBody>
      </p:sp>
      <p:pic>
        <p:nvPicPr>
          <p:cNvPr id="563" name="Google Shape;563;p32" descr="A close up of a sig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3124" y="5835859"/>
            <a:ext cx="726409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395;p17"/>
          <p:cNvSpPr txBox="1"/>
          <p:nvPr/>
        </p:nvSpPr>
        <p:spPr>
          <a:xfrm>
            <a:off x="533400" y="4005063"/>
            <a:ext cx="7736306" cy="1584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Arial"/>
              <a:buNone/>
            </a:pPr>
            <a:r>
              <a:rPr lang="en-US" sz="2800" b="0" i="0" u="none" strike="noStrike" cap="none" dirty="0" smtClean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abstract </a:t>
            </a:r>
            <a:r>
              <a:rPr lang="en-US" sz="2800" b="0" i="0" u="none" strike="noStrike" cap="none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typedef</a:t>
            </a:r>
            <a:r>
              <a:rPr lang="en-US" sz="28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&lt; </a:t>
            </a:r>
            <a:r>
              <a:rPr lang="en-US" sz="2400" b="0" i="1" u="none" strike="noStrike" cap="none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ParameterType</a:t>
            </a:r>
            <a:r>
              <a:rPr lang="en-US" sz="2400" b="0" i="1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Parameter1, </a:t>
            </a:r>
            <a:r>
              <a:rPr lang="en-US" sz="2400" b="0" i="1" u="none" strike="noStrike" cap="none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ParameterType</a:t>
            </a:r>
            <a:r>
              <a:rPr lang="en-US" sz="2400" b="0" i="1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Parameter2……, </a:t>
            </a:r>
            <a:r>
              <a:rPr lang="en-US" sz="2400" b="0" i="1" u="none" strike="noStrike" cap="none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ParameterType</a:t>
            </a:r>
            <a:r>
              <a:rPr lang="en-US" sz="2400" b="0" i="1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1" u="none" strike="noStrike" cap="none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ParameterN</a:t>
            </a:r>
            <a:r>
              <a:rPr lang="en-US" sz="2400" b="0" i="1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&gt; </a:t>
            </a:r>
            <a:r>
              <a:rPr lang="en-US" sz="2800" b="0" i="0" u="none" strike="noStrike" cap="none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ADTType</a:t>
            </a:r>
            <a:endParaRPr sz="2800" b="0" i="0" u="none" strike="noStrike" cap="none" dirty="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condition: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8041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33"/>
          <p:cNvSpPr txBox="1">
            <a:spLocks noGrp="1"/>
          </p:cNvSpPr>
          <p:nvPr>
            <p:ph type="title"/>
          </p:nvPr>
        </p:nvSpPr>
        <p:spPr>
          <a:xfrm>
            <a:off x="-150876" y="838200"/>
            <a:ext cx="929487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Example ADT : </a:t>
            </a:r>
            <a:r>
              <a:rPr lang="en-US" sz="2800" dirty="0" smtClean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Complex </a:t>
            </a:r>
            <a:r>
              <a:rPr lang="en-US" sz="2800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Number Operator </a:t>
            </a:r>
            <a:r>
              <a:rPr lang="en-US" sz="2800" dirty="0" smtClean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Definition`</a:t>
            </a:r>
            <a:endParaRPr sz="2800" dirty="0"/>
          </a:p>
        </p:txBody>
      </p:sp>
      <p:sp>
        <p:nvSpPr>
          <p:cNvPr id="572" name="Google Shape;572;p33"/>
          <p:cNvSpPr txBox="1">
            <a:spLocks noGrp="1"/>
          </p:cNvSpPr>
          <p:nvPr>
            <p:ph type="body" idx="4294967295"/>
          </p:nvPr>
        </p:nvSpPr>
        <p:spPr>
          <a:xfrm>
            <a:off x="413124" y="19050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 dirty="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abstract </a:t>
            </a:r>
            <a:r>
              <a:rPr lang="en-US" b="1" dirty="0" err="1" smtClean="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COMPLEXType</a:t>
            </a:r>
            <a:r>
              <a:rPr lang="en-US" b="1" dirty="0" smtClean="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 smtClean="0">
                <a:latin typeface="Arial"/>
                <a:ea typeface="Arial"/>
                <a:cs typeface="Arial"/>
                <a:sym typeface="Arial"/>
              </a:rPr>
              <a:t>makecomplex</a:t>
            </a:r>
            <a:r>
              <a:rPr lang="en-US" b="1" dirty="0" smtClean="0"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b="1" dirty="0" err="1" smtClean="0">
                <a:latin typeface="Arial"/>
                <a:ea typeface="Arial"/>
                <a:cs typeface="Arial"/>
                <a:sym typeface="Arial"/>
              </a:rPr>
              <a:t>x,y</a:t>
            </a:r>
            <a:r>
              <a:rPr lang="en-US" b="1" dirty="0" smtClean="0">
                <a:latin typeface="Arial"/>
                <a:ea typeface="Arial"/>
                <a:cs typeface="Arial"/>
                <a:sym typeface="Arial"/>
              </a:rPr>
              <a:t>&gt; 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dirty="0" smtClean="0">
                <a:latin typeface="Arial"/>
                <a:ea typeface="Arial"/>
                <a:cs typeface="Arial"/>
                <a:sym typeface="Arial"/>
              </a:rPr>
              <a:t>integer </a:t>
            </a:r>
            <a:r>
              <a:rPr lang="en-US" b="1" dirty="0" err="1" smtClean="0">
                <a:latin typeface="Arial"/>
                <a:ea typeface="Arial"/>
                <a:cs typeface="Arial"/>
                <a:sym typeface="Arial"/>
              </a:rPr>
              <a:t>x,y</a:t>
            </a:r>
            <a:r>
              <a:rPr lang="en-US" b="1" dirty="0" smtClean="0">
                <a:latin typeface="Arial"/>
                <a:ea typeface="Arial"/>
                <a:cs typeface="Arial"/>
                <a:sym typeface="Arial"/>
              </a:rPr>
              <a:t>; </a:t>
            </a:r>
            <a:endParaRPr b="1" dirty="0" smtClean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dirty="0" err="1" smtClean="0">
                <a:latin typeface="Arial"/>
                <a:ea typeface="Arial"/>
                <a:cs typeface="Arial"/>
                <a:sym typeface="Arial"/>
              </a:rPr>
              <a:t>Preconditon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:  </a:t>
            </a:r>
            <a:r>
              <a:rPr lang="en-US" b="1" dirty="0" smtClean="0">
                <a:latin typeface="Arial"/>
                <a:ea typeface="Arial"/>
                <a:cs typeface="Arial"/>
                <a:sym typeface="Arial"/>
              </a:rPr>
              <a:t>y!=0 </a:t>
            </a:r>
            <a:endParaRPr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dirty="0" err="1">
                <a:latin typeface="Arial"/>
                <a:ea typeface="Arial"/>
                <a:cs typeface="Arial"/>
                <a:sym typeface="Arial"/>
              </a:rPr>
              <a:t>postcondition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 : 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dirty="0" err="1" smtClean="0">
                <a:latin typeface="Arial"/>
                <a:ea typeface="Arial"/>
                <a:cs typeface="Arial"/>
                <a:sym typeface="Arial"/>
              </a:rPr>
              <a:t>makecomplex</a:t>
            </a:r>
            <a:r>
              <a:rPr lang="en-US" b="1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[0] </a:t>
            </a:r>
            <a:r>
              <a:rPr lang="en-US" b="1" dirty="0" smtClean="0">
                <a:latin typeface="Arial"/>
                <a:ea typeface="Arial"/>
                <a:cs typeface="Arial"/>
                <a:sym typeface="Arial"/>
              </a:rPr>
              <a:t>=x</a:t>
            </a:r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dirty="0" err="1" smtClean="0">
                <a:latin typeface="Arial"/>
                <a:ea typeface="Arial"/>
                <a:cs typeface="Arial"/>
                <a:sym typeface="Arial"/>
              </a:rPr>
              <a:t>makecomplex</a:t>
            </a:r>
            <a:r>
              <a:rPr lang="en-US" b="1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[1] </a:t>
            </a:r>
            <a:r>
              <a:rPr lang="en-US" b="1" dirty="0" smtClean="0">
                <a:latin typeface="Arial"/>
                <a:ea typeface="Arial"/>
                <a:cs typeface="Arial"/>
                <a:sym typeface="Arial"/>
              </a:rPr>
              <a:t>=y</a:t>
            </a:r>
            <a:endParaRPr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33"/>
          <p:cNvSpPr txBox="1">
            <a:spLocks noGrp="1"/>
          </p:cNvSpPr>
          <p:nvPr>
            <p:ph type="body" idx="4294967295"/>
          </p:nvPr>
        </p:nvSpPr>
        <p:spPr>
          <a:xfrm>
            <a:off x="4770730" y="1905000"/>
            <a:ext cx="4265765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 dirty="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abstract </a:t>
            </a:r>
            <a:r>
              <a:rPr lang="en-US" b="1" dirty="0" err="1" smtClean="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COMPLEXType</a:t>
            </a:r>
            <a:r>
              <a:rPr lang="en-US" b="1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add&lt;</a:t>
            </a:r>
            <a:r>
              <a:rPr lang="en-US" b="1" dirty="0" err="1">
                <a:latin typeface="Arial"/>
                <a:ea typeface="Arial"/>
                <a:cs typeface="Arial"/>
                <a:sym typeface="Arial"/>
              </a:rPr>
              <a:t>a,b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&gt;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dirty="0" err="1" smtClean="0">
                <a:latin typeface="Arial"/>
                <a:ea typeface="Arial"/>
                <a:cs typeface="Arial"/>
                <a:sym typeface="Arial"/>
              </a:rPr>
              <a:t>COMPLEXType</a:t>
            </a:r>
            <a:r>
              <a:rPr lang="en-US" b="1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latin typeface="Arial"/>
                <a:ea typeface="Arial"/>
                <a:cs typeface="Arial"/>
                <a:sym typeface="Arial"/>
              </a:rPr>
              <a:t>a,b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; 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Precondition: none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dirty="0" err="1">
                <a:latin typeface="Arial"/>
                <a:ea typeface="Arial"/>
                <a:cs typeface="Arial"/>
                <a:sym typeface="Arial"/>
              </a:rPr>
              <a:t>postcondition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 : </a:t>
            </a:r>
            <a:endParaRPr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add[0] = a[0</a:t>
            </a:r>
            <a:r>
              <a:rPr lang="en-US" b="1" dirty="0" smtClean="0">
                <a:latin typeface="Arial"/>
                <a:ea typeface="Arial"/>
                <a:cs typeface="Arial"/>
                <a:sym typeface="Arial"/>
              </a:rPr>
              <a:t>]+b[0] 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add[1] =  a[1</a:t>
            </a:r>
            <a:r>
              <a:rPr lang="en-US" b="1" dirty="0" smtClean="0">
                <a:latin typeface="Arial"/>
                <a:ea typeface="Arial"/>
                <a:cs typeface="Arial"/>
                <a:sym typeface="Arial"/>
              </a:rPr>
              <a:t>]+b[1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] 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5" name="Google Shape;575;p33" descr="A close up of a sig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3124" y="5835859"/>
            <a:ext cx="726409" cy="7219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7213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33"/>
          <p:cNvSpPr txBox="1">
            <a:spLocks noGrp="1"/>
          </p:cNvSpPr>
          <p:nvPr>
            <p:ph type="title"/>
          </p:nvPr>
        </p:nvSpPr>
        <p:spPr>
          <a:xfrm>
            <a:off x="-150876" y="838200"/>
            <a:ext cx="929487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Example ADT : </a:t>
            </a:r>
            <a:r>
              <a:rPr lang="en-US" sz="2800" dirty="0" smtClean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Complex </a:t>
            </a:r>
            <a:r>
              <a:rPr lang="en-US" sz="2800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Number Operator </a:t>
            </a:r>
            <a:r>
              <a:rPr lang="en-US" sz="2800" dirty="0" smtClean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Definition`</a:t>
            </a:r>
            <a:endParaRPr sz="2800" dirty="0"/>
          </a:p>
        </p:txBody>
      </p:sp>
      <p:sp>
        <p:nvSpPr>
          <p:cNvPr id="573" name="Google Shape;573;p33"/>
          <p:cNvSpPr txBox="1">
            <a:spLocks noGrp="1"/>
          </p:cNvSpPr>
          <p:nvPr>
            <p:ph type="body" idx="4294967295"/>
          </p:nvPr>
        </p:nvSpPr>
        <p:spPr>
          <a:xfrm>
            <a:off x="539552" y="1772816"/>
            <a:ext cx="4265765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 dirty="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abstract </a:t>
            </a:r>
            <a:r>
              <a:rPr lang="en-US" b="1" dirty="0" err="1" smtClean="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COMPLEXType</a:t>
            </a:r>
            <a:r>
              <a:rPr lang="en-US" b="1" dirty="0" smtClean="0">
                <a:latin typeface="Arial"/>
                <a:ea typeface="Arial"/>
                <a:cs typeface="Arial"/>
                <a:sym typeface="Arial"/>
              </a:rPr>
              <a:t> sub&lt;</a:t>
            </a:r>
            <a:r>
              <a:rPr lang="en-US" b="1" dirty="0" err="1" smtClean="0">
                <a:latin typeface="Arial"/>
                <a:ea typeface="Arial"/>
                <a:cs typeface="Arial"/>
                <a:sym typeface="Arial"/>
              </a:rPr>
              <a:t>a,b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&gt;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dirty="0" err="1" smtClean="0">
                <a:latin typeface="Arial"/>
                <a:ea typeface="Arial"/>
                <a:cs typeface="Arial"/>
                <a:sym typeface="Arial"/>
              </a:rPr>
              <a:t>COMPLEXType</a:t>
            </a:r>
            <a:r>
              <a:rPr lang="en-US" b="1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latin typeface="Arial"/>
                <a:ea typeface="Arial"/>
                <a:cs typeface="Arial"/>
                <a:sym typeface="Arial"/>
              </a:rPr>
              <a:t>a,b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; 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Precondition: none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dirty="0" err="1">
                <a:latin typeface="Arial"/>
                <a:ea typeface="Arial"/>
                <a:cs typeface="Arial"/>
                <a:sym typeface="Arial"/>
              </a:rPr>
              <a:t>postcondition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 : </a:t>
            </a:r>
            <a:endParaRPr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dirty="0" smtClean="0">
                <a:latin typeface="Arial"/>
                <a:ea typeface="Arial"/>
                <a:cs typeface="Arial"/>
                <a:sym typeface="Arial"/>
              </a:rPr>
              <a:t>sub[0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] = </a:t>
            </a:r>
            <a:r>
              <a:rPr lang="en-US" b="1" dirty="0" smtClean="0">
                <a:latin typeface="Arial"/>
                <a:ea typeface="Arial"/>
                <a:cs typeface="Arial"/>
                <a:sym typeface="Arial"/>
              </a:rPr>
              <a:t>a[0]-b[0] 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dirty="0" smtClean="0">
                <a:latin typeface="Arial"/>
                <a:ea typeface="Arial"/>
                <a:cs typeface="Arial"/>
                <a:sym typeface="Arial"/>
              </a:rPr>
              <a:t>sub[1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] =  </a:t>
            </a:r>
            <a:r>
              <a:rPr lang="en-US" b="1" dirty="0" smtClean="0">
                <a:latin typeface="Arial"/>
                <a:ea typeface="Arial"/>
                <a:cs typeface="Arial"/>
                <a:sym typeface="Arial"/>
              </a:rPr>
              <a:t>a[1]-b[1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] 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5" name="Google Shape;575;p33" descr="A close up of a sig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3124" y="5835859"/>
            <a:ext cx="726409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573;p33"/>
          <p:cNvSpPr txBox="1">
            <a:spLocks/>
          </p:cNvSpPr>
          <p:nvPr/>
        </p:nvSpPr>
        <p:spPr>
          <a:xfrm>
            <a:off x="4572000" y="1772816"/>
            <a:ext cx="4265765" cy="4525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42900">
              <a:spcBef>
                <a:spcPts val="0"/>
              </a:spcBef>
              <a:buClr>
                <a:schemeClr val="dk1"/>
              </a:buClr>
              <a:buSzPts val="2800"/>
              <a:buFont typeface="Wingdings 2" pitchFamily="18" charset="2"/>
              <a:buChar char="•"/>
            </a:pPr>
            <a:r>
              <a:rPr lang="en-US" b="1" dirty="0" smtClean="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abstract </a:t>
            </a:r>
            <a:r>
              <a:rPr lang="en-US" b="1" dirty="0" err="1" smtClean="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COMPLEXType</a:t>
            </a:r>
            <a:r>
              <a:rPr lang="en-US" b="1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 smtClean="0">
                <a:latin typeface="Arial"/>
                <a:ea typeface="Arial"/>
                <a:cs typeface="Arial"/>
                <a:sym typeface="Arial"/>
              </a:rPr>
              <a:t>mult</a:t>
            </a:r>
            <a:r>
              <a:rPr lang="en-US" b="1" dirty="0" smtClean="0"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b="1" dirty="0" err="1" smtClean="0">
                <a:latin typeface="Arial"/>
                <a:ea typeface="Arial"/>
                <a:cs typeface="Arial"/>
                <a:sym typeface="Arial"/>
              </a:rPr>
              <a:t>a,b</a:t>
            </a:r>
            <a:r>
              <a:rPr lang="en-US" b="1" dirty="0" smtClean="0">
                <a:latin typeface="Arial"/>
                <a:ea typeface="Arial"/>
                <a:cs typeface="Arial"/>
                <a:sym typeface="Arial"/>
              </a:rPr>
              <a:t>&gt;</a:t>
            </a:r>
            <a:endParaRPr lang="en-US" b="1" dirty="0" smtClean="0"/>
          </a:p>
          <a:p>
            <a:pPr marL="0" indent="0">
              <a:spcBef>
                <a:spcPts val="560"/>
              </a:spcBef>
              <a:buClr>
                <a:schemeClr val="dk1"/>
              </a:buClr>
              <a:buSzPts val="2800"/>
              <a:buFont typeface="Wingdings 2" pitchFamily="18" charset="2"/>
              <a:buNone/>
            </a:pPr>
            <a:r>
              <a:rPr lang="en-US" b="1" dirty="0" err="1" smtClean="0">
                <a:latin typeface="Arial"/>
                <a:ea typeface="Arial"/>
                <a:cs typeface="Arial"/>
                <a:sym typeface="Arial"/>
              </a:rPr>
              <a:t>COMPLEXType</a:t>
            </a:r>
            <a:r>
              <a:rPr lang="en-US" b="1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 smtClean="0">
                <a:latin typeface="Arial"/>
                <a:ea typeface="Arial"/>
                <a:cs typeface="Arial"/>
                <a:sym typeface="Arial"/>
              </a:rPr>
              <a:t>a,b</a:t>
            </a:r>
            <a:r>
              <a:rPr lang="en-US" b="1" dirty="0" smtClean="0">
                <a:latin typeface="Arial"/>
                <a:ea typeface="Arial"/>
                <a:cs typeface="Arial"/>
                <a:sym typeface="Arial"/>
              </a:rPr>
              <a:t>; </a:t>
            </a:r>
            <a:endParaRPr lang="en-US" b="1" dirty="0" smtClean="0"/>
          </a:p>
          <a:p>
            <a:pPr marL="0" indent="0">
              <a:spcBef>
                <a:spcPts val="560"/>
              </a:spcBef>
              <a:buClr>
                <a:schemeClr val="dk1"/>
              </a:buClr>
              <a:buSzPts val="2800"/>
              <a:buFont typeface="Wingdings 2" pitchFamily="18" charset="2"/>
              <a:buNone/>
            </a:pPr>
            <a:r>
              <a:rPr lang="en-US" b="1" dirty="0" smtClean="0">
                <a:latin typeface="Arial"/>
                <a:ea typeface="Arial"/>
                <a:cs typeface="Arial"/>
                <a:sym typeface="Arial"/>
              </a:rPr>
              <a:t>Precondition: none</a:t>
            </a:r>
            <a:endParaRPr lang="en-US" b="1" dirty="0" smtClean="0"/>
          </a:p>
          <a:p>
            <a:pPr marL="0" indent="0">
              <a:spcBef>
                <a:spcPts val="560"/>
              </a:spcBef>
              <a:buClr>
                <a:schemeClr val="dk1"/>
              </a:buClr>
              <a:buSzPts val="2800"/>
              <a:buFont typeface="Wingdings 2" pitchFamily="18" charset="2"/>
              <a:buNone/>
            </a:pPr>
            <a:r>
              <a:rPr lang="en-US" b="1" dirty="0" err="1" smtClean="0">
                <a:latin typeface="Arial"/>
                <a:ea typeface="Arial"/>
                <a:cs typeface="Arial"/>
                <a:sym typeface="Arial"/>
              </a:rPr>
              <a:t>postcondition</a:t>
            </a:r>
            <a:r>
              <a:rPr lang="en-US" b="1" dirty="0" smtClean="0">
                <a:latin typeface="Arial"/>
                <a:ea typeface="Arial"/>
                <a:cs typeface="Arial"/>
                <a:sym typeface="Arial"/>
              </a:rPr>
              <a:t> : </a:t>
            </a:r>
          </a:p>
          <a:p>
            <a:pPr marL="0" indent="0">
              <a:spcBef>
                <a:spcPts val="560"/>
              </a:spcBef>
              <a:buClr>
                <a:schemeClr val="dk1"/>
              </a:buClr>
              <a:buSzPts val="2800"/>
              <a:buFont typeface="Wingdings 2" pitchFamily="18" charset="2"/>
              <a:buNone/>
            </a:pPr>
            <a:r>
              <a:rPr lang="en-US" b="1" dirty="0" err="1" smtClean="0">
                <a:latin typeface="Arial"/>
                <a:ea typeface="Arial"/>
                <a:cs typeface="Arial"/>
                <a:sym typeface="Arial"/>
              </a:rPr>
              <a:t>mult</a:t>
            </a:r>
            <a:r>
              <a:rPr lang="en-US" b="1" dirty="0" smtClean="0">
                <a:latin typeface="Arial"/>
                <a:ea typeface="Arial"/>
                <a:cs typeface="Arial"/>
                <a:sym typeface="Arial"/>
              </a:rPr>
              <a:t>[0] = a[0]b[0]-a[1]b[1] </a:t>
            </a:r>
            <a:endParaRPr lang="en-US" b="1" dirty="0" smtClean="0"/>
          </a:p>
          <a:p>
            <a:pPr marL="0" indent="0">
              <a:spcBef>
                <a:spcPts val="560"/>
              </a:spcBef>
              <a:buClr>
                <a:schemeClr val="dk1"/>
              </a:buClr>
              <a:buSzPts val="2800"/>
              <a:buFont typeface="Wingdings 2" pitchFamily="18" charset="2"/>
              <a:buNone/>
            </a:pPr>
            <a:r>
              <a:rPr lang="en-US" b="1" dirty="0" err="1" smtClean="0">
                <a:latin typeface="Arial"/>
                <a:ea typeface="Arial"/>
                <a:cs typeface="Arial"/>
                <a:sym typeface="Arial"/>
              </a:rPr>
              <a:t>mult</a:t>
            </a:r>
            <a:r>
              <a:rPr lang="en-US" b="1" dirty="0" smtClean="0">
                <a:latin typeface="Arial"/>
                <a:ea typeface="Arial"/>
                <a:cs typeface="Arial"/>
                <a:sym typeface="Arial"/>
              </a:rPr>
              <a:t>[1] =  a[0]b[1]+a[1]b[0] </a:t>
            </a:r>
            <a:endParaRPr lang="en-US" b="1" dirty="0" smtClean="0"/>
          </a:p>
          <a:p>
            <a:pPr marL="0" indent="0">
              <a:spcBef>
                <a:spcPts val="560"/>
              </a:spcBef>
              <a:buClr>
                <a:schemeClr val="dk1"/>
              </a:buClr>
              <a:buSzPts val="2800"/>
              <a:buFont typeface="Wingdings 2" pitchFamily="18" charset="2"/>
              <a:buNone/>
            </a:pPr>
            <a:endParaRPr lang="en-US" b="1"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93437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35"/>
          <p:cNvSpPr txBox="1">
            <a:spLocks noGrp="1"/>
          </p:cNvSpPr>
          <p:nvPr>
            <p:ph type="title"/>
          </p:nvPr>
        </p:nvSpPr>
        <p:spPr>
          <a:xfrm>
            <a:off x="433906" y="59115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Arial"/>
              <a:buNone/>
            </a:pPr>
            <a:r>
              <a:rPr lang="en-US"/>
              <a:t>Abstract Data Types: Advantages</a:t>
            </a:r>
            <a:endParaRPr/>
          </a:p>
        </p:txBody>
      </p:sp>
      <p:sp>
        <p:nvSpPr>
          <p:cNvPr id="596" name="Google Shape;596;p3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Hide the unnecessary details by building walls around the data and operations </a:t>
            </a:r>
            <a:endParaRPr dirty="0"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dirty="0" smtClean="0"/>
              <a:t>so </a:t>
            </a:r>
            <a:r>
              <a:rPr lang="en-US" dirty="0"/>
              <a:t>that changes in either will not affect other program components that use them 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Functionalities are less likely to change 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Localize rather than globalize changes 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Help manage software complexity 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Easier software maintenance</a:t>
            </a:r>
            <a:endParaRPr dirty="0"/>
          </a:p>
        </p:txBody>
      </p:sp>
      <p:sp>
        <p:nvSpPr>
          <p:cNvPr id="597" name="Google Shape;597;p35"/>
          <p:cNvSpPr txBox="1"/>
          <p:nvPr/>
        </p:nvSpPr>
        <p:spPr>
          <a:xfrm>
            <a:off x="990600" y="5906869"/>
            <a:ext cx="7620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Courtsey: </a:t>
            </a:r>
            <a:r>
              <a:rPr lang="en-US" sz="18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https://www.comp.nus.edu.sg/~stevenha/cs1020e/lectures/L5%20-%20ADT.pdf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9" name="Google Shape;599;p35" descr="A close up of a sign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124" y="5835859"/>
            <a:ext cx="726409" cy="7219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38154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3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endParaRPr/>
          </a:p>
        </p:txBody>
      </p:sp>
      <p:sp>
        <p:nvSpPr>
          <p:cNvPr id="608" name="Google Shape;608;p3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3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pic>
        <p:nvPicPr>
          <p:cNvPr id="609" name="Google Shape;609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6987" y="838200"/>
            <a:ext cx="8139271" cy="5605463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36"/>
          <p:cNvSpPr txBox="1"/>
          <p:nvPr/>
        </p:nvSpPr>
        <p:spPr>
          <a:xfrm>
            <a:off x="990600" y="5906869"/>
            <a:ext cx="7620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Courtsey: </a:t>
            </a:r>
            <a:r>
              <a:rPr lang="en-US" sz="18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https://www.comp.nus.edu.sg/~stevenha/cs1020e/lectures/L5%20-%20ADT.pdf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2" name="Google Shape;612;p36" descr="A close up of a sign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3124" y="5835859"/>
            <a:ext cx="726409" cy="7219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61950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3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endParaRPr/>
          </a:p>
        </p:txBody>
      </p:sp>
      <p:sp>
        <p:nvSpPr>
          <p:cNvPr id="621" name="Google Shape;621;p3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3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pic>
        <p:nvPicPr>
          <p:cNvPr id="622" name="Google Shape;622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2488" y="539226"/>
            <a:ext cx="7684329" cy="5599637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37"/>
          <p:cNvSpPr txBox="1"/>
          <p:nvPr/>
        </p:nvSpPr>
        <p:spPr>
          <a:xfrm>
            <a:off x="990600" y="5906869"/>
            <a:ext cx="7620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Courtsey: </a:t>
            </a:r>
            <a:r>
              <a:rPr lang="en-US" sz="18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https://www.comp.nus.edu.sg/~stevenha/cs1020e/lectures/L5%20-%20ADT.pdf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5" name="Google Shape;625;p37" descr="A close up of a sign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3124" y="5835859"/>
            <a:ext cx="726409" cy="7219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86433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259" y="332656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IN" b="1" dirty="0" smtClean="0"/>
              <a:t>List ADT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35893"/>
            <a:ext cx="8229600" cy="4929411"/>
          </a:xfrm>
        </p:spPr>
        <p:txBody>
          <a:bodyPr>
            <a:normAutofit/>
          </a:bodyPr>
          <a:lstStyle/>
          <a:p>
            <a:r>
              <a:rPr lang="en-US" sz="2000" dirty="0" smtClean="0"/>
              <a:t>The </a:t>
            </a:r>
            <a:r>
              <a:rPr lang="en-US" sz="2000" dirty="0"/>
              <a:t>data is generally stored in key sequence in a list which has a head structure consisting of </a:t>
            </a:r>
            <a:r>
              <a:rPr lang="en-US" sz="2000" i="1" dirty="0"/>
              <a:t>count</a:t>
            </a:r>
            <a:r>
              <a:rPr lang="en-US" sz="2000" dirty="0"/>
              <a:t>, </a:t>
            </a:r>
            <a:r>
              <a:rPr lang="en-US" sz="2000" i="1" dirty="0"/>
              <a:t>pointers</a:t>
            </a:r>
            <a:r>
              <a:rPr lang="en-US" sz="2000" dirty="0"/>
              <a:t> and </a:t>
            </a:r>
            <a:r>
              <a:rPr lang="en-US" sz="2000" i="1" dirty="0"/>
              <a:t>address of compare function</a:t>
            </a:r>
            <a:r>
              <a:rPr lang="en-US" sz="2000" dirty="0"/>
              <a:t> needed to compare the data in the list</a:t>
            </a:r>
            <a:r>
              <a:rPr lang="en-US" sz="2000" dirty="0" smtClean="0"/>
              <a:t>.</a:t>
            </a:r>
          </a:p>
          <a:p>
            <a:endParaRPr lang="en-IN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983CD-BE38-46B1-905D-FEB3C37AFC2E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 smtClean="0"/>
              <a:t>36</a:t>
            </a:fld>
            <a:endParaRPr lang="en-IN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5909" y="2708920"/>
            <a:ext cx="6210300" cy="295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7401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IN" b="1" dirty="0" smtClean="0"/>
              <a:t>List ADT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35893"/>
            <a:ext cx="8229600" cy="4929411"/>
          </a:xfrm>
        </p:spPr>
        <p:txBody>
          <a:bodyPr>
            <a:normAutofit/>
          </a:bodyPr>
          <a:lstStyle/>
          <a:p>
            <a:r>
              <a:rPr lang="en-IN" dirty="0" smtClean="0"/>
              <a:t>List ADT Functions</a:t>
            </a:r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983CD-BE38-46B1-905D-FEB3C37AFC2E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 smtClean="0"/>
              <a:t>37</a:t>
            </a:fld>
            <a:endParaRPr lang="en-IN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772816"/>
            <a:ext cx="7416824" cy="4104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36043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IN" b="1" dirty="0" smtClean="0"/>
              <a:t>List ADT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35893"/>
            <a:ext cx="8229600" cy="4929411"/>
          </a:xfrm>
        </p:spPr>
        <p:txBody>
          <a:bodyPr>
            <a:normAutofit/>
          </a:bodyPr>
          <a:lstStyle/>
          <a:p>
            <a:r>
              <a:rPr lang="en-IN" dirty="0" smtClean="0"/>
              <a:t>List ADT Functions</a:t>
            </a:r>
          </a:p>
          <a:p>
            <a:r>
              <a:rPr lang="en-US" sz="1800" b="1" dirty="0"/>
              <a:t>get() – Return an element from the list at any given position. </a:t>
            </a:r>
          </a:p>
          <a:p>
            <a:r>
              <a:rPr lang="en-US" sz="1800" b="1" dirty="0"/>
              <a:t>insert() – Insert an element at any position of the list. </a:t>
            </a:r>
          </a:p>
          <a:p>
            <a:r>
              <a:rPr lang="en-US" sz="1800" b="1" dirty="0"/>
              <a:t>remove() – Remove the first occurrence of any element from a non-empty list. </a:t>
            </a:r>
          </a:p>
          <a:p>
            <a:r>
              <a:rPr lang="en-US" sz="1800" b="1" dirty="0" err="1"/>
              <a:t>removeAt</a:t>
            </a:r>
            <a:r>
              <a:rPr lang="en-US" sz="1800" b="1" dirty="0"/>
              <a:t>() – Remove the element at a specified location from a non-empty list. </a:t>
            </a:r>
          </a:p>
          <a:p>
            <a:r>
              <a:rPr lang="en-US" sz="1800" b="1" dirty="0"/>
              <a:t>replace() – Replace an element at any position by another element. </a:t>
            </a:r>
          </a:p>
          <a:p>
            <a:r>
              <a:rPr lang="en-US" sz="1800" b="1" dirty="0"/>
              <a:t>size() – Return the number of elements in the list. </a:t>
            </a:r>
          </a:p>
          <a:p>
            <a:r>
              <a:rPr lang="en-US" sz="1800" b="1" dirty="0" err="1"/>
              <a:t>isEmpty</a:t>
            </a:r>
            <a:r>
              <a:rPr lang="en-US" sz="1800" b="1" dirty="0"/>
              <a:t>() – Return true if the list is empty, otherwise return false. </a:t>
            </a:r>
          </a:p>
          <a:p>
            <a:r>
              <a:rPr lang="en-US" sz="1800" b="1" dirty="0" err="1"/>
              <a:t>isFull</a:t>
            </a:r>
            <a:r>
              <a:rPr lang="en-US" sz="1800" b="1" dirty="0"/>
              <a:t>() – Return true if the list is full, otherwise return false.</a:t>
            </a:r>
          </a:p>
          <a:p>
            <a:endParaRPr lang="en-IN" sz="18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983CD-BE38-46B1-905D-FEB3C37AFC2E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 smtClean="0"/>
              <a:t>38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/>
              <p14:cNvContentPartPr/>
              <p14:nvPr/>
            </p14:nvContentPartPr>
            <p14:xfrm>
              <a:off x="892800" y="1776960"/>
              <a:ext cx="679320" cy="8064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76960" y="1713600"/>
                <a:ext cx="711000" cy="20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/>
              <p14:cNvContentPartPr/>
              <p14:nvPr/>
            </p14:nvContentPartPr>
            <p14:xfrm>
              <a:off x="848160" y="1919880"/>
              <a:ext cx="598680" cy="45000"/>
            </p14:xfrm>
          </p:contentPart>
        </mc:Choice>
        <mc:Fallback xmlns="">
          <p:pic>
            <p:nvPicPr>
              <p:cNvPr id="8" name="Ink 7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32320" y="1856520"/>
                <a:ext cx="63036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/>
              <p14:cNvContentPartPr/>
              <p14:nvPr/>
            </p14:nvContentPartPr>
            <p14:xfrm>
              <a:off x="919800" y="1919880"/>
              <a:ext cx="741600" cy="33084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03960" y="1856520"/>
                <a:ext cx="773280" cy="45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/>
              <p14:cNvContentPartPr/>
              <p14:nvPr/>
            </p14:nvContentPartPr>
            <p14:xfrm>
              <a:off x="892800" y="2544840"/>
              <a:ext cx="973800" cy="63000"/>
            </p14:xfrm>
          </p:contentPart>
        </mc:Choice>
        <mc:Fallback xmlns="">
          <p:pic>
            <p:nvPicPr>
              <p:cNvPr id="10" name="Ink 9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76960" y="2481480"/>
                <a:ext cx="100548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" name="Ink 10"/>
              <p14:cNvContentPartPr/>
              <p14:nvPr/>
            </p14:nvContentPartPr>
            <p14:xfrm>
              <a:off x="875160" y="3071880"/>
              <a:ext cx="2464920" cy="125280"/>
            </p14:xfrm>
          </p:contentPart>
        </mc:Choice>
        <mc:Fallback xmlns="">
          <p:pic>
            <p:nvPicPr>
              <p:cNvPr id="11" name="Ink 10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59320" y="3008160"/>
                <a:ext cx="249660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Ink 11"/>
              <p14:cNvContentPartPr/>
              <p14:nvPr/>
            </p14:nvContentPartPr>
            <p14:xfrm>
              <a:off x="866160" y="3714840"/>
              <a:ext cx="1206000" cy="360"/>
            </p14:xfrm>
          </p:contentPart>
        </mc:Choice>
        <mc:Fallback xmlns="">
          <p:pic>
            <p:nvPicPr>
              <p:cNvPr id="12" name="Ink 11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50320" y="3651120"/>
                <a:ext cx="123768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3" name="Ink 12"/>
              <p14:cNvContentPartPr/>
              <p14:nvPr/>
            </p14:nvContentPartPr>
            <p14:xfrm>
              <a:off x="910800" y="4071960"/>
              <a:ext cx="625320" cy="360"/>
            </p14:xfrm>
          </p:contentPart>
        </mc:Choice>
        <mc:Fallback xmlns="">
          <p:pic>
            <p:nvPicPr>
              <p:cNvPr id="13" name="Ink 12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94960" y="4008600"/>
                <a:ext cx="65736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4" name="Ink 13"/>
              <p14:cNvContentPartPr/>
              <p14:nvPr/>
            </p14:nvContentPartPr>
            <p14:xfrm>
              <a:off x="901800" y="4348800"/>
              <a:ext cx="1018440" cy="63000"/>
            </p14:xfrm>
          </p:contentPart>
        </mc:Choice>
        <mc:Fallback xmlns="">
          <p:pic>
            <p:nvPicPr>
              <p:cNvPr id="14" name="Ink 13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85960" y="4285080"/>
                <a:ext cx="1050120" cy="19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5" name="Ink 14"/>
              <p14:cNvContentPartPr/>
              <p14:nvPr/>
            </p14:nvContentPartPr>
            <p14:xfrm>
              <a:off x="928800" y="4679280"/>
              <a:ext cx="625320" cy="9000"/>
            </p14:xfrm>
          </p:contentPart>
        </mc:Choice>
        <mc:Fallback xmlns="">
          <p:pic>
            <p:nvPicPr>
              <p:cNvPr id="15" name="Ink 14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12960" y="4615560"/>
                <a:ext cx="657000" cy="136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9818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IN" b="1" dirty="0" smtClean="0"/>
              <a:t>Stack ADT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35893"/>
            <a:ext cx="8229600" cy="4929411"/>
          </a:xfrm>
        </p:spPr>
        <p:txBody>
          <a:bodyPr>
            <a:normAutofit/>
          </a:bodyPr>
          <a:lstStyle/>
          <a:p>
            <a:r>
              <a:rPr lang="en-IN" sz="2000" dirty="0" smtClean="0"/>
              <a:t>Instead of data being stored in each node, the pointer to data is stored.</a:t>
            </a:r>
          </a:p>
          <a:p>
            <a:r>
              <a:rPr lang="en-IN" sz="2000" dirty="0" smtClean="0"/>
              <a:t>The program allocates memory for the </a:t>
            </a:r>
            <a:r>
              <a:rPr lang="en-IN" sz="2000" i="1" dirty="0" smtClean="0"/>
              <a:t>data</a:t>
            </a:r>
            <a:r>
              <a:rPr lang="en-IN" sz="2000" dirty="0" smtClean="0"/>
              <a:t> and </a:t>
            </a:r>
            <a:r>
              <a:rPr lang="en-IN" sz="2000" i="1" dirty="0" smtClean="0"/>
              <a:t>address</a:t>
            </a:r>
            <a:r>
              <a:rPr lang="en-IN" sz="2000" dirty="0" smtClean="0"/>
              <a:t> is passed to the stack ADT. </a:t>
            </a:r>
          </a:p>
          <a:p>
            <a:endParaRPr lang="en-IN" sz="2000" dirty="0"/>
          </a:p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474" y="3501008"/>
            <a:ext cx="6804248" cy="186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983CD-BE38-46B1-905D-FEB3C37AFC2E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 smtClean="0"/>
              <a:t>39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/>
              <p14:cNvContentPartPr/>
              <p14:nvPr/>
            </p14:nvContentPartPr>
            <p14:xfrm>
              <a:off x="1169640" y="4161240"/>
              <a:ext cx="366480" cy="4500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53800" y="4097880"/>
                <a:ext cx="39852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/>
              <p14:cNvContentPartPr/>
              <p14:nvPr/>
            </p14:nvContentPartPr>
            <p14:xfrm>
              <a:off x="1089360" y="4393440"/>
              <a:ext cx="821880" cy="360"/>
            </p14:xfrm>
          </p:contentPart>
        </mc:Choice>
        <mc:Fallback xmlns="">
          <p:pic>
            <p:nvPicPr>
              <p:cNvPr id="8" name="Ink 7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73520" y="4330080"/>
                <a:ext cx="85356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/>
              <p14:cNvContentPartPr/>
              <p14:nvPr/>
            </p14:nvContentPartPr>
            <p14:xfrm>
              <a:off x="1205640" y="4518360"/>
              <a:ext cx="866520" cy="936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89800" y="4455000"/>
                <a:ext cx="89820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/>
              <p14:cNvContentPartPr/>
              <p14:nvPr/>
            </p14:nvContentPartPr>
            <p14:xfrm>
              <a:off x="1285920" y="4687920"/>
              <a:ext cx="607680" cy="9360"/>
            </p14:xfrm>
          </p:contentPart>
        </mc:Choice>
        <mc:Fallback xmlns="">
          <p:pic>
            <p:nvPicPr>
              <p:cNvPr id="10" name="Ink 9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70080" y="4624560"/>
                <a:ext cx="63936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Ink 10"/>
              <p14:cNvContentPartPr/>
              <p14:nvPr/>
            </p14:nvContentPartPr>
            <p14:xfrm>
              <a:off x="1161000" y="4929120"/>
              <a:ext cx="982440" cy="27360"/>
            </p14:xfrm>
          </p:contentPart>
        </mc:Choice>
        <mc:Fallback xmlns="">
          <p:pic>
            <p:nvPicPr>
              <p:cNvPr id="11" name="Ink 10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145160" y="4865760"/>
                <a:ext cx="101412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2" name="Ink 11"/>
              <p14:cNvContentPartPr/>
              <p14:nvPr/>
            </p14:nvContentPartPr>
            <p14:xfrm>
              <a:off x="1473480" y="5027400"/>
              <a:ext cx="857520" cy="36000"/>
            </p14:xfrm>
          </p:contentPart>
        </mc:Choice>
        <mc:Fallback xmlns="">
          <p:pic>
            <p:nvPicPr>
              <p:cNvPr id="12" name="Ink 11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457640" y="4964040"/>
                <a:ext cx="88920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3" name="Ink 12"/>
              <p14:cNvContentPartPr/>
              <p14:nvPr/>
            </p14:nvContentPartPr>
            <p14:xfrm>
              <a:off x="3500280" y="3625560"/>
              <a:ext cx="2027520" cy="89640"/>
            </p14:xfrm>
          </p:contentPart>
        </mc:Choice>
        <mc:Fallback xmlns="">
          <p:pic>
            <p:nvPicPr>
              <p:cNvPr id="13" name="Ink 12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484440" y="3561840"/>
                <a:ext cx="205920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4" name="Ink 13"/>
              <p14:cNvContentPartPr/>
              <p14:nvPr/>
            </p14:nvContentPartPr>
            <p14:xfrm>
              <a:off x="2946960" y="4062960"/>
              <a:ext cx="536040" cy="36000"/>
            </p14:xfrm>
          </p:contentPart>
        </mc:Choice>
        <mc:Fallback xmlns="">
          <p:pic>
            <p:nvPicPr>
              <p:cNvPr id="14" name="Ink 13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930760" y="3999600"/>
                <a:ext cx="56808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5" name="Ink 14"/>
              <p14:cNvContentPartPr/>
              <p14:nvPr/>
            </p14:nvContentPartPr>
            <p14:xfrm>
              <a:off x="2928960" y="4223880"/>
              <a:ext cx="411120" cy="27000"/>
            </p14:xfrm>
          </p:contentPart>
        </mc:Choice>
        <mc:Fallback xmlns="">
          <p:pic>
            <p:nvPicPr>
              <p:cNvPr id="15" name="Ink 14"/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913120" y="4160160"/>
                <a:ext cx="44280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6" name="Ink 15"/>
              <p14:cNvContentPartPr/>
              <p14:nvPr/>
            </p14:nvContentPartPr>
            <p14:xfrm>
              <a:off x="3714840" y="4062960"/>
              <a:ext cx="285840" cy="9360"/>
            </p14:xfrm>
          </p:contentPart>
        </mc:Choice>
        <mc:Fallback xmlns="">
          <p:pic>
            <p:nvPicPr>
              <p:cNvPr id="16" name="Ink 15"/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699000" y="3999600"/>
                <a:ext cx="31788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7" name="Ink 16"/>
              <p14:cNvContentPartPr/>
              <p14:nvPr/>
            </p14:nvContentPartPr>
            <p14:xfrm>
              <a:off x="3562920" y="4107600"/>
              <a:ext cx="473760" cy="134280"/>
            </p14:xfrm>
          </p:contentPart>
        </mc:Choice>
        <mc:Fallback xmlns="">
          <p:pic>
            <p:nvPicPr>
              <p:cNvPr id="17" name="Ink 16"/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547080" y="4044240"/>
                <a:ext cx="505440" cy="26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8" name="Ink 17"/>
              <p14:cNvContentPartPr/>
              <p14:nvPr/>
            </p14:nvContentPartPr>
            <p14:xfrm>
              <a:off x="4473720" y="4125600"/>
              <a:ext cx="357480" cy="116280"/>
            </p14:xfrm>
          </p:contentPart>
        </mc:Choice>
        <mc:Fallback xmlns="">
          <p:pic>
            <p:nvPicPr>
              <p:cNvPr id="18" name="Ink 17"/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457880" y="4061880"/>
                <a:ext cx="389160" cy="24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9" name="Ink 18"/>
              <p14:cNvContentPartPr/>
              <p14:nvPr/>
            </p14:nvContentPartPr>
            <p14:xfrm>
              <a:off x="5125680" y="4000320"/>
              <a:ext cx="339480" cy="250560"/>
            </p14:xfrm>
          </p:contentPart>
        </mc:Choice>
        <mc:Fallback xmlns="">
          <p:pic>
            <p:nvPicPr>
              <p:cNvPr id="19" name="Ink 18"/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109840" y="3936960"/>
                <a:ext cx="371520" cy="377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44529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IN" b="1" dirty="0" smtClean="0"/>
              <a:t>Stack ADT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35893"/>
            <a:ext cx="8229600" cy="4929411"/>
          </a:xfrm>
        </p:spPr>
        <p:txBody>
          <a:bodyPr>
            <a:normAutofit/>
          </a:bodyPr>
          <a:lstStyle/>
          <a:p>
            <a:endParaRPr lang="en-IN" dirty="0" smtClean="0"/>
          </a:p>
          <a:p>
            <a:r>
              <a:rPr lang="en-IN" sz="2000" dirty="0" smtClean="0"/>
              <a:t>The head node and the data nodes are encapsulated in the ADT. The calling function can only see the pointer to the stack.</a:t>
            </a:r>
          </a:p>
          <a:p>
            <a:endParaRPr lang="en-IN" sz="2000" dirty="0" smtClean="0"/>
          </a:p>
          <a:p>
            <a:r>
              <a:rPr lang="en-IN" sz="2000" dirty="0" smtClean="0"/>
              <a:t>The stack head structure also contains a pointer to </a:t>
            </a:r>
            <a:r>
              <a:rPr lang="en-IN" sz="2000" i="1" dirty="0" smtClean="0"/>
              <a:t>top</a:t>
            </a:r>
            <a:r>
              <a:rPr lang="en-IN" sz="2000" dirty="0" smtClean="0"/>
              <a:t> and </a:t>
            </a:r>
            <a:r>
              <a:rPr lang="en-IN" sz="2000" i="1" dirty="0" smtClean="0"/>
              <a:t>count</a:t>
            </a:r>
            <a:r>
              <a:rPr lang="en-IN" sz="2000" dirty="0" smtClean="0"/>
              <a:t> of number of entries currently in stack.</a:t>
            </a:r>
          </a:p>
          <a:p>
            <a:endParaRPr lang="en-IN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983CD-BE38-46B1-905D-FEB3C37AFC2E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 smtClean="0"/>
              <a:t>40</a:t>
            </a:fld>
            <a:endParaRPr lang="en-IN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474" y="3578324"/>
            <a:ext cx="6804248" cy="186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60951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IN" b="1" dirty="0" smtClean="0"/>
              <a:t>Stack ADT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35893"/>
            <a:ext cx="8229600" cy="4929411"/>
          </a:xfrm>
        </p:spPr>
        <p:txBody>
          <a:bodyPr>
            <a:normAutofit/>
          </a:bodyPr>
          <a:lstStyle/>
          <a:p>
            <a:r>
              <a:rPr lang="en-US" sz="1800" dirty="0" smtClean="0"/>
              <a:t>A </a:t>
            </a:r>
            <a:r>
              <a:rPr lang="en-US" sz="1800" dirty="0"/>
              <a:t>Stack contains elements of the same type arranged in sequential order. </a:t>
            </a:r>
            <a:endParaRPr lang="en-US" sz="1800" dirty="0" smtClean="0"/>
          </a:p>
          <a:p>
            <a:r>
              <a:rPr lang="en-US" sz="1800" dirty="0" smtClean="0"/>
              <a:t>All </a:t>
            </a:r>
            <a:r>
              <a:rPr lang="en-US" sz="1800" dirty="0"/>
              <a:t>operations take place at a single end that is top of the stack and following operations can be performed</a:t>
            </a:r>
            <a:r>
              <a:rPr lang="en-US" sz="1800" dirty="0" smtClean="0"/>
              <a:t>:</a:t>
            </a:r>
          </a:p>
          <a:p>
            <a:endParaRPr lang="en-US" sz="1800" dirty="0"/>
          </a:p>
          <a:p>
            <a:r>
              <a:rPr lang="en-US" sz="1800" b="1" dirty="0"/>
              <a:t>push() – Insert an element at one end of the stack called top. </a:t>
            </a:r>
          </a:p>
          <a:p>
            <a:r>
              <a:rPr lang="en-US" sz="1800" b="1" dirty="0"/>
              <a:t>pop() – Remove and return the element at the top of the stack, if it is not empty. </a:t>
            </a:r>
          </a:p>
          <a:p>
            <a:r>
              <a:rPr lang="en-US" sz="1800" b="1" dirty="0"/>
              <a:t>peek() – Return the element at the top of the stack without removing it, if the stack is not empty. </a:t>
            </a:r>
          </a:p>
          <a:p>
            <a:r>
              <a:rPr lang="en-US" sz="1800" b="1" dirty="0"/>
              <a:t>size() – Return the number of elements in the stack. </a:t>
            </a:r>
          </a:p>
          <a:p>
            <a:r>
              <a:rPr lang="en-US" sz="1800" b="1" dirty="0" err="1"/>
              <a:t>isEmpty</a:t>
            </a:r>
            <a:r>
              <a:rPr lang="en-US" sz="1800" b="1" dirty="0"/>
              <a:t>() – Return true if the stack is empty, otherwise return false. </a:t>
            </a:r>
          </a:p>
          <a:p>
            <a:r>
              <a:rPr lang="en-US" sz="1800" b="1" dirty="0" err="1"/>
              <a:t>isFull</a:t>
            </a:r>
            <a:r>
              <a:rPr lang="en-US" sz="1800" b="1" dirty="0"/>
              <a:t>() – Return true if the stack is full, otherwise return fals</a:t>
            </a:r>
            <a:r>
              <a:rPr lang="en-US" sz="2000" b="1" dirty="0"/>
              <a:t>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983CD-BE38-46B1-905D-FEB3C37AFC2E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 smtClean="0"/>
              <a:t>41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/>
              <p14:cNvContentPartPr/>
              <p14:nvPr/>
            </p14:nvContentPartPr>
            <p14:xfrm>
              <a:off x="919800" y="2991600"/>
              <a:ext cx="937800" cy="36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03960" y="2927880"/>
                <a:ext cx="96948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/>
              <p14:cNvContentPartPr/>
              <p14:nvPr/>
            </p14:nvContentPartPr>
            <p14:xfrm>
              <a:off x="848160" y="3277080"/>
              <a:ext cx="545400" cy="98640"/>
            </p14:xfrm>
          </p:contentPart>
        </mc:Choice>
        <mc:Fallback xmlns="">
          <p:pic>
            <p:nvPicPr>
              <p:cNvPr id="8" name="Ink 7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32320" y="3213720"/>
                <a:ext cx="577080" cy="2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/>
              <p14:cNvContentPartPr/>
              <p14:nvPr/>
            </p14:nvContentPartPr>
            <p14:xfrm>
              <a:off x="776880" y="3884400"/>
              <a:ext cx="839880" cy="6300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61040" y="3821040"/>
                <a:ext cx="87156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/>
              <p14:cNvContentPartPr/>
              <p14:nvPr/>
            </p14:nvContentPartPr>
            <p14:xfrm>
              <a:off x="884160" y="4482720"/>
              <a:ext cx="1223640" cy="54000"/>
            </p14:xfrm>
          </p:contentPart>
        </mc:Choice>
        <mc:Fallback xmlns="">
          <p:pic>
            <p:nvPicPr>
              <p:cNvPr id="10" name="Ink 9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68320" y="4419360"/>
                <a:ext cx="1255320" cy="18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" name="Ink 10"/>
              <p14:cNvContentPartPr/>
              <p14:nvPr/>
            </p14:nvContentPartPr>
            <p14:xfrm>
              <a:off x="830520" y="4786200"/>
              <a:ext cx="1929240" cy="18360"/>
            </p14:xfrm>
          </p:contentPart>
        </mc:Choice>
        <mc:Fallback xmlns="">
          <p:pic>
            <p:nvPicPr>
              <p:cNvPr id="11" name="Ink 10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14680" y="4722840"/>
                <a:ext cx="196092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Ink 11"/>
              <p14:cNvContentPartPr/>
              <p14:nvPr/>
            </p14:nvContentPartPr>
            <p14:xfrm>
              <a:off x="910800" y="5054040"/>
              <a:ext cx="2000520" cy="116640"/>
            </p14:xfrm>
          </p:contentPart>
        </mc:Choice>
        <mc:Fallback xmlns="">
          <p:pic>
            <p:nvPicPr>
              <p:cNvPr id="12" name="Ink 11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94960" y="4990680"/>
                <a:ext cx="2032200" cy="243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59623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584" y="404664"/>
            <a:ext cx="7024744" cy="432048"/>
          </a:xfrm>
        </p:spPr>
        <p:txBody>
          <a:bodyPr>
            <a:normAutofit fontScale="90000"/>
          </a:bodyPr>
          <a:lstStyle/>
          <a:p>
            <a:r>
              <a:rPr lang="en-IN" b="1" dirty="0" smtClean="0"/>
              <a:t>Queue ADT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980728"/>
            <a:ext cx="6777317" cy="5112568"/>
          </a:xfrm>
        </p:spPr>
        <p:txBody>
          <a:bodyPr>
            <a:normAutofit/>
          </a:bodyPr>
          <a:lstStyle/>
          <a:p>
            <a:r>
              <a:rPr lang="en-IN" sz="1800" dirty="0" smtClean="0"/>
              <a:t>The queue abstract data type (ADT) follows the basic design of the stack abstract data type.</a:t>
            </a:r>
          </a:p>
          <a:p>
            <a:endParaRPr lang="en-IN" sz="1800" dirty="0"/>
          </a:p>
          <a:p>
            <a:endParaRPr lang="en-IN" sz="1800" dirty="0" smtClean="0"/>
          </a:p>
          <a:p>
            <a:endParaRPr lang="en-IN" sz="1800" dirty="0"/>
          </a:p>
          <a:p>
            <a:endParaRPr lang="en-IN" sz="1800" dirty="0" smtClean="0"/>
          </a:p>
          <a:p>
            <a:endParaRPr lang="en-IN" sz="1800" dirty="0" smtClean="0"/>
          </a:p>
          <a:p>
            <a:endParaRPr lang="en-IN" sz="1800" dirty="0"/>
          </a:p>
          <a:p>
            <a:endParaRPr lang="en-IN" sz="1800" dirty="0" smtClean="0"/>
          </a:p>
          <a:p>
            <a:endParaRPr lang="en-IN" sz="1800" dirty="0" smtClean="0"/>
          </a:p>
          <a:p>
            <a:endParaRPr lang="en-IN" sz="1800" dirty="0"/>
          </a:p>
          <a:p>
            <a:endParaRPr lang="en-IN" sz="1800" dirty="0" smtClean="0"/>
          </a:p>
          <a:p>
            <a:r>
              <a:rPr lang="en-IN" sz="1800" dirty="0" smtClean="0"/>
              <a:t>Each node contains a void pointer to the </a:t>
            </a:r>
            <a:r>
              <a:rPr lang="en-IN" sz="1800" i="1" dirty="0" smtClean="0"/>
              <a:t>data</a:t>
            </a:r>
            <a:r>
              <a:rPr lang="en-IN" sz="1800" dirty="0" smtClean="0"/>
              <a:t> and the </a:t>
            </a:r>
            <a:r>
              <a:rPr lang="en-IN" sz="1800" i="1" dirty="0" smtClean="0"/>
              <a:t>link pointer</a:t>
            </a:r>
            <a:r>
              <a:rPr lang="en-IN" sz="1800" dirty="0" smtClean="0"/>
              <a:t> to the next element in the queue. The program’s responsibility is to allocate memory for storing the data.</a:t>
            </a:r>
          </a:p>
          <a:p>
            <a:endParaRPr lang="en-IN" sz="1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772816"/>
            <a:ext cx="6624736" cy="3024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8B99F-9850-46ED-BB6F-7DEC2B32E74F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 smtClean="0"/>
              <a:t>42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/>
              <p14:cNvContentPartPr/>
              <p14:nvPr/>
            </p14:nvContentPartPr>
            <p14:xfrm>
              <a:off x="1866240" y="1759320"/>
              <a:ext cx="5876280" cy="40212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50400" y="1695600"/>
                <a:ext cx="5907960" cy="52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/>
              <p14:cNvContentPartPr/>
              <p14:nvPr/>
            </p14:nvContentPartPr>
            <p14:xfrm>
              <a:off x="3223440" y="2919960"/>
              <a:ext cx="804240" cy="205920"/>
            </p14:xfrm>
          </p:contentPart>
        </mc:Choice>
        <mc:Fallback xmlns="">
          <p:pic>
            <p:nvPicPr>
              <p:cNvPr id="8" name="Ink 7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07600" y="2856600"/>
                <a:ext cx="835920" cy="33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Ink 8"/>
              <p14:cNvContentPartPr/>
              <p14:nvPr/>
            </p14:nvContentPartPr>
            <p14:xfrm>
              <a:off x="4241520" y="2991600"/>
              <a:ext cx="357480" cy="8964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25680" y="2927880"/>
                <a:ext cx="38952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Ink 9"/>
              <p14:cNvContentPartPr/>
              <p14:nvPr/>
            </p14:nvContentPartPr>
            <p14:xfrm>
              <a:off x="1759320" y="3911040"/>
              <a:ext cx="6009840" cy="116640"/>
            </p14:xfrm>
          </p:contentPart>
        </mc:Choice>
        <mc:Fallback xmlns="">
          <p:pic>
            <p:nvPicPr>
              <p:cNvPr id="10" name="Ink 9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743120" y="3847680"/>
                <a:ext cx="6041880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" name="Ink 10"/>
              <p14:cNvContentPartPr/>
              <p14:nvPr/>
            </p14:nvContentPartPr>
            <p14:xfrm>
              <a:off x="5277600" y="3027240"/>
              <a:ext cx="303840" cy="360"/>
            </p14:xfrm>
          </p:contentPart>
        </mc:Choice>
        <mc:Fallback xmlns="">
          <p:pic>
            <p:nvPicPr>
              <p:cNvPr id="11" name="Ink 10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261400" y="2963520"/>
                <a:ext cx="33588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2" name="Ink 11"/>
              <p14:cNvContentPartPr/>
              <p14:nvPr/>
            </p14:nvContentPartPr>
            <p14:xfrm>
              <a:off x="6143760" y="3036240"/>
              <a:ext cx="339480" cy="36000"/>
            </p14:xfrm>
          </p:contentPart>
        </mc:Choice>
        <mc:Fallback xmlns="">
          <p:pic>
            <p:nvPicPr>
              <p:cNvPr id="12" name="Ink 11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127920" y="2972520"/>
                <a:ext cx="371160" cy="163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60875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584" y="404664"/>
            <a:ext cx="7024744" cy="1143000"/>
          </a:xfrm>
        </p:spPr>
        <p:txBody>
          <a:bodyPr/>
          <a:lstStyle/>
          <a:p>
            <a:r>
              <a:rPr lang="en-IN" b="1" dirty="0" smtClean="0"/>
              <a:t>Queue ADT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628800"/>
            <a:ext cx="6777317" cy="4320480"/>
          </a:xfrm>
        </p:spPr>
        <p:txBody>
          <a:bodyPr>
            <a:normAutofit/>
          </a:bodyPr>
          <a:lstStyle/>
          <a:p>
            <a:r>
              <a:rPr lang="en-US" sz="1800" dirty="0"/>
              <a:t>A Queue contains elements of the same type arranged in sequential order. </a:t>
            </a:r>
            <a:endParaRPr lang="en-US" sz="1800" dirty="0" smtClean="0"/>
          </a:p>
          <a:p>
            <a:r>
              <a:rPr lang="en-US" sz="1800" dirty="0" smtClean="0"/>
              <a:t>Operations </a:t>
            </a:r>
            <a:r>
              <a:rPr lang="en-US" sz="1800" dirty="0"/>
              <a:t>take place at both ends, insertion is done at the end and deletion is done at the front. </a:t>
            </a:r>
            <a:endParaRPr lang="en-US" sz="18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8B99F-9850-46ED-BB6F-7DEC2B32E74F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 smtClean="0"/>
              <a:t>43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8473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584" y="404664"/>
            <a:ext cx="7024744" cy="1143000"/>
          </a:xfrm>
        </p:spPr>
        <p:txBody>
          <a:bodyPr/>
          <a:lstStyle/>
          <a:p>
            <a:r>
              <a:rPr lang="en-IN" b="1" dirty="0" smtClean="0"/>
              <a:t>Queue ADT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628800"/>
            <a:ext cx="6777317" cy="4320480"/>
          </a:xfrm>
        </p:spPr>
        <p:txBody>
          <a:bodyPr>
            <a:normAutofit/>
          </a:bodyPr>
          <a:lstStyle/>
          <a:p>
            <a:r>
              <a:rPr lang="en-US" sz="1800" dirty="0" smtClean="0"/>
              <a:t>Following </a:t>
            </a:r>
            <a:r>
              <a:rPr lang="en-US" sz="1800" dirty="0"/>
              <a:t>operations can be performed:</a:t>
            </a:r>
          </a:p>
          <a:p>
            <a:endParaRPr lang="en-US" sz="1800" b="1" dirty="0" smtClean="0"/>
          </a:p>
          <a:p>
            <a:r>
              <a:rPr lang="en-US" sz="1800" b="1" dirty="0" err="1" smtClean="0"/>
              <a:t>enqueue</a:t>
            </a:r>
            <a:r>
              <a:rPr lang="en-US" sz="1800" b="1" dirty="0"/>
              <a:t>() – Insert an element at the end of the queue. </a:t>
            </a:r>
          </a:p>
          <a:p>
            <a:r>
              <a:rPr lang="en-US" sz="1800" b="1" dirty="0" err="1"/>
              <a:t>dequeue</a:t>
            </a:r>
            <a:r>
              <a:rPr lang="en-US" sz="1800" b="1" dirty="0"/>
              <a:t>() – Remove and return the first element of the queue, if the queue is not empty. </a:t>
            </a:r>
          </a:p>
          <a:p>
            <a:r>
              <a:rPr lang="en-US" sz="1800" b="1" dirty="0"/>
              <a:t>peek() – Return the element of the queue without removing it, if the queue is not empty. </a:t>
            </a:r>
          </a:p>
          <a:p>
            <a:r>
              <a:rPr lang="en-US" sz="1800" b="1" dirty="0"/>
              <a:t>size() – Return the number of elements in the queue. </a:t>
            </a:r>
          </a:p>
          <a:p>
            <a:r>
              <a:rPr lang="en-US" sz="1800" b="1" dirty="0" err="1"/>
              <a:t>isEmpty</a:t>
            </a:r>
            <a:r>
              <a:rPr lang="en-US" sz="1800" b="1" dirty="0"/>
              <a:t>() – Return true if the queue is empty, otherwise return false.</a:t>
            </a:r>
          </a:p>
          <a:p>
            <a:r>
              <a:rPr lang="en-US" sz="1800" b="1" dirty="0" err="1"/>
              <a:t>isFull</a:t>
            </a:r>
            <a:r>
              <a:rPr lang="en-US" sz="1800" b="1" dirty="0"/>
              <a:t>() – Return true if the queue is full, otherwise return false.</a:t>
            </a:r>
          </a:p>
          <a:p>
            <a:endParaRPr lang="en-IN" sz="18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8B99F-9850-46ED-BB6F-7DEC2B32E74F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 smtClean="0"/>
              <a:t>44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/>
              <p14:cNvContentPartPr/>
              <p14:nvPr/>
            </p14:nvContentPartPr>
            <p14:xfrm>
              <a:off x="1571760" y="2455560"/>
              <a:ext cx="1125360" cy="8100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55920" y="2392200"/>
                <a:ext cx="1157040" cy="20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/>
              <p14:cNvContentPartPr/>
              <p14:nvPr/>
            </p14:nvContentPartPr>
            <p14:xfrm>
              <a:off x="1446480" y="2750400"/>
              <a:ext cx="1473840" cy="89640"/>
            </p14:xfrm>
          </p:contentPart>
        </mc:Choice>
        <mc:Fallback xmlns="">
          <p:pic>
            <p:nvPicPr>
              <p:cNvPr id="8" name="Ink 7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30640" y="2686680"/>
                <a:ext cx="150552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/>
              <p14:cNvContentPartPr/>
              <p14:nvPr/>
            </p14:nvContentPartPr>
            <p14:xfrm>
              <a:off x="1464480" y="3375360"/>
              <a:ext cx="1152360" cy="14328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448640" y="3312000"/>
                <a:ext cx="1184040" cy="2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/>
              <p14:cNvContentPartPr/>
              <p14:nvPr/>
            </p14:nvContentPartPr>
            <p14:xfrm>
              <a:off x="1518120" y="4018320"/>
              <a:ext cx="652320" cy="36000"/>
            </p14:xfrm>
          </p:contentPart>
        </mc:Choice>
        <mc:Fallback xmlns="">
          <p:pic>
            <p:nvPicPr>
              <p:cNvPr id="10" name="Ink 9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502280" y="3954960"/>
                <a:ext cx="68400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Ink 10"/>
              <p14:cNvContentPartPr/>
              <p14:nvPr/>
            </p14:nvContentPartPr>
            <p14:xfrm>
              <a:off x="1518120" y="4429080"/>
              <a:ext cx="759240" cy="9360"/>
            </p14:xfrm>
          </p:contentPart>
        </mc:Choice>
        <mc:Fallback xmlns="">
          <p:pic>
            <p:nvPicPr>
              <p:cNvPr id="11" name="Ink 10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502280" y="4365720"/>
                <a:ext cx="79092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2" name="Ink 11"/>
              <p14:cNvContentPartPr/>
              <p14:nvPr/>
            </p14:nvContentPartPr>
            <p14:xfrm>
              <a:off x="1464480" y="5027400"/>
              <a:ext cx="803880" cy="360"/>
            </p14:xfrm>
          </p:contentPart>
        </mc:Choice>
        <mc:Fallback xmlns="">
          <p:pic>
            <p:nvPicPr>
              <p:cNvPr id="12" name="Ink 11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448640" y="4964040"/>
                <a:ext cx="835560" cy="12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03028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1397</TotalTime>
  <Words>1947</Words>
  <Application>Microsoft Office PowerPoint</Application>
  <PresentationFormat>On-screen Show (4:3)</PresentationFormat>
  <Paragraphs>342</Paragraphs>
  <Slides>44</Slides>
  <Notes>26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5" baseType="lpstr">
      <vt:lpstr>Austin</vt:lpstr>
      <vt:lpstr>ADT</vt:lpstr>
      <vt:lpstr>Abstract Data Type-Definition</vt:lpstr>
      <vt:lpstr>Abstract Data Type-Definition</vt:lpstr>
      <vt:lpstr>Abstract Data Type-Definition</vt:lpstr>
      <vt:lpstr>Abstract Data Type</vt:lpstr>
      <vt:lpstr>Abstract Data Type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ADT Operations </vt:lpstr>
      <vt:lpstr>ADT Syntax : Value Definition </vt:lpstr>
      <vt:lpstr>ADT Syntax : Operator definition</vt:lpstr>
      <vt:lpstr>Example ADT : String</vt:lpstr>
      <vt:lpstr>Example ADT : String</vt:lpstr>
      <vt:lpstr>Example ADT : String Operator Definition </vt:lpstr>
      <vt:lpstr>Example ADT : String Operator Definition </vt:lpstr>
      <vt:lpstr>Example ADT : String Operator Definition </vt:lpstr>
      <vt:lpstr>Example ADT : String Operator Definition </vt:lpstr>
      <vt:lpstr>Example ADT : Rational Number</vt:lpstr>
      <vt:lpstr>Example ADT : Rational Number</vt:lpstr>
      <vt:lpstr>ADT Syntax : Operator definition</vt:lpstr>
      <vt:lpstr>Example ADT : Rational Number Operator Definition`</vt:lpstr>
      <vt:lpstr>Example ADT : Rational Number Operator Definition </vt:lpstr>
      <vt:lpstr>ADT Syntax : Operator definition</vt:lpstr>
      <vt:lpstr>Example ADT : Complex Number</vt:lpstr>
      <vt:lpstr>Example ADT : Complex Number</vt:lpstr>
      <vt:lpstr>Example ADT : Complex Number</vt:lpstr>
      <vt:lpstr>Example ADT : Complex Number Operator Definition`</vt:lpstr>
      <vt:lpstr>Example ADT : Complex Number Operator Definition`</vt:lpstr>
      <vt:lpstr>Abstract Data Types: Advantages</vt:lpstr>
      <vt:lpstr>PowerPoint Presentation</vt:lpstr>
      <vt:lpstr>PowerPoint Presentation</vt:lpstr>
      <vt:lpstr>List ADT</vt:lpstr>
      <vt:lpstr>List ADT</vt:lpstr>
      <vt:lpstr>List ADT</vt:lpstr>
      <vt:lpstr>Stack ADT</vt:lpstr>
      <vt:lpstr>Stack ADT</vt:lpstr>
      <vt:lpstr>Stack ADT</vt:lpstr>
      <vt:lpstr>Queue ADT</vt:lpstr>
      <vt:lpstr>Queue ADT</vt:lpstr>
      <vt:lpstr>Queue ADT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63</cp:revision>
  <dcterms:created xsi:type="dcterms:W3CDTF">2020-07-18T06:41:45Z</dcterms:created>
  <dcterms:modified xsi:type="dcterms:W3CDTF">2024-07-23T10:28:24Z</dcterms:modified>
</cp:coreProperties>
</file>
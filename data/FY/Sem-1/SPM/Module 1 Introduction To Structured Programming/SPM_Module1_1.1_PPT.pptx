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33"/>
  </p:notesMasterIdLst>
  <p:sldIdLst>
    <p:sldId id="261" r:id="rId3"/>
    <p:sldId id="262" r:id="rId4"/>
    <p:sldId id="263" r:id="rId5"/>
    <p:sldId id="288" r:id="rId6"/>
    <p:sldId id="287" r:id="rId7"/>
    <p:sldId id="264" r:id="rId8"/>
    <p:sldId id="265" r:id="rId9"/>
    <p:sldId id="275" r:id="rId10"/>
    <p:sldId id="266" r:id="rId11"/>
    <p:sldId id="267" r:id="rId12"/>
    <p:sldId id="276" r:id="rId13"/>
    <p:sldId id="268" r:id="rId14"/>
    <p:sldId id="269" r:id="rId15"/>
    <p:sldId id="270" r:id="rId16"/>
    <p:sldId id="271" r:id="rId17"/>
    <p:sldId id="272" r:id="rId18"/>
    <p:sldId id="277" r:id="rId19"/>
    <p:sldId id="273" r:id="rId20"/>
    <p:sldId id="278" r:id="rId21"/>
    <p:sldId id="274" r:id="rId22"/>
    <p:sldId id="280" r:id="rId23"/>
    <p:sldId id="289" r:id="rId24"/>
    <p:sldId id="292" r:id="rId25"/>
    <p:sldId id="281" r:id="rId26"/>
    <p:sldId id="283" r:id="rId27"/>
    <p:sldId id="291" r:id="rId28"/>
    <p:sldId id="279" r:id="rId29"/>
    <p:sldId id="284" r:id="rId30"/>
    <p:sldId id="285" r:id="rId31"/>
    <p:sldId id="286" r:id="rId32"/>
  </p:sldIdLst>
  <p:sldSz cx="12192000" cy="6858000"/>
  <p:notesSz cx="6858000" cy="9144000"/>
  <p:embeddedFontLst>
    <p:embeddedFont>
      <p:font typeface="Roboto" charset="0"/>
      <p:regular r:id="rId34"/>
      <p:bold r:id="rId35"/>
    </p:embeddedFont>
    <p:embeddedFont>
      <p:font typeface="Source Code Pro ExtraLight" charset="0"/>
      <p:regular r:id="rId36"/>
      <p:italic r:id="rId37"/>
    </p:embeddedFont>
    <p:embeddedFont>
      <p:font typeface="Fira Sans" charset="0"/>
      <p:regular r:id="rId38"/>
      <p:bold r:id="rId39"/>
      <p:italic r:id="rId40"/>
      <p:boldItalic r:id="rId41"/>
    </p:embeddedFont>
    <p:embeddedFont>
      <p:font typeface="Roboto Medium" charset="0"/>
      <p:regular r:id="rId42"/>
      <p:italic r:id="rId43"/>
    </p:embeddedFont>
    <p:embeddedFont>
      <p:font typeface="Marcellus" charset="0"/>
      <p:regular r:id="rId44"/>
    </p:embeddedFont>
    <p:embeddedFont>
      <p:font typeface="Calibri"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gbWDH9BgynZPotlxacZXWgy2wV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724"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49" Type="http://customschemas.google.com/relationships/presentationmetadata" Target="meta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95948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74C436A4-7414-6A59-6CE3-E8282878714D}"/>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02987DF3-8955-2207-7939-815BD2A56C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3FC918DB-82A7-B104-2A48-F868F5C5F0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925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545619B3-1F69-604A-F008-CCCBD331398B}"/>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0377C7EF-9ACD-DB8A-71C2-538BB8F8B2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7E243235-D09E-56D8-1CDB-1AAC7BB2F4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317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CCA3ECA1-FEB5-E3A5-A230-2D4DBB699588}"/>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7E4C0A35-1CFC-EC5C-A26A-82D804D86A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758BBACD-4EFB-0488-04EF-6377FC7854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837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7B2F6AC8-C608-7007-36C4-29A16F6D5BBF}"/>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06441BAB-99A8-D8C9-DB7E-A02161B47B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CF29E587-D577-636A-7793-EE14FF6800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713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39989D14-D27C-9433-6240-135D9BC208DE}"/>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042E7DA4-EF65-457C-0F3C-323E09301C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71D3456A-0497-0779-FC86-82632B6A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6036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72353208-1215-8345-CE6E-5E4AEB962DF9}"/>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658E559B-68BA-8B07-5B84-1208748D66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7C5BF5A4-87B4-2A00-AB0A-715443E75B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2885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1C04FEC8-9437-1825-3B5E-FA1C438CB3A4}"/>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0BA46559-902A-9DF3-7EF8-3D06D7B2E5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3AC73A46-BD93-A2CC-C565-A4D0E1EE5E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7666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6E9307FA-BA50-7E06-9869-DE8A558691A7}"/>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491EB916-1A88-0D6B-04E5-40FCDA4ADF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6C3CA9D3-9C91-FCF2-CEFA-EEC75F8B6F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703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0AC0998F-A5EC-3A43-FD62-F18876F0BB34}"/>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D1C44A80-7644-C2F7-BD35-4E7A324DF5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C4FEFEAE-43E1-8BDC-7588-0FCA414A3A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0668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9EAB1798-54E9-C5A6-BBC0-95FB203A1427}"/>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5000E47E-42F4-21AA-B842-95223B7DCA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3C554911-CACD-4F94-2909-17E7B79F2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478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E759B0B1-BF4C-5572-C07F-700EC1098C52}"/>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FCB92D27-1F70-3EC6-4E72-2FED0A16D4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F7BA22AD-294E-892E-6EEE-A983E43178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8003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F0F0BFA4-F171-AD21-0B3C-FBA85BEF6042}"/>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3A7B7936-82BC-EC2B-F175-99209BBFAB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D3A0FB23-8CEB-74AA-52C6-3A32602E70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1959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a:extLst>
            <a:ext uri="{FF2B5EF4-FFF2-40B4-BE49-F238E27FC236}">
              <a16:creationId xmlns="" xmlns:a16="http://schemas.microsoft.com/office/drawing/2014/main" id="{F2736C62-51E8-77D5-F1C6-5917E4EE16B9}"/>
            </a:ext>
          </a:extLst>
        </p:cNvPr>
        <p:cNvGrpSpPr/>
        <p:nvPr/>
      </p:nvGrpSpPr>
      <p:grpSpPr>
        <a:xfrm>
          <a:off x="0" y="0"/>
          <a:ext cx="0" cy="0"/>
          <a:chOff x="0" y="0"/>
          <a:chExt cx="0" cy="0"/>
        </a:xfrm>
      </p:grpSpPr>
      <p:sp>
        <p:nvSpPr>
          <p:cNvPr id="17" name="Google Shape;17;p1:notes">
            <a:extLst>
              <a:ext uri="{FF2B5EF4-FFF2-40B4-BE49-F238E27FC236}">
                <a16:creationId xmlns="" xmlns:a16="http://schemas.microsoft.com/office/drawing/2014/main" id="{96450F42-C0C2-3460-5601-99ED5FAC62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a:extLst>
              <a:ext uri="{FF2B5EF4-FFF2-40B4-BE49-F238E27FC236}">
                <a16:creationId xmlns="" xmlns:a16="http://schemas.microsoft.com/office/drawing/2014/main" id="{47F9519F-5559-25AD-E888-FB06881A6D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506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5" name="Google Shape;1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 name="Google Shape;28;p6">
            <a:extLst>
              <a:ext uri="{FF2B5EF4-FFF2-40B4-BE49-F238E27FC236}">
                <a16:creationId xmlns="" xmlns:a16="http://schemas.microsoft.com/office/drawing/2014/main" id="{6F93FA11-668E-5D27-6486-F2A3F91F37DD}"/>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A7B1C99D-C4D1-45FD-111D-769C26834B4B}"/>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2994A560-18DD-F7FA-6DD2-C82499042282}"/>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p:nvPr/>
        </p:nvSpPr>
        <p:spPr>
          <a:xfrm>
            <a:off x="0" y="5680478"/>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838201" y="6356356"/>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26" name="Google Shape;26;p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6"/>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29" name="Google Shape;29;p6"/>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0" name="Google Shape;30;p6"/>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3BE4EE66-95F2-11F6-05EA-E5792929E648}"/>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CD790172-54B1-1878-459A-282E99A7FB4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04871C75-B572-7CC7-1B53-358A4FEE2491}"/>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3" name="Google Shape;73;p8"/>
          <p:cNvSpPr txBox="1">
            <a:spLocks noGrp="1"/>
          </p:cNvSpPr>
          <p:nvPr>
            <p:ph type="title"/>
          </p:nvPr>
        </p:nvSpPr>
        <p:spPr>
          <a:xfrm>
            <a:off x="831851" y="1709744"/>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
          <p:cNvSpPr txBox="1">
            <a:spLocks noGrp="1"/>
          </p:cNvSpPr>
          <p:nvPr>
            <p:ph type="body" idx="1"/>
          </p:nvPr>
        </p:nvSpPr>
        <p:spPr>
          <a:xfrm>
            <a:off x="831851" y="4589469"/>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 name="Google Shape;28;p6">
            <a:extLst>
              <a:ext uri="{FF2B5EF4-FFF2-40B4-BE49-F238E27FC236}">
                <a16:creationId xmlns="" xmlns:a16="http://schemas.microsoft.com/office/drawing/2014/main" id="{5D40BE01-A796-ADDE-1067-A85126FB9817}"/>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C5F09E59-F1FA-4758-8DEB-A7EB3912E75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6FC11D24-EC12-A80C-ADB8-D5E74CECE372}"/>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0"/>
        <p:cNvGrpSpPr/>
        <p:nvPr/>
      </p:nvGrpSpPr>
      <p:grpSpPr>
        <a:xfrm>
          <a:off x="0" y="0"/>
          <a:ext cx="0" cy="0"/>
          <a:chOff x="0" y="0"/>
          <a:chExt cx="0" cy="0"/>
        </a:xfrm>
      </p:grpSpPr>
      <p:sp>
        <p:nvSpPr>
          <p:cNvPr id="84" name="Google Shape;84;p9"/>
          <p:cNvSpPr txBox="1">
            <a:spLocks noGrp="1"/>
          </p:cNvSpPr>
          <p:nvPr>
            <p:ph type="title"/>
          </p:nvPr>
        </p:nvSpPr>
        <p:spPr>
          <a:xfrm>
            <a:off x="839788" y="866776"/>
            <a:ext cx="10515600" cy="8239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9"/>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6" name="Google Shape;86;p9"/>
          <p:cNvSpPr txBox="1">
            <a:spLocks noGrp="1"/>
          </p:cNvSpPr>
          <p:nvPr>
            <p:ph type="body" idx="2"/>
          </p:nvPr>
        </p:nvSpPr>
        <p:spPr>
          <a:xfrm>
            <a:off x="839789"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3"/>
          </p:nvPr>
        </p:nvSpPr>
        <p:spPr>
          <a:xfrm>
            <a:off x="6172203"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9"/>
          <p:cNvSpPr txBox="1">
            <a:spLocks noGrp="1"/>
          </p:cNvSpPr>
          <p:nvPr>
            <p:ph type="body" idx="4"/>
          </p:nvPr>
        </p:nvSpPr>
        <p:spPr>
          <a:xfrm>
            <a:off x="6172203"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213AF292-09D4-0240-9F52-B3CE283D1964}"/>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20A4B550-7FFA-C52B-9952-E28A393DD0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2BC36ECE-C3D1-09DD-489B-CE38B065731B}"/>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
        <p:nvSpPr>
          <p:cNvPr id="3" name="Google Shape;28;p6">
            <a:extLst>
              <a:ext uri="{FF2B5EF4-FFF2-40B4-BE49-F238E27FC236}">
                <a16:creationId xmlns="" xmlns:a16="http://schemas.microsoft.com/office/drawing/2014/main" id="{1E9D295B-756D-94F6-FA62-BAFD6BC1D42C}"/>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80AB6F56-86EA-513F-E160-6DD1EE9C47BE}"/>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0A8BF585-0ABE-47EC-65FA-540F276B8A93}"/>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7" name="Google Shape;117;p14"/>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8" name="Google Shape;118;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 xmlns:a16="http://schemas.microsoft.com/office/drawing/2014/main" id="{92DB2441-62E7-3832-5EE5-42D43B0B9145}"/>
              </a:ext>
            </a:extLst>
          </p:cNvPr>
          <p:cNvSpPr txBox="1">
            <a:spLocks noGrp="1"/>
          </p:cNvSpPr>
          <p:nvPr>
            <p:ph type="dt" idx="10"/>
          </p:nvPr>
        </p:nvSpPr>
        <p:spPr>
          <a:xfrm>
            <a:off x="838200" y="5843203"/>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 xmlns:a16="http://schemas.microsoft.com/office/drawing/2014/main" id="{D868530D-AFB3-4C01-7548-464E74FEE2D4}"/>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 xmlns:a16="http://schemas.microsoft.com/office/drawing/2014/main" id="{A663D57F-09FB-1768-75C6-36B36B985693}"/>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3738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7672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93180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86544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607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56676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0397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3945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097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51573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8/3/2025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7752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981200"/>
            <a:ext cx="5384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981200"/>
            <a:ext cx="53848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4000500"/>
            <a:ext cx="53848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solidFill>
                <a:prstClr val="black">
                  <a:tint val="75000"/>
                </a:prstClr>
              </a:solidFill>
            </a:endParaRPr>
          </a:p>
        </p:txBody>
      </p:sp>
      <p:sp>
        <p:nvSpPr>
          <p:cNvPr id="7" name="Rectangle 3"/>
          <p:cNvSpPr>
            <a:spLocks noGrp="1" noChangeArrowheads="1"/>
          </p:cNvSpPr>
          <p:nvPr>
            <p:ph type="sldNum" sz="quarter" idx="11"/>
          </p:nvPr>
        </p:nvSpPr>
        <p:spPr>
          <a:ln/>
        </p:spPr>
        <p:txBody>
          <a:bodyPr/>
          <a:lstStyle>
            <a:lvl1pPr>
              <a:defRPr/>
            </a:lvl1pPr>
          </a:lstStyle>
          <a:p>
            <a:fld id="{20A102EC-AE80-4BD6-8D65-640D31FFE40E}" type="slidenum">
              <a:rPr lang="en-US">
                <a:solidFill>
                  <a:prstClr val="black">
                    <a:tint val="75000"/>
                  </a:prstClr>
                </a:solidFill>
              </a:rPr>
              <a:pPr/>
              <a:t>‹#›</a:t>
            </a:fld>
            <a:endParaRPr lang="en-US">
              <a:solidFill>
                <a:prstClr val="black">
                  <a:tint val="75000"/>
                </a:prstClr>
              </a:solidFill>
            </a:endParaRPr>
          </a:p>
        </p:txBody>
      </p:sp>
      <p:sp>
        <p:nvSpPr>
          <p:cNvPr id="8" name="Rectangle 16"/>
          <p:cNvSpPr>
            <a:spLocks noGrp="1" noChangeArrowheads="1"/>
          </p:cNvSpPr>
          <p:nvPr>
            <p:ph type="dt" sz="half" idx="12"/>
          </p:nvPr>
        </p:nvSpPr>
        <p:spPr>
          <a:ln/>
        </p:spPr>
        <p:txBody>
          <a:bodyPr/>
          <a:lstStyle>
            <a:lvl1pPr>
              <a:defRPr/>
            </a:lvl1pPr>
          </a:lstStyle>
          <a:p>
            <a:pPr>
              <a:defRPr/>
            </a:pPr>
            <a:endParaRPr lang="en-US">
              <a:solidFill>
                <a:prstClr val="black">
                  <a:tint val="75000"/>
                </a:prstClr>
              </a:solidFill>
            </a:endParaRPr>
          </a:p>
        </p:txBody>
      </p:sp>
    </p:spTree>
    <p:extLst>
      <p:ext uri="{BB962C8B-B14F-4D97-AF65-F5344CB8AC3E}">
        <p14:creationId xmlns:p14="http://schemas.microsoft.com/office/powerpoint/2010/main" val="220713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Google Shape;12;p5">
            <a:extLst>
              <a:ext uri="{FF2B5EF4-FFF2-40B4-BE49-F238E27FC236}">
                <a16:creationId xmlns="" xmlns:a16="http://schemas.microsoft.com/office/drawing/2014/main" id="{44909106-E9FD-B340-07F3-E7E43E0C87E5}"/>
              </a:ext>
            </a:extLst>
          </p:cNvPr>
          <p:cNvSpPr/>
          <p:nvPr userDrawn="1"/>
        </p:nvSpPr>
        <p:spPr>
          <a:xfrm>
            <a:off x="0" y="6080766"/>
            <a:ext cx="838200" cy="79049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13;p5">
            <a:extLst>
              <a:ext uri="{FF2B5EF4-FFF2-40B4-BE49-F238E27FC236}">
                <a16:creationId xmlns="" xmlns:a16="http://schemas.microsoft.com/office/drawing/2014/main" id="{EAAF044C-1D0D-0CFE-1234-30E94B876495}"/>
              </a:ext>
            </a:extLst>
          </p:cNvPr>
          <p:cNvSpPr/>
          <p:nvPr userDrawn="1"/>
        </p:nvSpPr>
        <p:spPr>
          <a:xfrm>
            <a:off x="10169613" y="6356350"/>
            <a:ext cx="2022391"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4" name="Google Shape;14;p5">
            <a:extLst>
              <a:ext uri="{FF2B5EF4-FFF2-40B4-BE49-F238E27FC236}">
                <a16:creationId xmlns="" xmlns:a16="http://schemas.microsoft.com/office/drawing/2014/main" id="{5526ECCB-9585-9619-412C-AF7D491C3AAD}"/>
              </a:ext>
            </a:extLst>
          </p:cNvPr>
          <p:cNvSpPr/>
          <p:nvPr userDrawn="1"/>
        </p:nvSpPr>
        <p:spPr>
          <a:xfrm>
            <a:off x="838201" y="6356356"/>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pic>
        <p:nvPicPr>
          <p:cNvPr id="5" name="Google Shape;21;p5" descr="Graphical user interface, text, application&#10;&#10;Description automatically generated">
            <a:extLst>
              <a:ext uri="{FF2B5EF4-FFF2-40B4-BE49-F238E27FC236}">
                <a16:creationId xmlns="" xmlns:a16="http://schemas.microsoft.com/office/drawing/2014/main" id="{93B2F81F-E84E-30FC-261A-95AAEEBA8CF0}"/>
              </a:ext>
            </a:extLst>
          </p:cNvPr>
          <p:cNvPicPr preferRelativeResize="0"/>
          <p:nvPr userDrawn="1"/>
        </p:nvPicPr>
        <p:blipFill rotWithShape="1">
          <a:blip r:embed="rId9">
            <a:alphaModFix/>
          </a:blip>
          <a:srcRect/>
          <a:stretch/>
        </p:blipFill>
        <p:spPr>
          <a:xfrm>
            <a:off x="11124596" y="226127"/>
            <a:ext cx="728472" cy="539609"/>
          </a:xfrm>
          <a:prstGeom prst="rect">
            <a:avLst/>
          </a:prstGeom>
          <a:noFill/>
          <a:ln>
            <a:noFill/>
          </a:ln>
        </p:spPr>
      </p:pic>
      <p:pic>
        <p:nvPicPr>
          <p:cNvPr id="6" name="Picture 5"/>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3863" y="141579"/>
            <a:ext cx="2316256" cy="70870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7" r:id="rId6"/>
    <p:sldLayoutId id="2147483658"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buClrTx/>
              <a:buFontTx/>
              <a:buNone/>
            </a:pPr>
            <a:fld id="{1D8BD707-D9CF-40AE-B4C6-C98DA3205C09}" type="datetimeFigureOut">
              <a:rPr lang="en-US" kern="1200" smtClean="0">
                <a:solidFill>
                  <a:prstClr val="black">
                    <a:tint val="75000"/>
                  </a:prstClr>
                </a:solidFill>
                <a:latin typeface="Calibri"/>
                <a:ea typeface="+mn-ea"/>
                <a:cs typeface="+mn-cs"/>
              </a:rPr>
              <a:pPr>
                <a:buClrTx/>
                <a:buFontTx/>
                <a:buNone/>
              </a:pPr>
              <a:t>8/3/2025</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buClrTx/>
              <a:buFontTx/>
              <a:buNone/>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buClrTx/>
              <a:buFontTx/>
              <a:buNone/>
            </a:pPr>
            <a:fld id="{B6F15528-21DE-4FAA-801E-634DDDAF4B2B}" type="slidenum">
              <a:rPr lang="en-US" kern="1200" smtClean="0">
                <a:solidFill>
                  <a:prstClr val="black">
                    <a:tint val="75000"/>
                  </a:prstClr>
                </a:solidFill>
                <a:latin typeface="Calibri"/>
                <a:ea typeface="+mn-ea"/>
                <a:cs typeface="+mn-cs"/>
              </a:rPr>
              <a:pPr>
                <a:buClrTx/>
                <a:buFontTx/>
                <a:buNone/>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8764511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9" name="Google Shape;30;p6">
            <a:extLst>
              <a:ext uri="{FF2B5EF4-FFF2-40B4-BE49-F238E27FC236}">
                <a16:creationId xmlns="" xmlns:a16="http://schemas.microsoft.com/office/drawing/2014/main" id="{C46F5E81-7F9A-2292-04D4-6CA8EEE2316A}"/>
              </a:ext>
            </a:extLst>
          </p:cNvPr>
          <p:cNvSpPr txBox="1">
            <a:spLocks noGrp="1"/>
          </p:cNvSpPr>
          <p:nvPr>
            <p:ph type="sldNum" idx="12"/>
          </p:nvPr>
        </p:nvSpPr>
        <p:spPr>
          <a:xfrm>
            <a:off x="10169609" y="5863002"/>
            <a:ext cx="2016211"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1</a:t>
            </a:fld>
            <a:endParaRPr lang="en-US" dirty="0"/>
          </a:p>
        </p:txBody>
      </p:sp>
      <p:sp>
        <p:nvSpPr>
          <p:cNvPr id="11" name="TextBox 10">
            <a:extLst>
              <a:ext uri="{FF2B5EF4-FFF2-40B4-BE49-F238E27FC236}">
                <a16:creationId xmlns="" xmlns:a16="http://schemas.microsoft.com/office/drawing/2014/main" id="{751E710D-39BC-5232-A2BB-687E601F9DE7}"/>
              </a:ext>
            </a:extLst>
          </p:cNvPr>
          <p:cNvSpPr txBox="1"/>
          <p:nvPr/>
        </p:nvSpPr>
        <p:spPr>
          <a:xfrm>
            <a:off x="2631237" y="2044005"/>
            <a:ext cx="7800391" cy="1754326"/>
          </a:xfrm>
          <a:prstGeom prst="rect">
            <a:avLst/>
          </a:prstGeom>
          <a:noFill/>
        </p:spPr>
        <p:txBody>
          <a:bodyPr wrap="square">
            <a:spAutoFit/>
          </a:bodyPr>
          <a:lstStyle/>
          <a:p>
            <a:pPr algn="ctr"/>
            <a:r>
              <a:rPr lang="en-US" sz="3600" u="sng" dirty="0">
                <a:latin typeface="Times New Roman" panose="02020603050405020304" pitchFamily="18" charset="0"/>
                <a:cs typeface="Times New Roman" panose="02020603050405020304" pitchFamily="18" charset="0"/>
              </a:rPr>
              <a:t>Structured Programming Methodology (SPM)</a:t>
            </a:r>
          </a:p>
          <a:p>
            <a:pPr algn="ctr"/>
            <a:r>
              <a:rPr lang="en-US" sz="3600" u="sng" dirty="0">
                <a:latin typeface="Times New Roman" panose="02020603050405020304" pitchFamily="18" charset="0"/>
                <a:cs typeface="Times New Roman" panose="02020603050405020304" pitchFamily="18" charset="0"/>
              </a:rPr>
              <a:t>First Year -AY 2025-26</a:t>
            </a:r>
            <a:endParaRPr lang="en-IN" sz="28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12539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pic>
        <p:nvPicPr>
          <p:cNvPr id="10" name="Picture 9">
            <a:extLst>
              <a:ext uri="{FF2B5EF4-FFF2-40B4-BE49-F238E27FC236}">
                <a16:creationId xmlns="" xmlns:a16="http://schemas.microsoft.com/office/drawing/2014/main" id="{21594DFB-454B-65D0-E2A0-D5678FBC03B3}"/>
              </a:ext>
            </a:extLst>
          </p:cNvPr>
          <p:cNvPicPr>
            <a:picLocks noChangeAspect="1"/>
          </p:cNvPicPr>
          <p:nvPr/>
        </p:nvPicPr>
        <p:blipFill>
          <a:blip r:embed="rId3"/>
          <a:srcRect l="28393" t="33605" r="28367" b="32245"/>
          <a:stretch>
            <a:fillRect/>
          </a:stretch>
        </p:blipFill>
        <p:spPr>
          <a:xfrm>
            <a:off x="1687340" y="1405329"/>
            <a:ext cx="10150165" cy="4509191"/>
          </a:xfrm>
          <a:prstGeom prst="rect">
            <a:avLst/>
          </a:prstGeom>
        </p:spPr>
      </p:pic>
      <p:sp>
        <p:nvSpPr>
          <p:cNvPr id="11" name="TextBox 10">
            <a:extLst>
              <a:ext uri="{FF2B5EF4-FFF2-40B4-BE49-F238E27FC236}">
                <a16:creationId xmlns="" xmlns:a16="http://schemas.microsoft.com/office/drawing/2014/main" id="{AC6ABDFD-54AB-B02D-F3FA-3EC69BCD7F77}"/>
              </a:ext>
            </a:extLst>
          </p:cNvPr>
          <p:cNvSpPr txBox="1"/>
          <p:nvPr/>
        </p:nvSpPr>
        <p:spPr>
          <a:xfrm>
            <a:off x="3334972" y="265511"/>
            <a:ext cx="5790368" cy="461665"/>
          </a:xfrm>
          <a:prstGeom prst="rect">
            <a:avLst/>
          </a:prstGeom>
          <a:noFill/>
        </p:spPr>
        <p:txBody>
          <a:bodyPr wrap="none" rtlCol="0">
            <a:spAutoFit/>
          </a:bodyPr>
          <a:lstStyle/>
          <a:p>
            <a:r>
              <a:rPr lang="en-US" sz="2400" u="sng" dirty="0">
                <a:latin typeface="Times New Roman" panose="02020603050405020304" pitchFamily="18" charset="0"/>
                <a:cs typeface="Times New Roman" panose="02020603050405020304" pitchFamily="18" charset="0"/>
              </a:rPr>
              <a:t>Structured Programming Methodology(SPM)</a:t>
            </a:r>
            <a:endParaRPr lang="en-IN" sz="2400" u="sng"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 xmlns:a16="http://schemas.microsoft.com/office/drawing/2014/main" id="{4D210EFB-92FD-F3BC-22A0-1968E1ECF631}"/>
              </a:ext>
            </a:extLst>
          </p:cNvPr>
          <p:cNvSpPr txBox="1"/>
          <p:nvPr/>
        </p:nvSpPr>
        <p:spPr>
          <a:xfrm>
            <a:off x="305638" y="1701273"/>
            <a:ext cx="1244251" cy="461665"/>
          </a:xfrm>
          <a:prstGeom prst="rect">
            <a:avLst/>
          </a:prstGeom>
          <a:noFill/>
        </p:spPr>
        <p:txBody>
          <a:bodyPr wrap="none" rtlCol="0">
            <a:spAutoFit/>
          </a:bodyPr>
          <a:lstStyle/>
          <a:p>
            <a:r>
              <a:rPr lang="en-US" sz="2400" u="sng" dirty="0">
                <a:latin typeface="Times New Roman" panose="02020603050405020304" pitchFamily="18" charset="0"/>
                <a:cs typeface="Times New Roman" panose="02020603050405020304" pitchFamily="18" charset="0"/>
              </a:rPr>
              <a:t>Syllabus</a:t>
            </a:r>
            <a:endParaRPr lang="en-IN"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5137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451A3794-8746-3588-DED2-8C2A38592173}"/>
            </a:ext>
          </a:extLst>
        </p:cNvPr>
        <p:cNvGrpSpPr/>
        <p:nvPr/>
      </p:nvGrpSpPr>
      <p:grpSpPr>
        <a:xfrm>
          <a:off x="0" y="0"/>
          <a:ext cx="0" cy="0"/>
          <a:chOff x="0" y="0"/>
          <a:chExt cx="0" cy="0"/>
        </a:xfrm>
      </p:grpSpPr>
      <p:pic>
        <p:nvPicPr>
          <p:cNvPr id="2" name="Picture 1">
            <a:extLst>
              <a:ext uri="{FF2B5EF4-FFF2-40B4-BE49-F238E27FC236}">
                <a16:creationId xmlns="" xmlns:a16="http://schemas.microsoft.com/office/drawing/2014/main" id="{8561BE54-4F5B-AEE9-086F-71D4DFBC59C1}"/>
              </a:ext>
            </a:extLst>
          </p:cNvPr>
          <p:cNvPicPr>
            <a:picLocks noChangeAspect="1"/>
          </p:cNvPicPr>
          <p:nvPr/>
        </p:nvPicPr>
        <p:blipFill>
          <a:blip r:embed="rId3"/>
          <a:srcRect l="29082" t="30748" r="27602" b="36871"/>
          <a:stretch>
            <a:fillRect/>
          </a:stretch>
        </p:blipFill>
        <p:spPr>
          <a:xfrm>
            <a:off x="1879511" y="922316"/>
            <a:ext cx="8892228" cy="5051101"/>
          </a:xfrm>
          <a:prstGeom prst="rect">
            <a:avLst/>
          </a:prstGeom>
        </p:spPr>
      </p:pic>
      <p:sp>
        <p:nvSpPr>
          <p:cNvPr id="3" name="TextBox 2">
            <a:extLst>
              <a:ext uri="{FF2B5EF4-FFF2-40B4-BE49-F238E27FC236}">
                <a16:creationId xmlns="" xmlns:a16="http://schemas.microsoft.com/office/drawing/2014/main" id="{B2DC2CBF-4870-B9F8-FDB2-0CF4E40B339D}"/>
              </a:ext>
            </a:extLst>
          </p:cNvPr>
          <p:cNvSpPr txBox="1"/>
          <p:nvPr/>
        </p:nvSpPr>
        <p:spPr>
          <a:xfrm>
            <a:off x="3784327" y="222113"/>
            <a:ext cx="5790368" cy="461665"/>
          </a:xfrm>
          <a:prstGeom prst="rect">
            <a:avLst/>
          </a:prstGeom>
          <a:noFill/>
        </p:spPr>
        <p:txBody>
          <a:bodyPr wrap="none" rtlCol="0">
            <a:spAutoFit/>
          </a:bodyPr>
          <a:lstStyle/>
          <a:p>
            <a:r>
              <a:rPr lang="en-US" sz="2400" u="sng" dirty="0">
                <a:latin typeface="Times New Roman" panose="02020603050405020304" pitchFamily="18" charset="0"/>
                <a:cs typeface="Times New Roman" panose="02020603050405020304" pitchFamily="18" charset="0"/>
              </a:rPr>
              <a:t>Structured Programming Methodology(SPM)</a:t>
            </a:r>
            <a:endParaRPr lang="en-IN" sz="2400"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 xmlns:a16="http://schemas.microsoft.com/office/drawing/2014/main" id="{C7A28860-57ED-AAC0-4BCA-38AC0D7B5116}"/>
              </a:ext>
            </a:extLst>
          </p:cNvPr>
          <p:cNvSpPr txBox="1"/>
          <p:nvPr/>
        </p:nvSpPr>
        <p:spPr>
          <a:xfrm>
            <a:off x="305638" y="1757269"/>
            <a:ext cx="1244251" cy="461665"/>
          </a:xfrm>
          <a:prstGeom prst="rect">
            <a:avLst/>
          </a:prstGeom>
          <a:noFill/>
        </p:spPr>
        <p:txBody>
          <a:bodyPr wrap="none" rtlCol="0">
            <a:spAutoFit/>
          </a:bodyPr>
          <a:lstStyle/>
          <a:p>
            <a:r>
              <a:rPr lang="en-US" sz="2400" u="sng" dirty="0">
                <a:latin typeface="Times New Roman" panose="02020603050405020304" pitchFamily="18" charset="0"/>
                <a:cs typeface="Times New Roman" panose="02020603050405020304" pitchFamily="18" charset="0"/>
              </a:rPr>
              <a:t>Syllabus</a:t>
            </a:r>
            <a:endParaRPr lang="en-IN"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5750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7492" y="0"/>
            <a:ext cx="7649817" cy="824414"/>
          </a:xfrm>
        </p:spPr>
        <p:txBody>
          <a:bodyPr>
            <a:normAutofit/>
          </a:bodyPr>
          <a:lstStyle/>
          <a:p>
            <a:pPr lvl="0" algn="ctr"/>
            <a:r>
              <a:rPr lang="en-IN" sz="3600" b="1" dirty="0">
                <a:solidFill>
                  <a:srgbClr val="C00000"/>
                </a:solidFill>
              </a:rPr>
              <a:t>What is Programming</a:t>
            </a:r>
            <a:r>
              <a:rPr lang="en-IN" sz="3600" b="1" dirty="0" smtClean="0">
                <a:solidFill>
                  <a:srgbClr val="C00000"/>
                </a:solidFill>
              </a:rPr>
              <a:t>?</a:t>
            </a:r>
            <a:endParaRPr lang="en-IN" sz="3600" dirty="0">
              <a:solidFill>
                <a:srgbClr val="C00000"/>
              </a:solidFill>
            </a:endParaRPr>
          </a:p>
        </p:txBody>
      </p:sp>
      <p:sp>
        <p:nvSpPr>
          <p:cNvPr id="3" name="Content Placeholder 2"/>
          <p:cNvSpPr>
            <a:spLocks noGrp="1"/>
          </p:cNvSpPr>
          <p:nvPr>
            <p:ph idx="1"/>
          </p:nvPr>
        </p:nvSpPr>
        <p:spPr>
          <a:xfrm>
            <a:off x="828261" y="1119947"/>
            <a:ext cx="10515600" cy="4351338"/>
          </a:xfrm>
        </p:spPr>
        <p:txBody>
          <a:bodyPr>
            <a:normAutofit/>
          </a:bodyPr>
          <a:lstStyle/>
          <a:p>
            <a:pPr lvl="1">
              <a:buFont typeface="Arial" pitchFamily="34" charset="0"/>
              <a:buChar char="•"/>
            </a:pPr>
            <a:r>
              <a:rPr lang="en-IN" sz="4000" dirty="0" smtClean="0"/>
              <a:t> Giving </a:t>
            </a:r>
            <a:r>
              <a:rPr lang="en-IN" sz="4000" dirty="0"/>
              <a:t>instructions to a computer to perform a </a:t>
            </a:r>
            <a:r>
              <a:rPr lang="en-IN" sz="4000" dirty="0" smtClean="0"/>
              <a:t>task</a:t>
            </a:r>
            <a:endParaRPr lang="en-IN" sz="5400" dirty="0"/>
          </a:p>
          <a:p>
            <a:pPr lvl="1">
              <a:buFont typeface="Arial" pitchFamily="34" charset="0"/>
              <a:buChar char="•"/>
            </a:pPr>
            <a:r>
              <a:rPr lang="en-IN" sz="4000" dirty="0"/>
              <a:t>Why do we program? </a:t>
            </a:r>
            <a:endParaRPr lang="en-IN" sz="4000" dirty="0" smtClean="0"/>
          </a:p>
          <a:p>
            <a:pPr lvl="2">
              <a:buFont typeface="Wingdings" pitchFamily="2" charset="2"/>
              <a:buChar char="ü"/>
            </a:pPr>
            <a:r>
              <a:rPr lang="en-IN" sz="4000" dirty="0" smtClean="0"/>
              <a:t>To </a:t>
            </a:r>
            <a:r>
              <a:rPr lang="en-IN" sz="4000" dirty="0"/>
              <a:t>automate tasks, solve </a:t>
            </a:r>
            <a:r>
              <a:rPr lang="en-IN" sz="4000" dirty="0" smtClean="0"/>
              <a:t>problems</a:t>
            </a:r>
            <a:endParaRPr lang="en-IN" sz="4000" dirty="0"/>
          </a:p>
        </p:txBody>
      </p:sp>
    </p:spTree>
    <p:extLst>
      <p:ext uri="{BB962C8B-B14F-4D97-AF65-F5344CB8AC3E}">
        <p14:creationId xmlns:p14="http://schemas.microsoft.com/office/powerpoint/2010/main" val="174624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4547" y="190413"/>
            <a:ext cx="10515600" cy="824414"/>
          </a:xfrm>
        </p:spPr>
        <p:txBody>
          <a:bodyPr>
            <a:noAutofit/>
          </a:bodyPr>
          <a:lstStyle/>
          <a:p>
            <a:pPr algn="ctr"/>
            <a:r>
              <a:rPr lang="en-US" sz="3600" dirty="0"/>
              <a:t>Introduction to Problem Solving </a:t>
            </a:r>
            <a:r>
              <a:rPr lang="en-US" sz="3600" dirty="0" smtClean="0"/>
              <a:t/>
            </a:r>
            <a:br>
              <a:rPr lang="en-US" sz="3600" dirty="0" smtClean="0"/>
            </a:br>
            <a:r>
              <a:rPr lang="en-US" sz="3600" dirty="0" smtClean="0"/>
              <a:t>Methodology</a:t>
            </a:r>
            <a:endParaRPr lang="en-IN" sz="3600" dirty="0"/>
          </a:p>
        </p:txBody>
      </p:sp>
      <p:sp>
        <p:nvSpPr>
          <p:cNvPr id="3" name="Text Placeholder 2"/>
          <p:cNvSpPr>
            <a:spLocks noGrp="1"/>
          </p:cNvSpPr>
          <p:nvPr>
            <p:ph type="body" idx="1"/>
          </p:nvPr>
        </p:nvSpPr>
        <p:spPr>
          <a:xfrm>
            <a:off x="159025" y="1129886"/>
            <a:ext cx="11867323" cy="4351338"/>
          </a:xfrm>
        </p:spPr>
        <p:txBody>
          <a:bodyPr/>
          <a:lstStyle/>
          <a:p>
            <a:pPr lvl="1">
              <a:buFont typeface="Arial" pitchFamily="34" charset="0"/>
              <a:buChar char="•"/>
            </a:pPr>
            <a:r>
              <a:rPr lang="en-IN" sz="3200" dirty="0"/>
              <a:t>It's a systematic approach</a:t>
            </a:r>
            <a:endParaRPr lang="en-IN" sz="4800" dirty="0"/>
          </a:p>
          <a:p>
            <a:pPr lvl="1">
              <a:buFont typeface="Arial" pitchFamily="34" charset="0"/>
              <a:buChar char="•"/>
            </a:pPr>
            <a:r>
              <a:rPr lang="en-IN" sz="3200" dirty="0"/>
              <a:t>Steps: </a:t>
            </a:r>
            <a:endParaRPr lang="en-IN" sz="3200" dirty="0" smtClean="0"/>
          </a:p>
          <a:p>
            <a:pPr marL="571500" lvl="1" indent="0">
              <a:buNone/>
            </a:pPr>
            <a:endParaRPr lang="en-IN" sz="3600" dirty="0" smtClean="0"/>
          </a:p>
          <a:p>
            <a:pPr marL="57150" indent="0">
              <a:buNone/>
            </a:pPr>
            <a:r>
              <a:rPr lang="en-IN" sz="3200" dirty="0"/>
              <a:t>Define Problem -&gt; Analyze -&gt; </a:t>
            </a:r>
            <a:r>
              <a:rPr lang="en-IN" sz="3600" b="1" dirty="0">
                <a:solidFill>
                  <a:srgbClr val="C00000"/>
                </a:solidFill>
              </a:rPr>
              <a:t>Design</a:t>
            </a:r>
            <a:r>
              <a:rPr lang="en-IN" sz="1800" b="1" dirty="0">
                <a:solidFill>
                  <a:srgbClr val="C00000"/>
                </a:solidFill>
              </a:rPr>
              <a:t> </a:t>
            </a:r>
            <a:r>
              <a:rPr lang="en-IN" sz="3200" dirty="0"/>
              <a:t>-&gt; Implement </a:t>
            </a:r>
            <a:endParaRPr lang="en-IN" sz="3200" dirty="0" smtClean="0"/>
          </a:p>
          <a:p>
            <a:pPr marL="57150" indent="0">
              <a:buNone/>
            </a:pPr>
            <a:r>
              <a:rPr lang="en-IN" sz="3200" dirty="0"/>
              <a:t> </a:t>
            </a:r>
            <a:r>
              <a:rPr lang="en-IN" sz="3200" dirty="0" smtClean="0"/>
              <a:t>                                                                       -&gt; </a:t>
            </a:r>
            <a:r>
              <a:rPr lang="en-IN" sz="3200" dirty="0"/>
              <a:t>Test -&gt; Maintain</a:t>
            </a:r>
          </a:p>
          <a:p>
            <a:endParaRPr lang="en-IN" sz="1600" dirty="0"/>
          </a:p>
        </p:txBody>
      </p:sp>
    </p:spTree>
    <p:extLst>
      <p:ext uri="{BB962C8B-B14F-4D97-AF65-F5344CB8AC3E}">
        <p14:creationId xmlns:p14="http://schemas.microsoft.com/office/powerpoint/2010/main" val="3047078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D4169022-346D-9661-7E72-C2875B6ABA46}"/>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A2D1EC68-CFAB-CE09-D64D-C5D4C148A188}"/>
              </a:ext>
            </a:extLst>
          </p:cNvPr>
          <p:cNvSpPr txBox="1"/>
          <p:nvPr/>
        </p:nvSpPr>
        <p:spPr>
          <a:xfrm>
            <a:off x="2691026" y="260250"/>
            <a:ext cx="8321535" cy="1323439"/>
          </a:xfrm>
          <a:prstGeom prst="rect">
            <a:avLst/>
          </a:prstGeom>
          <a:noFill/>
        </p:spPr>
        <p:txBody>
          <a:bodyPr wrap="square" rtlCol="0">
            <a:spAutoFit/>
          </a:bodyPr>
          <a:lstStyle/>
          <a:p>
            <a:pPr algn="ctr"/>
            <a:r>
              <a:rPr lang="en-US" sz="4000" u="sng" dirty="0" smtClean="0">
                <a:latin typeface="Times New Roman" panose="02020603050405020304" pitchFamily="18" charset="0"/>
                <a:cs typeface="Times New Roman" panose="02020603050405020304" pitchFamily="18" charset="0"/>
              </a:rPr>
              <a:t>Introduction </a:t>
            </a:r>
            <a:r>
              <a:rPr lang="en-US" sz="4000" u="sng" dirty="0">
                <a:latin typeface="Times New Roman" panose="02020603050405020304" pitchFamily="18" charset="0"/>
                <a:cs typeface="Times New Roman" panose="02020603050405020304" pitchFamily="18" charset="0"/>
              </a:rPr>
              <a:t>to </a:t>
            </a:r>
            <a:r>
              <a:rPr lang="en-US" sz="4000" u="sng" dirty="0" smtClean="0">
                <a:latin typeface="Times New Roman" panose="02020603050405020304" pitchFamily="18" charset="0"/>
                <a:cs typeface="Times New Roman" panose="02020603050405020304" pitchFamily="18" charset="0"/>
              </a:rPr>
              <a:t>Structured Programming </a:t>
            </a:r>
            <a:r>
              <a:rPr lang="en-US" sz="4000" u="sng" dirty="0" smtClean="0">
                <a:latin typeface="Times New Roman" panose="02020603050405020304" pitchFamily="18" charset="0"/>
                <a:cs typeface="Times New Roman" panose="02020603050405020304" pitchFamily="18" charset="0"/>
              </a:rPr>
              <a:t>M</a:t>
            </a:r>
            <a:r>
              <a:rPr lang="en-US" sz="4000" u="sng" dirty="0" smtClean="0">
                <a:latin typeface="Times New Roman" panose="02020603050405020304" pitchFamily="18" charset="0"/>
                <a:cs typeface="Times New Roman" panose="02020603050405020304" pitchFamily="18" charset="0"/>
              </a:rPr>
              <a:t>ethodology</a:t>
            </a:r>
            <a:endParaRPr lang="en-IN" sz="4000"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C82347C5-2424-D8E3-54E3-E034ACE449DF}"/>
              </a:ext>
            </a:extLst>
          </p:cNvPr>
          <p:cNvSpPr txBox="1"/>
          <p:nvPr/>
        </p:nvSpPr>
        <p:spPr>
          <a:xfrm>
            <a:off x="305633" y="1606529"/>
            <a:ext cx="11217675" cy="3600986"/>
          </a:xfrm>
          <a:prstGeom prst="rect">
            <a:avLst/>
          </a:prstGeom>
          <a:noFill/>
        </p:spPr>
        <p:txBody>
          <a:bodyPr wrap="square">
            <a:spAutoFit/>
          </a:bodyPr>
          <a:lstStyle/>
          <a:p>
            <a:endParaRPr lang="en-IN" sz="2800" dirty="0">
              <a:latin typeface="Times New Roman" panose="02020603050405020304" pitchFamily="18" charset="0"/>
              <a:cs typeface="Times New Roman" panose="02020603050405020304" pitchFamily="18" charset="0"/>
            </a:endParaRPr>
          </a:p>
          <a:p>
            <a:r>
              <a:rPr lang="en-IN" sz="4000" dirty="0">
                <a:latin typeface="Times New Roman" panose="02020603050405020304" pitchFamily="18" charset="0"/>
                <a:cs typeface="Times New Roman" panose="02020603050405020304" pitchFamily="18" charset="0"/>
              </a:rPr>
              <a:t>Problem solving skill development:</a:t>
            </a:r>
          </a:p>
          <a:p>
            <a:pPr lvl="2"/>
            <a:r>
              <a:rPr lang="en-IN" sz="4000" dirty="0" smtClean="0">
                <a:latin typeface="Times New Roman" panose="02020603050405020304" pitchFamily="18" charset="0"/>
                <a:cs typeface="Times New Roman" panose="02020603050405020304" pitchFamily="18" charset="0"/>
              </a:rPr>
              <a:t>	Problem </a:t>
            </a:r>
            <a:r>
              <a:rPr lang="en-IN" sz="4000" dirty="0">
                <a:latin typeface="Times New Roman" panose="02020603050405020304" pitchFamily="18" charset="0"/>
                <a:cs typeface="Times New Roman" panose="02020603050405020304" pitchFamily="18" charset="0"/>
              </a:rPr>
              <a:t>Definition</a:t>
            </a:r>
          </a:p>
          <a:p>
            <a:pPr lvl="2"/>
            <a:r>
              <a:rPr lang="en-IN" sz="4000" dirty="0">
                <a:latin typeface="Times New Roman" panose="02020603050405020304" pitchFamily="18" charset="0"/>
                <a:cs typeface="Times New Roman" panose="02020603050405020304" pitchFamily="18" charset="0"/>
              </a:rPr>
              <a:t>	</a:t>
            </a:r>
            <a:r>
              <a:rPr lang="en-IN" sz="4000" dirty="0" smtClean="0">
                <a:latin typeface="Times New Roman" panose="02020603050405020304" pitchFamily="18" charset="0"/>
                <a:cs typeface="Times New Roman" panose="02020603050405020304" pitchFamily="18" charset="0"/>
              </a:rPr>
              <a:t>Fundamentals </a:t>
            </a:r>
            <a:r>
              <a:rPr lang="en-IN" sz="4000" dirty="0">
                <a:latin typeface="Times New Roman" panose="02020603050405020304" pitchFamily="18" charset="0"/>
                <a:cs typeface="Times New Roman" panose="02020603050405020304" pitchFamily="18" charset="0"/>
              </a:rPr>
              <a:t>of algorithms and flowcharts</a:t>
            </a:r>
          </a:p>
          <a:p>
            <a:pPr lvl="2"/>
            <a:r>
              <a:rPr lang="en-IN" sz="4000" dirty="0">
                <a:latin typeface="Times New Roman" panose="02020603050405020304" pitchFamily="18" charset="0"/>
                <a:cs typeface="Times New Roman" panose="02020603050405020304" pitchFamily="18" charset="0"/>
              </a:rPr>
              <a:t>	</a:t>
            </a:r>
            <a:r>
              <a:rPr lang="en-IN" sz="4000" dirty="0" smtClean="0">
                <a:latin typeface="Times New Roman" panose="02020603050405020304" pitchFamily="18" charset="0"/>
                <a:cs typeface="Times New Roman" panose="02020603050405020304" pitchFamily="18" charset="0"/>
              </a:rPr>
              <a:t>Program </a:t>
            </a:r>
            <a:r>
              <a:rPr lang="en-IN" sz="4000" dirty="0">
                <a:latin typeface="Times New Roman" panose="02020603050405020304" pitchFamily="18" charset="0"/>
                <a:cs typeface="Times New Roman" panose="02020603050405020304" pitchFamily="18" charset="0"/>
              </a:rPr>
              <a:t>Design</a:t>
            </a:r>
          </a:p>
          <a:p>
            <a:pPr lvl="2"/>
            <a:r>
              <a:rPr lang="en-IN" sz="4000" dirty="0">
                <a:latin typeface="Times New Roman" panose="02020603050405020304" pitchFamily="18" charset="0"/>
                <a:cs typeface="Times New Roman" panose="02020603050405020304" pitchFamily="18" charset="0"/>
              </a:rPr>
              <a:t>	</a:t>
            </a:r>
            <a:r>
              <a:rPr lang="en-IN" sz="4000" dirty="0" smtClean="0">
                <a:latin typeface="Times New Roman" panose="02020603050405020304" pitchFamily="18" charset="0"/>
                <a:cs typeface="Times New Roman" panose="02020603050405020304" pitchFamily="18" charset="0"/>
              </a:rPr>
              <a:t>Pseudocode</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84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55B79C9A-5D52-B68C-820F-6B7C0653A90A}"/>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FD42AF6B-DE3A-0410-31DF-64B24A815A3D}"/>
              </a:ext>
            </a:extLst>
          </p:cNvPr>
          <p:cNvSpPr txBox="1"/>
          <p:nvPr/>
        </p:nvSpPr>
        <p:spPr>
          <a:xfrm>
            <a:off x="3406872" y="244288"/>
            <a:ext cx="7118669" cy="584775"/>
          </a:xfrm>
          <a:prstGeom prst="rect">
            <a:avLst/>
          </a:prstGeom>
          <a:noFill/>
        </p:spPr>
        <p:txBody>
          <a:bodyPr wrap="square">
            <a:spAutoFit/>
          </a:bodyPr>
          <a:lstStyle/>
          <a:p>
            <a:pPr algn="ctr">
              <a:spcAft>
                <a:spcPts val="900"/>
              </a:spcAft>
            </a:pPr>
            <a:r>
              <a:rPr lang="en-IN" sz="3200" b="1" i="0" dirty="0">
                <a:solidFill>
                  <a:schemeClr val="tx1"/>
                </a:solidFill>
                <a:effectLst/>
                <a:latin typeface="Times New Roman" panose="02020603050405020304" pitchFamily="18" charset="0"/>
                <a:cs typeface="Times New Roman" panose="02020603050405020304" pitchFamily="18" charset="0"/>
              </a:rPr>
              <a:t>Structured Programming Overview</a:t>
            </a:r>
          </a:p>
        </p:txBody>
      </p:sp>
      <p:sp>
        <p:nvSpPr>
          <p:cNvPr id="5" name="TextBox 4">
            <a:extLst>
              <a:ext uri="{FF2B5EF4-FFF2-40B4-BE49-F238E27FC236}">
                <a16:creationId xmlns="" xmlns:a16="http://schemas.microsoft.com/office/drawing/2014/main" id="{4D70F756-8B75-6757-2B3D-344650078340}"/>
              </a:ext>
            </a:extLst>
          </p:cNvPr>
          <p:cNvSpPr txBox="1"/>
          <p:nvPr/>
        </p:nvSpPr>
        <p:spPr>
          <a:xfrm>
            <a:off x="1126675" y="846040"/>
            <a:ext cx="10104545" cy="3785652"/>
          </a:xfrm>
          <a:prstGeom prst="rect">
            <a:avLst/>
          </a:prstGeom>
          <a:noFill/>
        </p:spPr>
        <p:txBody>
          <a:bodyPr wrap="square">
            <a:spAutoFit/>
          </a:bodyPr>
          <a:lstStyle/>
          <a:p>
            <a:r>
              <a:rPr lang="en-IN" sz="2000" b="1" i="0" dirty="0" smtClean="0">
                <a:solidFill>
                  <a:schemeClr val="tx1"/>
                </a:solidFill>
                <a:effectLst/>
                <a:latin typeface="Times New Roman" panose="02020603050405020304" pitchFamily="18" charset="0"/>
                <a:cs typeface="Times New Roman" panose="02020603050405020304" pitchFamily="18" charset="0"/>
              </a:rPr>
              <a:t>Definition</a:t>
            </a: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Structured programming is a programming paradigm aimed at improving the clarity, quality, and development time of computer programs by using well- defined control structures and subroutines.</a:t>
            </a:r>
          </a:p>
          <a:p>
            <a:pPr marL="285750" indent="-28575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Structured programming is a programming paradigm that emphasizes clear program structure using sequence, selection, and iteration control structures</a:t>
            </a:r>
            <a:r>
              <a:rPr lang="en-US" sz="2000" dirty="0" smtClean="0">
                <a:solidFill>
                  <a:schemeClr val="tx1"/>
                </a:solidFill>
                <a:latin typeface="Times New Roman" panose="02020603050405020304" pitchFamily="18" charset="0"/>
                <a:cs typeface="Times New Roman" panose="02020603050405020304" pitchFamily="18" charset="0"/>
              </a:rPr>
              <a:t>.</a:t>
            </a:r>
          </a:p>
          <a:p>
            <a:r>
              <a:rPr lang="en-IN" sz="2000" b="1" dirty="0">
                <a:solidFill>
                  <a:schemeClr val="tx1"/>
                </a:solidFill>
                <a:latin typeface="Times New Roman" panose="02020603050405020304" pitchFamily="18" charset="0"/>
                <a:cs typeface="Times New Roman" panose="02020603050405020304" pitchFamily="18" charset="0"/>
              </a:rPr>
              <a:t>Core </a:t>
            </a:r>
            <a:r>
              <a:rPr lang="en-IN" sz="2000" b="1" dirty="0" smtClean="0">
                <a:solidFill>
                  <a:schemeClr val="tx1"/>
                </a:solidFill>
                <a:latin typeface="Times New Roman" panose="02020603050405020304" pitchFamily="18" charset="0"/>
                <a:cs typeface="Times New Roman" panose="02020603050405020304" pitchFamily="18" charset="0"/>
              </a:rPr>
              <a:t>Principles</a:t>
            </a:r>
          </a:p>
          <a:p>
            <a:pPr marL="285750" indent="-285750">
              <a:buFont typeface="Arial"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Top-down design approach breaks complex problems into manageable modules. Programs use only three control structures: sequence (sequential execution), selection (if-then-else), and iteration (loops). This methodology promotes code readability, maintainability, and reduces programming errors through systematic design and implementation practices</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b="1" spc="-60" dirty="0">
                <a:solidFill>
                  <a:srgbClr val="2D3748"/>
                </a:solidFill>
                <a:latin typeface="Times New Roman" panose="02020603050405020304" pitchFamily="18" charset="0"/>
                <a:cs typeface="Times New Roman" panose="02020603050405020304" pitchFamily="18" charset="0"/>
              </a:rPr>
              <a:t>Example:</a:t>
            </a:r>
            <a:r>
              <a:rPr lang="en-US" sz="2000" b="1" spc="-5" dirty="0">
                <a:solidFill>
                  <a:srgbClr val="2D3748"/>
                </a:solidFill>
                <a:latin typeface="Times New Roman" panose="02020603050405020304" pitchFamily="18" charset="0"/>
                <a:cs typeface="Times New Roman" panose="02020603050405020304" pitchFamily="18" charset="0"/>
              </a:rPr>
              <a:t> </a:t>
            </a:r>
            <a:r>
              <a:rPr lang="en-US" sz="2000" b="1" spc="-65" dirty="0">
                <a:solidFill>
                  <a:srgbClr val="2D3748"/>
                </a:solidFill>
                <a:latin typeface="Times New Roman" panose="02020603050405020304" pitchFamily="18" charset="0"/>
                <a:cs typeface="Times New Roman" panose="02020603050405020304" pitchFamily="18" charset="0"/>
              </a:rPr>
              <a:t>Control</a:t>
            </a:r>
            <a:r>
              <a:rPr lang="en-US" sz="2000" b="1" dirty="0">
                <a:solidFill>
                  <a:srgbClr val="2D3748"/>
                </a:solidFill>
                <a:latin typeface="Times New Roman" panose="02020603050405020304" pitchFamily="18" charset="0"/>
                <a:cs typeface="Times New Roman" panose="02020603050405020304" pitchFamily="18" charset="0"/>
              </a:rPr>
              <a:t> </a:t>
            </a:r>
            <a:r>
              <a:rPr lang="en-US" sz="2000" b="1" spc="-65" dirty="0">
                <a:solidFill>
                  <a:srgbClr val="2D3748"/>
                </a:solidFill>
                <a:latin typeface="Times New Roman" panose="02020603050405020304" pitchFamily="18" charset="0"/>
                <a:cs typeface="Times New Roman" panose="02020603050405020304" pitchFamily="18" charset="0"/>
              </a:rPr>
              <a:t>Flow</a:t>
            </a:r>
            <a:r>
              <a:rPr lang="en-US" sz="2000" b="1" spc="-5" dirty="0">
                <a:solidFill>
                  <a:srgbClr val="2D3748"/>
                </a:solidFill>
                <a:latin typeface="Times New Roman" panose="02020603050405020304" pitchFamily="18" charset="0"/>
                <a:cs typeface="Times New Roman" panose="02020603050405020304" pitchFamily="18" charset="0"/>
              </a:rPr>
              <a:t> </a:t>
            </a:r>
            <a:r>
              <a:rPr lang="en-US" sz="2000" b="1" spc="-35" dirty="0">
                <a:solidFill>
                  <a:srgbClr val="2D3748"/>
                </a:solidFill>
                <a:latin typeface="Times New Roman" panose="02020603050405020304" pitchFamily="18" charset="0"/>
                <a:cs typeface="Times New Roman" panose="02020603050405020304" pitchFamily="18" charset="0"/>
              </a:rPr>
              <a:t>in</a:t>
            </a:r>
            <a:r>
              <a:rPr lang="en-US" sz="2000" b="1" dirty="0">
                <a:solidFill>
                  <a:srgbClr val="2D3748"/>
                </a:solidFill>
                <a:latin typeface="Times New Roman" panose="02020603050405020304" pitchFamily="18" charset="0"/>
                <a:cs typeface="Times New Roman" panose="02020603050405020304" pitchFamily="18" charset="0"/>
              </a:rPr>
              <a:t> </a:t>
            </a:r>
            <a:r>
              <a:rPr lang="en-US" sz="2000" b="1" spc="-55" dirty="0">
                <a:solidFill>
                  <a:srgbClr val="2D3748"/>
                </a:solidFill>
                <a:latin typeface="Times New Roman" panose="02020603050405020304" pitchFamily="18" charset="0"/>
                <a:cs typeface="Times New Roman" panose="02020603050405020304" pitchFamily="18" charset="0"/>
              </a:rPr>
              <a:t>Structured</a:t>
            </a:r>
            <a:r>
              <a:rPr lang="en-US" sz="2000" b="1" dirty="0">
                <a:solidFill>
                  <a:srgbClr val="2D3748"/>
                </a:solidFill>
                <a:latin typeface="Times New Roman" panose="02020603050405020304" pitchFamily="18" charset="0"/>
                <a:cs typeface="Times New Roman" panose="02020603050405020304" pitchFamily="18" charset="0"/>
              </a:rPr>
              <a:t> </a:t>
            </a:r>
            <a:r>
              <a:rPr lang="en-US" sz="2000" b="1" spc="-50" dirty="0" smtClean="0">
                <a:solidFill>
                  <a:srgbClr val="2D3748"/>
                </a:solidFill>
                <a:latin typeface="Times New Roman" panose="02020603050405020304" pitchFamily="18" charset="0"/>
                <a:cs typeface="Times New Roman" panose="02020603050405020304" pitchFamily="18" charset="0"/>
              </a:rPr>
              <a:t>Programming</a:t>
            </a:r>
            <a:endParaRPr lang="en-IN" sz="16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EB1728B8-9BF2-2B3A-B85C-3673913C3B8E}"/>
              </a:ext>
            </a:extLst>
          </p:cNvPr>
          <p:cNvSpPr txBox="1"/>
          <p:nvPr/>
        </p:nvSpPr>
        <p:spPr>
          <a:xfrm>
            <a:off x="1126673" y="1665581"/>
            <a:ext cx="9482235" cy="584775"/>
          </a:xfrm>
          <a:prstGeom prst="rect">
            <a:avLst/>
          </a:prstGeom>
          <a:noFill/>
        </p:spPr>
        <p:txBody>
          <a:bodyPr wrap="square">
            <a:spAutoFit/>
          </a:bodyPr>
          <a:lstStyle/>
          <a:p>
            <a:pPr marL="285750" indent="-285750">
              <a:buFont typeface="Arial" panose="020B0604020202020204" pitchFamily="34" charset="0"/>
              <a:buChar char="•"/>
            </a:pP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dirty="0">
              <a:solidFill>
                <a:schemeClr val="tx1"/>
              </a:solidFill>
              <a:latin typeface="Times New Roman" panose="02020603050405020304" pitchFamily="18" charset="0"/>
              <a:cs typeface="Times New Roman" panose="02020603050405020304" pitchFamily="18" charset="0"/>
            </a:endParaRPr>
          </a:p>
        </p:txBody>
      </p:sp>
      <p:grpSp>
        <p:nvGrpSpPr>
          <p:cNvPr id="4" name="Group 3"/>
          <p:cNvGrpSpPr/>
          <p:nvPr/>
        </p:nvGrpSpPr>
        <p:grpSpPr>
          <a:xfrm>
            <a:off x="1745559" y="4863138"/>
            <a:ext cx="1365389" cy="717563"/>
            <a:chOff x="1745558" y="4863132"/>
            <a:chExt cx="1365389" cy="717563"/>
          </a:xfrm>
        </p:grpSpPr>
        <p:sp>
          <p:nvSpPr>
            <p:cNvPr id="15" name="object 28">
              <a:extLst>
                <a:ext uri="{FF2B5EF4-FFF2-40B4-BE49-F238E27FC236}">
                  <a16:creationId xmlns="" xmlns:a16="http://schemas.microsoft.com/office/drawing/2014/main" id="{67413A9F-CEB9-DB21-7495-812B48FDDAEE}"/>
                </a:ext>
              </a:extLst>
            </p:cNvPr>
            <p:cNvSpPr/>
            <p:nvPr/>
          </p:nvSpPr>
          <p:spPr>
            <a:xfrm>
              <a:off x="1745558" y="4863132"/>
              <a:ext cx="1365389" cy="717563"/>
            </a:xfrm>
            <a:custGeom>
              <a:avLst/>
              <a:gdLst/>
              <a:ahLst/>
              <a:cxnLst/>
              <a:rect l="l" t="t" r="r" b="b"/>
              <a:pathLst>
                <a:path w="1200150" h="361950">
                  <a:moveTo>
                    <a:pt x="0" y="333374"/>
                  </a:moveTo>
                  <a:lnTo>
                    <a:pt x="0" y="28574"/>
                  </a:lnTo>
                  <a:lnTo>
                    <a:pt x="0" y="24785"/>
                  </a:lnTo>
                  <a:lnTo>
                    <a:pt x="724" y="21139"/>
                  </a:lnTo>
                  <a:lnTo>
                    <a:pt x="2174" y="17639"/>
                  </a:lnTo>
                  <a:lnTo>
                    <a:pt x="3625" y="14138"/>
                  </a:lnTo>
                  <a:lnTo>
                    <a:pt x="5689" y="11048"/>
                  </a:lnTo>
                  <a:lnTo>
                    <a:pt x="8369" y="8369"/>
                  </a:lnTo>
                  <a:lnTo>
                    <a:pt x="11048" y="5689"/>
                  </a:lnTo>
                  <a:lnTo>
                    <a:pt x="14138" y="3624"/>
                  </a:lnTo>
                  <a:lnTo>
                    <a:pt x="17639" y="2174"/>
                  </a:lnTo>
                  <a:lnTo>
                    <a:pt x="21140" y="724"/>
                  </a:lnTo>
                  <a:lnTo>
                    <a:pt x="24785" y="0"/>
                  </a:lnTo>
                  <a:lnTo>
                    <a:pt x="28575" y="0"/>
                  </a:lnTo>
                  <a:lnTo>
                    <a:pt x="1171575" y="0"/>
                  </a:lnTo>
                  <a:lnTo>
                    <a:pt x="1175364" y="0"/>
                  </a:lnTo>
                  <a:lnTo>
                    <a:pt x="1179009" y="724"/>
                  </a:lnTo>
                  <a:lnTo>
                    <a:pt x="1200150" y="28574"/>
                  </a:lnTo>
                  <a:lnTo>
                    <a:pt x="1200150" y="333374"/>
                  </a:lnTo>
                  <a:lnTo>
                    <a:pt x="1182509" y="359774"/>
                  </a:lnTo>
                  <a:lnTo>
                    <a:pt x="1179009" y="361225"/>
                  </a:lnTo>
                  <a:lnTo>
                    <a:pt x="1175364" y="361949"/>
                  </a:lnTo>
                  <a:lnTo>
                    <a:pt x="1171575" y="361949"/>
                  </a:lnTo>
                  <a:lnTo>
                    <a:pt x="28575" y="361949"/>
                  </a:lnTo>
                  <a:lnTo>
                    <a:pt x="24785" y="361949"/>
                  </a:lnTo>
                  <a:lnTo>
                    <a:pt x="21140" y="361225"/>
                  </a:lnTo>
                  <a:lnTo>
                    <a:pt x="17639" y="359774"/>
                  </a:lnTo>
                  <a:lnTo>
                    <a:pt x="14138" y="358324"/>
                  </a:lnTo>
                  <a:lnTo>
                    <a:pt x="0" y="337163"/>
                  </a:lnTo>
                  <a:lnTo>
                    <a:pt x="0" y="333374"/>
                  </a:lnTo>
                  <a:close/>
                </a:path>
              </a:pathLst>
            </a:custGeom>
            <a:ln w="19049">
              <a:solidFill>
                <a:srgbClr val="2562EB"/>
              </a:solidFill>
            </a:ln>
          </p:spPr>
          <p:txBody>
            <a:bodyPr wrap="square" lIns="0" tIns="0" rIns="0" bIns="0" rtlCol="0"/>
            <a:lstStyle/>
            <a:p>
              <a:endParaRPr/>
            </a:p>
          </p:txBody>
        </p:sp>
        <p:sp>
          <p:nvSpPr>
            <p:cNvPr id="16" name="object 29">
              <a:extLst>
                <a:ext uri="{FF2B5EF4-FFF2-40B4-BE49-F238E27FC236}">
                  <a16:creationId xmlns="" xmlns:a16="http://schemas.microsoft.com/office/drawing/2014/main" id="{21CB581D-8AE1-5C55-26AB-344B973DB955}"/>
                </a:ext>
              </a:extLst>
            </p:cNvPr>
            <p:cNvSpPr txBox="1"/>
            <p:nvPr/>
          </p:nvSpPr>
          <p:spPr>
            <a:xfrm>
              <a:off x="1828799" y="5107295"/>
              <a:ext cx="1282146" cy="294311"/>
            </a:xfrm>
            <a:prstGeom prst="rect">
              <a:avLst/>
            </a:prstGeom>
          </p:spPr>
          <p:txBody>
            <a:bodyPr vert="horz" wrap="square" lIns="0" tIns="17145" rIns="0" bIns="0" rtlCol="0">
              <a:spAutoFit/>
            </a:bodyPr>
            <a:lstStyle/>
            <a:p>
              <a:pPr marL="12700">
                <a:lnSpc>
                  <a:spcPct val="100000"/>
                </a:lnSpc>
                <a:spcBef>
                  <a:spcPts val="135"/>
                </a:spcBef>
              </a:pPr>
              <a:r>
                <a:rPr sz="1800" b="0" spc="-50" dirty="0" smtClean="0">
                  <a:solidFill>
                    <a:srgbClr val="1C4ED8"/>
                  </a:solidFill>
                  <a:latin typeface="Roboto Medium"/>
                  <a:cs typeface="Roboto Medium"/>
                </a:rPr>
                <a:t>Sequence</a:t>
              </a:r>
              <a:endParaRPr sz="1300" dirty="0">
                <a:latin typeface="Roboto Medium"/>
                <a:cs typeface="Roboto Medium"/>
              </a:endParaRPr>
            </a:p>
          </p:txBody>
        </p:sp>
      </p:grpSp>
      <p:sp>
        <p:nvSpPr>
          <p:cNvPr id="17" name="object 30">
            <a:extLst>
              <a:ext uri="{FF2B5EF4-FFF2-40B4-BE49-F238E27FC236}">
                <a16:creationId xmlns="" xmlns:a16="http://schemas.microsoft.com/office/drawing/2014/main" id="{6132E200-988C-0473-2AAE-F6EF09959E24}"/>
              </a:ext>
            </a:extLst>
          </p:cNvPr>
          <p:cNvSpPr txBox="1"/>
          <p:nvPr/>
        </p:nvSpPr>
        <p:spPr>
          <a:xfrm>
            <a:off x="1798359" y="5696593"/>
            <a:ext cx="1456844" cy="291746"/>
          </a:xfrm>
          <a:prstGeom prst="rect">
            <a:avLst/>
          </a:prstGeom>
        </p:spPr>
        <p:txBody>
          <a:bodyPr vert="horz" wrap="square" lIns="0" tIns="14604" rIns="0" bIns="0" rtlCol="0">
            <a:spAutoFit/>
          </a:bodyPr>
          <a:lstStyle/>
          <a:p>
            <a:pPr marL="12700">
              <a:lnSpc>
                <a:spcPct val="100000"/>
              </a:lnSpc>
              <a:spcBef>
                <a:spcPts val="114"/>
              </a:spcBef>
            </a:pPr>
            <a:r>
              <a:rPr sz="1800" spc="-60" dirty="0">
                <a:solidFill>
                  <a:srgbClr val="4A5462"/>
                </a:solidFill>
                <a:latin typeface="Roboto"/>
                <a:cs typeface="Roboto"/>
              </a:rPr>
              <a:t>Step</a:t>
            </a:r>
            <a:r>
              <a:rPr sz="1800" spc="-10" dirty="0">
                <a:solidFill>
                  <a:srgbClr val="4A5462"/>
                </a:solidFill>
                <a:latin typeface="Roboto"/>
                <a:cs typeface="Roboto"/>
              </a:rPr>
              <a:t> </a:t>
            </a:r>
            <a:r>
              <a:rPr sz="1800" spc="-65" dirty="0">
                <a:solidFill>
                  <a:srgbClr val="4A5462"/>
                </a:solidFill>
                <a:latin typeface="Roboto"/>
                <a:cs typeface="Roboto"/>
              </a:rPr>
              <a:t>by</a:t>
            </a:r>
            <a:r>
              <a:rPr sz="1800" spc="-10" dirty="0">
                <a:solidFill>
                  <a:srgbClr val="4A5462"/>
                </a:solidFill>
                <a:latin typeface="Roboto"/>
                <a:cs typeface="Roboto"/>
              </a:rPr>
              <a:t> </a:t>
            </a:r>
            <a:r>
              <a:rPr sz="1800" spc="-35" dirty="0">
                <a:solidFill>
                  <a:srgbClr val="4A5462"/>
                </a:solidFill>
                <a:latin typeface="Roboto"/>
                <a:cs typeface="Roboto"/>
              </a:rPr>
              <a:t>step</a:t>
            </a:r>
            <a:endParaRPr sz="1800" dirty="0">
              <a:latin typeface="Roboto"/>
              <a:cs typeface="Roboto"/>
            </a:endParaRPr>
          </a:p>
        </p:txBody>
      </p:sp>
      <p:sp>
        <p:nvSpPr>
          <p:cNvPr id="19" name="object 32">
            <a:extLst>
              <a:ext uri="{FF2B5EF4-FFF2-40B4-BE49-F238E27FC236}">
                <a16:creationId xmlns="" xmlns:a16="http://schemas.microsoft.com/office/drawing/2014/main" id="{913D00A2-9C6B-148A-CBC9-F269554D97C3}"/>
              </a:ext>
            </a:extLst>
          </p:cNvPr>
          <p:cNvSpPr/>
          <p:nvPr/>
        </p:nvSpPr>
        <p:spPr>
          <a:xfrm>
            <a:off x="5255499" y="4926320"/>
            <a:ext cx="1542868" cy="690254"/>
          </a:xfrm>
          <a:custGeom>
            <a:avLst/>
            <a:gdLst/>
            <a:ahLst/>
            <a:cxnLst/>
            <a:rect l="l" t="t" r="r" b="b"/>
            <a:pathLst>
              <a:path w="1200150" h="361950">
                <a:moveTo>
                  <a:pt x="0" y="333374"/>
                </a:moveTo>
                <a:lnTo>
                  <a:pt x="0" y="28574"/>
                </a:lnTo>
                <a:lnTo>
                  <a:pt x="0" y="24785"/>
                </a:lnTo>
                <a:lnTo>
                  <a:pt x="724" y="21139"/>
                </a:lnTo>
                <a:lnTo>
                  <a:pt x="2175" y="17639"/>
                </a:lnTo>
                <a:lnTo>
                  <a:pt x="3624" y="14138"/>
                </a:lnTo>
                <a:lnTo>
                  <a:pt x="5689" y="11048"/>
                </a:lnTo>
                <a:lnTo>
                  <a:pt x="8369" y="8369"/>
                </a:lnTo>
                <a:lnTo>
                  <a:pt x="11049" y="5689"/>
                </a:lnTo>
                <a:lnTo>
                  <a:pt x="14139" y="3624"/>
                </a:lnTo>
                <a:lnTo>
                  <a:pt x="17639" y="2174"/>
                </a:lnTo>
                <a:lnTo>
                  <a:pt x="21141" y="724"/>
                </a:lnTo>
                <a:lnTo>
                  <a:pt x="24786" y="0"/>
                </a:lnTo>
                <a:lnTo>
                  <a:pt x="28575" y="0"/>
                </a:lnTo>
                <a:lnTo>
                  <a:pt x="1171575" y="0"/>
                </a:lnTo>
                <a:lnTo>
                  <a:pt x="1175364" y="0"/>
                </a:lnTo>
                <a:lnTo>
                  <a:pt x="1179009" y="724"/>
                </a:lnTo>
                <a:lnTo>
                  <a:pt x="1182509" y="2174"/>
                </a:lnTo>
                <a:lnTo>
                  <a:pt x="1186010" y="3624"/>
                </a:lnTo>
                <a:lnTo>
                  <a:pt x="1189101" y="5689"/>
                </a:lnTo>
                <a:lnTo>
                  <a:pt x="1191780" y="8369"/>
                </a:lnTo>
                <a:lnTo>
                  <a:pt x="1194460" y="11048"/>
                </a:lnTo>
                <a:lnTo>
                  <a:pt x="1200150" y="28574"/>
                </a:lnTo>
                <a:lnTo>
                  <a:pt x="1200150" y="333374"/>
                </a:lnTo>
                <a:lnTo>
                  <a:pt x="1182509" y="359774"/>
                </a:lnTo>
                <a:lnTo>
                  <a:pt x="1179009" y="361225"/>
                </a:lnTo>
                <a:lnTo>
                  <a:pt x="1175364" y="361949"/>
                </a:lnTo>
                <a:lnTo>
                  <a:pt x="1171575" y="361949"/>
                </a:lnTo>
                <a:lnTo>
                  <a:pt x="28575" y="361949"/>
                </a:lnTo>
                <a:lnTo>
                  <a:pt x="24786" y="361949"/>
                </a:lnTo>
                <a:lnTo>
                  <a:pt x="21141" y="361225"/>
                </a:lnTo>
                <a:lnTo>
                  <a:pt x="17639" y="359774"/>
                </a:lnTo>
                <a:lnTo>
                  <a:pt x="14139" y="358324"/>
                </a:lnTo>
                <a:lnTo>
                  <a:pt x="2175" y="344309"/>
                </a:lnTo>
                <a:lnTo>
                  <a:pt x="724" y="340808"/>
                </a:lnTo>
                <a:lnTo>
                  <a:pt x="0" y="337163"/>
                </a:lnTo>
                <a:lnTo>
                  <a:pt x="0" y="333374"/>
                </a:lnTo>
                <a:close/>
              </a:path>
            </a:pathLst>
          </a:custGeom>
          <a:ln w="19049">
            <a:solidFill>
              <a:srgbClr val="2562EB"/>
            </a:solidFill>
          </a:ln>
        </p:spPr>
        <p:txBody>
          <a:bodyPr wrap="square" lIns="0" tIns="0" rIns="0" bIns="0" rtlCol="0"/>
          <a:lstStyle/>
          <a:p>
            <a:endParaRPr/>
          </a:p>
        </p:txBody>
      </p:sp>
      <p:grpSp>
        <p:nvGrpSpPr>
          <p:cNvPr id="6" name="Group 5"/>
          <p:cNvGrpSpPr/>
          <p:nvPr/>
        </p:nvGrpSpPr>
        <p:grpSpPr>
          <a:xfrm>
            <a:off x="5423589" y="5169066"/>
            <a:ext cx="1374779" cy="812857"/>
            <a:chOff x="5423587" y="5169060"/>
            <a:chExt cx="1374778" cy="812857"/>
          </a:xfrm>
        </p:grpSpPr>
        <p:sp>
          <p:nvSpPr>
            <p:cNvPr id="20" name="object 33">
              <a:extLst>
                <a:ext uri="{FF2B5EF4-FFF2-40B4-BE49-F238E27FC236}">
                  <a16:creationId xmlns="" xmlns:a16="http://schemas.microsoft.com/office/drawing/2014/main" id="{350BA0BD-FF2F-47C7-2E11-BDAC0F2B443E}"/>
                </a:ext>
              </a:extLst>
            </p:cNvPr>
            <p:cNvSpPr txBox="1"/>
            <p:nvPr/>
          </p:nvSpPr>
          <p:spPr>
            <a:xfrm>
              <a:off x="5423587" y="5169060"/>
              <a:ext cx="1032059" cy="294311"/>
            </a:xfrm>
            <a:prstGeom prst="rect">
              <a:avLst/>
            </a:prstGeom>
          </p:spPr>
          <p:txBody>
            <a:bodyPr vert="horz" wrap="square" lIns="0" tIns="17145" rIns="0" bIns="0" rtlCol="0">
              <a:spAutoFit/>
            </a:bodyPr>
            <a:lstStyle/>
            <a:p>
              <a:pPr marL="12700">
                <a:lnSpc>
                  <a:spcPct val="100000"/>
                </a:lnSpc>
                <a:spcBef>
                  <a:spcPts val="135"/>
                </a:spcBef>
              </a:pPr>
              <a:r>
                <a:rPr sz="1800" spc="-50" dirty="0">
                  <a:solidFill>
                    <a:srgbClr val="1C4ED8"/>
                  </a:solidFill>
                  <a:latin typeface="Roboto Medium"/>
                  <a:cs typeface="Roboto Medium"/>
                </a:rPr>
                <a:t>Selection</a:t>
              </a:r>
            </a:p>
          </p:txBody>
        </p:sp>
        <p:sp>
          <p:nvSpPr>
            <p:cNvPr id="21" name="object 34">
              <a:extLst>
                <a:ext uri="{FF2B5EF4-FFF2-40B4-BE49-F238E27FC236}">
                  <a16:creationId xmlns="" xmlns:a16="http://schemas.microsoft.com/office/drawing/2014/main" id="{63EA1CB4-84BD-3CD5-56A8-5DEC457EEEEE}"/>
                </a:ext>
              </a:extLst>
            </p:cNvPr>
            <p:cNvSpPr txBox="1"/>
            <p:nvPr/>
          </p:nvSpPr>
          <p:spPr>
            <a:xfrm>
              <a:off x="5472995" y="5690171"/>
              <a:ext cx="1325370" cy="291746"/>
            </a:xfrm>
            <a:prstGeom prst="rect">
              <a:avLst/>
            </a:prstGeom>
          </p:spPr>
          <p:txBody>
            <a:bodyPr vert="horz" wrap="square" lIns="0" tIns="14604" rIns="0" bIns="0" rtlCol="0">
              <a:spAutoFit/>
            </a:bodyPr>
            <a:lstStyle/>
            <a:p>
              <a:pPr marL="12700">
                <a:lnSpc>
                  <a:spcPct val="100000"/>
                </a:lnSpc>
                <a:spcBef>
                  <a:spcPts val="114"/>
                </a:spcBef>
              </a:pPr>
              <a:r>
                <a:rPr sz="1800" spc="-45" dirty="0">
                  <a:solidFill>
                    <a:srgbClr val="4A5462"/>
                  </a:solidFill>
                  <a:latin typeface="Roboto"/>
                  <a:cs typeface="Roboto"/>
                </a:rPr>
                <a:t>if/then/else</a:t>
              </a:r>
              <a:endParaRPr sz="1150" dirty="0">
                <a:latin typeface="Roboto"/>
                <a:cs typeface="Roboto"/>
              </a:endParaRPr>
            </a:p>
          </p:txBody>
        </p:sp>
      </p:grpSp>
      <p:grpSp>
        <p:nvGrpSpPr>
          <p:cNvPr id="8" name="Group 7"/>
          <p:cNvGrpSpPr/>
          <p:nvPr/>
        </p:nvGrpSpPr>
        <p:grpSpPr>
          <a:xfrm>
            <a:off x="8580368" y="4974580"/>
            <a:ext cx="1557547" cy="1064470"/>
            <a:chOff x="8580367" y="4974580"/>
            <a:chExt cx="1557546" cy="1064470"/>
          </a:xfrm>
        </p:grpSpPr>
        <p:sp>
          <p:nvSpPr>
            <p:cNvPr id="22" name="object 36">
              <a:extLst>
                <a:ext uri="{FF2B5EF4-FFF2-40B4-BE49-F238E27FC236}">
                  <a16:creationId xmlns="" xmlns:a16="http://schemas.microsoft.com/office/drawing/2014/main" id="{9D366526-3955-674D-DFF4-758C7539F799}"/>
                </a:ext>
              </a:extLst>
            </p:cNvPr>
            <p:cNvSpPr/>
            <p:nvPr/>
          </p:nvSpPr>
          <p:spPr>
            <a:xfrm>
              <a:off x="8580367" y="4974580"/>
              <a:ext cx="1557546" cy="641994"/>
            </a:xfrm>
            <a:custGeom>
              <a:avLst/>
              <a:gdLst/>
              <a:ahLst/>
              <a:cxnLst/>
              <a:rect l="l" t="t" r="r" b="b"/>
              <a:pathLst>
                <a:path w="1200150" h="361950">
                  <a:moveTo>
                    <a:pt x="0" y="333374"/>
                  </a:moveTo>
                  <a:lnTo>
                    <a:pt x="0" y="28574"/>
                  </a:lnTo>
                  <a:lnTo>
                    <a:pt x="0" y="24785"/>
                  </a:lnTo>
                  <a:lnTo>
                    <a:pt x="724" y="21139"/>
                  </a:lnTo>
                  <a:lnTo>
                    <a:pt x="2175" y="17639"/>
                  </a:lnTo>
                  <a:lnTo>
                    <a:pt x="3625" y="14138"/>
                  </a:lnTo>
                  <a:lnTo>
                    <a:pt x="5690" y="11048"/>
                  </a:lnTo>
                  <a:lnTo>
                    <a:pt x="8369" y="8369"/>
                  </a:lnTo>
                  <a:lnTo>
                    <a:pt x="11048" y="5689"/>
                  </a:lnTo>
                  <a:lnTo>
                    <a:pt x="14138" y="3624"/>
                  </a:lnTo>
                  <a:lnTo>
                    <a:pt x="17639" y="2174"/>
                  </a:lnTo>
                  <a:lnTo>
                    <a:pt x="21140" y="724"/>
                  </a:lnTo>
                  <a:lnTo>
                    <a:pt x="24785" y="0"/>
                  </a:lnTo>
                  <a:lnTo>
                    <a:pt x="28575" y="0"/>
                  </a:lnTo>
                  <a:lnTo>
                    <a:pt x="1171575" y="0"/>
                  </a:lnTo>
                  <a:lnTo>
                    <a:pt x="1175364" y="0"/>
                  </a:lnTo>
                  <a:lnTo>
                    <a:pt x="1179009" y="724"/>
                  </a:lnTo>
                  <a:lnTo>
                    <a:pt x="1200150" y="28574"/>
                  </a:lnTo>
                  <a:lnTo>
                    <a:pt x="1200150" y="333374"/>
                  </a:lnTo>
                  <a:lnTo>
                    <a:pt x="1182509" y="359774"/>
                  </a:lnTo>
                  <a:lnTo>
                    <a:pt x="1179009" y="361225"/>
                  </a:lnTo>
                  <a:lnTo>
                    <a:pt x="1175364" y="361949"/>
                  </a:lnTo>
                  <a:lnTo>
                    <a:pt x="1171575" y="361949"/>
                  </a:lnTo>
                  <a:lnTo>
                    <a:pt x="28575" y="361949"/>
                  </a:lnTo>
                  <a:lnTo>
                    <a:pt x="24785" y="361949"/>
                  </a:lnTo>
                  <a:lnTo>
                    <a:pt x="21140" y="361225"/>
                  </a:lnTo>
                  <a:lnTo>
                    <a:pt x="17639" y="359774"/>
                  </a:lnTo>
                  <a:lnTo>
                    <a:pt x="14138" y="358324"/>
                  </a:lnTo>
                  <a:lnTo>
                    <a:pt x="11048" y="356260"/>
                  </a:lnTo>
                  <a:lnTo>
                    <a:pt x="8369" y="353580"/>
                  </a:lnTo>
                  <a:lnTo>
                    <a:pt x="5690" y="350900"/>
                  </a:lnTo>
                  <a:lnTo>
                    <a:pt x="3625" y="347810"/>
                  </a:lnTo>
                  <a:lnTo>
                    <a:pt x="2175" y="344309"/>
                  </a:lnTo>
                  <a:lnTo>
                    <a:pt x="724" y="340808"/>
                  </a:lnTo>
                  <a:lnTo>
                    <a:pt x="0" y="337163"/>
                  </a:lnTo>
                  <a:lnTo>
                    <a:pt x="0" y="333374"/>
                  </a:lnTo>
                  <a:close/>
                </a:path>
              </a:pathLst>
            </a:custGeom>
            <a:ln w="19049">
              <a:solidFill>
                <a:srgbClr val="2562EB"/>
              </a:solidFill>
            </a:ln>
          </p:spPr>
          <p:txBody>
            <a:bodyPr wrap="square" lIns="0" tIns="0" rIns="0" bIns="0" rtlCol="0"/>
            <a:lstStyle/>
            <a:p>
              <a:endParaRPr/>
            </a:p>
          </p:txBody>
        </p:sp>
        <p:sp>
          <p:nvSpPr>
            <p:cNvPr id="23" name="object 37">
              <a:extLst>
                <a:ext uri="{FF2B5EF4-FFF2-40B4-BE49-F238E27FC236}">
                  <a16:creationId xmlns="" xmlns:a16="http://schemas.microsoft.com/office/drawing/2014/main" id="{5B9887DC-EAC1-ADBD-19CF-FED9388502A8}"/>
                </a:ext>
              </a:extLst>
            </p:cNvPr>
            <p:cNvSpPr txBox="1"/>
            <p:nvPr/>
          </p:nvSpPr>
          <p:spPr>
            <a:xfrm>
              <a:off x="8860602" y="5169060"/>
              <a:ext cx="997076" cy="294311"/>
            </a:xfrm>
            <a:prstGeom prst="rect">
              <a:avLst/>
            </a:prstGeom>
          </p:spPr>
          <p:txBody>
            <a:bodyPr vert="horz" wrap="square" lIns="0" tIns="17145" rIns="0" bIns="0" rtlCol="0">
              <a:spAutoFit/>
            </a:bodyPr>
            <a:lstStyle>
              <a:defPPr marR="0" lvl="0" algn="l" rtl="0">
                <a:lnSpc>
                  <a:spcPct val="100000"/>
                </a:lnSpc>
                <a:spcBef>
                  <a:spcPts val="0"/>
                </a:spcBef>
                <a:spcAft>
                  <a:spcPts val="0"/>
                </a:spcAft>
              </a:defPPr>
              <a:lvl1pPr marL="12700">
                <a:spcBef>
                  <a:spcPts val="135"/>
                </a:spcBef>
                <a:defRPr sz="1800" spc="-50">
                  <a:solidFill>
                    <a:srgbClr val="1C4ED8"/>
                  </a:solidFill>
                  <a:latin typeface="Roboto Medium"/>
                  <a:cs typeface="Roboto Medium"/>
                </a:defRPr>
              </a:lvl1pPr>
            </a:lstStyle>
            <a:p>
              <a:r>
                <a:rPr dirty="0"/>
                <a:t>Iteration</a:t>
              </a:r>
            </a:p>
          </p:txBody>
        </p:sp>
        <p:sp>
          <p:nvSpPr>
            <p:cNvPr id="24" name="object 38">
              <a:extLst>
                <a:ext uri="{FF2B5EF4-FFF2-40B4-BE49-F238E27FC236}">
                  <a16:creationId xmlns="" xmlns:a16="http://schemas.microsoft.com/office/drawing/2014/main" id="{DB2A26B7-36FE-5E16-CB8F-5F1A007684F0}"/>
                </a:ext>
              </a:extLst>
            </p:cNvPr>
            <p:cNvSpPr txBox="1"/>
            <p:nvPr/>
          </p:nvSpPr>
          <p:spPr>
            <a:xfrm>
              <a:off x="9162607" y="5747304"/>
              <a:ext cx="826219" cy="291746"/>
            </a:xfrm>
            <a:prstGeom prst="rect">
              <a:avLst/>
            </a:prstGeom>
          </p:spPr>
          <p:txBody>
            <a:bodyPr vert="horz" wrap="square" lIns="0" tIns="14604" rIns="0" bIns="0" rtlCol="0">
              <a:spAutoFit/>
            </a:bodyPr>
            <a:lstStyle/>
            <a:p>
              <a:pPr marL="12700">
                <a:lnSpc>
                  <a:spcPct val="100000"/>
                </a:lnSpc>
                <a:spcBef>
                  <a:spcPts val="114"/>
                </a:spcBef>
              </a:pPr>
              <a:r>
                <a:rPr sz="1800" spc="-50" dirty="0">
                  <a:solidFill>
                    <a:srgbClr val="4A5462"/>
                  </a:solidFill>
                  <a:latin typeface="Roboto"/>
                  <a:cs typeface="Roboto"/>
                </a:rPr>
                <a:t>Loops</a:t>
              </a:r>
              <a:endParaRPr sz="1150" dirty="0">
                <a:latin typeface="Roboto"/>
                <a:cs typeface="Roboto"/>
              </a:endParaRPr>
            </a:p>
          </p:txBody>
        </p:sp>
      </p:grpSp>
      <p:sp>
        <p:nvSpPr>
          <p:cNvPr id="2" name="Right Arrow 1"/>
          <p:cNvSpPr/>
          <p:nvPr/>
        </p:nvSpPr>
        <p:spPr>
          <a:xfrm>
            <a:off x="3478696" y="5107295"/>
            <a:ext cx="1143000" cy="3053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ight Arrow 24"/>
          <p:cNvSpPr/>
          <p:nvPr/>
        </p:nvSpPr>
        <p:spPr>
          <a:xfrm>
            <a:off x="7119731" y="5142883"/>
            <a:ext cx="1143000" cy="3053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378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7B20577A-9290-6546-D3F7-0CFEE3481BEA}"/>
              </a:ext>
            </a:extLst>
          </p:cNvPr>
          <p:cNvSpPr txBox="1"/>
          <p:nvPr/>
        </p:nvSpPr>
        <p:spPr>
          <a:xfrm>
            <a:off x="3403341" y="207489"/>
            <a:ext cx="6097555" cy="523220"/>
          </a:xfrm>
          <a:prstGeom prst="rect">
            <a:avLst/>
          </a:prstGeom>
          <a:noFill/>
        </p:spPr>
        <p:txBody>
          <a:bodyPr wrap="square">
            <a:spAutoFit/>
          </a:bodyPr>
          <a:lstStyle/>
          <a:p>
            <a:pPr algn="ctr">
              <a:spcAft>
                <a:spcPts val="900"/>
              </a:spcAft>
            </a:pPr>
            <a:r>
              <a:rPr lang="en-IN" sz="2800" b="1" i="0" dirty="0">
                <a:solidFill>
                  <a:schemeClr val="tx1"/>
                </a:solidFill>
                <a:effectLst/>
                <a:latin typeface="Times New Roman" panose="02020603050405020304" pitchFamily="18" charset="0"/>
                <a:cs typeface="Times New Roman" panose="02020603050405020304" pitchFamily="18" charset="0"/>
              </a:rPr>
              <a:t>Problem Solving Skills</a:t>
            </a:r>
          </a:p>
        </p:txBody>
      </p:sp>
      <p:sp>
        <p:nvSpPr>
          <p:cNvPr id="7" name="TextBox 6">
            <a:extLst>
              <a:ext uri="{FF2B5EF4-FFF2-40B4-BE49-F238E27FC236}">
                <a16:creationId xmlns="" xmlns:a16="http://schemas.microsoft.com/office/drawing/2014/main" id="{E57D3C0C-25E5-097B-644E-77A00D0E6E47}"/>
              </a:ext>
            </a:extLst>
          </p:cNvPr>
          <p:cNvSpPr txBox="1"/>
          <p:nvPr/>
        </p:nvSpPr>
        <p:spPr>
          <a:xfrm>
            <a:off x="3443097" y="753493"/>
            <a:ext cx="6097555" cy="400110"/>
          </a:xfrm>
          <a:prstGeom prst="rect">
            <a:avLst/>
          </a:prstGeom>
          <a:noFill/>
        </p:spPr>
        <p:txBody>
          <a:bodyPr wrap="square">
            <a:spAutoFit/>
          </a:bodyPr>
          <a:lstStyle/>
          <a:p>
            <a:pPr algn="ctr"/>
            <a:r>
              <a:rPr lang="en-IN" sz="2000" b="1" i="0" dirty="0">
                <a:solidFill>
                  <a:schemeClr val="tx1">
                    <a:lumMod val="50000"/>
                    <a:lumOff val="50000"/>
                  </a:schemeClr>
                </a:solidFill>
                <a:effectLst/>
                <a:latin typeface="Times New Roman" panose="02020603050405020304" pitchFamily="18" charset="0"/>
                <a:cs typeface="Times New Roman" panose="02020603050405020304" pitchFamily="18" charset="0"/>
              </a:rPr>
              <a:t>Essential Development Strategies</a:t>
            </a:r>
          </a:p>
        </p:txBody>
      </p:sp>
      <p:sp>
        <p:nvSpPr>
          <p:cNvPr id="9" name="TextBox 8">
            <a:extLst>
              <a:ext uri="{FF2B5EF4-FFF2-40B4-BE49-F238E27FC236}">
                <a16:creationId xmlns="" xmlns:a16="http://schemas.microsoft.com/office/drawing/2014/main" id="{919EFCDA-C371-9DEB-4130-8A1B973770B1}"/>
              </a:ext>
            </a:extLst>
          </p:cNvPr>
          <p:cNvSpPr txBox="1"/>
          <p:nvPr/>
        </p:nvSpPr>
        <p:spPr>
          <a:xfrm>
            <a:off x="258420" y="1275600"/>
            <a:ext cx="11648661" cy="435503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spcAft>
                <a:spcPts val="900"/>
              </a:spcAft>
            </a:pPr>
            <a:r>
              <a:rPr lang="en-IN" sz="2400" b="1" i="0" dirty="0">
                <a:solidFill>
                  <a:schemeClr val="tx1"/>
                </a:solidFill>
                <a:effectLst/>
                <a:latin typeface="Times New Roman" panose="02020603050405020304" pitchFamily="18" charset="0"/>
                <a:cs typeface="Times New Roman" panose="02020603050405020304" pitchFamily="18" charset="0"/>
              </a:rPr>
              <a:t>1.Understanding the Problem </a:t>
            </a:r>
            <a:r>
              <a:rPr lang="en-IN" sz="2400" b="1" i="0" dirty="0" smtClean="0">
                <a:solidFill>
                  <a:schemeClr val="tx1"/>
                </a:solidFill>
                <a:effectLst/>
                <a:latin typeface="Times New Roman" panose="02020603050405020304" pitchFamily="18" charset="0"/>
                <a:cs typeface="Times New Roman" panose="02020603050405020304" pitchFamily="18" charset="0"/>
              </a:rPr>
              <a:t>Domain</a:t>
            </a:r>
          </a:p>
          <a:p>
            <a:pPr>
              <a:spcAft>
                <a:spcPts val="900"/>
              </a:spcAft>
            </a:pPr>
            <a:r>
              <a:rPr lang="en-US" sz="2400" dirty="0">
                <a:solidFill>
                  <a:schemeClr val="tx1"/>
                </a:solidFill>
                <a:latin typeface="Times New Roman" panose="02020603050405020304" pitchFamily="18" charset="0"/>
                <a:cs typeface="Times New Roman" panose="02020603050405020304" pitchFamily="18" charset="0"/>
              </a:rPr>
              <a:t>Analyze requirements thoroughly, identify input-output relationships, understand constraints and limitations, and clarify ambiguous specifications before proceeding with solution design.</a:t>
            </a:r>
            <a:endParaRPr lang="en-IN" sz="2400" dirty="0">
              <a:solidFill>
                <a:schemeClr val="tx1"/>
              </a:solidFill>
              <a:latin typeface="Times New Roman" panose="02020603050405020304" pitchFamily="18" charset="0"/>
              <a:cs typeface="Times New Roman" panose="02020603050405020304" pitchFamily="18" charset="0"/>
            </a:endParaRPr>
          </a:p>
          <a:p>
            <a:pPr>
              <a:spcAft>
                <a:spcPts val="900"/>
              </a:spcAft>
            </a:pPr>
            <a:r>
              <a:rPr lang="en-IN" sz="2400" b="1" dirty="0">
                <a:solidFill>
                  <a:schemeClr val="tx1"/>
                </a:solidFill>
                <a:latin typeface="Times New Roman" panose="02020603050405020304" pitchFamily="18" charset="0"/>
                <a:cs typeface="Times New Roman" panose="02020603050405020304" pitchFamily="18" charset="0"/>
              </a:rPr>
              <a:t>2.Breaking Down Complex </a:t>
            </a:r>
            <a:r>
              <a:rPr lang="en-IN" sz="2400" b="1" dirty="0" smtClean="0">
                <a:solidFill>
                  <a:schemeClr val="tx1"/>
                </a:solidFill>
                <a:latin typeface="Times New Roman" panose="02020603050405020304" pitchFamily="18" charset="0"/>
                <a:cs typeface="Times New Roman" panose="02020603050405020304" pitchFamily="18" charset="0"/>
              </a:rPr>
              <a:t>Problems</a:t>
            </a:r>
          </a:p>
          <a:p>
            <a:pPr>
              <a:spcAft>
                <a:spcPts val="900"/>
              </a:spcAft>
            </a:pPr>
            <a:r>
              <a:rPr lang="en-US" sz="2400" dirty="0">
                <a:solidFill>
                  <a:schemeClr val="tx1"/>
                </a:solidFill>
                <a:latin typeface="Times New Roman" panose="02020603050405020304" pitchFamily="18" charset="0"/>
                <a:cs typeface="Times New Roman" panose="02020603050405020304" pitchFamily="18" charset="0"/>
              </a:rPr>
              <a:t>Decompose large problems into smaller, manageable </a:t>
            </a:r>
            <a:r>
              <a:rPr lang="en-US" sz="2400" dirty="0" err="1">
                <a:solidFill>
                  <a:schemeClr val="tx1"/>
                </a:solidFill>
                <a:latin typeface="Times New Roman" panose="02020603050405020304" pitchFamily="18" charset="0"/>
                <a:cs typeface="Times New Roman" panose="02020603050405020304" pitchFamily="18" charset="0"/>
              </a:rPr>
              <a:t>subproblems</a:t>
            </a:r>
            <a:r>
              <a:rPr lang="en-US" sz="2400" dirty="0">
                <a:solidFill>
                  <a:schemeClr val="tx1"/>
                </a:solidFill>
                <a:latin typeface="Times New Roman" panose="02020603050405020304" pitchFamily="18" charset="0"/>
                <a:cs typeface="Times New Roman" panose="02020603050405020304" pitchFamily="18" charset="0"/>
              </a:rPr>
              <a:t> using divide-and-conquer approach, identify common patterns, and establish clear problem boundaries.</a:t>
            </a:r>
            <a:endParaRPr lang="en-IN" sz="2400" dirty="0">
              <a:solidFill>
                <a:schemeClr val="tx1"/>
              </a:solidFill>
              <a:latin typeface="Times New Roman" panose="02020603050405020304" pitchFamily="18" charset="0"/>
              <a:cs typeface="Times New Roman" panose="02020603050405020304" pitchFamily="18" charset="0"/>
            </a:endParaRPr>
          </a:p>
          <a:p>
            <a:pPr>
              <a:spcAft>
                <a:spcPts val="900"/>
              </a:spcAft>
            </a:pPr>
            <a:r>
              <a:rPr lang="en-US" sz="2400" b="1" dirty="0">
                <a:solidFill>
                  <a:schemeClr val="tx1"/>
                </a:solidFill>
                <a:latin typeface="Times New Roman" panose="02020603050405020304" pitchFamily="18" charset="0"/>
                <a:cs typeface="Times New Roman" panose="02020603050405020304" pitchFamily="18" charset="0"/>
              </a:rPr>
              <a:t>3.Critical Thinking and Logic Development</a:t>
            </a:r>
          </a:p>
          <a:p>
            <a:pPr>
              <a:spcAft>
                <a:spcPts val="900"/>
              </a:spcAft>
            </a:pPr>
            <a:r>
              <a:rPr lang="en-US" sz="2400" dirty="0">
                <a:solidFill>
                  <a:schemeClr val="tx1"/>
                </a:solidFill>
                <a:latin typeface="Times New Roman" panose="02020603050405020304" pitchFamily="18" charset="0"/>
                <a:cs typeface="Times New Roman" panose="02020603050405020304" pitchFamily="18" charset="0"/>
              </a:rPr>
              <a:t>Develop logical reasoning skills, practice pattern recognition, learn to trace through problem scenarios, and build systematic approaches to solution validation and testing</a:t>
            </a:r>
            <a:r>
              <a:rPr lang="en-US" sz="2400" dirty="0" smtClean="0">
                <a:solidFill>
                  <a:schemeClr val="tx1"/>
                </a:solidFill>
                <a:latin typeface="Times New Roman" panose="02020603050405020304" pitchFamily="18" charset="0"/>
                <a:cs typeface="Times New Roman" panose="02020603050405020304" pitchFamily="18" charset="0"/>
              </a:rPr>
              <a:t>.</a:t>
            </a:r>
            <a:endParaRPr lang="en-IN" sz="1600" b="1" dirty="0">
              <a:solidFill>
                <a:schemeClr val="tx1"/>
              </a:solidFill>
              <a:latin typeface="Times New Roman" panose="02020603050405020304" pitchFamily="18" charset="0"/>
              <a:cs typeface="Times New Roman" panose="02020603050405020304" pitchFamily="18" charset="0"/>
            </a:endParaRPr>
          </a:p>
          <a:p>
            <a:pPr algn="l">
              <a:spcAft>
                <a:spcPts val="900"/>
              </a:spcAft>
            </a:pPr>
            <a:endParaRPr lang="en-IN" sz="1600" b="1" i="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75152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B2B8EDF6-877D-1A10-C347-F2BE83E59E46}"/>
            </a:ext>
          </a:extLst>
        </p:cNvPr>
        <p:cNvGrpSpPr/>
        <p:nvPr/>
      </p:nvGrpSpPr>
      <p:grpSpPr>
        <a:xfrm>
          <a:off x="0" y="0"/>
          <a:ext cx="0" cy="0"/>
          <a:chOff x="0" y="0"/>
          <a:chExt cx="0" cy="0"/>
        </a:xfrm>
      </p:grpSpPr>
      <p:sp>
        <p:nvSpPr>
          <p:cNvPr id="2" name="object 2">
            <a:extLst>
              <a:ext uri="{FF2B5EF4-FFF2-40B4-BE49-F238E27FC236}">
                <a16:creationId xmlns="" xmlns:a16="http://schemas.microsoft.com/office/drawing/2014/main" id="{9424E5F6-5928-437B-FE94-E6E0319CAB4F}"/>
              </a:ext>
            </a:extLst>
          </p:cNvPr>
          <p:cNvSpPr txBox="1">
            <a:spLocks/>
          </p:cNvSpPr>
          <p:nvPr/>
        </p:nvSpPr>
        <p:spPr>
          <a:xfrm>
            <a:off x="2986721" y="353380"/>
            <a:ext cx="7430771" cy="559127"/>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900"/>
              </a:spcAft>
              <a:buClr>
                <a:srgbClr val="000000"/>
              </a:buClr>
              <a:buFont typeface="Arial"/>
            </a:pPr>
            <a:r>
              <a:rPr lang="en-US" sz="2800" b="1" dirty="0">
                <a:solidFill>
                  <a:schemeClr val="tx1"/>
                </a:solidFill>
                <a:latin typeface="Times New Roman" panose="02020603050405020304" pitchFamily="18" charset="0"/>
                <a:cs typeface="Times New Roman" panose="02020603050405020304" pitchFamily="18" charset="0"/>
              </a:rPr>
              <a:t>Importance of Problem-Solving in Programming</a:t>
            </a:r>
          </a:p>
        </p:txBody>
      </p:sp>
      <p:sp>
        <p:nvSpPr>
          <p:cNvPr id="4" name="object 4">
            <a:extLst>
              <a:ext uri="{FF2B5EF4-FFF2-40B4-BE49-F238E27FC236}">
                <a16:creationId xmlns="" xmlns:a16="http://schemas.microsoft.com/office/drawing/2014/main" id="{BB0DFDB5-6D09-3FDD-8461-A12677248A70}"/>
              </a:ext>
            </a:extLst>
          </p:cNvPr>
          <p:cNvSpPr txBox="1"/>
          <p:nvPr/>
        </p:nvSpPr>
        <p:spPr>
          <a:xfrm>
            <a:off x="208725" y="1020894"/>
            <a:ext cx="6698975" cy="985013"/>
          </a:xfrm>
          <a:prstGeom prst="rect">
            <a:avLst/>
          </a:prstGeom>
        </p:spPr>
        <p:txBody>
          <a:bodyPr vert="horz" wrap="square" lIns="0" tIns="12700" rIns="0" bIns="0" rtlCol="0">
            <a:spAutoFit/>
          </a:bodyPr>
          <a:lstStyle/>
          <a:p>
            <a:pPr marL="12700" marR="5080">
              <a:lnSpc>
                <a:spcPct val="116700"/>
              </a:lnSpc>
              <a:spcBef>
                <a:spcPts val="100"/>
              </a:spcBef>
            </a:pPr>
            <a:r>
              <a:rPr sz="1800" spc="-90" dirty="0">
                <a:solidFill>
                  <a:schemeClr val="tx1"/>
                </a:solidFill>
                <a:latin typeface="Times New Roman" panose="02020603050405020304" pitchFamily="18" charset="0"/>
                <a:cs typeface="Times New Roman" panose="02020603050405020304" pitchFamily="18" charset="0"/>
              </a:rPr>
              <a:t>Problem-</a:t>
            </a:r>
            <a:r>
              <a:rPr sz="1800" spc="-80" dirty="0">
                <a:solidFill>
                  <a:schemeClr val="tx1"/>
                </a:solidFill>
                <a:latin typeface="Times New Roman" panose="02020603050405020304" pitchFamily="18" charset="0"/>
                <a:cs typeface="Times New Roman" panose="02020603050405020304" pitchFamily="18" charset="0"/>
              </a:rPr>
              <a:t>solving</a:t>
            </a:r>
            <a:r>
              <a:rPr sz="1800" spc="-20" dirty="0">
                <a:solidFill>
                  <a:schemeClr val="tx1"/>
                </a:solidFill>
                <a:latin typeface="Times New Roman" panose="02020603050405020304" pitchFamily="18" charset="0"/>
                <a:cs typeface="Times New Roman" panose="02020603050405020304" pitchFamily="18" charset="0"/>
              </a:rPr>
              <a:t> </a:t>
            </a:r>
            <a:r>
              <a:rPr sz="1800" spc="-65" dirty="0">
                <a:solidFill>
                  <a:schemeClr val="tx1"/>
                </a:solidFill>
                <a:latin typeface="Times New Roman" panose="02020603050405020304" pitchFamily="18" charset="0"/>
                <a:cs typeface="Times New Roman" panose="02020603050405020304" pitchFamily="18" charset="0"/>
              </a:rPr>
              <a:t>is</a:t>
            </a:r>
            <a:r>
              <a:rPr sz="1800" spc="-20" dirty="0">
                <a:solidFill>
                  <a:schemeClr val="tx1"/>
                </a:solidFill>
                <a:latin typeface="Times New Roman" panose="02020603050405020304" pitchFamily="18" charset="0"/>
                <a:cs typeface="Times New Roman" panose="02020603050405020304" pitchFamily="18" charset="0"/>
              </a:rPr>
              <a:t> </a:t>
            </a:r>
            <a:r>
              <a:rPr sz="1800" spc="-75" dirty="0">
                <a:solidFill>
                  <a:schemeClr val="tx1"/>
                </a:solidFill>
                <a:latin typeface="Times New Roman" panose="02020603050405020304" pitchFamily="18" charset="0"/>
                <a:cs typeface="Times New Roman" panose="02020603050405020304" pitchFamily="18" charset="0"/>
              </a:rPr>
              <a:t>the</a:t>
            </a:r>
            <a:r>
              <a:rPr sz="1800" spc="-20" dirty="0">
                <a:solidFill>
                  <a:schemeClr val="tx1"/>
                </a:solidFill>
                <a:latin typeface="Times New Roman" panose="02020603050405020304" pitchFamily="18" charset="0"/>
                <a:cs typeface="Times New Roman" panose="02020603050405020304" pitchFamily="18" charset="0"/>
              </a:rPr>
              <a:t> </a:t>
            </a:r>
            <a:r>
              <a:rPr sz="1800" spc="-90" dirty="0">
                <a:solidFill>
                  <a:schemeClr val="tx1"/>
                </a:solidFill>
                <a:latin typeface="Times New Roman" panose="02020603050405020304" pitchFamily="18" charset="0"/>
                <a:cs typeface="Times New Roman" panose="02020603050405020304" pitchFamily="18" charset="0"/>
              </a:rPr>
              <a:t>core</a:t>
            </a:r>
            <a:r>
              <a:rPr sz="1800" spc="-20"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skill</a:t>
            </a:r>
            <a:r>
              <a:rPr sz="1800" spc="-15" dirty="0">
                <a:solidFill>
                  <a:schemeClr val="tx1"/>
                </a:solidFill>
                <a:latin typeface="Times New Roman" panose="02020603050405020304" pitchFamily="18" charset="0"/>
                <a:cs typeface="Times New Roman" panose="02020603050405020304" pitchFamily="18" charset="0"/>
              </a:rPr>
              <a:t> </a:t>
            </a:r>
            <a:r>
              <a:rPr sz="1800" spc="-70" dirty="0">
                <a:solidFill>
                  <a:schemeClr val="tx1"/>
                </a:solidFill>
                <a:latin typeface="Times New Roman" panose="02020603050405020304" pitchFamily="18" charset="0"/>
                <a:cs typeface="Times New Roman" panose="02020603050405020304" pitchFamily="18" charset="0"/>
              </a:rPr>
              <a:t>in</a:t>
            </a:r>
            <a:r>
              <a:rPr sz="1800" spc="-20" dirty="0">
                <a:solidFill>
                  <a:schemeClr val="tx1"/>
                </a:solidFill>
                <a:latin typeface="Times New Roman" panose="02020603050405020304" pitchFamily="18" charset="0"/>
                <a:cs typeface="Times New Roman" panose="02020603050405020304" pitchFamily="18" charset="0"/>
              </a:rPr>
              <a:t> </a:t>
            </a:r>
            <a:r>
              <a:rPr sz="1800" spc="-90" dirty="0">
                <a:solidFill>
                  <a:schemeClr val="tx1"/>
                </a:solidFill>
                <a:latin typeface="Times New Roman" panose="02020603050405020304" pitchFamily="18" charset="0"/>
                <a:cs typeface="Times New Roman" panose="02020603050405020304" pitchFamily="18" charset="0"/>
              </a:rPr>
              <a:t>programming.</a:t>
            </a:r>
            <a:r>
              <a:rPr sz="1800" spc="-20" dirty="0">
                <a:solidFill>
                  <a:schemeClr val="tx1"/>
                </a:solidFill>
                <a:latin typeface="Times New Roman" panose="02020603050405020304" pitchFamily="18" charset="0"/>
                <a:cs typeface="Times New Roman" panose="02020603050405020304" pitchFamily="18" charset="0"/>
              </a:rPr>
              <a:t> </a:t>
            </a:r>
            <a:r>
              <a:rPr sz="1800" spc="-35" dirty="0">
                <a:solidFill>
                  <a:schemeClr val="tx1"/>
                </a:solidFill>
                <a:latin typeface="Times New Roman" panose="02020603050405020304" pitchFamily="18" charset="0"/>
                <a:cs typeface="Times New Roman" panose="02020603050405020304" pitchFamily="18" charset="0"/>
              </a:rPr>
              <a:t>It</a:t>
            </a:r>
            <a:r>
              <a:rPr sz="1800" spc="-20" dirty="0">
                <a:solidFill>
                  <a:schemeClr val="tx1"/>
                </a:solidFill>
                <a:latin typeface="Times New Roman" panose="02020603050405020304" pitchFamily="18" charset="0"/>
                <a:cs typeface="Times New Roman" panose="02020603050405020304" pitchFamily="18" charset="0"/>
              </a:rPr>
              <a:t> </a:t>
            </a:r>
            <a:r>
              <a:rPr sz="1800" spc="-75" dirty="0">
                <a:solidFill>
                  <a:schemeClr val="tx1"/>
                </a:solidFill>
                <a:latin typeface="Times New Roman" panose="02020603050405020304" pitchFamily="18" charset="0"/>
                <a:cs typeface="Times New Roman" panose="02020603050405020304" pitchFamily="18" charset="0"/>
              </a:rPr>
              <a:t>involves</a:t>
            </a:r>
            <a:r>
              <a:rPr sz="1800" spc="-15" dirty="0">
                <a:solidFill>
                  <a:schemeClr val="tx1"/>
                </a:solidFill>
                <a:latin typeface="Times New Roman" panose="02020603050405020304" pitchFamily="18" charset="0"/>
                <a:cs typeface="Times New Roman" panose="02020603050405020304" pitchFamily="18" charset="0"/>
              </a:rPr>
              <a:t> </a:t>
            </a:r>
            <a:r>
              <a:rPr sz="1800" spc="-75" dirty="0">
                <a:solidFill>
                  <a:schemeClr val="tx1"/>
                </a:solidFill>
                <a:latin typeface="Times New Roman" panose="02020603050405020304" pitchFamily="18" charset="0"/>
                <a:cs typeface="Times New Roman" panose="02020603050405020304" pitchFamily="18" charset="0"/>
              </a:rPr>
              <a:t>the</a:t>
            </a:r>
            <a:r>
              <a:rPr sz="1800" spc="-20"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ability</a:t>
            </a:r>
            <a:r>
              <a:rPr sz="1800" spc="-20" dirty="0">
                <a:solidFill>
                  <a:schemeClr val="tx1"/>
                </a:solidFill>
                <a:latin typeface="Times New Roman" panose="02020603050405020304" pitchFamily="18" charset="0"/>
                <a:cs typeface="Times New Roman" panose="02020603050405020304" pitchFamily="18" charset="0"/>
              </a:rPr>
              <a:t> </a:t>
            </a:r>
            <a:r>
              <a:rPr sz="1800" spc="-25" dirty="0">
                <a:solidFill>
                  <a:schemeClr val="tx1"/>
                </a:solidFill>
                <a:latin typeface="Times New Roman" panose="02020603050405020304" pitchFamily="18" charset="0"/>
                <a:cs typeface="Times New Roman" panose="02020603050405020304" pitchFamily="18" charset="0"/>
              </a:rPr>
              <a:t>to </a:t>
            </a:r>
            <a:r>
              <a:rPr sz="1800" b="1" spc="-80" dirty="0">
                <a:solidFill>
                  <a:schemeClr val="tx1"/>
                </a:solidFill>
                <a:latin typeface="Times New Roman" panose="02020603050405020304" pitchFamily="18" charset="0"/>
                <a:cs typeface="Times New Roman" panose="02020603050405020304" pitchFamily="18" charset="0"/>
              </a:rPr>
              <a:t>understand</a:t>
            </a:r>
            <a:r>
              <a:rPr sz="1800" b="1" spc="-10" dirty="0">
                <a:solidFill>
                  <a:schemeClr val="tx1"/>
                </a:solidFill>
                <a:latin typeface="Times New Roman" panose="02020603050405020304" pitchFamily="18" charset="0"/>
                <a:cs typeface="Times New Roman" panose="02020603050405020304" pitchFamily="18" charset="0"/>
              </a:rPr>
              <a:t> </a:t>
            </a:r>
            <a:r>
              <a:rPr sz="1800" b="1" spc="-95" dirty="0">
                <a:solidFill>
                  <a:schemeClr val="tx1"/>
                </a:solidFill>
                <a:latin typeface="Times New Roman" panose="02020603050405020304" pitchFamily="18" charset="0"/>
                <a:cs typeface="Times New Roman" panose="02020603050405020304" pitchFamily="18" charset="0"/>
              </a:rPr>
              <a:t>a</a:t>
            </a:r>
            <a:r>
              <a:rPr sz="1800" b="1" spc="-10" dirty="0">
                <a:solidFill>
                  <a:schemeClr val="tx1"/>
                </a:solidFill>
                <a:latin typeface="Times New Roman" panose="02020603050405020304" pitchFamily="18" charset="0"/>
                <a:cs typeface="Times New Roman" panose="02020603050405020304" pitchFamily="18" charset="0"/>
              </a:rPr>
              <a:t> </a:t>
            </a:r>
            <a:r>
              <a:rPr sz="1800" b="1" spc="-90" dirty="0">
                <a:solidFill>
                  <a:schemeClr val="tx1"/>
                </a:solidFill>
                <a:latin typeface="Times New Roman" panose="02020603050405020304" pitchFamily="18" charset="0"/>
                <a:cs typeface="Times New Roman" panose="02020603050405020304" pitchFamily="18" charset="0"/>
              </a:rPr>
              <a:t>problem</a:t>
            </a:r>
            <a:r>
              <a:rPr sz="1800" spc="-90" dirty="0">
                <a:solidFill>
                  <a:schemeClr val="tx1"/>
                </a:solidFill>
                <a:latin typeface="Times New Roman" panose="02020603050405020304" pitchFamily="18" charset="0"/>
                <a:cs typeface="Times New Roman" panose="02020603050405020304" pitchFamily="18" charset="0"/>
              </a:rPr>
              <a:t>,</a:t>
            </a:r>
            <a:r>
              <a:rPr sz="1800" spc="-10" dirty="0">
                <a:solidFill>
                  <a:schemeClr val="tx1"/>
                </a:solidFill>
                <a:latin typeface="Times New Roman" panose="02020603050405020304" pitchFamily="18" charset="0"/>
                <a:cs typeface="Times New Roman" panose="02020603050405020304" pitchFamily="18" charset="0"/>
              </a:rPr>
              <a:t> </a:t>
            </a:r>
            <a:r>
              <a:rPr sz="1800" b="1" spc="-90" dirty="0">
                <a:solidFill>
                  <a:schemeClr val="tx1"/>
                </a:solidFill>
                <a:latin typeface="Times New Roman" panose="02020603050405020304" pitchFamily="18" charset="0"/>
                <a:cs typeface="Times New Roman" panose="02020603050405020304" pitchFamily="18" charset="0"/>
              </a:rPr>
              <a:t>devise</a:t>
            </a:r>
            <a:r>
              <a:rPr sz="1800" b="1" spc="-10" dirty="0">
                <a:solidFill>
                  <a:schemeClr val="tx1"/>
                </a:solidFill>
                <a:latin typeface="Times New Roman" panose="02020603050405020304" pitchFamily="18" charset="0"/>
                <a:cs typeface="Times New Roman" panose="02020603050405020304" pitchFamily="18" charset="0"/>
              </a:rPr>
              <a:t> </a:t>
            </a:r>
            <a:r>
              <a:rPr sz="1800" b="1" spc="-95" dirty="0">
                <a:solidFill>
                  <a:schemeClr val="tx1"/>
                </a:solidFill>
                <a:latin typeface="Times New Roman" panose="02020603050405020304" pitchFamily="18" charset="0"/>
                <a:cs typeface="Times New Roman" panose="02020603050405020304" pitchFamily="18" charset="0"/>
              </a:rPr>
              <a:t>a</a:t>
            </a:r>
            <a:r>
              <a:rPr sz="1800" b="1" spc="-10" dirty="0">
                <a:solidFill>
                  <a:schemeClr val="tx1"/>
                </a:solidFill>
                <a:latin typeface="Times New Roman" panose="02020603050405020304" pitchFamily="18" charset="0"/>
                <a:cs typeface="Times New Roman" panose="02020603050405020304" pitchFamily="18" charset="0"/>
              </a:rPr>
              <a:t> </a:t>
            </a:r>
            <a:r>
              <a:rPr sz="1800" b="1" spc="-75" dirty="0">
                <a:solidFill>
                  <a:schemeClr val="tx1"/>
                </a:solidFill>
                <a:latin typeface="Times New Roman" panose="02020603050405020304" pitchFamily="18" charset="0"/>
                <a:cs typeface="Times New Roman" panose="02020603050405020304" pitchFamily="18" charset="0"/>
              </a:rPr>
              <a:t>plan</a:t>
            </a:r>
            <a:r>
              <a:rPr sz="1800" spc="-75" dirty="0">
                <a:solidFill>
                  <a:schemeClr val="tx1"/>
                </a:solidFill>
                <a:latin typeface="Times New Roman" panose="02020603050405020304" pitchFamily="18" charset="0"/>
                <a:cs typeface="Times New Roman" panose="02020603050405020304" pitchFamily="18" charset="0"/>
              </a:rPr>
              <a:t>,</a:t>
            </a:r>
            <a:r>
              <a:rPr sz="1800" spc="-5" dirty="0">
                <a:solidFill>
                  <a:schemeClr val="tx1"/>
                </a:solidFill>
                <a:latin typeface="Times New Roman" panose="02020603050405020304" pitchFamily="18" charset="0"/>
                <a:cs typeface="Times New Roman" panose="02020603050405020304" pitchFamily="18" charset="0"/>
              </a:rPr>
              <a:t> </a:t>
            </a:r>
            <a:r>
              <a:rPr sz="1800" spc="-100" dirty="0">
                <a:solidFill>
                  <a:schemeClr val="tx1"/>
                </a:solidFill>
                <a:latin typeface="Times New Roman" panose="02020603050405020304" pitchFamily="18" charset="0"/>
                <a:cs typeface="Times New Roman" panose="02020603050405020304" pitchFamily="18" charset="0"/>
              </a:rPr>
              <a:t>and</a:t>
            </a:r>
            <a:r>
              <a:rPr sz="1800" spc="-10" dirty="0">
                <a:solidFill>
                  <a:schemeClr val="tx1"/>
                </a:solidFill>
                <a:latin typeface="Times New Roman" panose="02020603050405020304" pitchFamily="18" charset="0"/>
                <a:cs typeface="Times New Roman" panose="02020603050405020304" pitchFamily="18" charset="0"/>
              </a:rPr>
              <a:t> </a:t>
            </a:r>
            <a:r>
              <a:rPr sz="1800" b="1" spc="-85" dirty="0">
                <a:solidFill>
                  <a:schemeClr val="tx1"/>
                </a:solidFill>
                <a:latin typeface="Times New Roman" panose="02020603050405020304" pitchFamily="18" charset="0"/>
                <a:cs typeface="Times New Roman" panose="02020603050405020304" pitchFamily="18" charset="0"/>
              </a:rPr>
              <a:t>implement</a:t>
            </a:r>
            <a:r>
              <a:rPr sz="1800" b="1" spc="-10" dirty="0">
                <a:solidFill>
                  <a:schemeClr val="tx1"/>
                </a:solidFill>
                <a:latin typeface="Times New Roman" panose="02020603050405020304" pitchFamily="18" charset="0"/>
                <a:cs typeface="Times New Roman" panose="02020603050405020304" pitchFamily="18" charset="0"/>
              </a:rPr>
              <a:t> </a:t>
            </a:r>
            <a:r>
              <a:rPr sz="1800" b="1" spc="-95" dirty="0">
                <a:solidFill>
                  <a:schemeClr val="tx1"/>
                </a:solidFill>
                <a:latin typeface="Times New Roman" panose="02020603050405020304" pitchFamily="18" charset="0"/>
                <a:cs typeface="Times New Roman" panose="02020603050405020304" pitchFamily="18" charset="0"/>
              </a:rPr>
              <a:t>a</a:t>
            </a:r>
            <a:r>
              <a:rPr sz="1800" b="1" spc="-10" dirty="0">
                <a:solidFill>
                  <a:schemeClr val="tx1"/>
                </a:solidFill>
                <a:latin typeface="Times New Roman" panose="02020603050405020304" pitchFamily="18" charset="0"/>
                <a:cs typeface="Times New Roman" panose="02020603050405020304" pitchFamily="18" charset="0"/>
              </a:rPr>
              <a:t> </a:t>
            </a:r>
            <a:r>
              <a:rPr sz="1800" b="1" spc="-75" dirty="0">
                <a:solidFill>
                  <a:schemeClr val="tx1"/>
                </a:solidFill>
                <a:latin typeface="Times New Roman" panose="02020603050405020304" pitchFamily="18" charset="0"/>
                <a:cs typeface="Times New Roman" panose="02020603050405020304" pitchFamily="18" charset="0"/>
              </a:rPr>
              <a:t>solution</a:t>
            </a:r>
            <a:r>
              <a:rPr sz="1800" b="1" spc="-10" dirty="0">
                <a:solidFill>
                  <a:schemeClr val="tx1"/>
                </a:solidFill>
                <a:latin typeface="Times New Roman" panose="02020603050405020304" pitchFamily="18" charset="0"/>
                <a:cs typeface="Times New Roman" panose="02020603050405020304" pitchFamily="18" charset="0"/>
              </a:rPr>
              <a:t> </a:t>
            </a:r>
            <a:r>
              <a:rPr sz="1800" spc="-90" dirty="0">
                <a:solidFill>
                  <a:schemeClr val="tx1"/>
                </a:solidFill>
                <a:latin typeface="Times New Roman" panose="02020603050405020304" pitchFamily="18" charset="0"/>
                <a:cs typeface="Times New Roman" panose="02020603050405020304" pitchFamily="18" charset="0"/>
              </a:rPr>
              <a:t>through</a:t>
            </a:r>
            <a:r>
              <a:rPr sz="1800" spc="-10"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code </a:t>
            </a:r>
            <a:r>
              <a:rPr sz="1800" spc="-75" dirty="0">
                <a:solidFill>
                  <a:schemeClr val="tx1"/>
                </a:solidFill>
                <a:latin typeface="Times New Roman" panose="02020603050405020304" pitchFamily="18" charset="0"/>
                <a:cs typeface="Times New Roman" panose="02020603050405020304" pitchFamily="18" charset="0"/>
              </a:rPr>
              <a:t>that</a:t>
            </a:r>
            <a:r>
              <a:rPr sz="1800" spc="-20" dirty="0">
                <a:solidFill>
                  <a:schemeClr val="tx1"/>
                </a:solidFill>
                <a:latin typeface="Times New Roman" panose="02020603050405020304" pitchFamily="18" charset="0"/>
                <a:cs typeface="Times New Roman" panose="02020603050405020304" pitchFamily="18" charset="0"/>
              </a:rPr>
              <a:t> </a:t>
            </a:r>
            <a:r>
              <a:rPr sz="1800" spc="-75" dirty="0">
                <a:solidFill>
                  <a:schemeClr val="tx1"/>
                </a:solidFill>
                <a:latin typeface="Times New Roman" panose="02020603050405020304" pitchFamily="18" charset="0"/>
                <a:cs typeface="Times New Roman" panose="02020603050405020304" pitchFamily="18" charset="0"/>
              </a:rPr>
              <a:t>satisfies</a:t>
            </a:r>
            <a:r>
              <a:rPr sz="1800" spc="-20"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all</a:t>
            </a:r>
            <a:r>
              <a:rPr sz="1800" spc="-15" dirty="0">
                <a:solidFill>
                  <a:schemeClr val="tx1"/>
                </a:solidFill>
                <a:latin typeface="Times New Roman" panose="02020603050405020304" pitchFamily="18" charset="0"/>
                <a:cs typeface="Times New Roman" panose="02020603050405020304" pitchFamily="18" charset="0"/>
              </a:rPr>
              <a:t> </a:t>
            </a:r>
            <a:r>
              <a:rPr sz="1800" spc="-10" dirty="0">
                <a:solidFill>
                  <a:schemeClr val="tx1"/>
                </a:solidFill>
                <a:latin typeface="Times New Roman" panose="02020603050405020304" pitchFamily="18" charset="0"/>
                <a:cs typeface="Times New Roman" panose="02020603050405020304" pitchFamily="18" charset="0"/>
              </a:rPr>
              <a:t>constraints</a:t>
            </a:r>
            <a:r>
              <a:rPr sz="1600" spc="-10" dirty="0">
                <a:solidFill>
                  <a:schemeClr val="tx1"/>
                </a:solidFill>
                <a:latin typeface="Times New Roman" panose="02020603050405020304" pitchFamily="18" charset="0"/>
                <a:cs typeface="Times New Roman" panose="02020603050405020304" pitchFamily="18" charset="0"/>
              </a:rPr>
              <a:t>.</a:t>
            </a:r>
            <a:endParaRPr sz="1600" dirty="0">
              <a:solidFill>
                <a:schemeClr val="tx1"/>
              </a:solidFill>
              <a:latin typeface="Times New Roman" panose="02020603050405020304" pitchFamily="18" charset="0"/>
              <a:cs typeface="Times New Roman" panose="02020603050405020304" pitchFamily="18" charset="0"/>
            </a:endParaRPr>
          </a:p>
        </p:txBody>
      </p:sp>
      <p:sp>
        <p:nvSpPr>
          <p:cNvPr id="5" name="object 5">
            <a:extLst>
              <a:ext uri="{FF2B5EF4-FFF2-40B4-BE49-F238E27FC236}">
                <a16:creationId xmlns="" xmlns:a16="http://schemas.microsoft.com/office/drawing/2014/main" id="{63DD5F66-288D-29D0-C200-1F10E5DF8607}"/>
              </a:ext>
            </a:extLst>
          </p:cNvPr>
          <p:cNvSpPr txBox="1"/>
          <p:nvPr/>
        </p:nvSpPr>
        <p:spPr>
          <a:xfrm>
            <a:off x="331017" y="1962476"/>
            <a:ext cx="1456055" cy="320601"/>
          </a:xfrm>
          <a:prstGeom prst="rect">
            <a:avLst/>
          </a:prstGeom>
        </p:spPr>
        <p:txBody>
          <a:bodyPr vert="horz" wrap="square" lIns="0" tIns="12700" rIns="0" bIns="0" rtlCol="0">
            <a:spAutoFit/>
          </a:bodyPr>
          <a:lstStyle/>
          <a:p>
            <a:pPr marL="12700">
              <a:lnSpc>
                <a:spcPct val="100000"/>
              </a:lnSpc>
              <a:spcBef>
                <a:spcPts val="100"/>
              </a:spcBef>
            </a:pPr>
            <a:r>
              <a:rPr sz="2000" b="0" spc="-120" dirty="0">
                <a:solidFill>
                  <a:schemeClr val="tx1"/>
                </a:solidFill>
                <a:latin typeface="Times New Roman" panose="02020603050405020304" pitchFamily="18" charset="0"/>
                <a:cs typeface="Times New Roman" panose="02020603050405020304" pitchFamily="18" charset="0"/>
              </a:rPr>
              <a:t>Core</a:t>
            </a:r>
            <a:r>
              <a:rPr sz="2000" b="0" spc="-35" dirty="0">
                <a:solidFill>
                  <a:schemeClr val="tx1"/>
                </a:solidFill>
                <a:latin typeface="Times New Roman" panose="02020603050405020304" pitchFamily="18" charset="0"/>
                <a:cs typeface="Times New Roman" panose="02020603050405020304" pitchFamily="18" charset="0"/>
              </a:rPr>
              <a:t> </a:t>
            </a:r>
            <a:r>
              <a:rPr sz="2000" b="0" spc="-100" dirty="0">
                <a:solidFill>
                  <a:schemeClr val="tx1"/>
                </a:solidFill>
                <a:latin typeface="Times New Roman" panose="02020603050405020304" pitchFamily="18" charset="0"/>
                <a:cs typeface="Times New Roman" panose="02020603050405020304" pitchFamily="18" charset="0"/>
              </a:rPr>
              <a:t>Aspects:</a:t>
            </a:r>
            <a:endParaRPr sz="2000"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 xmlns:a16="http://schemas.microsoft.com/office/drawing/2014/main" id="{7612204E-6E66-2C8A-9688-41B2C503B74E}"/>
              </a:ext>
            </a:extLst>
          </p:cNvPr>
          <p:cNvPicPr/>
          <p:nvPr/>
        </p:nvPicPr>
        <p:blipFill>
          <a:blip r:embed="rId3" cstate="print"/>
          <a:stretch>
            <a:fillRect/>
          </a:stretch>
        </p:blipFill>
        <p:spPr>
          <a:xfrm>
            <a:off x="666750" y="2295318"/>
            <a:ext cx="152399" cy="152399"/>
          </a:xfrm>
          <a:prstGeom prst="rect">
            <a:avLst/>
          </a:prstGeom>
        </p:spPr>
      </p:pic>
      <p:sp>
        <p:nvSpPr>
          <p:cNvPr id="7" name="object 7">
            <a:extLst>
              <a:ext uri="{FF2B5EF4-FFF2-40B4-BE49-F238E27FC236}">
                <a16:creationId xmlns="" xmlns:a16="http://schemas.microsoft.com/office/drawing/2014/main" id="{70A0CED2-C7DB-85E5-9355-3E9BEBDFDB6A}"/>
              </a:ext>
            </a:extLst>
          </p:cNvPr>
          <p:cNvSpPr txBox="1"/>
          <p:nvPr/>
        </p:nvSpPr>
        <p:spPr>
          <a:xfrm>
            <a:off x="1059041" y="2255137"/>
            <a:ext cx="5764035" cy="294311"/>
          </a:xfrm>
          <a:prstGeom prst="rect">
            <a:avLst/>
          </a:prstGeom>
        </p:spPr>
        <p:txBody>
          <a:bodyPr vert="horz" wrap="square" lIns="0" tIns="17145" rIns="0" bIns="0" rtlCol="0">
            <a:spAutoFit/>
          </a:bodyPr>
          <a:lstStyle/>
          <a:p>
            <a:pPr marL="12700">
              <a:lnSpc>
                <a:spcPct val="100000"/>
              </a:lnSpc>
              <a:spcBef>
                <a:spcPts val="135"/>
              </a:spcBef>
            </a:pPr>
            <a:r>
              <a:rPr sz="1800" b="0" spc="-55" dirty="0">
                <a:solidFill>
                  <a:schemeClr val="tx1"/>
                </a:solidFill>
                <a:latin typeface="Times New Roman" panose="02020603050405020304" pitchFamily="18" charset="0"/>
                <a:cs typeface="Times New Roman" panose="02020603050405020304" pitchFamily="18" charset="0"/>
              </a:rPr>
              <a:t>Analytical</a:t>
            </a:r>
            <a:r>
              <a:rPr sz="1800" b="0" spc="-35" dirty="0">
                <a:solidFill>
                  <a:schemeClr val="tx1"/>
                </a:solidFill>
                <a:latin typeface="Times New Roman" panose="02020603050405020304" pitchFamily="18" charset="0"/>
                <a:cs typeface="Times New Roman" panose="02020603050405020304" pitchFamily="18" charset="0"/>
              </a:rPr>
              <a:t> </a:t>
            </a:r>
            <a:r>
              <a:rPr sz="1800" b="0" spc="-45" dirty="0">
                <a:solidFill>
                  <a:schemeClr val="tx1"/>
                </a:solidFill>
                <a:latin typeface="Times New Roman" panose="02020603050405020304" pitchFamily="18" charset="0"/>
                <a:cs typeface="Times New Roman" panose="02020603050405020304" pitchFamily="18" charset="0"/>
              </a:rPr>
              <a:t>Thinking</a:t>
            </a:r>
            <a:r>
              <a:rPr sz="1800" spc="-45" dirty="0">
                <a:solidFill>
                  <a:schemeClr val="tx1"/>
                </a:solidFill>
                <a:latin typeface="Times New Roman" panose="02020603050405020304" pitchFamily="18" charset="0"/>
                <a:cs typeface="Times New Roman" panose="02020603050405020304" pitchFamily="18" charset="0"/>
              </a:rPr>
              <a:t>:</a:t>
            </a:r>
            <a:r>
              <a:rPr sz="1800"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Breaking</a:t>
            </a:r>
            <a:r>
              <a:rPr sz="1800" dirty="0">
                <a:solidFill>
                  <a:schemeClr val="tx1"/>
                </a:solidFill>
                <a:latin typeface="Times New Roman" panose="02020603050405020304" pitchFamily="18" charset="0"/>
                <a:cs typeface="Times New Roman" panose="02020603050405020304" pitchFamily="18" charset="0"/>
              </a:rPr>
              <a:t> </a:t>
            </a:r>
            <a:r>
              <a:rPr sz="1800" spc="-60" dirty="0" smtClean="0">
                <a:solidFill>
                  <a:schemeClr val="tx1"/>
                </a:solidFill>
                <a:latin typeface="Times New Roman" panose="02020603050405020304" pitchFamily="18" charset="0"/>
                <a:cs typeface="Times New Roman" panose="02020603050405020304" pitchFamily="18" charset="0"/>
              </a:rPr>
              <a:t>problems</a:t>
            </a:r>
            <a:r>
              <a:rPr sz="1800" dirty="0" smtClean="0">
                <a:solidFill>
                  <a:schemeClr val="tx1"/>
                </a:solidFill>
                <a:latin typeface="Times New Roman" panose="02020603050405020304" pitchFamily="18" charset="0"/>
                <a:cs typeface="Times New Roman" panose="02020603050405020304" pitchFamily="18" charset="0"/>
              </a:rPr>
              <a:t> </a:t>
            </a:r>
            <a:r>
              <a:rPr sz="1800" spc="-50" dirty="0">
                <a:solidFill>
                  <a:schemeClr val="tx1"/>
                </a:solidFill>
                <a:latin typeface="Times New Roman" panose="02020603050405020304" pitchFamily="18" charset="0"/>
                <a:cs typeface="Times New Roman" panose="02020603050405020304" pitchFamily="18" charset="0"/>
              </a:rPr>
              <a:t>into</a:t>
            </a:r>
            <a:r>
              <a:rPr sz="1800"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manageable</a:t>
            </a:r>
            <a:r>
              <a:rPr sz="1800" dirty="0">
                <a:solidFill>
                  <a:schemeClr val="tx1"/>
                </a:solidFill>
                <a:latin typeface="Times New Roman" panose="02020603050405020304" pitchFamily="18" charset="0"/>
                <a:cs typeface="Times New Roman" panose="02020603050405020304" pitchFamily="18" charset="0"/>
              </a:rPr>
              <a:t> </a:t>
            </a:r>
            <a:r>
              <a:rPr sz="1800" spc="-10" dirty="0">
                <a:solidFill>
                  <a:schemeClr val="tx1"/>
                </a:solidFill>
                <a:latin typeface="Times New Roman" panose="02020603050405020304" pitchFamily="18" charset="0"/>
                <a:cs typeface="Times New Roman" panose="02020603050405020304" pitchFamily="18" charset="0"/>
              </a:rPr>
              <a:t>parts</a:t>
            </a:r>
            <a:endParaRPr sz="1800" dirty="0">
              <a:solidFill>
                <a:schemeClr val="tx1"/>
              </a:solidFill>
              <a:latin typeface="Times New Roman" panose="02020603050405020304" pitchFamily="18" charset="0"/>
              <a:cs typeface="Times New Roman" panose="02020603050405020304" pitchFamily="18" charset="0"/>
            </a:endParaRPr>
          </a:p>
        </p:txBody>
      </p:sp>
      <p:pic>
        <p:nvPicPr>
          <p:cNvPr id="8" name="object 8">
            <a:extLst>
              <a:ext uri="{FF2B5EF4-FFF2-40B4-BE49-F238E27FC236}">
                <a16:creationId xmlns="" xmlns:a16="http://schemas.microsoft.com/office/drawing/2014/main" id="{CA70D5F5-A1C4-F16E-3ED0-6082252E7A02}"/>
              </a:ext>
            </a:extLst>
          </p:cNvPr>
          <p:cNvPicPr/>
          <p:nvPr/>
        </p:nvPicPr>
        <p:blipFill>
          <a:blip r:embed="rId4" cstate="print"/>
          <a:stretch>
            <a:fillRect/>
          </a:stretch>
        </p:blipFill>
        <p:spPr>
          <a:xfrm>
            <a:off x="709609" y="2724664"/>
            <a:ext cx="171449" cy="133349"/>
          </a:xfrm>
          <a:prstGeom prst="rect">
            <a:avLst/>
          </a:prstGeom>
        </p:spPr>
      </p:pic>
      <p:sp>
        <p:nvSpPr>
          <p:cNvPr id="9" name="object 9">
            <a:extLst>
              <a:ext uri="{FF2B5EF4-FFF2-40B4-BE49-F238E27FC236}">
                <a16:creationId xmlns="" xmlns:a16="http://schemas.microsoft.com/office/drawing/2014/main" id="{FF98D0E5-39B6-AC07-17A9-53872399890B}"/>
              </a:ext>
            </a:extLst>
          </p:cNvPr>
          <p:cNvSpPr txBox="1"/>
          <p:nvPr/>
        </p:nvSpPr>
        <p:spPr>
          <a:xfrm>
            <a:off x="1059043" y="2608283"/>
            <a:ext cx="5960884" cy="294311"/>
          </a:xfrm>
          <a:prstGeom prst="rect">
            <a:avLst/>
          </a:prstGeom>
        </p:spPr>
        <p:txBody>
          <a:bodyPr vert="horz" wrap="square" lIns="0" tIns="17145" rIns="0" bIns="0" rtlCol="0">
            <a:spAutoFit/>
          </a:bodyPr>
          <a:lstStyle/>
          <a:p>
            <a:pPr marL="12700">
              <a:lnSpc>
                <a:spcPct val="100000"/>
              </a:lnSpc>
              <a:spcBef>
                <a:spcPts val="135"/>
              </a:spcBef>
            </a:pPr>
            <a:r>
              <a:rPr sz="1800" b="0" spc="-60" dirty="0">
                <a:solidFill>
                  <a:schemeClr val="tx1"/>
                </a:solidFill>
                <a:latin typeface="Times New Roman" panose="02020603050405020304" pitchFamily="18" charset="0"/>
                <a:cs typeface="Times New Roman" panose="02020603050405020304" pitchFamily="18" charset="0"/>
              </a:rPr>
              <a:t>Pattern</a:t>
            </a:r>
            <a:r>
              <a:rPr sz="1800" b="0" dirty="0">
                <a:solidFill>
                  <a:schemeClr val="tx1"/>
                </a:solidFill>
                <a:latin typeface="Times New Roman" panose="02020603050405020304" pitchFamily="18" charset="0"/>
                <a:cs typeface="Times New Roman" panose="02020603050405020304" pitchFamily="18" charset="0"/>
              </a:rPr>
              <a:t> </a:t>
            </a:r>
            <a:r>
              <a:rPr sz="1800" b="0" spc="-50" dirty="0">
                <a:solidFill>
                  <a:schemeClr val="tx1"/>
                </a:solidFill>
                <a:latin typeface="Times New Roman" panose="02020603050405020304" pitchFamily="18" charset="0"/>
                <a:cs typeface="Times New Roman" panose="02020603050405020304" pitchFamily="18" charset="0"/>
              </a:rPr>
              <a:t>Recognition</a:t>
            </a:r>
            <a:r>
              <a:rPr sz="1800" spc="-50" dirty="0">
                <a:solidFill>
                  <a:schemeClr val="tx1"/>
                </a:solidFill>
                <a:latin typeface="Times New Roman" panose="02020603050405020304" pitchFamily="18" charset="0"/>
                <a:cs typeface="Times New Roman" panose="02020603050405020304" pitchFamily="18" charset="0"/>
              </a:rPr>
              <a:t>:</a:t>
            </a:r>
            <a:r>
              <a:rPr sz="1800" spc="5" dirty="0">
                <a:solidFill>
                  <a:schemeClr val="tx1"/>
                </a:solidFill>
                <a:latin typeface="Times New Roman" panose="02020603050405020304" pitchFamily="18" charset="0"/>
                <a:cs typeface="Times New Roman" panose="02020603050405020304" pitchFamily="18" charset="0"/>
              </a:rPr>
              <a:t> </a:t>
            </a:r>
            <a:r>
              <a:rPr sz="1800" spc="-45" dirty="0">
                <a:solidFill>
                  <a:schemeClr val="tx1"/>
                </a:solidFill>
                <a:latin typeface="Times New Roman" panose="02020603050405020304" pitchFamily="18" charset="0"/>
                <a:cs typeface="Times New Roman" panose="02020603050405020304" pitchFamily="18" charset="0"/>
              </a:rPr>
              <a:t>Identifying</a:t>
            </a:r>
            <a:r>
              <a:rPr sz="1800" spc="10" dirty="0">
                <a:solidFill>
                  <a:schemeClr val="tx1"/>
                </a:solidFill>
                <a:latin typeface="Times New Roman" panose="02020603050405020304" pitchFamily="18" charset="0"/>
                <a:cs typeface="Times New Roman" panose="02020603050405020304" pitchFamily="18" charset="0"/>
              </a:rPr>
              <a:t> </a:t>
            </a:r>
            <a:r>
              <a:rPr sz="1800" spc="-45" dirty="0">
                <a:solidFill>
                  <a:schemeClr val="tx1"/>
                </a:solidFill>
                <a:latin typeface="Times New Roman" panose="02020603050405020304" pitchFamily="18" charset="0"/>
                <a:cs typeface="Times New Roman" panose="02020603050405020304" pitchFamily="18" charset="0"/>
              </a:rPr>
              <a:t>similarities</a:t>
            </a:r>
            <a:r>
              <a:rPr sz="1800" spc="5" dirty="0">
                <a:solidFill>
                  <a:schemeClr val="tx1"/>
                </a:solidFill>
                <a:latin typeface="Times New Roman" panose="02020603050405020304" pitchFamily="18" charset="0"/>
                <a:cs typeface="Times New Roman" panose="02020603050405020304" pitchFamily="18" charset="0"/>
              </a:rPr>
              <a:t> </a:t>
            </a:r>
            <a:r>
              <a:rPr sz="1800" spc="-50" dirty="0">
                <a:solidFill>
                  <a:schemeClr val="tx1"/>
                </a:solidFill>
                <a:latin typeface="Times New Roman" panose="02020603050405020304" pitchFamily="18" charset="0"/>
                <a:cs typeface="Times New Roman" panose="02020603050405020304" pitchFamily="18" charset="0"/>
              </a:rPr>
              <a:t>with</a:t>
            </a:r>
            <a:r>
              <a:rPr sz="1800" spc="10" dirty="0">
                <a:solidFill>
                  <a:schemeClr val="tx1"/>
                </a:solidFill>
                <a:latin typeface="Times New Roman" panose="02020603050405020304" pitchFamily="18" charset="0"/>
                <a:cs typeface="Times New Roman" panose="02020603050405020304" pitchFamily="18" charset="0"/>
              </a:rPr>
              <a:t> </a:t>
            </a:r>
            <a:r>
              <a:rPr sz="1800" spc="-70" dirty="0">
                <a:solidFill>
                  <a:schemeClr val="tx1"/>
                </a:solidFill>
                <a:latin typeface="Times New Roman" panose="02020603050405020304" pitchFamily="18" charset="0"/>
                <a:cs typeface="Times New Roman" panose="02020603050405020304" pitchFamily="18" charset="0"/>
              </a:rPr>
              <a:t>known</a:t>
            </a:r>
            <a:r>
              <a:rPr sz="1800" spc="5" dirty="0">
                <a:solidFill>
                  <a:schemeClr val="tx1"/>
                </a:solidFill>
                <a:latin typeface="Times New Roman" panose="02020603050405020304" pitchFamily="18" charset="0"/>
                <a:cs typeface="Times New Roman" panose="02020603050405020304" pitchFamily="18" charset="0"/>
              </a:rPr>
              <a:t> </a:t>
            </a:r>
            <a:r>
              <a:rPr sz="1800" spc="-25" dirty="0">
                <a:solidFill>
                  <a:schemeClr val="tx1"/>
                </a:solidFill>
                <a:latin typeface="Times New Roman" panose="02020603050405020304" pitchFamily="18" charset="0"/>
                <a:cs typeface="Times New Roman" panose="02020603050405020304" pitchFamily="18" charset="0"/>
              </a:rPr>
              <a:t>solutions</a:t>
            </a:r>
            <a:endParaRPr sz="1800" dirty="0">
              <a:solidFill>
                <a:schemeClr val="tx1"/>
              </a:solidFill>
              <a:latin typeface="Times New Roman" panose="02020603050405020304" pitchFamily="18" charset="0"/>
              <a:cs typeface="Times New Roman" panose="02020603050405020304" pitchFamily="18" charset="0"/>
            </a:endParaRPr>
          </a:p>
        </p:txBody>
      </p:sp>
      <p:pic>
        <p:nvPicPr>
          <p:cNvPr id="10" name="object 10">
            <a:extLst>
              <a:ext uri="{FF2B5EF4-FFF2-40B4-BE49-F238E27FC236}">
                <a16:creationId xmlns="" xmlns:a16="http://schemas.microsoft.com/office/drawing/2014/main" id="{1AE70CB4-524B-A92F-2830-8393CA99ABF0}"/>
              </a:ext>
            </a:extLst>
          </p:cNvPr>
          <p:cNvPicPr/>
          <p:nvPr/>
        </p:nvPicPr>
        <p:blipFill>
          <a:blip r:embed="rId5" cstate="print"/>
          <a:stretch>
            <a:fillRect/>
          </a:stretch>
        </p:blipFill>
        <p:spPr>
          <a:xfrm>
            <a:off x="776287" y="3025151"/>
            <a:ext cx="104768" cy="152399"/>
          </a:xfrm>
          <a:prstGeom prst="rect">
            <a:avLst/>
          </a:prstGeom>
        </p:spPr>
      </p:pic>
      <p:sp>
        <p:nvSpPr>
          <p:cNvPr id="11" name="object 11">
            <a:extLst>
              <a:ext uri="{FF2B5EF4-FFF2-40B4-BE49-F238E27FC236}">
                <a16:creationId xmlns="" xmlns:a16="http://schemas.microsoft.com/office/drawing/2014/main" id="{EB45B868-0A02-F670-17D0-EF96FAE2BEBF}"/>
              </a:ext>
            </a:extLst>
          </p:cNvPr>
          <p:cNvSpPr txBox="1"/>
          <p:nvPr/>
        </p:nvSpPr>
        <p:spPr>
          <a:xfrm>
            <a:off x="1080415" y="2945215"/>
            <a:ext cx="5742663" cy="294311"/>
          </a:xfrm>
          <a:prstGeom prst="rect">
            <a:avLst/>
          </a:prstGeom>
        </p:spPr>
        <p:txBody>
          <a:bodyPr vert="horz" wrap="square" lIns="0" tIns="17145" rIns="0" bIns="0" rtlCol="0">
            <a:spAutoFit/>
          </a:bodyPr>
          <a:lstStyle/>
          <a:p>
            <a:pPr marL="12700">
              <a:lnSpc>
                <a:spcPct val="100000"/>
              </a:lnSpc>
              <a:spcBef>
                <a:spcPts val="135"/>
              </a:spcBef>
            </a:pPr>
            <a:r>
              <a:rPr sz="1800" b="0" spc="-65" dirty="0">
                <a:solidFill>
                  <a:schemeClr val="tx1"/>
                </a:solidFill>
                <a:latin typeface="Times New Roman" panose="02020603050405020304" pitchFamily="18" charset="0"/>
                <a:cs typeface="Times New Roman" panose="02020603050405020304" pitchFamily="18" charset="0"/>
              </a:rPr>
              <a:t>Creative</a:t>
            </a:r>
            <a:r>
              <a:rPr sz="1800" b="0" spc="-5" dirty="0">
                <a:solidFill>
                  <a:schemeClr val="tx1"/>
                </a:solidFill>
                <a:latin typeface="Times New Roman" panose="02020603050405020304" pitchFamily="18" charset="0"/>
                <a:cs typeface="Times New Roman" panose="02020603050405020304" pitchFamily="18" charset="0"/>
              </a:rPr>
              <a:t> </a:t>
            </a:r>
            <a:r>
              <a:rPr sz="1800" b="0" spc="-50" dirty="0">
                <a:solidFill>
                  <a:schemeClr val="tx1"/>
                </a:solidFill>
                <a:latin typeface="Times New Roman" panose="02020603050405020304" pitchFamily="18" charset="0"/>
                <a:cs typeface="Times New Roman" panose="02020603050405020304" pitchFamily="18" charset="0"/>
              </a:rPr>
              <a:t>Solutions</a:t>
            </a:r>
            <a:r>
              <a:rPr sz="1800" spc="-50" dirty="0">
                <a:solidFill>
                  <a:schemeClr val="tx1"/>
                </a:solidFill>
                <a:latin typeface="Times New Roman" panose="02020603050405020304" pitchFamily="18" charset="0"/>
                <a:cs typeface="Times New Roman" panose="02020603050405020304" pitchFamily="18" charset="0"/>
              </a:rPr>
              <a:t>:</a:t>
            </a:r>
            <a:r>
              <a:rPr sz="1800" spc="5"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Finding</a:t>
            </a:r>
            <a:r>
              <a:rPr sz="1800" spc="5"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novel</a:t>
            </a:r>
            <a:r>
              <a:rPr sz="1800" spc="5"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approaches</a:t>
            </a:r>
            <a:r>
              <a:rPr sz="1800" spc="5"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to</a:t>
            </a:r>
            <a:r>
              <a:rPr sz="1800" spc="5" dirty="0">
                <a:solidFill>
                  <a:schemeClr val="tx1"/>
                </a:solidFill>
                <a:latin typeface="Times New Roman" panose="02020603050405020304" pitchFamily="18" charset="0"/>
                <a:cs typeface="Times New Roman" panose="02020603050405020304" pitchFamily="18" charset="0"/>
              </a:rPr>
              <a:t> </a:t>
            </a:r>
            <a:r>
              <a:rPr sz="1800" spc="-50" dirty="0">
                <a:solidFill>
                  <a:schemeClr val="tx1"/>
                </a:solidFill>
                <a:latin typeface="Times New Roman" panose="02020603050405020304" pitchFamily="18" charset="0"/>
                <a:cs typeface="Times New Roman" panose="02020603050405020304" pitchFamily="18" charset="0"/>
              </a:rPr>
              <a:t>difficult</a:t>
            </a:r>
            <a:r>
              <a:rPr sz="1800" spc="5" dirty="0">
                <a:solidFill>
                  <a:schemeClr val="tx1"/>
                </a:solidFill>
                <a:latin typeface="Times New Roman" panose="02020603050405020304" pitchFamily="18" charset="0"/>
                <a:cs typeface="Times New Roman" panose="02020603050405020304" pitchFamily="18" charset="0"/>
              </a:rPr>
              <a:t> </a:t>
            </a:r>
            <a:r>
              <a:rPr sz="1800" spc="-30" dirty="0">
                <a:solidFill>
                  <a:schemeClr val="tx1"/>
                </a:solidFill>
                <a:latin typeface="Times New Roman" panose="02020603050405020304" pitchFamily="18" charset="0"/>
                <a:cs typeface="Times New Roman" panose="02020603050405020304" pitchFamily="18" charset="0"/>
              </a:rPr>
              <a:t>problems</a:t>
            </a:r>
            <a:endParaRPr sz="1800" dirty="0">
              <a:solidFill>
                <a:schemeClr val="tx1"/>
              </a:solidFill>
              <a:latin typeface="Times New Roman" panose="02020603050405020304" pitchFamily="18" charset="0"/>
              <a:cs typeface="Times New Roman" panose="02020603050405020304" pitchFamily="18" charset="0"/>
            </a:endParaRPr>
          </a:p>
        </p:txBody>
      </p:sp>
      <p:pic>
        <p:nvPicPr>
          <p:cNvPr id="12" name="object 12">
            <a:extLst>
              <a:ext uri="{FF2B5EF4-FFF2-40B4-BE49-F238E27FC236}">
                <a16:creationId xmlns="" xmlns:a16="http://schemas.microsoft.com/office/drawing/2014/main" id="{92288110-6755-6C8F-C6D0-DC233A5AB44B}"/>
              </a:ext>
            </a:extLst>
          </p:cNvPr>
          <p:cNvPicPr/>
          <p:nvPr/>
        </p:nvPicPr>
        <p:blipFill>
          <a:blip r:embed="rId6" cstate="print"/>
          <a:stretch>
            <a:fillRect/>
          </a:stretch>
        </p:blipFill>
        <p:spPr>
          <a:xfrm>
            <a:off x="742949" y="3314706"/>
            <a:ext cx="152399" cy="152399"/>
          </a:xfrm>
          <a:prstGeom prst="rect">
            <a:avLst/>
          </a:prstGeom>
        </p:spPr>
      </p:pic>
      <p:sp>
        <p:nvSpPr>
          <p:cNvPr id="13" name="object 13">
            <a:extLst>
              <a:ext uri="{FF2B5EF4-FFF2-40B4-BE49-F238E27FC236}">
                <a16:creationId xmlns="" xmlns:a16="http://schemas.microsoft.com/office/drawing/2014/main" id="{AC1630FA-ED58-C8B1-CB57-82398EDB5960}"/>
              </a:ext>
            </a:extLst>
          </p:cNvPr>
          <p:cNvSpPr txBox="1"/>
          <p:nvPr/>
        </p:nvSpPr>
        <p:spPr>
          <a:xfrm>
            <a:off x="1080415" y="3312623"/>
            <a:ext cx="5742663" cy="294311"/>
          </a:xfrm>
          <a:prstGeom prst="rect">
            <a:avLst/>
          </a:prstGeom>
        </p:spPr>
        <p:txBody>
          <a:bodyPr vert="horz" wrap="square" lIns="0" tIns="17145" rIns="0" bIns="0" rtlCol="0">
            <a:spAutoFit/>
          </a:bodyPr>
          <a:lstStyle/>
          <a:p>
            <a:pPr marL="12700">
              <a:lnSpc>
                <a:spcPct val="100000"/>
              </a:lnSpc>
              <a:spcBef>
                <a:spcPts val="135"/>
              </a:spcBef>
            </a:pPr>
            <a:r>
              <a:rPr sz="1800" b="0" spc="-65" dirty="0">
                <a:solidFill>
                  <a:schemeClr val="tx1"/>
                </a:solidFill>
                <a:latin typeface="Times New Roman" panose="02020603050405020304" pitchFamily="18" charset="0"/>
                <a:cs typeface="Times New Roman" panose="02020603050405020304" pitchFamily="18" charset="0"/>
              </a:rPr>
              <a:t>Debugging</a:t>
            </a:r>
            <a:r>
              <a:rPr sz="1800" b="0" spc="10" dirty="0">
                <a:solidFill>
                  <a:schemeClr val="tx1"/>
                </a:solidFill>
                <a:latin typeface="Times New Roman" panose="02020603050405020304" pitchFamily="18" charset="0"/>
                <a:cs typeface="Times New Roman" panose="02020603050405020304" pitchFamily="18" charset="0"/>
              </a:rPr>
              <a:t> </a:t>
            </a:r>
            <a:r>
              <a:rPr sz="1800" b="0" spc="-50" dirty="0">
                <a:solidFill>
                  <a:schemeClr val="tx1"/>
                </a:solidFill>
                <a:latin typeface="Times New Roman" panose="02020603050405020304" pitchFamily="18" charset="0"/>
                <a:cs typeface="Times New Roman" panose="02020603050405020304" pitchFamily="18" charset="0"/>
              </a:rPr>
              <a:t>Skills</a:t>
            </a:r>
            <a:r>
              <a:rPr sz="1800" spc="-50" dirty="0">
                <a:solidFill>
                  <a:schemeClr val="tx1"/>
                </a:solidFill>
                <a:latin typeface="Times New Roman" panose="02020603050405020304" pitchFamily="18" charset="0"/>
                <a:cs typeface="Times New Roman" panose="02020603050405020304" pitchFamily="18" charset="0"/>
              </a:rPr>
              <a:t>:</a:t>
            </a:r>
            <a:r>
              <a:rPr sz="1800" spc="15" dirty="0">
                <a:solidFill>
                  <a:schemeClr val="tx1"/>
                </a:solidFill>
                <a:latin typeface="Times New Roman" panose="02020603050405020304" pitchFamily="18" charset="0"/>
                <a:cs typeface="Times New Roman" panose="02020603050405020304" pitchFamily="18" charset="0"/>
              </a:rPr>
              <a:t> </a:t>
            </a:r>
            <a:r>
              <a:rPr sz="1800" spc="-45" dirty="0">
                <a:solidFill>
                  <a:schemeClr val="tx1"/>
                </a:solidFill>
                <a:latin typeface="Times New Roman" panose="02020603050405020304" pitchFamily="18" charset="0"/>
                <a:cs typeface="Times New Roman" panose="02020603050405020304" pitchFamily="18" charset="0"/>
              </a:rPr>
              <a:t>Identifying</a:t>
            </a:r>
            <a:r>
              <a:rPr sz="1800" spc="20" dirty="0">
                <a:solidFill>
                  <a:schemeClr val="tx1"/>
                </a:solidFill>
                <a:latin typeface="Times New Roman" panose="02020603050405020304" pitchFamily="18" charset="0"/>
                <a:cs typeface="Times New Roman" panose="02020603050405020304" pitchFamily="18" charset="0"/>
              </a:rPr>
              <a:t> </a:t>
            </a:r>
            <a:r>
              <a:rPr sz="1800" spc="-60" dirty="0">
                <a:solidFill>
                  <a:schemeClr val="tx1"/>
                </a:solidFill>
                <a:latin typeface="Times New Roman" panose="02020603050405020304" pitchFamily="18" charset="0"/>
                <a:cs typeface="Times New Roman" panose="02020603050405020304" pitchFamily="18" charset="0"/>
              </a:rPr>
              <a:t>and</a:t>
            </a:r>
            <a:r>
              <a:rPr sz="1800" spc="15"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fixing</a:t>
            </a:r>
            <a:r>
              <a:rPr sz="1800" spc="20" dirty="0">
                <a:solidFill>
                  <a:schemeClr val="tx1"/>
                </a:solidFill>
                <a:latin typeface="Times New Roman" panose="02020603050405020304" pitchFamily="18" charset="0"/>
                <a:cs typeface="Times New Roman" panose="02020603050405020304" pitchFamily="18" charset="0"/>
              </a:rPr>
              <a:t> </a:t>
            </a:r>
            <a:r>
              <a:rPr sz="1800" spc="-55" dirty="0">
                <a:solidFill>
                  <a:schemeClr val="tx1"/>
                </a:solidFill>
                <a:latin typeface="Times New Roman" panose="02020603050405020304" pitchFamily="18" charset="0"/>
                <a:cs typeface="Times New Roman" panose="02020603050405020304" pitchFamily="18" charset="0"/>
              </a:rPr>
              <a:t>errors</a:t>
            </a:r>
            <a:r>
              <a:rPr sz="1800" spc="15" dirty="0">
                <a:solidFill>
                  <a:schemeClr val="tx1"/>
                </a:solidFill>
                <a:latin typeface="Times New Roman" panose="02020603050405020304" pitchFamily="18" charset="0"/>
                <a:cs typeface="Times New Roman" panose="02020603050405020304" pitchFamily="18" charset="0"/>
              </a:rPr>
              <a:t> </a:t>
            </a:r>
            <a:r>
              <a:rPr sz="1800" spc="-45" dirty="0">
                <a:solidFill>
                  <a:schemeClr val="tx1"/>
                </a:solidFill>
                <a:latin typeface="Times New Roman" panose="02020603050405020304" pitchFamily="18" charset="0"/>
                <a:cs typeface="Times New Roman" panose="02020603050405020304" pitchFamily="18" charset="0"/>
              </a:rPr>
              <a:t>systematically</a:t>
            </a:r>
            <a:endParaRPr sz="1800" dirty="0">
              <a:solidFill>
                <a:schemeClr val="tx1"/>
              </a:solidFill>
              <a:latin typeface="Times New Roman" panose="02020603050405020304" pitchFamily="18" charset="0"/>
              <a:cs typeface="Times New Roman" panose="02020603050405020304" pitchFamily="18" charset="0"/>
            </a:endParaRPr>
          </a:p>
        </p:txBody>
      </p:sp>
      <p:sp>
        <p:nvSpPr>
          <p:cNvPr id="14" name="object 14">
            <a:extLst>
              <a:ext uri="{FF2B5EF4-FFF2-40B4-BE49-F238E27FC236}">
                <a16:creationId xmlns="" xmlns:a16="http://schemas.microsoft.com/office/drawing/2014/main" id="{8CBC94C1-2EC4-DA79-E773-6B05BEF5FAB4}"/>
              </a:ext>
            </a:extLst>
          </p:cNvPr>
          <p:cNvSpPr/>
          <p:nvPr/>
        </p:nvSpPr>
        <p:spPr>
          <a:xfrm>
            <a:off x="7010400" y="1485899"/>
            <a:ext cx="9525" cy="3543300"/>
          </a:xfrm>
          <a:custGeom>
            <a:avLst/>
            <a:gdLst/>
            <a:ahLst/>
            <a:cxnLst/>
            <a:rect l="l" t="t" r="r" b="b"/>
            <a:pathLst>
              <a:path w="9525" h="3543300">
                <a:moveTo>
                  <a:pt x="9524" y="3543299"/>
                </a:moveTo>
                <a:lnTo>
                  <a:pt x="0" y="3543299"/>
                </a:lnTo>
                <a:lnTo>
                  <a:pt x="0" y="0"/>
                </a:lnTo>
                <a:lnTo>
                  <a:pt x="9524" y="0"/>
                </a:lnTo>
                <a:lnTo>
                  <a:pt x="9524" y="3543299"/>
                </a:lnTo>
                <a:close/>
              </a:path>
            </a:pathLst>
          </a:custGeom>
          <a:solidFill>
            <a:srgbClr val="E4E7EB"/>
          </a:solidFill>
        </p:spPr>
        <p:txBody>
          <a:bodyPr wrap="square" lIns="0" tIns="0" rIns="0" bIns="0" rtlCol="0"/>
          <a:lstStyle/>
          <a:p>
            <a:endParaRPr sz="1600">
              <a:solidFill>
                <a:schemeClr val="tx1"/>
              </a:solidFill>
              <a:latin typeface="Times New Roman" panose="02020603050405020304" pitchFamily="18" charset="0"/>
              <a:cs typeface="Times New Roman" panose="02020603050405020304" pitchFamily="18" charset="0"/>
            </a:endParaRPr>
          </a:p>
        </p:txBody>
      </p:sp>
      <p:sp>
        <p:nvSpPr>
          <p:cNvPr id="15" name="object 15">
            <a:extLst>
              <a:ext uri="{FF2B5EF4-FFF2-40B4-BE49-F238E27FC236}">
                <a16:creationId xmlns="" xmlns:a16="http://schemas.microsoft.com/office/drawing/2014/main" id="{78079BA6-F4C3-D91E-1CDC-DFFA8910ED76}"/>
              </a:ext>
            </a:extLst>
          </p:cNvPr>
          <p:cNvSpPr/>
          <p:nvPr/>
        </p:nvSpPr>
        <p:spPr>
          <a:xfrm>
            <a:off x="7197729" y="3736653"/>
            <a:ext cx="4333875" cy="800100"/>
          </a:xfrm>
          <a:custGeom>
            <a:avLst/>
            <a:gdLst/>
            <a:ahLst/>
            <a:cxnLst/>
            <a:rect l="l" t="t" r="r" b="b"/>
            <a:pathLst>
              <a:path w="4333875" h="800100">
                <a:moveTo>
                  <a:pt x="4262678" y="800099"/>
                </a:moveTo>
                <a:lnTo>
                  <a:pt x="71196" y="800099"/>
                </a:lnTo>
                <a:lnTo>
                  <a:pt x="66241" y="799611"/>
                </a:lnTo>
                <a:lnTo>
                  <a:pt x="29705" y="784478"/>
                </a:lnTo>
                <a:lnTo>
                  <a:pt x="3885" y="748437"/>
                </a:lnTo>
                <a:lnTo>
                  <a:pt x="0" y="728903"/>
                </a:lnTo>
                <a:lnTo>
                  <a:pt x="0" y="723899"/>
                </a:lnTo>
                <a:lnTo>
                  <a:pt x="0" y="71196"/>
                </a:lnTo>
                <a:lnTo>
                  <a:pt x="15621" y="29705"/>
                </a:lnTo>
                <a:lnTo>
                  <a:pt x="51661" y="3885"/>
                </a:lnTo>
                <a:lnTo>
                  <a:pt x="71196" y="0"/>
                </a:lnTo>
                <a:lnTo>
                  <a:pt x="4262678" y="0"/>
                </a:lnTo>
                <a:lnTo>
                  <a:pt x="4304167" y="15621"/>
                </a:lnTo>
                <a:lnTo>
                  <a:pt x="4329987" y="51661"/>
                </a:lnTo>
                <a:lnTo>
                  <a:pt x="4333874" y="71196"/>
                </a:lnTo>
                <a:lnTo>
                  <a:pt x="4333874" y="728903"/>
                </a:lnTo>
                <a:lnTo>
                  <a:pt x="4318251" y="770394"/>
                </a:lnTo>
                <a:lnTo>
                  <a:pt x="4282212" y="796213"/>
                </a:lnTo>
                <a:lnTo>
                  <a:pt x="4267632" y="799611"/>
                </a:lnTo>
                <a:lnTo>
                  <a:pt x="4262678" y="800099"/>
                </a:lnTo>
                <a:close/>
              </a:path>
            </a:pathLst>
          </a:custGeom>
          <a:solidFill>
            <a:srgbClr val="EFF5FF"/>
          </a:solidFill>
        </p:spPr>
        <p:txBody>
          <a:bodyPr wrap="square" lIns="0" tIns="0" rIns="0" bIns="0" rtlCol="0"/>
          <a:lstStyle/>
          <a:p>
            <a:endParaRPr sz="1600">
              <a:solidFill>
                <a:schemeClr val="tx1"/>
              </a:solidFill>
              <a:latin typeface="Times New Roman" panose="02020603050405020304" pitchFamily="18" charset="0"/>
              <a:cs typeface="Times New Roman" panose="02020603050405020304" pitchFamily="18" charset="0"/>
            </a:endParaRPr>
          </a:p>
        </p:txBody>
      </p:sp>
      <p:sp>
        <p:nvSpPr>
          <p:cNvPr id="16" name="object 16">
            <a:extLst>
              <a:ext uri="{FF2B5EF4-FFF2-40B4-BE49-F238E27FC236}">
                <a16:creationId xmlns="" xmlns:a16="http://schemas.microsoft.com/office/drawing/2014/main" id="{F44019FD-D292-3901-3A06-6B60E2CE1D18}"/>
              </a:ext>
            </a:extLst>
          </p:cNvPr>
          <p:cNvSpPr txBox="1"/>
          <p:nvPr/>
        </p:nvSpPr>
        <p:spPr>
          <a:xfrm>
            <a:off x="7324724" y="1065326"/>
            <a:ext cx="2757261" cy="382156"/>
          </a:xfrm>
          <a:prstGeom prst="rect">
            <a:avLst/>
          </a:prstGeom>
        </p:spPr>
        <p:txBody>
          <a:bodyPr vert="horz" wrap="square" lIns="0" tIns="12700" rIns="0" bIns="0" rtlCol="0">
            <a:spAutoFit/>
          </a:bodyPr>
          <a:lstStyle/>
          <a:p>
            <a:pPr marL="12700">
              <a:lnSpc>
                <a:spcPct val="100000"/>
              </a:lnSpc>
              <a:spcBef>
                <a:spcPts val="100"/>
              </a:spcBef>
            </a:pPr>
            <a:r>
              <a:rPr sz="2400" b="0" spc="-140" dirty="0">
                <a:solidFill>
                  <a:schemeClr val="tx1"/>
                </a:solidFill>
                <a:latin typeface="Times New Roman" panose="02020603050405020304" pitchFamily="18" charset="0"/>
                <a:cs typeface="Times New Roman" panose="02020603050405020304" pitchFamily="18" charset="0"/>
              </a:rPr>
              <a:t>Why</a:t>
            </a:r>
            <a:r>
              <a:rPr sz="2400" b="0" spc="-50" dirty="0">
                <a:solidFill>
                  <a:schemeClr val="tx1"/>
                </a:solidFill>
                <a:latin typeface="Times New Roman" panose="02020603050405020304" pitchFamily="18" charset="0"/>
                <a:cs typeface="Times New Roman" panose="02020603050405020304" pitchFamily="18" charset="0"/>
              </a:rPr>
              <a:t> </a:t>
            </a:r>
            <a:r>
              <a:rPr sz="2400" b="0" spc="-65" dirty="0">
                <a:solidFill>
                  <a:schemeClr val="tx1"/>
                </a:solidFill>
                <a:latin typeface="Times New Roman" panose="02020603050405020304" pitchFamily="18" charset="0"/>
                <a:cs typeface="Times New Roman" panose="02020603050405020304" pitchFamily="18" charset="0"/>
              </a:rPr>
              <a:t>It</a:t>
            </a:r>
            <a:r>
              <a:rPr sz="2400" b="0" spc="-50" dirty="0">
                <a:solidFill>
                  <a:schemeClr val="tx1"/>
                </a:solidFill>
                <a:latin typeface="Times New Roman" panose="02020603050405020304" pitchFamily="18" charset="0"/>
                <a:cs typeface="Times New Roman" panose="02020603050405020304" pitchFamily="18" charset="0"/>
              </a:rPr>
              <a:t> </a:t>
            </a:r>
            <a:r>
              <a:rPr sz="2400" b="0" spc="-90" dirty="0">
                <a:solidFill>
                  <a:schemeClr val="tx1"/>
                </a:solidFill>
                <a:latin typeface="Times New Roman" panose="02020603050405020304" pitchFamily="18" charset="0"/>
                <a:cs typeface="Times New Roman" panose="02020603050405020304" pitchFamily="18" charset="0"/>
              </a:rPr>
              <a:t>Matters:</a:t>
            </a:r>
            <a:endParaRPr sz="2400" dirty="0">
              <a:solidFill>
                <a:schemeClr val="tx1"/>
              </a:solidFill>
              <a:latin typeface="Times New Roman" panose="02020603050405020304" pitchFamily="18" charset="0"/>
              <a:cs typeface="Times New Roman" panose="02020603050405020304" pitchFamily="18" charset="0"/>
            </a:endParaRPr>
          </a:p>
        </p:txBody>
      </p:sp>
      <p:pic>
        <p:nvPicPr>
          <p:cNvPr id="17" name="object 17">
            <a:extLst>
              <a:ext uri="{FF2B5EF4-FFF2-40B4-BE49-F238E27FC236}">
                <a16:creationId xmlns="" xmlns:a16="http://schemas.microsoft.com/office/drawing/2014/main" id="{C596D9A5-94A7-4850-AC04-0BC71B7DC89A}"/>
              </a:ext>
            </a:extLst>
          </p:cNvPr>
          <p:cNvPicPr/>
          <p:nvPr/>
        </p:nvPicPr>
        <p:blipFill>
          <a:blip r:embed="rId7" cstate="print"/>
          <a:stretch>
            <a:fillRect/>
          </a:stretch>
        </p:blipFill>
        <p:spPr>
          <a:xfrm>
            <a:off x="7197730" y="1640757"/>
            <a:ext cx="152399" cy="152399"/>
          </a:xfrm>
          <a:prstGeom prst="rect">
            <a:avLst/>
          </a:prstGeom>
        </p:spPr>
      </p:pic>
      <p:sp>
        <p:nvSpPr>
          <p:cNvPr id="18" name="object 18">
            <a:extLst>
              <a:ext uri="{FF2B5EF4-FFF2-40B4-BE49-F238E27FC236}">
                <a16:creationId xmlns="" xmlns:a16="http://schemas.microsoft.com/office/drawing/2014/main" id="{407124B4-FFC3-D340-9607-6880A510B7FA}"/>
              </a:ext>
            </a:extLst>
          </p:cNvPr>
          <p:cNvSpPr txBox="1"/>
          <p:nvPr/>
        </p:nvSpPr>
        <p:spPr>
          <a:xfrm>
            <a:off x="7453633" y="1559470"/>
            <a:ext cx="3877311" cy="507062"/>
          </a:xfrm>
          <a:prstGeom prst="rect">
            <a:avLst/>
          </a:prstGeom>
        </p:spPr>
        <p:txBody>
          <a:bodyPr vert="horz" wrap="square" lIns="0" tIns="11430" rIns="0" bIns="0" rtlCol="0">
            <a:spAutoFit/>
          </a:bodyPr>
          <a:lstStyle/>
          <a:p>
            <a:pPr marL="12700" marR="5080">
              <a:lnSpc>
                <a:spcPct val="115399"/>
              </a:lnSpc>
              <a:spcBef>
                <a:spcPts val="90"/>
              </a:spcBef>
            </a:pPr>
            <a:r>
              <a:rPr spc="-65" dirty="0">
                <a:solidFill>
                  <a:schemeClr val="tx1"/>
                </a:solidFill>
                <a:latin typeface="Times New Roman" panose="02020603050405020304" pitchFamily="18" charset="0"/>
                <a:cs typeface="Times New Roman" panose="02020603050405020304" pitchFamily="18" charset="0"/>
              </a:rPr>
              <a:t>Programming</a:t>
            </a:r>
            <a:r>
              <a:rPr spc="-10" dirty="0">
                <a:solidFill>
                  <a:schemeClr val="tx1"/>
                </a:solidFill>
                <a:latin typeface="Times New Roman" panose="02020603050405020304" pitchFamily="18" charset="0"/>
                <a:cs typeface="Times New Roman" panose="02020603050405020304" pitchFamily="18" charset="0"/>
              </a:rPr>
              <a:t> </a:t>
            </a:r>
            <a:r>
              <a:rPr spc="-30" dirty="0">
                <a:solidFill>
                  <a:schemeClr val="tx1"/>
                </a:solidFill>
                <a:latin typeface="Times New Roman" panose="02020603050405020304" pitchFamily="18" charset="0"/>
                <a:cs typeface="Times New Roman" panose="02020603050405020304" pitchFamily="18" charset="0"/>
              </a:rPr>
              <a:t>is</a:t>
            </a:r>
            <a:r>
              <a:rPr spc="-5" dirty="0">
                <a:solidFill>
                  <a:schemeClr val="tx1"/>
                </a:solidFill>
                <a:latin typeface="Times New Roman" panose="02020603050405020304" pitchFamily="18" charset="0"/>
                <a:cs typeface="Times New Roman" panose="02020603050405020304" pitchFamily="18" charset="0"/>
              </a:rPr>
              <a:t> </a:t>
            </a:r>
            <a:r>
              <a:rPr spc="-45" dirty="0">
                <a:solidFill>
                  <a:schemeClr val="tx1"/>
                </a:solidFill>
                <a:latin typeface="Times New Roman" panose="02020603050405020304" pitchFamily="18" charset="0"/>
                <a:cs typeface="Times New Roman" panose="02020603050405020304" pitchFamily="18" charset="0"/>
              </a:rPr>
              <a:t>essentially</a:t>
            </a:r>
            <a:r>
              <a:rPr spc="-5"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problem-</a:t>
            </a:r>
            <a:r>
              <a:rPr spc="-50" dirty="0">
                <a:solidFill>
                  <a:schemeClr val="tx1"/>
                </a:solidFill>
                <a:latin typeface="Times New Roman" panose="02020603050405020304" pitchFamily="18" charset="0"/>
                <a:cs typeface="Times New Roman" panose="02020603050405020304" pitchFamily="18" charset="0"/>
              </a:rPr>
              <a:t>solving</a:t>
            </a:r>
            <a:r>
              <a:rPr spc="-5" dirty="0">
                <a:solidFill>
                  <a:schemeClr val="tx1"/>
                </a:solidFill>
                <a:latin typeface="Times New Roman" panose="02020603050405020304" pitchFamily="18" charset="0"/>
                <a:cs typeface="Times New Roman" panose="02020603050405020304" pitchFamily="18" charset="0"/>
              </a:rPr>
              <a:t> </a:t>
            </a:r>
            <a:r>
              <a:rPr spc="-50" dirty="0">
                <a:solidFill>
                  <a:schemeClr val="tx1"/>
                </a:solidFill>
                <a:latin typeface="Times New Roman" panose="02020603050405020304" pitchFamily="18" charset="0"/>
                <a:cs typeface="Times New Roman" panose="02020603050405020304" pitchFamily="18" charset="0"/>
              </a:rPr>
              <a:t>with</a:t>
            </a:r>
            <a:r>
              <a:rPr spc="-5"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code</a:t>
            </a:r>
            <a:r>
              <a:rPr spc="-5" dirty="0">
                <a:solidFill>
                  <a:schemeClr val="tx1"/>
                </a:solidFill>
                <a:latin typeface="Times New Roman" panose="02020603050405020304" pitchFamily="18" charset="0"/>
                <a:cs typeface="Times New Roman" panose="02020603050405020304" pitchFamily="18" charset="0"/>
              </a:rPr>
              <a:t> </a:t>
            </a:r>
            <a:r>
              <a:rPr spc="-25" dirty="0">
                <a:solidFill>
                  <a:schemeClr val="tx1"/>
                </a:solidFill>
                <a:latin typeface="Times New Roman" panose="02020603050405020304" pitchFamily="18" charset="0"/>
                <a:cs typeface="Times New Roman" panose="02020603050405020304" pitchFamily="18" charset="0"/>
              </a:rPr>
              <a:t>as </a:t>
            </a:r>
            <a:r>
              <a:rPr spc="-45" dirty="0">
                <a:solidFill>
                  <a:schemeClr val="tx1"/>
                </a:solidFill>
                <a:latin typeface="Times New Roman" panose="02020603050405020304" pitchFamily="18" charset="0"/>
                <a:cs typeface="Times New Roman" panose="02020603050405020304" pitchFamily="18" charset="0"/>
              </a:rPr>
              <a:t>the</a:t>
            </a:r>
            <a:r>
              <a:rPr spc="-35" dirty="0">
                <a:solidFill>
                  <a:schemeClr val="tx1"/>
                </a:solidFill>
                <a:latin typeface="Times New Roman" panose="02020603050405020304" pitchFamily="18" charset="0"/>
                <a:cs typeface="Times New Roman" panose="02020603050405020304" pitchFamily="18" charset="0"/>
              </a:rPr>
              <a:t> </a:t>
            </a:r>
            <a:r>
              <a:rPr spc="-20" dirty="0">
                <a:solidFill>
                  <a:schemeClr val="tx1"/>
                </a:solidFill>
                <a:latin typeface="Times New Roman" panose="02020603050405020304" pitchFamily="18" charset="0"/>
                <a:cs typeface="Times New Roman" panose="02020603050405020304" pitchFamily="18" charset="0"/>
              </a:rPr>
              <a:t>tool</a:t>
            </a:r>
            <a:endParaRPr dirty="0">
              <a:solidFill>
                <a:schemeClr val="tx1"/>
              </a:solidFill>
              <a:latin typeface="Times New Roman" panose="02020603050405020304" pitchFamily="18" charset="0"/>
              <a:cs typeface="Times New Roman" panose="02020603050405020304" pitchFamily="18" charset="0"/>
            </a:endParaRPr>
          </a:p>
        </p:txBody>
      </p:sp>
      <p:pic>
        <p:nvPicPr>
          <p:cNvPr id="19" name="object 19">
            <a:extLst>
              <a:ext uri="{FF2B5EF4-FFF2-40B4-BE49-F238E27FC236}">
                <a16:creationId xmlns="" xmlns:a16="http://schemas.microsoft.com/office/drawing/2014/main" id="{2E589003-145F-786F-97C5-6D42B5D7A622}"/>
              </a:ext>
            </a:extLst>
          </p:cNvPr>
          <p:cNvPicPr/>
          <p:nvPr/>
        </p:nvPicPr>
        <p:blipFill>
          <a:blip r:embed="rId7" cstate="print"/>
          <a:stretch>
            <a:fillRect/>
          </a:stretch>
        </p:blipFill>
        <p:spPr>
          <a:xfrm>
            <a:off x="7248529" y="2127894"/>
            <a:ext cx="152399" cy="152399"/>
          </a:xfrm>
          <a:prstGeom prst="rect">
            <a:avLst/>
          </a:prstGeom>
        </p:spPr>
      </p:pic>
      <p:sp>
        <p:nvSpPr>
          <p:cNvPr id="20" name="object 20">
            <a:extLst>
              <a:ext uri="{FF2B5EF4-FFF2-40B4-BE49-F238E27FC236}">
                <a16:creationId xmlns="" xmlns:a16="http://schemas.microsoft.com/office/drawing/2014/main" id="{D7ED0017-DFDC-8A6A-FC55-1AB0EBCF8229}"/>
              </a:ext>
            </a:extLst>
          </p:cNvPr>
          <p:cNvSpPr txBox="1"/>
          <p:nvPr/>
        </p:nvSpPr>
        <p:spPr>
          <a:xfrm>
            <a:off x="7502529" y="2127889"/>
            <a:ext cx="3521711" cy="507062"/>
          </a:xfrm>
          <a:prstGeom prst="rect">
            <a:avLst/>
          </a:prstGeom>
        </p:spPr>
        <p:txBody>
          <a:bodyPr vert="horz" wrap="square" lIns="0" tIns="11430" rIns="0" bIns="0" rtlCol="0">
            <a:spAutoFit/>
          </a:bodyPr>
          <a:lstStyle/>
          <a:p>
            <a:pPr marL="12700" marR="5080">
              <a:lnSpc>
                <a:spcPct val="115399"/>
              </a:lnSpc>
              <a:spcBef>
                <a:spcPts val="90"/>
              </a:spcBef>
            </a:pPr>
            <a:r>
              <a:rPr spc="-65" dirty="0">
                <a:solidFill>
                  <a:schemeClr val="tx1"/>
                </a:solidFill>
                <a:latin typeface="Times New Roman" panose="02020603050405020304" pitchFamily="18" charset="0"/>
                <a:cs typeface="Times New Roman" panose="02020603050405020304" pitchFamily="18" charset="0"/>
              </a:rPr>
              <a:t>Technical</a:t>
            </a:r>
            <a:r>
              <a:rPr spc="10" dirty="0">
                <a:solidFill>
                  <a:schemeClr val="tx1"/>
                </a:solidFill>
                <a:latin typeface="Times New Roman" panose="02020603050405020304" pitchFamily="18" charset="0"/>
                <a:cs typeface="Times New Roman" panose="02020603050405020304" pitchFamily="18" charset="0"/>
              </a:rPr>
              <a:t> </a:t>
            </a:r>
            <a:r>
              <a:rPr spc="-40" dirty="0">
                <a:solidFill>
                  <a:schemeClr val="tx1"/>
                </a:solidFill>
                <a:latin typeface="Times New Roman" panose="02020603050405020304" pitchFamily="18" charset="0"/>
                <a:cs typeface="Times New Roman" panose="02020603050405020304" pitchFamily="18" charset="0"/>
              </a:rPr>
              <a:t>skills</a:t>
            </a:r>
            <a:r>
              <a:rPr spc="15"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evolve,</a:t>
            </a:r>
            <a:r>
              <a:rPr spc="15" dirty="0">
                <a:solidFill>
                  <a:schemeClr val="tx1"/>
                </a:solidFill>
                <a:latin typeface="Times New Roman" panose="02020603050405020304" pitchFamily="18" charset="0"/>
                <a:cs typeface="Times New Roman" panose="02020603050405020304" pitchFamily="18" charset="0"/>
              </a:rPr>
              <a:t> </a:t>
            </a:r>
            <a:r>
              <a:rPr spc="-45" dirty="0">
                <a:solidFill>
                  <a:schemeClr val="tx1"/>
                </a:solidFill>
                <a:latin typeface="Times New Roman" panose="02020603050405020304" pitchFamily="18" charset="0"/>
                <a:cs typeface="Times New Roman" panose="02020603050405020304" pitchFamily="18" charset="0"/>
              </a:rPr>
              <a:t>but</a:t>
            </a:r>
            <a:r>
              <a:rPr spc="15"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problem-</a:t>
            </a:r>
            <a:r>
              <a:rPr spc="-50" dirty="0">
                <a:solidFill>
                  <a:schemeClr val="tx1"/>
                </a:solidFill>
                <a:latin typeface="Times New Roman" panose="02020603050405020304" pitchFamily="18" charset="0"/>
                <a:cs typeface="Times New Roman" panose="02020603050405020304" pitchFamily="18" charset="0"/>
              </a:rPr>
              <a:t>solving</a:t>
            </a:r>
            <a:r>
              <a:rPr spc="15" dirty="0">
                <a:solidFill>
                  <a:schemeClr val="tx1"/>
                </a:solidFill>
                <a:latin typeface="Times New Roman" panose="02020603050405020304" pitchFamily="18" charset="0"/>
                <a:cs typeface="Times New Roman" panose="02020603050405020304" pitchFamily="18" charset="0"/>
              </a:rPr>
              <a:t> </a:t>
            </a:r>
            <a:r>
              <a:rPr spc="-35" dirty="0">
                <a:solidFill>
                  <a:schemeClr val="tx1"/>
                </a:solidFill>
                <a:latin typeface="Times New Roman" panose="02020603050405020304" pitchFamily="18" charset="0"/>
                <a:cs typeface="Times New Roman" panose="02020603050405020304" pitchFamily="18" charset="0"/>
              </a:rPr>
              <a:t>remains </a:t>
            </a:r>
            <a:r>
              <a:rPr spc="-10" dirty="0">
                <a:solidFill>
                  <a:schemeClr val="tx1"/>
                </a:solidFill>
                <a:latin typeface="Times New Roman" panose="02020603050405020304" pitchFamily="18" charset="0"/>
                <a:cs typeface="Times New Roman" panose="02020603050405020304" pitchFamily="18" charset="0"/>
              </a:rPr>
              <a:t>constant</a:t>
            </a:r>
            <a:endParaRPr dirty="0">
              <a:solidFill>
                <a:schemeClr val="tx1"/>
              </a:solidFill>
              <a:latin typeface="Times New Roman" panose="02020603050405020304" pitchFamily="18" charset="0"/>
              <a:cs typeface="Times New Roman" panose="02020603050405020304" pitchFamily="18" charset="0"/>
            </a:endParaRPr>
          </a:p>
        </p:txBody>
      </p:sp>
      <p:pic>
        <p:nvPicPr>
          <p:cNvPr id="21" name="object 21">
            <a:extLst>
              <a:ext uri="{FF2B5EF4-FFF2-40B4-BE49-F238E27FC236}">
                <a16:creationId xmlns="" xmlns:a16="http://schemas.microsoft.com/office/drawing/2014/main" id="{5E420137-C63D-9B50-2955-9B8970566002}"/>
              </a:ext>
            </a:extLst>
          </p:cNvPr>
          <p:cNvPicPr/>
          <p:nvPr/>
        </p:nvPicPr>
        <p:blipFill>
          <a:blip r:embed="rId7" cstate="print"/>
          <a:stretch>
            <a:fillRect/>
          </a:stretch>
        </p:blipFill>
        <p:spPr>
          <a:xfrm>
            <a:off x="7258053" y="2648465"/>
            <a:ext cx="152399" cy="152399"/>
          </a:xfrm>
          <a:prstGeom prst="rect">
            <a:avLst/>
          </a:prstGeom>
        </p:spPr>
      </p:pic>
      <p:sp>
        <p:nvSpPr>
          <p:cNvPr id="22" name="object 22">
            <a:extLst>
              <a:ext uri="{FF2B5EF4-FFF2-40B4-BE49-F238E27FC236}">
                <a16:creationId xmlns="" xmlns:a16="http://schemas.microsoft.com/office/drawing/2014/main" id="{E6B5198F-2941-E80B-B96A-83051A104F1C}"/>
              </a:ext>
            </a:extLst>
          </p:cNvPr>
          <p:cNvSpPr txBox="1"/>
          <p:nvPr/>
        </p:nvSpPr>
        <p:spPr>
          <a:xfrm>
            <a:off x="7502527" y="2615137"/>
            <a:ext cx="3837940" cy="232756"/>
          </a:xfrm>
          <a:prstGeom prst="rect">
            <a:avLst/>
          </a:prstGeom>
        </p:spPr>
        <p:txBody>
          <a:bodyPr vert="horz" wrap="square" lIns="0" tIns="17145" rIns="0" bIns="0" rtlCol="0">
            <a:spAutoFit/>
          </a:bodyPr>
          <a:lstStyle/>
          <a:p>
            <a:pPr marL="12700">
              <a:lnSpc>
                <a:spcPct val="100000"/>
              </a:lnSpc>
              <a:spcBef>
                <a:spcPts val="135"/>
              </a:spcBef>
            </a:pPr>
            <a:r>
              <a:rPr spc="-50" dirty="0">
                <a:solidFill>
                  <a:schemeClr val="tx1"/>
                </a:solidFill>
                <a:latin typeface="Times New Roman" panose="02020603050405020304" pitchFamily="18" charset="0"/>
                <a:cs typeface="Times New Roman" panose="02020603050405020304" pitchFamily="18" charset="0"/>
              </a:rPr>
              <a:t>Differentiates</a:t>
            </a:r>
            <a:r>
              <a:rPr spc="-10" dirty="0">
                <a:solidFill>
                  <a:schemeClr val="tx1"/>
                </a:solidFill>
                <a:latin typeface="Times New Roman" panose="02020603050405020304" pitchFamily="18" charset="0"/>
                <a:cs typeface="Times New Roman" panose="02020603050405020304" pitchFamily="18" charset="0"/>
              </a:rPr>
              <a:t> </a:t>
            </a:r>
            <a:r>
              <a:rPr spc="-50" dirty="0">
                <a:solidFill>
                  <a:schemeClr val="tx1"/>
                </a:solidFill>
                <a:latin typeface="Times New Roman" panose="02020603050405020304" pitchFamily="18" charset="0"/>
                <a:cs typeface="Times New Roman" panose="02020603050405020304" pitchFamily="18" charset="0"/>
              </a:rPr>
              <a:t>exceptional</a:t>
            </a:r>
            <a:r>
              <a:rPr spc="-5"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developers</a:t>
            </a:r>
            <a:r>
              <a:rPr spc="-10"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from</a:t>
            </a:r>
            <a:r>
              <a:rPr spc="-5"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average</a:t>
            </a:r>
            <a:r>
              <a:rPr spc="-10" dirty="0">
                <a:solidFill>
                  <a:schemeClr val="tx1"/>
                </a:solidFill>
                <a:latin typeface="Times New Roman" panose="02020603050405020304" pitchFamily="18" charset="0"/>
                <a:cs typeface="Times New Roman" panose="02020603050405020304" pitchFamily="18" charset="0"/>
              </a:rPr>
              <a:t> </a:t>
            </a:r>
            <a:r>
              <a:rPr spc="-20" dirty="0">
                <a:solidFill>
                  <a:schemeClr val="tx1"/>
                </a:solidFill>
                <a:latin typeface="Times New Roman" panose="02020603050405020304" pitchFamily="18" charset="0"/>
                <a:cs typeface="Times New Roman" panose="02020603050405020304" pitchFamily="18" charset="0"/>
              </a:rPr>
              <a:t>ones</a:t>
            </a:r>
            <a:endParaRPr dirty="0">
              <a:solidFill>
                <a:schemeClr val="tx1"/>
              </a:solidFill>
              <a:latin typeface="Times New Roman" panose="02020603050405020304" pitchFamily="18" charset="0"/>
              <a:cs typeface="Times New Roman" panose="02020603050405020304" pitchFamily="18" charset="0"/>
            </a:endParaRPr>
          </a:p>
        </p:txBody>
      </p:sp>
      <p:pic>
        <p:nvPicPr>
          <p:cNvPr id="23" name="object 23">
            <a:extLst>
              <a:ext uri="{FF2B5EF4-FFF2-40B4-BE49-F238E27FC236}">
                <a16:creationId xmlns="" xmlns:a16="http://schemas.microsoft.com/office/drawing/2014/main" id="{F2137B87-CF47-98CD-017A-B89A27BAD2C3}"/>
              </a:ext>
            </a:extLst>
          </p:cNvPr>
          <p:cNvPicPr/>
          <p:nvPr/>
        </p:nvPicPr>
        <p:blipFill>
          <a:blip r:embed="rId7" cstate="print"/>
          <a:stretch>
            <a:fillRect/>
          </a:stretch>
        </p:blipFill>
        <p:spPr>
          <a:xfrm>
            <a:off x="7248529" y="2985397"/>
            <a:ext cx="152399" cy="152399"/>
          </a:xfrm>
          <a:prstGeom prst="rect">
            <a:avLst/>
          </a:prstGeom>
        </p:spPr>
      </p:pic>
      <p:sp>
        <p:nvSpPr>
          <p:cNvPr id="24" name="object 24">
            <a:extLst>
              <a:ext uri="{FF2B5EF4-FFF2-40B4-BE49-F238E27FC236}">
                <a16:creationId xmlns="" xmlns:a16="http://schemas.microsoft.com/office/drawing/2014/main" id="{50A79674-DBD4-1D3E-059B-B6615443E138}"/>
              </a:ext>
            </a:extLst>
          </p:cNvPr>
          <p:cNvSpPr txBox="1"/>
          <p:nvPr/>
        </p:nvSpPr>
        <p:spPr>
          <a:xfrm>
            <a:off x="7537132" y="2985391"/>
            <a:ext cx="3606800" cy="232756"/>
          </a:xfrm>
          <a:prstGeom prst="rect">
            <a:avLst/>
          </a:prstGeom>
        </p:spPr>
        <p:txBody>
          <a:bodyPr vert="horz" wrap="square" lIns="0" tIns="17145" rIns="0" bIns="0" rtlCol="0">
            <a:spAutoFit/>
          </a:bodyPr>
          <a:lstStyle/>
          <a:p>
            <a:pPr marL="12700">
              <a:lnSpc>
                <a:spcPct val="100000"/>
              </a:lnSpc>
              <a:spcBef>
                <a:spcPts val="135"/>
              </a:spcBef>
            </a:pPr>
            <a:r>
              <a:rPr spc="-55" dirty="0">
                <a:solidFill>
                  <a:schemeClr val="tx1"/>
                </a:solidFill>
                <a:latin typeface="Times New Roman" panose="02020603050405020304" pitchFamily="18" charset="0"/>
                <a:cs typeface="Times New Roman" panose="02020603050405020304" pitchFamily="18" charset="0"/>
              </a:rPr>
              <a:t>Enables</a:t>
            </a:r>
            <a:r>
              <a:rPr spc="-20" dirty="0">
                <a:solidFill>
                  <a:schemeClr val="tx1"/>
                </a:solidFill>
                <a:latin typeface="Times New Roman" panose="02020603050405020304" pitchFamily="18" charset="0"/>
                <a:cs typeface="Times New Roman" panose="02020603050405020304" pitchFamily="18" charset="0"/>
              </a:rPr>
              <a:t> </a:t>
            </a:r>
            <a:r>
              <a:rPr spc="-50" dirty="0">
                <a:solidFill>
                  <a:schemeClr val="tx1"/>
                </a:solidFill>
                <a:latin typeface="Times New Roman" panose="02020603050405020304" pitchFamily="18" charset="0"/>
                <a:cs typeface="Times New Roman" panose="02020603050405020304" pitchFamily="18" charset="0"/>
              </a:rPr>
              <a:t>adaptation</a:t>
            </a:r>
            <a:r>
              <a:rPr spc="-20"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to</a:t>
            </a:r>
            <a:r>
              <a:rPr spc="-15" dirty="0">
                <a:solidFill>
                  <a:schemeClr val="tx1"/>
                </a:solidFill>
                <a:latin typeface="Times New Roman" panose="02020603050405020304" pitchFamily="18" charset="0"/>
                <a:cs typeface="Times New Roman" panose="02020603050405020304" pitchFamily="18" charset="0"/>
              </a:rPr>
              <a:t> </a:t>
            </a:r>
            <a:r>
              <a:rPr spc="-65" dirty="0">
                <a:solidFill>
                  <a:schemeClr val="tx1"/>
                </a:solidFill>
                <a:latin typeface="Times New Roman" panose="02020603050405020304" pitchFamily="18" charset="0"/>
                <a:cs typeface="Times New Roman" panose="02020603050405020304" pitchFamily="18" charset="0"/>
              </a:rPr>
              <a:t>new</a:t>
            </a:r>
            <a:r>
              <a:rPr spc="-20"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languages</a:t>
            </a:r>
            <a:r>
              <a:rPr spc="-20"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and</a:t>
            </a:r>
            <a:r>
              <a:rPr spc="-15" dirty="0">
                <a:solidFill>
                  <a:schemeClr val="tx1"/>
                </a:solidFill>
                <a:latin typeface="Times New Roman" panose="02020603050405020304" pitchFamily="18" charset="0"/>
                <a:cs typeface="Times New Roman" panose="02020603050405020304" pitchFamily="18" charset="0"/>
              </a:rPr>
              <a:t> </a:t>
            </a:r>
            <a:r>
              <a:rPr spc="-45" dirty="0">
                <a:solidFill>
                  <a:schemeClr val="tx1"/>
                </a:solidFill>
                <a:latin typeface="Times New Roman" panose="02020603050405020304" pitchFamily="18" charset="0"/>
                <a:cs typeface="Times New Roman" panose="02020603050405020304" pitchFamily="18" charset="0"/>
              </a:rPr>
              <a:t>paradigms</a:t>
            </a:r>
            <a:endParaRPr dirty="0">
              <a:solidFill>
                <a:schemeClr val="tx1"/>
              </a:solidFill>
              <a:latin typeface="Times New Roman" panose="02020603050405020304" pitchFamily="18" charset="0"/>
              <a:cs typeface="Times New Roman" panose="02020603050405020304" pitchFamily="18" charset="0"/>
            </a:endParaRPr>
          </a:p>
        </p:txBody>
      </p:sp>
      <p:pic>
        <p:nvPicPr>
          <p:cNvPr id="25" name="object 25">
            <a:extLst>
              <a:ext uri="{FF2B5EF4-FFF2-40B4-BE49-F238E27FC236}">
                <a16:creationId xmlns="" xmlns:a16="http://schemas.microsoft.com/office/drawing/2014/main" id="{9DC67176-0561-E5AD-9AF4-8097B1047FE2}"/>
              </a:ext>
            </a:extLst>
          </p:cNvPr>
          <p:cNvPicPr/>
          <p:nvPr/>
        </p:nvPicPr>
        <p:blipFill>
          <a:blip r:embed="rId7" cstate="print"/>
          <a:stretch>
            <a:fillRect/>
          </a:stretch>
        </p:blipFill>
        <p:spPr>
          <a:xfrm>
            <a:off x="7247010" y="3334531"/>
            <a:ext cx="152399" cy="152399"/>
          </a:xfrm>
          <a:prstGeom prst="rect">
            <a:avLst/>
          </a:prstGeom>
        </p:spPr>
      </p:pic>
      <p:sp>
        <p:nvSpPr>
          <p:cNvPr id="26" name="object 26">
            <a:extLst>
              <a:ext uri="{FF2B5EF4-FFF2-40B4-BE49-F238E27FC236}">
                <a16:creationId xmlns="" xmlns:a16="http://schemas.microsoft.com/office/drawing/2014/main" id="{0EE6AEA7-87A0-EBD7-67E1-208F5E174BEF}"/>
              </a:ext>
            </a:extLst>
          </p:cNvPr>
          <p:cNvSpPr txBox="1"/>
          <p:nvPr/>
        </p:nvSpPr>
        <p:spPr>
          <a:xfrm>
            <a:off x="7537133" y="3350721"/>
            <a:ext cx="3346451" cy="232756"/>
          </a:xfrm>
          <a:prstGeom prst="rect">
            <a:avLst/>
          </a:prstGeom>
        </p:spPr>
        <p:txBody>
          <a:bodyPr vert="horz" wrap="square" lIns="0" tIns="17145" rIns="0" bIns="0" rtlCol="0">
            <a:spAutoFit/>
          </a:bodyPr>
          <a:lstStyle/>
          <a:p>
            <a:pPr marL="12700">
              <a:lnSpc>
                <a:spcPct val="100000"/>
              </a:lnSpc>
              <a:spcBef>
                <a:spcPts val="135"/>
              </a:spcBef>
            </a:pPr>
            <a:r>
              <a:rPr spc="-45" dirty="0">
                <a:solidFill>
                  <a:schemeClr val="tx1"/>
                </a:solidFill>
                <a:latin typeface="Times New Roman" panose="02020603050405020304" pitchFamily="18" charset="0"/>
                <a:cs typeface="Times New Roman" panose="02020603050405020304" pitchFamily="18" charset="0"/>
              </a:rPr>
              <a:t>Directly</a:t>
            </a:r>
            <a:r>
              <a:rPr spc="-15"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impacts</a:t>
            </a:r>
            <a:r>
              <a:rPr spc="-10"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code</a:t>
            </a:r>
            <a:r>
              <a:rPr spc="-15"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efficiency</a:t>
            </a:r>
            <a:r>
              <a:rPr spc="-10" dirty="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and</a:t>
            </a:r>
            <a:r>
              <a:rPr spc="-15" dirty="0">
                <a:solidFill>
                  <a:schemeClr val="tx1"/>
                </a:solidFill>
                <a:latin typeface="Times New Roman" panose="02020603050405020304" pitchFamily="18" charset="0"/>
                <a:cs typeface="Times New Roman" panose="02020603050405020304" pitchFamily="18" charset="0"/>
              </a:rPr>
              <a:t> </a:t>
            </a:r>
            <a:r>
              <a:rPr spc="-40" dirty="0">
                <a:solidFill>
                  <a:schemeClr val="tx1"/>
                </a:solidFill>
                <a:latin typeface="Times New Roman" panose="02020603050405020304" pitchFamily="18" charset="0"/>
                <a:cs typeface="Times New Roman" panose="02020603050405020304" pitchFamily="18" charset="0"/>
              </a:rPr>
              <a:t>optimization</a:t>
            </a:r>
            <a:endParaRPr dirty="0">
              <a:solidFill>
                <a:schemeClr val="tx1"/>
              </a:solidFill>
              <a:latin typeface="Times New Roman" panose="02020603050405020304" pitchFamily="18" charset="0"/>
              <a:cs typeface="Times New Roman" panose="02020603050405020304" pitchFamily="18" charset="0"/>
            </a:endParaRPr>
          </a:p>
        </p:txBody>
      </p:sp>
      <p:sp>
        <p:nvSpPr>
          <p:cNvPr id="27" name="object 27">
            <a:extLst>
              <a:ext uri="{FF2B5EF4-FFF2-40B4-BE49-F238E27FC236}">
                <a16:creationId xmlns="" xmlns:a16="http://schemas.microsoft.com/office/drawing/2014/main" id="{BC69C056-6F6A-E662-4A27-93D4FC328CA1}"/>
              </a:ext>
            </a:extLst>
          </p:cNvPr>
          <p:cNvSpPr txBox="1"/>
          <p:nvPr/>
        </p:nvSpPr>
        <p:spPr>
          <a:xfrm>
            <a:off x="7323209" y="3836044"/>
            <a:ext cx="3980815" cy="677237"/>
          </a:xfrm>
          <a:prstGeom prst="rect">
            <a:avLst/>
          </a:prstGeom>
        </p:spPr>
        <p:txBody>
          <a:bodyPr vert="horz" wrap="square" lIns="0" tIns="5080" rIns="0" bIns="0" rtlCol="0">
            <a:spAutoFit/>
          </a:bodyPr>
          <a:lstStyle/>
          <a:p>
            <a:pPr marL="12700" marR="5080">
              <a:lnSpc>
                <a:spcPct val="104200"/>
              </a:lnSpc>
              <a:spcBef>
                <a:spcPts val="40"/>
              </a:spcBef>
            </a:pPr>
            <a:r>
              <a:rPr i="1" spc="-90" dirty="0">
                <a:solidFill>
                  <a:schemeClr val="tx1"/>
                </a:solidFill>
                <a:latin typeface="Times New Roman" panose="02020603050405020304" pitchFamily="18" charset="0"/>
                <a:cs typeface="Times New Roman" panose="02020603050405020304" pitchFamily="18" charset="0"/>
              </a:rPr>
              <a:t>"Problem</a:t>
            </a:r>
            <a:r>
              <a:rPr i="1" spc="-45" dirty="0">
                <a:solidFill>
                  <a:schemeClr val="tx1"/>
                </a:solidFill>
                <a:latin typeface="Times New Roman" panose="02020603050405020304" pitchFamily="18" charset="0"/>
                <a:cs typeface="Times New Roman" panose="02020603050405020304" pitchFamily="18" charset="0"/>
              </a:rPr>
              <a:t> </a:t>
            </a:r>
            <a:r>
              <a:rPr i="1" spc="-70" dirty="0">
                <a:solidFill>
                  <a:schemeClr val="tx1"/>
                </a:solidFill>
                <a:latin typeface="Times New Roman" panose="02020603050405020304" pitchFamily="18" charset="0"/>
                <a:cs typeface="Times New Roman" panose="02020603050405020304" pitchFamily="18" charset="0"/>
              </a:rPr>
              <a:t>solving</a:t>
            </a:r>
            <a:r>
              <a:rPr i="1" spc="-40" dirty="0">
                <a:solidFill>
                  <a:schemeClr val="tx1"/>
                </a:solidFill>
                <a:latin typeface="Times New Roman" panose="02020603050405020304" pitchFamily="18" charset="0"/>
                <a:cs typeface="Times New Roman" panose="02020603050405020304" pitchFamily="18" charset="0"/>
              </a:rPr>
              <a:t> is</a:t>
            </a:r>
            <a:r>
              <a:rPr i="1" spc="-45" dirty="0">
                <a:solidFill>
                  <a:schemeClr val="tx1"/>
                </a:solidFill>
                <a:latin typeface="Times New Roman" panose="02020603050405020304" pitchFamily="18" charset="0"/>
                <a:cs typeface="Times New Roman" panose="02020603050405020304" pitchFamily="18" charset="0"/>
              </a:rPr>
              <a:t> </a:t>
            </a:r>
            <a:r>
              <a:rPr i="1" spc="-55" dirty="0">
                <a:solidFill>
                  <a:schemeClr val="tx1"/>
                </a:solidFill>
                <a:latin typeface="Times New Roman" panose="02020603050405020304" pitchFamily="18" charset="0"/>
                <a:cs typeface="Times New Roman" panose="02020603050405020304" pitchFamily="18" charset="0"/>
              </a:rPr>
              <a:t>writing</a:t>
            </a:r>
            <a:r>
              <a:rPr i="1" spc="-40" dirty="0">
                <a:solidFill>
                  <a:schemeClr val="tx1"/>
                </a:solidFill>
                <a:latin typeface="Times New Roman" panose="02020603050405020304" pitchFamily="18" charset="0"/>
                <a:cs typeface="Times New Roman" panose="02020603050405020304" pitchFamily="18" charset="0"/>
              </a:rPr>
              <a:t> </a:t>
            </a:r>
            <a:r>
              <a:rPr i="1" spc="-100" dirty="0">
                <a:solidFill>
                  <a:schemeClr val="tx1"/>
                </a:solidFill>
                <a:latin typeface="Times New Roman" panose="02020603050405020304" pitchFamily="18" charset="0"/>
                <a:cs typeface="Times New Roman" panose="02020603050405020304" pitchFamily="18" charset="0"/>
              </a:rPr>
              <a:t>an</a:t>
            </a:r>
            <a:r>
              <a:rPr i="1" spc="-45" dirty="0">
                <a:solidFill>
                  <a:schemeClr val="tx1"/>
                </a:solidFill>
                <a:latin typeface="Times New Roman" panose="02020603050405020304" pitchFamily="18" charset="0"/>
                <a:cs typeface="Times New Roman" panose="02020603050405020304" pitchFamily="18" charset="0"/>
              </a:rPr>
              <a:t> </a:t>
            </a:r>
            <a:r>
              <a:rPr i="1" spc="-60" dirty="0">
                <a:solidFill>
                  <a:schemeClr val="tx1"/>
                </a:solidFill>
                <a:latin typeface="Times New Roman" panose="02020603050405020304" pitchFamily="18" charset="0"/>
                <a:cs typeface="Times New Roman" panose="02020603050405020304" pitchFamily="18" charset="0"/>
              </a:rPr>
              <a:t>original</a:t>
            </a:r>
            <a:r>
              <a:rPr i="1" spc="-40" dirty="0">
                <a:solidFill>
                  <a:schemeClr val="tx1"/>
                </a:solidFill>
                <a:latin typeface="Times New Roman" panose="02020603050405020304" pitchFamily="18" charset="0"/>
                <a:cs typeface="Times New Roman" panose="02020603050405020304" pitchFamily="18" charset="0"/>
              </a:rPr>
              <a:t> </a:t>
            </a:r>
            <a:r>
              <a:rPr i="1" spc="-85" dirty="0">
                <a:solidFill>
                  <a:schemeClr val="tx1"/>
                </a:solidFill>
                <a:latin typeface="Times New Roman" panose="02020603050405020304" pitchFamily="18" charset="0"/>
                <a:cs typeface="Times New Roman" panose="02020603050405020304" pitchFamily="18" charset="0"/>
              </a:rPr>
              <a:t>program</a:t>
            </a:r>
            <a:r>
              <a:rPr i="1" spc="-45" dirty="0">
                <a:solidFill>
                  <a:schemeClr val="tx1"/>
                </a:solidFill>
                <a:latin typeface="Times New Roman" panose="02020603050405020304" pitchFamily="18" charset="0"/>
                <a:cs typeface="Times New Roman" panose="02020603050405020304" pitchFamily="18" charset="0"/>
              </a:rPr>
              <a:t> that</a:t>
            </a:r>
            <a:r>
              <a:rPr i="1" spc="-40" dirty="0">
                <a:solidFill>
                  <a:schemeClr val="tx1"/>
                </a:solidFill>
                <a:latin typeface="Times New Roman" panose="02020603050405020304" pitchFamily="18" charset="0"/>
                <a:cs typeface="Times New Roman" panose="02020603050405020304" pitchFamily="18" charset="0"/>
              </a:rPr>
              <a:t> </a:t>
            </a:r>
            <a:r>
              <a:rPr i="1" spc="-65" dirty="0">
                <a:solidFill>
                  <a:schemeClr val="tx1"/>
                </a:solidFill>
                <a:latin typeface="Times New Roman" panose="02020603050405020304" pitchFamily="18" charset="0"/>
                <a:cs typeface="Times New Roman" panose="02020603050405020304" pitchFamily="18" charset="0"/>
              </a:rPr>
              <a:t>performs</a:t>
            </a:r>
            <a:r>
              <a:rPr i="1" spc="-45" dirty="0">
                <a:solidFill>
                  <a:schemeClr val="tx1"/>
                </a:solidFill>
                <a:latin typeface="Times New Roman" panose="02020603050405020304" pitchFamily="18" charset="0"/>
                <a:cs typeface="Times New Roman" panose="02020603050405020304" pitchFamily="18" charset="0"/>
              </a:rPr>
              <a:t> </a:t>
            </a:r>
            <a:r>
              <a:rPr i="1" spc="-50" dirty="0">
                <a:solidFill>
                  <a:schemeClr val="tx1"/>
                </a:solidFill>
                <a:latin typeface="Times New Roman" panose="02020603050405020304" pitchFamily="18" charset="0"/>
                <a:cs typeface="Times New Roman" panose="02020603050405020304" pitchFamily="18" charset="0"/>
              </a:rPr>
              <a:t>a </a:t>
            </a:r>
            <a:r>
              <a:rPr i="1" spc="-60" dirty="0">
                <a:solidFill>
                  <a:schemeClr val="tx1"/>
                </a:solidFill>
                <a:latin typeface="Times New Roman" panose="02020603050405020304" pitchFamily="18" charset="0"/>
                <a:cs typeface="Times New Roman" panose="02020603050405020304" pitchFamily="18" charset="0"/>
              </a:rPr>
              <a:t>particular</a:t>
            </a:r>
            <a:r>
              <a:rPr i="1" spc="-50" dirty="0">
                <a:solidFill>
                  <a:schemeClr val="tx1"/>
                </a:solidFill>
                <a:latin typeface="Times New Roman" panose="02020603050405020304" pitchFamily="18" charset="0"/>
                <a:cs typeface="Times New Roman" panose="02020603050405020304" pitchFamily="18" charset="0"/>
              </a:rPr>
              <a:t> </a:t>
            </a:r>
            <a:r>
              <a:rPr i="1" spc="-60" dirty="0">
                <a:solidFill>
                  <a:schemeClr val="tx1"/>
                </a:solidFill>
                <a:latin typeface="Times New Roman" panose="02020603050405020304" pitchFamily="18" charset="0"/>
                <a:cs typeface="Times New Roman" panose="02020603050405020304" pitchFamily="18" charset="0"/>
              </a:rPr>
              <a:t>set</a:t>
            </a:r>
            <a:r>
              <a:rPr i="1" spc="-45" dirty="0">
                <a:solidFill>
                  <a:schemeClr val="tx1"/>
                </a:solidFill>
                <a:latin typeface="Times New Roman" panose="02020603050405020304" pitchFamily="18" charset="0"/>
                <a:cs typeface="Times New Roman" panose="02020603050405020304" pitchFamily="18" charset="0"/>
              </a:rPr>
              <a:t> </a:t>
            </a:r>
            <a:r>
              <a:rPr i="1" spc="-20" dirty="0">
                <a:solidFill>
                  <a:schemeClr val="tx1"/>
                </a:solidFill>
                <a:latin typeface="Times New Roman" panose="02020603050405020304" pitchFamily="18" charset="0"/>
                <a:cs typeface="Times New Roman" panose="02020603050405020304" pitchFamily="18" charset="0"/>
              </a:rPr>
              <a:t>of</a:t>
            </a:r>
            <a:r>
              <a:rPr i="1" spc="-50" dirty="0">
                <a:solidFill>
                  <a:schemeClr val="tx1"/>
                </a:solidFill>
                <a:latin typeface="Times New Roman" panose="02020603050405020304" pitchFamily="18" charset="0"/>
                <a:cs typeface="Times New Roman" panose="02020603050405020304" pitchFamily="18" charset="0"/>
              </a:rPr>
              <a:t> </a:t>
            </a:r>
            <a:r>
              <a:rPr i="1" spc="-60" dirty="0">
                <a:solidFill>
                  <a:schemeClr val="tx1"/>
                </a:solidFill>
                <a:latin typeface="Times New Roman" panose="02020603050405020304" pitchFamily="18" charset="0"/>
                <a:cs typeface="Times New Roman" panose="02020603050405020304" pitchFamily="18" charset="0"/>
              </a:rPr>
              <a:t>tasks</a:t>
            </a:r>
            <a:r>
              <a:rPr i="1" spc="-45" dirty="0">
                <a:solidFill>
                  <a:schemeClr val="tx1"/>
                </a:solidFill>
                <a:latin typeface="Times New Roman" panose="02020603050405020304" pitchFamily="18" charset="0"/>
                <a:cs typeface="Times New Roman" panose="02020603050405020304" pitchFamily="18" charset="0"/>
              </a:rPr>
              <a:t> </a:t>
            </a:r>
            <a:r>
              <a:rPr i="1" spc="-95" dirty="0">
                <a:solidFill>
                  <a:schemeClr val="tx1"/>
                </a:solidFill>
                <a:latin typeface="Times New Roman" panose="02020603050405020304" pitchFamily="18" charset="0"/>
                <a:cs typeface="Times New Roman" panose="02020603050405020304" pitchFamily="18" charset="0"/>
              </a:rPr>
              <a:t>and</a:t>
            </a:r>
            <a:r>
              <a:rPr i="1" spc="-50" dirty="0">
                <a:solidFill>
                  <a:schemeClr val="tx1"/>
                </a:solidFill>
                <a:latin typeface="Times New Roman" panose="02020603050405020304" pitchFamily="18" charset="0"/>
                <a:cs typeface="Times New Roman" panose="02020603050405020304" pitchFamily="18" charset="0"/>
              </a:rPr>
              <a:t> </a:t>
            </a:r>
            <a:r>
              <a:rPr i="1" spc="-80" dirty="0">
                <a:solidFill>
                  <a:schemeClr val="tx1"/>
                </a:solidFill>
                <a:latin typeface="Times New Roman" panose="02020603050405020304" pitchFamily="18" charset="0"/>
                <a:cs typeface="Times New Roman" panose="02020603050405020304" pitchFamily="18" charset="0"/>
              </a:rPr>
              <a:t>meets</a:t>
            </a:r>
            <a:r>
              <a:rPr i="1" spc="-45" dirty="0">
                <a:solidFill>
                  <a:schemeClr val="tx1"/>
                </a:solidFill>
                <a:latin typeface="Times New Roman" panose="02020603050405020304" pitchFamily="18" charset="0"/>
                <a:cs typeface="Times New Roman" panose="02020603050405020304" pitchFamily="18" charset="0"/>
              </a:rPr>
              <a:t> </a:t>
            </a:r>
            <a:r>
              <a:rPr i="1" spc="-50" dirty="0">
                <a:solidFill>
                  <a:schemeClr val="tx1"/>
                </a:solidFill>
                <a:latin typeface="Times New Roman" panose="02020603050405020304" pitchFamily="18" charset="0"/>
                <a:cs typeface="Times New Roman" panose="02020603050405020304" pitchFamily="18" charset="0"/>
              </a:rPr>
              <a:t>all</a:t>
            </a:r>
            <a:r>
              <a:rPr i="1" spc="-45" dirty="0">
                <a:solidFill>
                  <a:schemeClr val="tx1"/>
                </a:solidFill>
                <a:latin typeface="Times New Roman" panose="02020603050405020304" pitchFamily="18" charset="0"/>
                <a:cs typeface="Times New Roman" panose="02020603050405020304" pitchFamily="18" charset="0"/>
              </a:rPr>
              <a:t> </a:t>
            </a:r>
            <a:r>
              <a:rPr i="1" spc="-60" dirty="0">
                <a:solidFill>
                  <a:schemeClr val="tx1"/>
                </a:solidFill>
                <a:latin typeface="Times New Roman" panose="02020603050405020304" pitchFamily="18" charset="0"/>
                <a:cs typeface="Times New Roman" panose="02020603050405020304" pitchFamily="18" charset="0"/>
              </a:rPr>
              <a:t>stated</a:t>
            </a:r>
            <a:r>
              <a:rPr i="1" spc="-50" dirty="0">
                <a:solidFill>
                  <a:schemeClr val="tx1"/>
                </a:solidFill>
                <a:latin typeface="Times New Roman" panose="02020603050405020304" pitchFamily="18" charset="0"/>
                <a:cs typeface="Times New Roman" panose="02020603050405020304" pitchFamily="18" charset="0"/>
              </a:rPr>
              <a:t> </a:t>
            </a:r>
            <a:r>
              <a:rPr i="1" spc="-70" dirty="0">
                <a:solidFill>
                  <a:schemeClr val="tx1"/>
                </a:solidFill>
                <a:latin typeface="Times New Roman" panose="02020603050405020304" pitchFamily="18" charset="0"/>
                <a:cs typeface="Times New Roman" panose="02020603050405020304" pitchFamily="18" charset="0"/>
              </a:rPr>
              <a:t>constraints."</a:t>
            </a:r>
            <a:r>
              <a:rPr i="1" spc="-45" dirty="0">
                <a:solidFill>
                  <a:schemeClr val="tx1"/>
                </a:solidFill>
                <a:latin typeface="Times New Roman" panose="02020603050405020304" pitchFamily="18" charset="0"/>
                <a:cs typeface="Times New Roman" panose="02020603050405020304" pitchFamily="18" charset="0"/>
              </a:rPr>
              <a:t> </a:t>
            </a:r>
            <a:r>
              <a:rPr i="1" spc="-385" dirty="0">
                <a:solidFill>
                  <a:schemeClr val="tx1"/>
                </a:solidFill>
                <a:latin typeface="Times New Roman" panose="02020603050405020304" pitchFamily="18" charset="0"/>
                <a:cs typeface="Times New Roman" panose="02020603050405020304" pitchFamily="18" charset="0"/>
              </a:rPr>
              <a:t>—</a:t>
            </a:r>
            <a:r>
              <a:rPr i="1" spc="-50" dirty="0">
                <a:solidFill>
                  <a:schemeClr val="tx1"/>
                </a:solidFill>
                <a:latin typeface="Times New Roman" panose="02020603050405020304" pitchFamily="18" charset="0"/>
                <a:cs typeface="Times New Roman" panose="02020603050405020304" pitchFamily="18" charset="0"/>
              </a:rPr>
              <a:t> </a:t>
            </a:r>
            <a:r>
              <a:rPr i="1" spc="-160" dirty="0">
                <a:solidFill>
                  <a:schemeClr val="tx1"/>
                </a:solidFill>
                <a:latin typeface="Times New Roman" panose="02020603050405020304" pitchFamily="18" charset="0"/>
                <a:cs typeface="Times New Roman" panose="02020603050405020304" pitchFamily="18" charset="0"/>
              </a:rPr>
              <a:t>V.</a:t>
            </a:r>
            <a:r>
              <a:rPr i="1" spc="-45" dirty="0">
                <a:solidFill>
                  <a:schemeClr val="tx1"/>
                </a:solidFill>
                <a:latin typeface="Times New Roman" panose="02020603050405020304" pitchFamily="18" charset="0"/>
                <a:cs typeface="Times New Roman" panose="02020603050405020304" pitchFamily="18" charset="0"/>
              </a:rPr>
              <a:t> Anton </a:t>
            </a:r>
            <a:r>
              <a:rPr i="1" spc="-105" dirty="0">
                <a:solidFill>
                  <a:schemeClr val="tx1"/>
                </a:solidFill>
                <a:latin typeface="Times New Roman" panose="02020603050405020304" pitchFamily="18" charset="0"/>
                <a:cs typeface="Times New Roman" panose="02020603050405020304" pitchFamily="18" charset="0"/>
              </a:rPr>
              <a:t>Spraul,</a:t>
            </a:r>
            <a:r>
              <a:rPr i="1" spc="-50" dirty="0">
                <a:solidFill>
                  <a:schemeClr val="tx1"/>
                </a:solidFill>
                <a:latin typeface="Times New Roman" panose="02020603050405020304" pitchFamily="18" charset="0"/>
                <a:cs typeface="Times New Roman" panose="02020603050405020304" pitchFamily="18" charset="0"/>
              </a:rPr>
              <a:t> </a:t>
            </a:r>
            <a:r>
              <a:rPr i="1" spc="-85" dirty="0">
                <a:solidFill>
                  <a:schemeClr val="tx1"/>
                </a:solidFill>
                <a:latin typeface="Times New Roman" panose="02020603050405020304" pitchFamily="18" charset="0"/>
                <a:cs typeface="Times New Roman" panose="02020603050405020304" pitchFamily="18" charset="0"/>
              </a:rPr>
              <a:t>"Think</a:t>
            </a:r>
            <a:r>
              <a:rPr i="1" spc="-50" dirty="0">
                <a:solidFill>
                  <a:schemeClr val="tx1"/>
                </a:solidFill>
                <a:latin typeface="Times New Roman" panose="02020603050405020304" pitchFamily="18" charset="0"/>
                <a:cs typeface="Times New Roman" panose="02020603050405020304" pitchFamily="18" charset="0"/>
              </a:rPr>
              <a:t> </a:t>
            </a:r>
            <a:r>
              <a:rPr i="1" spc="-85" dirty="0">
                <a:solidFill>
                  <a:schemeClr val="tx1"/>
                </a:solidFill>
                <a:latin typeface="Times New Roman" panose="02020603050405020304" pitchFamily="18" charset="0"/>
                <a:cs typeface="Times New Roman" panose="02020603050405020304" pitchFamily="18" charset="0"/>
              </a:rPr>
              <a:t>Like</a:t>
            </a:r>
            <a:r>
              <a:rPr i="1" spc="-50" dirty="0">
                <a:solidFill>
                  <a:schemeClr val="tx1"/>
                </a:solidFill>
                <a:latin typeface="Times New Roman" panose="02020603050405020304" pitchFamily="18" charset="0"/>
                <a:cs typeface="Times New Roman" panose="02020603050405020304" pitchFamily="18" charset="0"/>
              </a:rPr>
              <a:t> </a:t>
            </a:r>
            <a:r>
              <a:rPr i="1" spc="-100" dirty="0">
                <a:solidFill>
                  <a:schemeClr val="tx1"/>
                </a:solidFill>
                <a:latin typeface="Times New Roman" panose="02020603050405020304" pitchFamily="18" charset="0"/>
                <a:cs typeface="Times New Roman" panose="02020603050405020304" pitchFamily="18" charset="0"/>
              </a:rPr>
              <a:t>a</a:t>
            </a:r>
            <a:r>
              <a:rPr i="1" spc="-50" dirty="0">
                <a:solidFill>
                  <a:schemeClr val="tx1"/>
                </a:solidFill>
                <a:latin typeface="Times New Roman" panose="02020603050405020304" pitchFamily="18" charset="0"/>
                <a:cs typeface="Times New Roman" panose="02020603050405020304" pitchFamily="18" charset="0"/>
              </a:rPr>
              <a:t> </a:t>
            </a:r>
            <a:r>
              <a:rPr i="1" spc="-10" dirty="0">
                <a:solidFill>
                  <a:schemeClr val="tx1"/>
                </a:solidFill>
                <a:latin typeface="Times New Roman" panose="02020603050405020304" pitchFamily="18" charset="0"/>
                <a:cs typeface="Times New Roman" panose="02020603050405020304" pitchFamily="18" charset="0"/>
              </a:rPr>
              <a:t>Programmer"</a:t>
            </a:r>
            <a:endParaRPr dirty="0">
              <a:solidFill>
                <a:schemeClr val="tx1"/>
              </a:solidFill>
              <a:latin typeface="Times New Roman" panose="02020603050405020304" pitchFamily="18" charset="0"/>
              <a:cs typeface="Times New Roman" panose="02020603050405020304" pitchFamily="18" charset="0"/>
            </a:endParaRPr>
          </a:p>
        </p:txBody>
      </p:sp>
      <p:sp>
        <p:nvSpPr>
          <p:cNvPr id="28" name="object 28">
            <a:extLst>
              <a:ext uri="{FF2B5EF4-FFF2-40B4-BE49-F238E27FC236}">
                <a16:creationId xmlns="" xmlns:a16="http://schemas.microsoft.com/office/drawing/2014/main" id="{CEB39416-8D78-C0DD-1EEF-46C1DFBAD0EB}"/>
              </a:ext>
            </a:extLst>
          </p:cNvPr>
          <p:cNvSpPr/>
          <p:nvPr/>
        </p:nvSpPr>
        <p:spPr>
          <a:xfrm>
            <a:off x="795331" y="4762376"/>
            <a:ext cx="10972800" cy="1485900"/>
          </a:xfrm>
          <a:custGeom>
            <a:avLst/>
            <a:gdLst/>
            <a:ahLst/>
            <a:cxnLst/>
            <a:rect l="l" t="t" r="r" b="b"/>
            <a:pathLst>
              <a:path w="10972800" h="1485900">
                <a:moveTo>
                  <a:pt x="10901602" y="1485899"/>
                </a:moveTo>
                <a:lnTo>
                  <a:pt x="71196" y="1485899"/>
                </a:lnTo>
                <a:lnTo>
                  <a:pt x="66241" y="1485411"/>
                </a:lnTo>
                <a:lnTo>
                  <a:pt x="29705" y="1470277"/>
                </a:lnTo>
                <a:lnTo>
                  <a:pt x="3885" y="1434237"/>
                </a:lnTo>
                <a:lnTo>
                  <a:pt x="0" y="1414703"/>
                </a:lnTo>
                <a:lnTo>
                  <a:pt x="0" y="1409699"/>
                </a:lnTo>
                <a:lnTo>
                  <a:pt x="0" y="71196"/>
                </a:lnTo>
                <a:lnTo>
                  <a:pt x="15621" y="29705"/>
                </a:lnTo>
                <a:lnTo>
                  <a:pt x="51661" y="3885"/>
                </a:lnTo>
                <a:lnTo>
                  <a:pt x="71196" y="0"/>
                </a:lnTo>
                <a:lnTo>
                  <a:pt x="10901602" y="0"/>
                </a:lnTo>
                <a:lnTo>
                  <a:pt x="10943091" y="15621"/>
                </a:lnTo>
                <a:lnTo>
                  <a:pt x="10968911" y="51661"/>
                </a:lnTo>
                <a:lnTo>
                  <a:pt x="10972798" y="71196"/>
                </a:lnTo>
                <a:lnTo>
                  <a:pt x="10972798" y="1414703"/>
                </a:lnTo>
                <a:lnTo>
                  <a:pt x="10957175" y="1456194"/>
                </a:lnTo>
                <a:lnTo>
                  <a:pt x="10921136" y="1482014"/>
                </a:lnTo>
                <a:lnTo>
                  <a:pt x="10906556" y="1485411"/>
                </a:lnTo>
                <a:lnTo>
                  <a:pt x="10901602" y="1485899"/>
                </a:lnTo>
                <a:close/>
              </a:path>
            </a:pathLst>
          </a:custGeom>
          <a:solidFill>
            <a:srgbClr val="F9FAFA"/>
          </a:solidFill>
        </p:spPr>
        <p:txBody>
          <a:bodyPr wrap="square" lIns="0" tIns="0" rIns="0" bIns="0" rtlCol="0"/>
          <a:lstStyle/>
          <a:p>
            <a:endParaRPr>
              <a:solidFill>
                <a:schemeClr val="tx1"/>
              </a:solidFill>
              <a:latin typeface="Times New Roman" panose="02020603050405020304" pitchFamily="18" charset="0"/>
              <a:cs typeface="Times New Roman" panose="02020603050405020304" pitchFamily="18" charset="0"/>
            </a:endParaRPr>
          </a:p>
        </p:txBody>
      </p:sp>
      <p:sp>
        <p:nvSpPr>
          <p:cNvPr id="30" name="object 30">
            <a:extLst>
              <a:ext uri="{FF2B5EF4-FFF2-40B4-BE49-F238E27FC236}">
                <a16:creationId xmlns="" xmlns:a16="http://schemas.microsoft.com/office/drawing/2014/main" id="{9F37AB66-FA80-7032-AD19-294209920F2A}"/>
              </a:ext>
            </a:extLst>
          </p:cNvPr>
          <p:cNvSpPr/>
          <p:nvPr/>
        </p:nvSpPr>
        <p:spPr>
          <a:xfrm>
            <a:off x="2630529" y="5474576"/>
            <a:ext cx="2015491" cy="438150"/>
          </a:xfrm>
          <a:custGeom>
            <a:avLst/>
            <a:gdLst/>
            <a:ahLst/>
            <a:cxnLst/>
            <a:rect l="l" t="t" r="r" b="b"/>
            <a:pathLst>
              <a:path w="1504950" h="438150">
                <a:moveTo>
                  <a:pt x="0" y="409574"/>
                </a:moveTo>
                <a:lnTo>
                  <a:pt x="0" y="28574"/>
                </a:lnTo>
                <a:lnTo>
                  <a:pt x="0" y="24785"/>
                </a:lnTo>
                <a:lnTo>
                  <a:pt x="724" y="21139"/>
                </a:lnTo>
                <a:lnTo>
                  <a:pt x="2175" y="17639"/>
                </a:lnTo>
                <a:lnTo>
                  <a:pt x="3625" y="14138"/>
                </a:lnTo>
                <a:lnTo>
                  <a:pt x="5690" y="11048"/>
                </a:lnTo>
                <a:lnTo>
                  <a:pt x="8369" y="8369"/>
                </a:lnTo>
                <a:lnTo>
                  <a:pt x="11048" y="5689"/>
                </a:lnTo>
                <a:lnTo>
                  <a:pt x="14138" y="3624"/>
                </a:lnTo>
                <a:lnTo>
                  <a:pt x="17639" y="2174"/>
                </a:lnTo>
                <a:lnTo>
                  <a:pt x="21140" y="724"/>
                </a:lnTo>
                <a:lnTo>
                  <a:pt x="24785" y="0"/>
                </a:lnTo>
                <a:lnTo>
                  <a:pt x="28575" y="0"/>
                </a:lnTo>
                <a:lnTo>
                  <a:pt x="1476375" y="0"/>
                </a:lnTo>
                <a:lnTo>
                  <a:pt x="1480164" y="0"/>
                </a:lnTo>
                <a:lnTo>
                  <a:pt x="1483809" y="724"/>
                </a:lnTo>
                <a:lnTo>
                  <a:pt x="1487309" y="2174"/>
                </a:lnTo>
                <a:lnTo>
                  <a:pt x="1490810" y="3624"/>
                </a:lnTo>
                <a:lnTo>
                  <a:pt x="1493900" y="5689"/>
                </a:lnTo>
                <a:lnTo>
                  <a:pt x="1496580" y="8369"/>
                </a:lnTo>
                <a:lnTo>
                  <a:pt x="1499259" y="11048"/>
                </a:lnTo>
                <a:lnTo>
                  <a:pt x="1504950" y="28574"/>
                </a:lnTo>
                <a:lnTo>
                  <a:pt x="1504950" y="409574"/>
                </a:lnTo>
                <a:lnTo>
                  <a:pt x="1476375" y="438149"/>
                </a:lnTo>
                <a:lnTo>
                  <a:pt x="28575" y="438149"/>
                </a:lnTo>
                <a:lnTo>
                  <a:pt x="24785" y="438149"/>
                </a:lnTo>
                <a:lnTo>
                  <a:pt x="21140" y="437424"/>
                </a:lnTo>
                <a:lnTo>
                  <a:pt x="17639" y="435973"/>
                </a:lnTo>
                <a:lnTo>
                  <a:pt x="14138" y="434523"/>
                </a:lnTo>
                <a:lnTo>
                  <a:pt x="2175" y="420509"/>
                </a:lnTo>
                <a:lnTo>
                  <a:pt x="724" y="417008"/>
                </a:lnTo>
                <a:lnTo>
                  <a:pt x="0" y="413363"/>
                </a:lnTo>
                <a:lnTo>
                  <a:pt x="0" y="409574"/>
                </a:lnTo>
                <a:close/>
              </a:path>
            </a:pathLst>
          </a:custGeom>
          <a:ln w="19049">
            <a:solidFill>
              <a:srgbClr val="2562EB"/>
            </a:solidFill>
          </a:ln>
        </p:spPr>
        <p:txBody>
          <a:bodyPr wrap="square" lIns="0" tIns="0" rIns="0" bIns="0" rtlCol="0"/>
          <a:lstStyle/>
          <a:p>
            <a:endParaRPr>
              <a:solidFill>
                <a:schemeClr val="tx1"/>
              </a:solidFill>
              <a:latin typeface="Times New Roman" panose="02020603050405020304" pitchFamily="18" charset="0"/>
              <a:cs typeface="Times New Roman" panose="02020603050405020304" pitchFamily="18" charset="0"/>
            </a:endParaRPr>
          </a:p>
        </p:txBody>
      </p:sp>
      <p:sp>
        <p:nvSpPr>
          <p:cNvPr id="34" name="object 34">
            <a:extLst>
              <a:ext uri="{FF2B5EF4-FFF2-40B4-BE49-F238E27FC236}">
                <a16:creationId xmlns="" xmlns:a16="http://schemas.microsoft.com/office/drawing/2014/main" id="{A5293F16-B2BB-F9F7-E50E-E142FE3D4FC3}"/>
              </a:ext>
            </a:extLst>
          </p:cNvPr>
          <p:cNvSpPr/>
          <p:nvPr/>
        </p:nvSpPr>
        <p:spPr>
          <a:xfrm>
            <a:off x="5318127" y="5394934"/>
            <a:ext cx="1504951" cy="438150"/>
          </a:xfrm>
          <a:custGeom>
            <a:avLst/>
            <a:gdLst/>
            <a:ahLst/>
            <a:cxnLst/>
            <a:rect l="l" t="t" r="r" b="b"/>
            <a:pathLst>
              <a:path w="1504950" h="438150">
                <a:moveTo>
                  <a:pt x="0" y="409574"/>
                </a:moveTo>
                <a:lnTo>
                  <a:pt x="0" y="28574"/>
                </a:lnTo>
                <a:lnTo>
                  <a:pt x="0" y="24785"/>
                </a:lnTo>
                <a:lnTo>
                  <a:pt x="724" y="21139"/>
                </a:lnTo>
                <a:lnTo>
                  <a:pt x="2174" y="17639"/>
                </a:lnTo>
                <a:lnTo>
                  <a:pt x="3625" y="14138"/>
                </a:lnTo>
                <a:lnTo>
                  <a:pt x="5690" y="11048"/>
                </a:lnTo>
                <a:lnTo>
                  <a:pt x="8369" y="8369"/>
                </a:lnTo>
                <a:lnTo>
                  <a:pt x="11048" y="5689"/>
                </a:lnTo>
                <a:lnTo>
                  <a:pt x="14138" y="3624"/>
                </a:lnTo>
                <a:lnTo>
                  <a:pt x="17640" y="2174"/>
                </a:lnTo>
                <a:lnTo>
                  <a:pt x="21140" y="724"/>
                </a:lnTo>
                <a:lnTo>
                  <a:pt x="24785" y="0"/>
                </a:lnTo>
                <a:lnTo>
                  <a:pt x="28575" y="0"/>
                </a:lnTo>
                <a:lnTo>
                  <a:pt x="1476375" y="0"/>
                </a:lnTo>
                <a:lnTo>
                  <a:pt x="1480164" y="0"/>
                </a:lnTo>
                <a:lnTo>
                  <a:pt x="1483809" y="724"/>
                </a:lnTo>
                <a:lnTo>
                  <a:pt x="1487309" y="2174"/>
                </a:lnTo>
                <a:lnTo>
                  <a:pt x="1490810" y="3624"/>
                </a:lnTo>
                <a:lnTo>
                  <a:pt x="1493901" y="5689"/>
                </a:lnTo>
                <a:lnTo>
                  <a:pt x="1496580" y="8369"/>
                </a:lnTo>
                <a:lnTo>
                  <a:pt x="1499259" y="11048"/>
                </a:lnTo>
                <a:lnTo>
                  <a:pt x="1504950" y="28574"/>
                </a:lnTo>
                <a:lnTo>
                  <a:pt x="1504950" y="409574"/>
                </a:lnTo>
                <a:lnTo>
                  <a:pt x="1487309" y="435973"/>
                </a:lnTo>
                <a:lnTo>
                  <a:pt x="1483809" y="437424"/>
                </a:lnTo>
                <a:lnTo>
                  <a:pt x="1480164" y="438149"/>
                </a:lnTo>
                <a:lnTo>
                  <a:pt x="1476375" y="438149"/>
                </a:lnTo>
                <a:lnTo>
                  <a:pt x="28575" y="438149"/>
                </a:lnTo>
                <a:lnTo>
                  <a:pt x="24785" y="438149"/>
                </a:lnTo>
                <a:lnTo>
                  <a:pt x="21140" y="437424"/>
                </a:lnTo>
                <a:lnTo>
                  <a:pt x="17640" y="435973"/>
                </a:lnTo>
                <a:lnTo>
                  <a:pt x="14138" y="434523"/>
                </a:lnTo>
                <a:lnTo>
                  <a:pt x="11048" y="432459"/>
                </a:lnTo>
                <a:lnTo>
                  <a:pt x="8369" y="429780"/>
                </a:lnTo>
                <a:lnTo>
                  <a:pt x="5690" y="427100"/>
                </a:lnTo>
                <a:lnTo>
                  <a:pt x="3625" y="424010"/>
                </a:lnTo>
                <a:lnTo>
                  <a:pt x="2174" y="420509"/>
                </a:lnTo>
                <a:lnTo>
                  <a:pt x="724" y="417008"/>
                </a:lnTo>
                <a:lnTo>
                  <a:pt x="0" y="413363"/>
                </a:lnTo>
                <a:lnTo>
                  <a:pt x="0" y="409574"/>
                </a:lnTo>
                <a:close/>
              </a:path>
            </a:pathLst>
          </a:custGeom>
          <a:ln w="19049">
            <a:solidFill>
              <a:srgbClr val="2562EB"/>
            </a:solidFill>
          </a:ln>
        </p:spPr>
        <p:txBody>
          <a:bodyPr wrap="square" lIns="0" tIns="0" rIns="0" bIns="0" rtlCol="0"/>
          <a:lstStyle/>
          <a:p>
            <a:endParaRPr>
              <a:solidFill>
                <a:schemeClr val="tx1"/>
              </a:solidFill>
              <a:latin typeface="Times New Roman" panose="02020603050405020304" pitchFamily="18" charset="0"/>
              <a:cs typeface="Times New Roman" panose="02020603050405020304" pitchFamily="18" charset="0"/>
            </a:endParaRPr>
          </a:p>
        </p:txBody>
      </p:sp>
      <p:sp>
        <p:nvSpPr>
          <p:cNvPr id="38" name="object 38">
            <a:extLst>
              <a:ext uri="{FF2B5EF4-FFF2-40B4-BE49-F238E27FC236}">
                <a16:creationId xmlns="" xmlns:a16="http://schemas.microsoft.com/office/drawing/2014/main" id="{275B0B97-A1B8-AA5A-5644-AE59BA536040}"/>
              </a:ext>
            </a:extLst>
          </p:cNvPr>
          <p:cNvSpPr/>
          <p:nvPr/>
        </p:nvSpPr>
        <p:spPr>
          <a:xfrm>
            <a:off x="8169074" y="5438774"/>
            <a:ext cx="1504951" cy="438150"/>
          </a:xfrm>
          <a:custGeom>
            <a:avLst/>
            <a:gdLst/>
            <a:ahLst/>
            <a:cxnLst/>
            <a:rect l="l" t="t" r="r" b="b"/>
            <a:pathLst>
              <a:path w="1504950" h="438150">
                <a:moveTo>
                  <a:pt x="0" y="409574"/>
                </a:moveTo>
                <a:lnTo>
                  <a:pt x="0" y="28574"/>
                </a:lnTo>
                <a:lnTo>
                  <a:pt x="0" y="24785"/>
                </a:lnTo>
                <a:lnTo>
                  <a:pt x="724" y="21139"/>
                </a:lnTo>
                <a:lnTo>
                  <a:pt x="2175" y="17639"/>
                </a:lnTo>
                <a:lnTo>
                  <a:pt x="3625" y="14138"/>
                </a:lnTo>
                <a:lnTo>
                  <a:pt x="5690" y="11048"/>
                </a:lnTo>
                <a:lnTo>
                  <a:pt x="8369" y="8369"/>
                </a:lnTo>
                <a:lnTo>
                  <a:pt x="11048" y="5689"/>
                </a:lnTo>
                <a:lnTo>
                  <a:pt x="14138" y="3624"/>
                </a:lnTo>
                <a:lnTo>
                  <a:pt x="17639" y="2174"/>
                </a:lnTo>
                <a:lnTo>
                  <a:pt x="21140" y="724"/>
                </a:lnTo>
                <a:lnTo>
                  <a:pt x="24785" y="0"/>
                </a:lnTo>
                <a:lnTo>
                  <a:pt x="28575" y="0"/>
                </a:lnTo>
                <a:lnTo>
                  <a:pt x="1476375" y="0"/>
                </a:lnTo>
                <a:lnTo>
                  <a:pt x="1480164" y="0"/>
                </a:lnTo>
                <a:lnTo>
                  <a:pt x="1483808" y="724"/>
                </a:lnTo>
                <a:lnTo>
                  <a:pt x="1502774" y="17639"/>
                </a:lnTo>
                <a:lnTo>
                  <a:pt x="1504224" y="21139"/>
                </a:lnTo>
                <a:lnTo>
                  <a:pt x="1504950" y="24785"/>
                </a:lnTo>
                <a:lnTo>
                  <a:pt x="1504950" y="28574"/>
                </a:lnTo>
                <a:lnTo>
                  <a:pt x="1504950" y="409574"/>
                </a:lnTo>
                <a:lnTo>
                  <a:pt x="1504950" y="413363"/>
                </a:lnTo>
                <a:lnTo>
                  <a:pt x="1504225" y="417008"/>
                </a:lnTo>
                <a:lnTo>
                  <a:pt x="1476375" y="438149"/>
                </a:lnTo>
                <a:lnTo>
                  <a:pt x="28575" y="438149"/>
                </a:lnTo>
                <a:lnTo>
                  <a:pt x="8369" y="429780"/>
                </a:lnTo>
                <a:lnTo>
                  <a:pt x="5690" y="427100"/>
                </a:lnTo>
                <a:lnTo>
                  <a:pt x="3625" y="424010"/>
                </a:lnTo>
                <a:lnTo>
                  <a:pt x="2175" y="420509"/>
                </a:lnTo>
                <a:lnTo>
                  <a:pt x="724" y="417008"/>
                </a:lnTo>
                <a:lnTo>
                  <a:pt x="0" y="413363"/>
                </a:lnTo>
                <a:lnTo>
                  <a:pt x="0" y="409574"/>
                </a:lnTo>
                <a:close/>
              </a:path>
            </a:pathLst>
          </a:custGeom>
          <a:ln w="19049">
            <a:solidFill>
              <a:srgbClr val="2562EB"/>
            </a:solidFill>
          </a:ln>
        </p:spPr>
        <p:txBody>
          <a:bodyPr wrap="square" lIns="0" tIns="0" rIns="0" bIns="0" rtlCol="0"/>
          <a:lstStyle/>
          <a:p>
            <a:endParaRPr>
              <a:solidFill>
                <a:schemeClr val="tx1"/>
              </a:solidFill>
              <a:latin typeface="Times New Roman" panose="02020603050405020304" pitchFamily="18" charset="0"/>
              <a:cs typeface="Times New Roman" panose="02020603050405020304" pitchFamily="18" charset="0"/>
            </a:endParaRPr>
          </a:p>
        </p:txBody>
      </p:sp>
      <p:grpSp>
        <p:nvGrpSpPr>
          <p:cNvPr id="41" name="Group 40"/>
          <p:cNvGrpSpPr/>
          <p:nvPr/>
        </p:nvGrpSpPr>
        <p:grpSpPr>
          <a:xfrm>
            <a:off x="2753617" y="5011418"/>
            <a:ext cx="7663875" cy="801283"/>
            <a:chOff x="2780784" y="5011416"/>
            <a:chExt cx="6770720" cy="801283"/>
          </a:xfrm>
        </p:grpSpPr>
        <p:sp>
          <p:nvSpPr>
            <p:cNvPr id="31" name="object 31">
              <a:extLst>
                <a:ext uri="{FF2B5EF4-FFF2-40B4-BE49-F238E27FC236}">
                  <a16:creationId xmlns="" xmlns:a16="http://schemas.microsoft.com/office/drawing/2014/main" id="{C097338E-4D72-A48C-424D-494001F99443}"/>
                </a:ext>
              </a:extLst>
            </p:cNvPr>
            <p:cNvSpPr txBox="1"/>
            <p:nvPr/>
          </p:nvSpPr>
          <p:spPr>
            <a:xfrm>
              <a:off x="2780784" y="5505326"/>
              <a:ext cx="1426210" cy="263534"/>
            </a:xfrm>
            <a:prstGeom prst="rect">
              <a:avLst/>
            </a:prstGeom>
          </p:spPr>
          <p:txBody>
            <a:bodyPr vert="horz" wrap="square" lIns="0" tIns="17145" rIns="0" bIns="0" rtlCol="0">
              <a:spAutoFit/>
            </a:bodyPr>
            <a:lstStyle/>
            <a:p>
              <a:pPr marL="12700">
                <a:lnSpc>
                  <a:spcPct val="100000"/>
                </a:lnSpc>
                <a:spcBef>
                  <a:spcPts val="135"/>
                </a:spcBef>
              </a:pPr>
              <a:r>
                <a:rPr sz="1600" b="0" spc="-55" dirty="0">
                  <a:solidFill>
                    <a:schemeClr val="tx1"/>
                  </a:solidFill>
                  <a:latin typeface="Times New Roman" panose="02020603050405020304" pitchFamily="18" charset="0"/>
                  <a:cs typeface="Times New Roman" panose="02020603050405020304" pitchFamily="18" charset="0"/>
                </a:rPr>
                <a:t>Understand</a:t>
              </a:r>
              <a:r>
                <a:rPr sz="1600" b="0" spc="-30" dirty="0">
                  <a:solidFill>
                    <a:schemeClr val="tx1"/>
                  </a:solidFill>
                  <a:latin typeface="Times New Roman" panose="02020603050405020304" pitchFamily="18" charset="0"/>
                  <a:cs typeface="Times New Roman" panose="02020603050405020304" pitchFamily="18" charset="0"/>
                </a:rPr>
                <a:t> </a:t>
              </a:r>
              <a:r>
                <a:rPr sz="1600" b="0" spc="-55" dirty="0">
                  <a:solidFill>
                    <a:schemeClr val="tx1"/>
                  </a:solidFill>
                  <a:latin typeface="Times New Roman" panose="02020603050405020304" pitchFamily="18" charset="0"/>
                  <a:cs typeface="Times New Roman" panose="02020603050405020304" pitchFamily="18" charset="0"/>
                </a:rPr>
                <a:t>Problem</a:t>
              </a:r>
              <a:endParaRPr sz="1600" dirty="0">
                <a:solidFill>
                  <a:schemeClr val="tx1"/>
                </a:solidFill>
                <a:latin typeface="Times New Roman" panose="02020603050405020304" pitchFamily="18" charset="0"/>
                <a:cs typeface="Times New Roman" panose="02020603050405020304" pitchFamily="18" charset="0"/>
              </a:endParaRPr>
            </a:p>
          </p:txBody>
        </p:sp>
        <p:sp>
          <p:nvSpPr>
            <p:cNvPr id="32" name="object 32">
              <a:extLst>
                <a:ext uri="{FF2B5EF4-FFF2-40B4-BE49-F238E27FC236}">
                  <a16:creationId xmlns="" xmlns:a16="http://schemas.microsoft.com/office/drawing/2014/main" id="{3349B75B-4640-74B5-ADDD-702BC72C2C33}"/>
                </a:ext>
              </a:extLst>
            </p:cNvPr>
            <p:cNvSpPr txBox="1"/>
            <p:nvPr/>
          </p:nvSpPr>
          <p:spPr>
            <a:xfrm>
              <a:off x="2794148" y="5029199"/>
              <a:ext cx="1536383" cy="262892"/>
            </a:xfrm>
            <a:prstGeom prst="rect">
              <a:avLst/>
            </a:prstGeom>
          </p:spPr>
          <p:txBody>
            <a:bodyPr vert="horz" wrap="square" lIns="0" tIns="16510" rIns="0" bIns="0" rtlCol="0">
              <a:spAutoFit/>
            </a:bodyPr>
            <a:lstStyle/>
            <a:p>
              <a:pPr marL="12700">
                <a:lnSpc>
                  <a:spcPct val="100000"/>
                </a:lnSpc>
                <a:spcBef>
                  <a:spcPts val="130"/>
                </a:spcBef>
              </a:pPr>
              <a:r>
                <a:rPr sz="1600" spc="-65" dirty="0">
                  <a:solidFill>
                    <a:srgbClr val="FF0000"/>
                  </a:solidFill>
                  <a:latin typeface="Times New Roman" panose="02020603050405020304" pitchFamily="18" charset="0"/>
                  <a:cs typeface="Times New Roman" panose="02020603050405020304" pitchFamily="18" charset="0"/>
                </a:rPr>
                <a:t>Define</a:t>
              </a:r>
              <a:r>
                <a:rPr sz="1600" spc="25" dirty="0">
                  <a:solidFill>
                    <a:srgbClr val="FF0000"/>
                  </a:solidFill>
                  <a:latin typeface="Times New Roman" panose="02020603050405020304" pitchFamily="18" charset="0"/>
                  <a:cs typeface="Times New Roman" panose="02020603050405020304" pitchFamily="18" charset="0"/>
                </a:rPr>
                <a:t> </a:t>
              </a:r>
              <a:r>
                <a:rPr sz="1600" spc="-55" dirty="0">
                  <a:solidFill>
                    <a:srgbClr val="FF0000"/>
                  </a:solidFill>
                  <a:latin typeface="Times New Roman" panose="02020603050405020304" pitchFamily="18" charset="0"/>
                  <a:cs typeface="Times New Roman" panose="02020603050405020304" pitchFamily="18" charset="0"/>
                </a:rPr>
                <a:t>requirements</a:t>
              </a:r>
              <a:endParaRPr sz="1600" dirty="0">
                <a:solidFill>
                  <a:srgbClr val="FF0000"/>
                </a:solidFill>
                <a:latin typeface="Times New Roman" panose="02020603050405020304" pitchFamily="18" charset="0"/>
                <a:cs typeface="Times New Roman" panose="02020603050405020304" pitchFamily="18" charset="0"/>
              </a:endParaRPr>
            </a:p>
          </p:txBody>
        </p:sp>
        <p:sp>
          <p:nvSpPr>
            <p:cNvPr id="35" name="object 35">
              <a:extLst>
                <a:ext uri="{FF2B5EF4-FFF2-40B4-BE49-F238E27FC236}">
                  <a16:creationId xmlns="" xmlns:a16="http://schemas.microsoft.com/office/drawing/2014/main" id="{3D7095BC-D1AD-7967-5827-32A1B6C2F8E1}"/>
                </a:ext>
              </a:extLst>
            </p:cNvPr>
            <p:cNvSpPr txBox="1"/>
            <p:nvPr/>
          </p:nvSpPr>
          <p:spPr>
            <a:xfrm>
              <a:off x="5246381" y="5438774"/>
              <a:ext cx="929640" cy="263534"/>
            </a:xfrm>
            <a:prstGeom prst="rect">
              <a:avLst/>
            </a:prstGeom>
          </p:spPr>
          <p:txBody>
            <a:bodyPr vert="horz" wrap="square" lIns="0" tIns="17145" rIns="0" bIns="0" rtlCol="0">
              <a:spAutoFit/>
            </a:bodyPr>
            <a:lstStyle/>
            <a:p>
              <a:pPr marL="12700">
                <a:lnSpc>
                  <a:spcPct val="100000"/>
                </a:lnSpc>
                <a:spcBef>
                  <a:spcPts val="135"/>
                </a:spcBef>
              </a:pPr>
              <a:r>
                <a:rPr sz="1600" b="0" spc="-60" dirty="0">
                  <a:solidFill>
                    <a:schemeClr val="tx1"/>
                  </a:solidFill>
                  <a:latin typeface="Times New Roman" panose="02020603050405020304" pitchFamily="18" charset="0"/>
                  <a:cs typeface="Times New Roman" panose="02020603050405020304" pitchFamily="18" charset="0"/>
                </a:rPr>
                <a:t>Plan</a:t>
              </a:r>
              <a:r>
                <a:rPr sz="1600" b="0" spc="-5" dirty="0">
                  <a:solidFill>
                    <a:schemeClr val="tx1"/>
                  </a:solidFill>
                  <a:latin typeface="Times New Roman" panose="02020603050405020304" pitchFamily="18" charset="0"/>
                  <a:cs typeface="Times New Roman" panose="02020603050405020304" pitchFamily="18" charset="0"/>
                </a:rPr>
                <a:t> </a:t>
              </a:r>
              <a:r>
                <a:rPr sz="1600" b="0" spc="-50" dirty="0">
                  <a:solidFill>
                    <a:schemeClr val="tx1"/>
                  </a:solidFill>
                  <a:latin typeface="Times New Roman" panose="02020603050405020304" pitchFamily="18" charset="0"/>
                  <a:cs typeface="Times New Roman" panose="02020603050405020304" pitchFamily="18" charset="0"/>
                </a:rPr>
                <a:t>Solution</a:t>
              </a:r>
              <a:endParaRPr sz="1600" dirty="0">
                <a:solidFill>
                  <a:schemeClr val="tx1"/>
                </a:solidFill>
                <a:latin typeface="Times New Roman" panose="02020603050405020304" pitchFamily="18" charset="0"/>
                <a:cs typeface="Times New Roman" panose="02020603050405020304" pitchFamily="18" charset="0"/>
              </a:endParaRPr>
            </a:p>
          </p:txBody>
        </p:sp>
        <p:sp>
          <p:nvSpPr>
            <p:cNvPr id="36" name="object 36">
              <a:extLst>
                <a:ext uri="{FF2B5EF4-FFF2-40B4-BE49-F238E27FC236}">
                  <a16:creationId xmlns="" xmlns:a16="http://schemas.microsoft.com/office/drawing/2014/main" id="{A2BD015B-214B-2143-C955-39582953EF63}"/>
                </a:ext>
              </a:extLst>
            </p:cNvPr>
            <p:cNvSpPr txBox="1"/>
            <p:nvPr/>
          </p:nvSpPr>
          <p:spPr>
            <a:xfrm>
              <a:off x="5033645" y="5011416"/>
              <a:ext cx="1786255" cy="262892"/>
            </a:xfrm>
            <a:prstGeom prst="rect">
              <a:avLst/>
            </a:prstGeom>
          </p:spPr>
          <p:txBody>
            <a:bodyPr vert="horz" wrap="square" lIns="0" tIns="16510" rIns="0" bIns="0" rtlCol="0">
              <a:spAutoFit/>
            </a:bodyPr>
            <a:lstStyle/>
            <a:p>
              <a:pPr marL="12700">
                <a:lnSpc>
                  <a:spcPct val="100000"/>
                </a:lnSpc>
                <a:spcBef>
                  <a:spcPts val="130"/>
                </a:spcBef>
              </a:pPr>
              <a:r>
                <a:rPr sz="1600" spc="-55" dirty="0">
                  <a:solidFill>
                    <a:srgbClr val="FF0000"/>
                  </a:solidFill>
                  <a:latin typeface="Times New Roman" panose="02020603050405020304" pitchFamily="18" charset="0"/>
                  <a:cs typeface="Times New Roman" panose="02020603050405020304" pitchFamily="18" charset="0"/>
                </a:rPr>
                <a:t>Algorithms</a:t>
              </a:r>
              <a:r>
                <a:rPr dirty="0">
                  <a:solidFill>
                    <a:schemeClr val="tx1"/>
                  </a:solidFill>
                  <a:latin typeface="Times New Roman" panose="02020603050405020304" pitchFamily="18" charset="0"/>
                  <a:cs typeface="Times New Roman" panose="02020603050405020304" pitchFamily="18" charset="0"/>
                </a:rPr>
                <a:t> </a:t>
              </a:r>
              <a:r>
                <a:rPr sz="1600" spc="-70" dirty="0">
                  <a:solidFill>
                    <a:srgbClr val="FF0000"/>
                  </a:solidFill>
                  <a:latin typeface="Times New Roman" panose="02020603050405020304" pitchFamily="18" charset="0"/>
                  <a:cs typeface="Times New Roman" panose="02020603050405020304" pitchFamily="18" charset="0"/>
                </a:rPr>
                <a:t>&amp;</a:t>
              </a:r>
              <a:r>
                <a:rPr sz="1600" spc="5" dirty="0">
                  <a:solidFill>
                    <a:srgbClr val="FF0000"/>
                  </a:solidFill>
                  <a:latin typeface="Times New Roman" panose="02020603050405020304" pitchFamily="18" charset="0"/>
                  <a:cs typeface="Times New Roman" panose="02020603050405020304" pitchFamily="18" charset="0"/>
                </a:rPr>
                <a:t> </a:t>
              </a:r>
              <a:r>
                <a:rPr sz="1600" spc="-45" dirty="0">
                  <a:solidFill>
                    <a:srgbClr val="FF0000"/>
                  </a:solidFill>
                  <a:latin typeface="Times New Roman" panose="02020603050405020304" pitchFamily="18" charset="0"/>
                  <a:cs typeface="Times New Roman" panose="02020603050405020304" pitchFamily="18" charset="0"/>
                </a:rPr>
                <a:t>flowcharts</a:t>
              </a:r>
              <a:endParaRPr dirty="0">
                <a:solidFill>
                  <a:srgbClr val="FF0000"/>
                </a:solidFill>
                <a:latin typeface="Times New Roman" panose="02020603050405020304" pitchFamily="18" charset="0"/>
                <a:cs typeface="Times New Roman" panose="02020603050405020304" pitchFamily="18" charset="0"/>
              </a:endParaRPr>
            </a:p>
          </p:txBody>
        </p:sp>
        <p:sp>
          <p:nvSpPr>
            <p:cNvPr id="39" name="object 39">
              <a:extLst>
                <a:ext uri="{FF2B5EF4-FFF2-40B4-BE49-F238E27FC236}">
                  <a16:creationId xmlns="" xmlns:a16="http://schemas.microsoft.com/office/drawing/2014/main" id="{796CBA58-FDCA-F429-43C6-84D792133C34}"/>
                </a:ext>
              </a:extLst>
            </p:cNvPr>
            <p:cNvSpPr txBox="1"/>
            <p:nvPr/>
          </p:nvSpPr>
          <p:spPr>
            <a:xfrm>
              <a:off x="7655221" y="5549165"/>
              <a:ext cx="1149350" cy="263534"/>
            </a:xfrm>
            <a:prstGeom prst="rect">
              <a:avLst/>
            </a:prstGeom>
          </p:spPr>
          <p:txBody>
            <a:bodyPr vert="horz" wrap="square" lIns="0" tIns="17145" rIns="0" bIns="0" rtlCol="0">
              <a:spAutoFit/>
            </a:bodyPr>
            <a:lstStyle/>
            <a:p>
              <a:pPr marL="12700">
                <a:lnSpc>
                  <a:spcPct val="100000"/>
                </a:lnSpc>
                <a:spcBef>
                  <a:spcPts val="135"/>
                </a:spcBef>
              </a:pPr>
              <a:r>
                <a:rPr sz="1600" b="0" spc="-60" dirty="0">
                  <a:solidFill>
                    <a:schemeClr val="tx1"/>
                  </a:solidFill>
                  <a:latin typeface="Times New Roman" panose="02020603050405020304" pitchFamily="18" charset="0"/>
                  <a:cs typeface="Times New Roman" panose="02020603050405020304" pitchFamily="18" charset="0"/>
                </a:rPr>
                <a:t>Implement</a:t>
              </a:r>
              <a:r>
                <a:rPr sz="1600" b="0" spc="-30" dirty="0">
                  <a:solidFill>
                    <a:schemeClr val="tx1"/>
                  </a:solidFill>
                  <a:latin typeface="Times New Roman" panose="02020603050405020304" pitchFamily="18" charset="0"/>
                  <a:cs typeface="Times New Roman" panose="02020603050405020304" pitchFamily="18" charset="0"/>
                </a:rPr>
                <a:t> </a:t>
              </a:r>
              <a:r>
                <a:rPr sz="1600" b="0" spc="-40" dirty="0">
                  <a:solidFill>
                    <a:schemeClr val="tx1"/>
                  </a:solidFill>
                  <a:latin typeface="Times New Roman" panose="02020603050405020304" pitchFamily="18" charset="0"/>
                  <a:cs typeface="Times New Roman" panose="02020603050405020304" pitchFamily="18" charset="0"/>
                </a:rPr>
                <a:t>Code</a:t>
              </a:r>
              <a:endParaRPr sz="1600" dirty="0">
                <a:solidFill>
                  <a:schemeClr val="tx1"/>
                </a:solidFill>
                <a:latin typeface="Times New Roman" panose="02020603050405020304" pitchFamily="18" charset="0"/>
                <a:cs typeface="Times New Roman" panose="02020603050405020304" pitchFamily="18" charset="0"/>
              </a:endParaRPr>
            </a:p>
          </p:txBody>
        </p:sp>
        <p:sp>
          <p:nvSpPr>
            <p:cNvPr id="40" name="object 40">
              <a:extLst>
                <a:ext uri="{FF2B5EF4-FFF2-40B4-BE49-F238E27FC236}">
                  <a16:creationId xmlns="" xmlns:a16="http://schemas.microsoft.com/office/drawing/2014/main" id="{A7BEB9E1-5C70-D634-DFE0-D02316B439BA}"/>
                </a:ext>
              </a:extLst>
            </p:cNvPr>
            <p:cNvSpPr txBox="1"/>
            <p:nvPr/>
          </p:nvSpPr>
          <p:spPr>
            <a:xfrm>
              <a:off x="7584737" y="5053136"/>
              <a:ext cx="1966767" cy="262892"/>
            </a:xfrm>
            <a:prstGeom prst="rect">
              <a:avLst/>
            </a:prstGeom>
          </p:spPr>
          <p:txBody>
            <a:bodyPr vert="horz" wrap="square" lIns="0" tIns="16510" rIns="0" bIns="0" rtlCol="0">
              <a:spAutoFit/>
            </a:bodyPr>
            <a:lstStyle/>
            <a:p>
              <a:pPr marL="12700">
                <a:lnSpc>
                  <a:spcPct val="100000"/>
                </a:lnSpc>
                <a:spcBef>
                  <a:spcPts val="130"/>
                </a:spcBef>
              </a:pPr>
              <a:r>
                <a:rPr sz="1600" spc="-60" dirty="0">
                  <a:solidFill>
                    <a:srgbClr val="FF0000"/>
                  </a:solidFill>
                  <a:latin typeface="Times New Roman" panose="02020603050405020304" pitchFamily="18" charset="0"/>
                  <a:cs typeface="Times New Roman" panose="02020603050405020304" pitchFamily="18" charset="0"/>
                </a:rPr>
                <a:t>Write</a:t>
              </a:r>
              <a:r>
                <a:rPr sz="1600" dirty="0">
                  <a:solidFill>
                    <a:srgbClr val="FF0000"/>
                  </a:solidFill>
                  <a:latin typeface="Times New Roman" panose="02020603050405020304" pitchFamily="18" charset="0"/>
                  <a:cs typeface="Times New Roman" panose="02020603050405020304" pitchFamily="18" charset="0"/>
                </a:rPr>
                <a:t> </a:t>
              </a:r>
              <a:r>
                <a:rPr sz="1600" spc="-70" dirty="0">
                  <a:solidFill>
                    <a:srgbClr val="FF0000"/>
                  </a:solidFill>
                  <a:latin typeface="Times New Roman" panose="02020603050405020304" pitchFamily="18" charset="0"/>
                  <a:cs typeface="Times New Roman" panose="02020603050405020304" pitchFamily="18" charset="0"/>
                </a:rPr>
                <a:t>&amp;</a:t>
              </a:r>
              <a:r>
                <a:rPr sz="1600" dirty="0">
                  <a:solidFill>
                    <a:srgbClr val="FF0000"/>
                  </a:solidFill>
                  <a:latin typeface="Times New Roman" panose="02020603050405020304" pitchFamily="18" charset="0"/>
                  <a:cs typeface="Times New Roman" panose="02020603050405020304" pitchFamily="18" charset="0"/>
                </a:rPr>
                <a:t> </a:t>
              </a:r>
              <a:r>
                <a:rPr sz="1600" spc="-50" dirty="0">
                  <a:solidFill>
                    <a:srgbClr val="FF0000"/>
                  </a:solidFill>
                  <a:latin typeface="Times New Roman" panose="02020603050405020304" pitchFamily="18" charset="0"/>
                  <a:cs typeface="Times New Roman" panose="02020603050405020304" pitchFamily="18" charset="0"/>
                </a:rPr>
                <a:t>test</a:t>
              </a:r>
              <a:r>
                <a:rPr sz="1600" dirty="0">
                  <a:solidFill>
                    <a:srgbClr val="FF0000"/>
                  </a:solidFill>
                  <a:latin typeface="Times New Roman" panose="02020603050405020304" pitchFamily="18" charset="0"/>
                  <a:cs typeface="Times New Roman" panose="02020603050405020304" pitchFamily="18" charset="0"/>
                </a:rPr>
                <a:t> </a:t>
              </a:r>
              <a:r>
                <a:rPr sz="1600" spc="-40" dirty="0">
                  <a:solidFill>
                    <a:srgbClr val="FF0000"/>
                  </a:solidFill>
                  <a:latin typeface="Times New Roman" panose="02020603050405020304" pitchFamily="18" charset="0"/>
                  <a:cs typeface="Times New Roman" panose="02020603050405020304" pitchFamily="18" charset="0"/>
                </a:rPr>
                <a:t>solution</a:t>
              </a:r>
              <a:endParaRPr sz="1600" dirty="0">
                <a:solidFill>
                  <a:srgbClr val="FF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2018190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0B4B3B30-7EB1-FD51-0939-4C7D96FE97F6}"/>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4FD33AAF-C438-1E7F-8653-A7D0A57CE748}"/>
              </a:ext>
            </a:extLst>
          </p:cNvPr>
          <p:cNvSpPr txBox="1"/>
          <p:nvPr/>
        </p:nvSpPr>
        <p:spPr>
          <a:xfrm>
            <a:off x="3198069" y="200322"/>
            <a:ext cx="6097555" cy="523220"/>
          </a:xfrm>
          <a:prstGeom prst="rect">
            <a:avLst/>
          </a:prstGeom>
          <a:noFill/>
        </p:spPr>
        <p:txBody>
          <a:bodyPr wrap="square">
            <a:spAutoFit/>
          </a:bodyPr>
          <a:lstStyle/>
          <a:p>
            <a:pPr algn="ctr">
              <a:spcAft>
                <a:spcPts val="1200"/>
              </a:spcAft>
            </a:pPr>
            <a:r>
              <a:rPr lang="en-IN" sz="2800" b="1" i="0" dirty="0">
                <a:solidFill>
                  <a:srgbClr val="1E293B"/>
                </a:solidFill>
                <a:effectLst/>
                <a:latin typeface="Times New Roman" panose="02020603050405020304" pitchFamily="18" charset="0"/>
                <a:cs typeface="Times New Roman" panose="02020603050405020304" pitchFamily="18" charset="0"/>
              </a:rPr>
              <a:t>Problem</a:t>
            </a:r>
            <a:r>
              <a:rPr lang="en-IN" sz="2400" b="1" i="0" dirty="0">
                <a:solidFill>
                  <a:srgbClr val="1E293B"/>
                </a:solidFill>
                <a:effectLst/>
                <a:latin typeface="Times New Roman" panose="02020603050405020304" pitchFamily="18" charset="0"/>
                <a:cs typeface="Times New Roman" panose="02020603050405020304" pitchFamily="18" charset="0"/>
              </a:rPr>
              <a:t> </a:t>
            </a:r>
            <a:r>
              <a:rPr lang="en-IN" sz="2800" b="1" i="0" dirty="0">
                <a:solidFill>
                  <a:srgbClr val="1E293B"/>
                </a:solidFill>
                <a:effectLst/>
                <a:latin typeface="Times New Roman" panose="02020603050405020304" pitchFamily="18" charset="0"/>
                <a:cs typeface="Times New Roman" panose="02020603050405020304" pitchFamily="18" charset="0"/>
              </a:rPr>
              <a:t>Definition</a:t>
            </a:r>
            <a:endParaRPr lang="en-IN" sz="2400" b="1" i="0" dirty="0">
              <a:solidFill>
                <a:srgbClr val="1E293B"/>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567F1CCD-C9C7-A17C-F235-DCFFFEE88BF1}"/>
              </a:ext>
            </a:extLst>
          </p:cNvPr>
          <p:cNvSpPr txBox="1"/>
          <p:nvPr/>
        </p:nvSpPr>
        <p:spPr>
          <a:xfrm>
            <a:off x="3198069" y="723545"/>
            <a:ext cx="6097555" cy="307777"/>
          </a:xfrm>
          <a:prstGeom prst="rect">
            <a:avLst/>
          </a:prstGeom>
          <a:noFill/>
        </p:spPr>
        <p:txBody>
          <a:bodyPr wrap="square">
            <a:spAutoFit/>
          </a:bodyPr>
          <a:lstStyle/>
          <a:p>
            <a:pPr algn="ctr"/>
            <a:r>
              <a:rPr lang="en-US" b="0" i="0" dirty="0">
                <a:solidFill>
                  <a:srgbClr val="64748B"/>
                </a:solidFill>
                <a:effectLst/>
                <a:latin typeface="Inter"/>
              </a:rPr>
              <a:t>Systematic approach to problem analysis</a:t>
            </a:r>
          </a:p>
        </p:txBody>
      </p:sp>
      <p:sp>
        <p:nvSpPr>
          <p:cNvPr id="7" name="TextBox 6">
            <a:extLst>
              <a:ext uri="{FF2B5EF4-FFF2-40B4-BE49-F238E27FC236}">
                <a16:creationId xmlns="" xmlns:a16="http://schemas.microsoft.com/office/drawing/2014/main" id="{AD7C4478-0E0B-52CB-691D-0FE6C5D83D75}"/>
              </a:ext>
            </a:extLst>
          </p:cNvPr>
          <p:cNvSpPr txBox="1"/>
          <p:nvPr/>
        </p:nvSpPr>
        <p:spPr>
          <a:xfrm>
            <a:off x="188842" y="1348897"/>
            <a:ext cx="6097555"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spcAft>
                <a:spcPts val="1800"/>
              </a:spcAft>
            </a:pPr>
            <a:r>
              <a:rPr lang="en-IN" sz="2400" b="1" i="0" dirty="0">
                <a:solidFill>
                  <a:schemeClr val="tx1"/>
                </a:solidFill>
                <a:effectLst/>
                <a:latin typeface="Times New Roman" panose="02020603050405020304" pitchFamily="18" charset="0"/>
                <a:cs typeface="Times New Roman" panose="02020603050405020304" pitchFamily="18" charset="0"/>
              </a:rPr>
              <a:t>Problem Analysis</a:t>
            </a:r>
          </a:p>
        </p:txBody>
      </p:sp>
      <p:sp>
        <p:nvSpPr>
          <p:cNvPr id="9" name="TextBox 8">
            <a:extLst>
              <a:ext uri="{FF2B5EF4-FFF2-40B4-BE49-F238E27FC236}">
                <a16:creationId xmlns="" xmlns:a16="http://schemas.microsoft.com/office/drawing/2014/main" id="{EF1A38E1-AB9D-1194-BED8-EF8FA3D29F07}"/>
              </a:ext>
            </a:extLst>
          </p:cNvPr>
          <p:cNvSpPr txBox="1"/>
          <p:nvPr/>
        </p:nvSpPr>
        <p:spPr>
          <a:xfrm>
            <a:off x="188847" y="1908482"/>
            <a:ext cx="11857383" cy="1569660"/>
          </a:xfrm>
          <a:prstGeom prst="rect">
            <a:avLst/>
          </a:prstGeom>
          <a:noFill/>
        </p:spPr>
        <p:txBody>
          <a:bodyPr wrap="square">
            <a:spAutoFit/>
          </a:bodyPr>
          <a:lstStyle/>
          <a:p>
            <a:r>
              <a:rPr lang="en-US" sz="2400" b="0" i="0" dirty="0">
                <a:solidFill>
                  <a:schemeClr val="tx1"/>
                </a:solidFill>
                <a:effectLst/>
                <a:latin typeface="Times New Roman" panose="02020603050405020304" pitchFamily="18" charset="0"/>
                <a:cs typeface="Times New Roman" panose="02020603050405020304" pitchFamily="18" charset="0"/>
              </a:rPr>
              <a:t>Clearly define what needs to be solved by identifying the problem statement, understanding input requirements, and specifying expected outputs. Determine constraints, limitations, and performance requirements. Analyze edge cases and special conditions that may affect the solution approach.</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6DFAAA1A-7561-F224-2F39-51B3EA47A9DC}"/>
              </a:ext>
            </a:extLst>
          </p:cNvPr>
          <p:cNvSpPr txBox="1"/>
          <p:nvPr/>
        </p:nvSpPr>
        <p:spPr>
          <a:xfrm>
            <a:off x="188842" y="3478142"/>
            <a:ext cx="6097555"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spcAft>
                <a:spcPts val="1800"/>
              </a:spcAft>
            </a:pPr>
            <a:r>
              <a:rPr lang="en-IN" sz="2400" b="1" i="0" dirty="0">
                <a:solidFill>
                  <a:schemeClr val="tx1"/>
                </a:solidFill>
                <a:effectLst/>
                <a:latin typeface="Times New Roman" panose="02020603050405020304" pitchFamily="18" charset="0"/>
                <a:cs typeface="Times New Roman" panose="02020603050405020304" pitchFamily="18" charset="0"/>
              </a:rPr>
              <a:t>Requirements Specification</a:t>
            </a:r>
          </a:p>
        </p:txBody>
      </p:sp>
      <p:sp>
        <p:nvSpPr>
          <p:cNvPr id="13" name="TextBox 12">
            <a:extLst>
              <a:ext uri="{FF2B5EF4-FFF2-40B4-BE49-F238E27FC236}">
                <a16:creationId xmlns="" xmlns:a16="http://schemas.microsoft.com/office/drawing/2014/main" id="{19B104B1-BECC-B7CB-9DF6-5041BB0E08DF}"/>
              </a:ext>
            </a:extLst>
          </p:cNvPr>
          <p:cNvSpPr txBox="1"/>
          <p:nvPr/>
        </p:nvSpPr>
        <p:spPr>
          <a:xfrm>
            <a:off x="188846" y="4081795"/>
            <a:ext cx="11857383" cy="1569660"/>
          </a:xfrm>
          <a:prstGeom prst="rect">
            <a:avLst/>
          </a:prstGeom>
          <a:noFill/>
        </p:spPr>
        <p:txBody>
          <a:bodyPr wrap="square">
            <a:spAutoFit/>
          </a:bodyPr>
          <a:lstStyle/>
          <a:p>
            <a:r>
              <a:rPr lang="en-US" sz="2400" b="0" i="0" dirty="0">
                <a:solidFill>
                  <a:schemeClr val="tx1"/>
                </a:solidFill>
                <a:effectLst/>
                <a:latin typeface="Times New Roman" panose="02020603050405020304" pitchFamily="18" charset="0"/>
                <a:cs typeface="Times New Roman" panose="02020603050405020304" pitchFamily="18" charset="0"/>
              </a:rPr>
              <a:t>Document functional requirements including what the program should do, non-functional requirements such as performance and usability criteria, and system constraints. Establish acceptance criteria for solution validation and create test scenarios to verify correctness of the final implementation.</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107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 xmlns:a16="http://schemas.microsoft.com/office/drawing/2014/main" id="{73F884BF-F2D7-5DAF-1FF8-8D137AE8B4E6}"/>
              </a:ext>
            </a:extLst>
          </p:cNvPr>
          <p:cNvSpPr txBox="1">
            <a:spLocks noGrp="1"/>
          </p:cNvSpPr>
          <p:nvPr>
            <p:ph type="title"/>
          </p:nvPr>
        </p:nvSpPr>
        <p:spPr>
          <a:xfrm>
            <a:off x="2623873" y="222861"/>
            <a:ext cx="7430771" cy="597599"/>
          </a:xfrm>
          <a:prstGeom prst="rect">
            <a:avLst/>
          </a:prstGeom>
        </p:spPr>
        <p:txBody>
          <a:bodyPr vert="horz" wrap="square" lIns="0" tIns="12700" rIns="0" bIns="0" rtlCol="0">
            <a:spAutoFit/>
          </a:bodyPr>
          <a:lstStyle/>
          <a:p>
            <a:pPr marL="12700" algn="ctr">
              <a:lnSpc>
                <a:spcPct val="100000"/>
              </a:lnSpc>
              <a:spcAft>
                <a:spcPts val="1200"/>
              </a:spcAft>
              <a:buClr>
                <a:srgbClr val="000000"/>
              </a:buClr>
            </a:pPr>
            <a:r>
              <a:rPr sz="2800" b="1" dirty="0">
                <a:solidFill>
                  <a:srgbClr val="1E293B"/>
                </a:solidFill>
                <a:latin typeface="Times New Roman" panose="02020603050405020304" pitchFamily="18" charset="0"/>
                <a:cs typeface="Times New Roman" panose="02020603050405020304" pitchFamily="18" charset="0"/>
              </a:rPr>
              <a:t>The Problem-Solving Process</a:t>
            </a:r>
          </a:p>
        </p:txBody>
      </p:sp>
      <p:sp>
        <p:nvSpPr>
          <p:cNvPr id="6" name="object 4">
            <a:extLst>
              <a:ext uri="{FF2B5EF4-FFF2-40B4-BE49-F238E27FC236}">
                <a16:creationId xmlns="" xmlns:a16="http://schemas.microsoft.com/office/drawing/2014/main" id="{D48FAACE-82EC-0FD4-7BF0-827F7D233232}"/>
              </a:ext>
            </a:extLst>
          </p:cNvPr>
          <p:cNvSpPr txBox="1"/>
          <p:nvPr/>
        </p:nvSpPr>
        <p:spPr>
          <a:xfrm>
            <a:off x="647701" y="1041874"/>
            <a:ext cx="11130171" cy="877035"/>
          </a:xfrm>
          <a:prstGeom prst="rect">
            <a:avLst/>
          </a:prstGeom>
        </p:spPr>
        <p:txBody>
          <a:bodyPr vert="horz" wrap="square" lIns="0" tIns="12700" rIns="0" bIns="0" rtlCol="0">
            <a:spAutoFit/>
          </a:bodyPr>
          <a:lstStyle>
            <a:defPPr marR="0" lvl="0" algn="l" rtl="0">
              <a:lnSpc>
                <a:spcPct val="100000"/>
              </a:lnSpc>
              <a:spcBef>
                <a:spcPts val="0"/>
              </a:spcBef>
              <a:spcAft>
                <a:spcPts val="0"/>
              </a:spcAft>
            </a:defPPr>
            <a:lvl1pPr marL="12700" marR="5080">
              <a:lnSpc>
                <a:spcPct val="116700"/>
              </a:lnSpc>
              <a:spcBef>
                <a:spcPts val="100"/>
              </a:spcBef>
              <a:defRPr sz="1500" spc="-70">
                <a:solidFill>
                  <a:srgbClr val="2D3748"/>
                </a:solidFill>
                <a:latin typeface="Roboto"/>
                <a:cs typeface="Roboto"/>
              </a:defRPr>
            </a:lvl1pPr>
          </a:lstStyle>
          <a:p>
            <a:r>
              <a:rPr sz="2400" b="1" dirty="0">
                <a:solidFill>
                  <a:schemeClr val="tx1"/>
                </a:solidFill>
                <a:latin typeface="Times New Roman" panose="02020603050405020304" pitchFamily="18" charset="0"/>
                <a:cs typeface="Times New Roman" panose="02020603050405020304" pitchFamily="18" charset="0"/>
              </a:rPr>
              <a:t>Effective problem-solving in programming involves a structured approach with three main stages. Mastering this process is fundamental to developing efficient and correct programs.</a:t>
            </a:r>
          </a:p>
        </p:txBody>
      </p:sp>
      <p:grpSp>
        <p:nvGrpSpPr>
          <p:cNvPr id="2" name="Group 1"/>
          <p:cNvGrpSpPr/>
          <p:nvPr/>
        </p:nvGrpSpPr>
        <p:grpSpPr>
          <a:xfrm>
            <a:off x="198783" y="1964983"/>
            <a:ext cx="3750364" cy="2362200"/>
            <a:chOff x="609599" y="2628898"/>
            <a:chExt cx="3429000" cy="2362200"/>
          </a:xfrm>
        </p:grpSpPr>
        <p:grpSp>
          <p:nvGrpSpPr>
            <p:cNvPr id="7" name="object 5">
              <a:extLst>
                <a:ext uri="{FF2B5EF4-FFF2-40B4-BE49-F238E27FC236}">
                  <a16:creationId xmlns="" xmlns:a16="http://schemas.microsoft.com/office/drawing/2014/main" id="{3D4AEDB3-03D4-A656-30A9-582C86382BF9}"/>
                </a:ext>
              </a:extLst>
            </p:cNvPr>
            <p:cNvGrpSpPr/>
            <p:nvPr/>
          </p:nvGrpSpPr>
          <p:grpSpPr>
            <a:xfrm>
              <a:off x="609599" y="2628898"/>
              <a:ext cx="3429000" cy="2362200"/>
              <a:chOff x="609599" y="2628900"/>
              <a:chExt cx="3429000" cy="2362200"/>
            </a:xfrm>
          </p:grpSpPr>
          <p:sp>
            <p:nvSpPr>
              <p:cNvPr id="8" name="object 6">
                <a:extLst>
                  <a:ext uri="{FF2B5EF4-FFF2-40B4-BE49-F238E27FC236}">
                    <a16:creationId xmlns="" xmlns:a16="http://schemas.microsoft.com/office/drawing/2014/main" id="{64681C21-16C6-72F9-BF8F-404A05EEF384}"/>
                  </a:ext>
                </a:extLst>
              </p:cNvPr>
              <p:cNvSpPr/>
              <p:nvPr/>
            </p:nvSpPr>
            <p:spPr>
              <a:xfrm>
                <a:off x="609599" y="2647949"/>
                <a:ext cx="3429000" cy="2343150"/>
              </a:xfrm>
              <a:custGeom>
                <a:avLst/>
                <a:gdLst/>
                <a:ahLst/>
                <a:cxnLst/>
                <a:rect l="l" t="t" r="r" b="b"/>
                <a:pathLst>
                  <a:path w="3429000" h="2343150">
                    <a:moveTo>
                      <a:pt x="3357802" y="2343149"/>
                    </a:moveTo>
                    <a:lnTo>
                      <a:pt x="71196" y="2343149"/>
                    </a:lnTo>
                    <a:lnTo>
                      <a:pt x="66241" y="2342661"/>
                    </a:lnTo>
                    <a:lnTo>
                      <a:pt x="29705" y="2327527"/>
                    </a:lnTo>
                    <a:lnTo>
                      <a:pt x="3885" y="2291487"/>
                    </a:lnTo>
                    <a:lnTo>
                      <a:pt x="0" y="2271953"/>
                    </a:lnTo>
                    <a:lnTo>
                      <a:pt x="0" y="2266949"/>
                    </a:lnTo>
                    <a:lnTo>
                      <a:pt x="0" y="53397"/>
                    </a:lnTo>
                    <a:lnTo>
                      <a:pt x="18780" y="19392"/>
                    </a:lnTo>
                    <a:lnTo>
                      <a:pt x="56426" y="1830"/>
                    </a:lnTo>
                    <a:lnTo>
                      <a:pt x="71196" y="0"/>
                    </a:lnTo>
                    <a:lnTo>
                      <a:pt x="3357802" y="0"/>
                    </a:lnTo>
                    <a:lnTo>
                      <a:pt x="3399293" y="11716"/>
                    </a:lnTo>
                    <a:lnTo>
                      <a:pt x="3426558" y="42319"/>
                    </a:lnTo>
                    <a:lnTo>
                      <a:pt x="3428999" y="53397"/>
                    </a:lnTo>
                    <a:lnTo>
                      <a:pt x="3428999" y="2271953"/>
                    </a:lnTo>
                    <a:lnTo>
                      <a:pt x="3413377" y="2313444"/>
                    </a:lnTo>
                    <a:lnTo>
                      <a:pt x="3377337" y="2339263"/>
                    </a:lnTo>
                    <a:lnTo>
                      <a:pt x="3362758" y="2342661"/>
                    </a:lnTo>
                    <a:lnTo>
                      <a:pt x="3357802" y="2343149"/>
                    </a:lnTo>
                    <a:close/>
                  </a:path>
                </a:pathLst>
              </a:custGeom>
              <a:solidFill>
                <a:srgbClr val="EFF5FF"/>
              </a:solidFill>
            </p:spPr>
            <p:txBody>
              <a:bodyPr wrap="square" lIns="0" tIns="0" rIns="0" bIns="0" rtlCol="0"/>
              <a:lstStyle/>
              <a:p>
                <a:endParaRPr sz="1600"/>
              </a:p>
            </p:txBody>
          </p:sp>
          <p:sp>
            <p:nvSpPr>
              <p:cNvPr id="9" name="object 7">
                <a:extLst>
                  <a:ext uri="{FF2B5EF4-FFF2-40B4-BE49-F238E27FC236}">
                    <a16:creationId xmlns="" xmlns:a16="http://schemas.microsoft.com/office/drawing/2014/main" id="{3011BCB9-3656-74E0-7351-E446A4E69F01}"/>
                  </a:ext>
                </a:extLst>
              </p:cNvPr>
              <p:cNvSpPr/>
              <p:nvPr/>
            </p:nvSpPr>
            <p:spPr>
              <a:xfrm>
                <a:off x="609866" y="2628899"/>
                <a:ext cx="3429000" cy="609600"/>
              </a:xfrm>
              <a:custGeom>
                <a:avLst/>
                <a:gdLst/>
                <a:ahLst/>
                <a:cxnLst/>
                <a:rect l="l" t="t" r="r" b="b"/>
                <a:pathLst>
                  <a:path w="3429000" h="609600">
                    <a:moveTo>
                      <a:pt x="571220" y="419100"/>
                    </a:moveTo>
                    <a:lnTo>
                      <a:pt x="565518" y="372808"/>
                    </a:lnTo>
                    <a:lnTo>
                      <a:pt x="548728" y="329298"/>
                    </a:lnTo>
                    <a:lnTo>
                      <a:pt x="521881" y="291185"/>
                    </a:lnTo>
                    <a:lnTo>
                      <a:pt x="486562" y="260705"/>
                    </a:lnTo>
                    <a:lnTo>
                      <a:pt x="444893" y="239737"/>
                    </a:lnTo>
                    <a:lnTo>
                      <a:pt x="399402" y="229527"/>
                    </a:lnTo>
                    <a:lnTo>
                      <a:pt x="380720" y="228600"/>
                    </a:lnTo>
                    <a:lnTo>
                      <a:pt x="371373" y="228828"/>
                    </a:lnTo>
                    <a:lnTo>
                      <a:pt x="325424" y="236804"/>
                    </a:lnTo>
                    <a:lnTo>
                      <a:pt x="282803" y="255701"/>
                    </a:lnTo>
                    <a:lnTo>
                      <a:pt x="246024" y="284403"/>
                    </a:lnTo>
                    <a:lnTo>
                      <a:pt x="217322" y="321183"/>
                    </a:lnTo>
                    <a:lnTo>
                      <a:pt x="198424" y="363804"/>
                    </a:lnTo>
                    <a:lnTo>
                      <a:pt x="190461" y="409752"/>
                    </a:lnTo>
                    <a:lnTo>
                      <a:pt x="190220" y="419100"/>
                    </a:lnTo>
                    <a:lnTo>
                      <a:pt x="190461" y="428459"/>
                    </a:lnTo>
                    <a:lnTo>
                      <a:pt x="198424" y="474408"/>
                    </a:lnTo>
                    <a:lnTo>
                      <a:pt x="217322" y="517029"/>
                    </a:lnTo>
                    <a:lnTo>
                      <a:pt x="246024" y="553808"/>
                    </a:lnTo>
                    <a:lnTo>
                      <a:pt x="282803" y="582510"/>
                    </a:lnTo>
                    <a:lnTo>
                      <a:pt x="325424" y="601408"/>
                    </a:lnTo>
                    <a:lnTo>
                      <a:pt x="371373" y="609371"/>
                    </a:lnTo>
                    <a:lnTo>
                      <a:pt x="380720" y="609600"/>
                    </a:lnTo>
                    <a:lnTo>
                      <a:pt x="390080" y="609371"/>
                    </a:lnTo>
                    <a:lnTo>
                      <a:pt x="436029" y="601408"/>
                    </a:lnTo>
                    <a:lnTo>
                      <a:pt x="478650" y="582510"/>
                    </a:lnTo>
                    <a:lnTo>
                      <a:pt x="515429" y="553808"/>
                    </a:lnTo>
                    <a:lnTo>
                      <a:pt x="544131" y="517029"/>
                    </a:lnTo>
                    <a:lnTo>
                      <a:pt x="563029" y="474408"/>
                    </a:lnTo>
                    <a:lnTo>
                      <a:pt x="570992" y="428459"/>
                    </a:lnTo>
                    <a:lnTo>
                      <a:pt x="571220" y="419100"/>
                    </a:lnTo>
                    <a:close/>
                  </a:path>
                  <a:path w="3429000" h="609600">
                    <a:moveTo>
                      <a:pt x="3428454" y="70459"/>
                    </a:moveTo>
                    <a:lnTo>
                      <a:pt x="3415893" y="33858"/>
                    </a:lnTo>
                    <a:lnTo>
                      <a:pt x="3381692" y="5803"/>
                    </a:lnTo>
                    <a:lnTo>
                      <a:pt x="3352520" y="0"/>
                    </a:lnTo>
                    <a:lnTo>
                      <a:pt x="75920" y="0"/>
                    </a:lnTo>
                    <a:lnTo>
                      <a:pt x="33578" y="12839"/>
                    </a:lnTo>
                    <a:lnTo>
                      <a:pt x="5524" y="47040"/>
                    </a:lnTo>
                    <a:lnTo>
                      <a:pt x="0" y="70459"/>
                    </a:lnTo>
                    <a:lnTo>
                      <a:pt x="1663" y="66294"/>
                    </a:lnTo>
                    <a:lnTo>
                      <a:pt x="9398" y="56959"/>
                    </a:lnTo>
                    <a:lnTo>
                      <a:pt x="46761" y="41008"/>
                    </a:lnTo>
                    <a:lnTo>
                      <a:pt x="75920" y="38100"/>
                    </a:lnTo>
                    <a:lnTo>
                      <a:pt x="3352520" y="38100"/>
                    </a:lnTo>
                    <a:lnTo>
                      <a:pt x="3394875" y="44526"/>
                    </a:lnTo>
                    <a:lnTo>
                      <a:pt x="3426790" y="66294"/>
                    </a:lnTo>
                    <a:lnTo>
                      <a:pt x="3428454" y="70459"/>
                    </a:lnTo>
                    <a:close/>
                  </a:path>
                </a:pathLst>
              </a:custGeom>
              <a:solidFill>
                <a:srgbClr val="2562EB"/>
              </a:solidFill>
            </p:spPr>
            <p:txBody>
              <a:bodyPr wrap="square" lIns="0" tIns="0" rIns="0" bIns="0" rtlCol="0"/>
              <a:lstStyle/>
              <a:p>
                <a:endParaRPr sz="1600"/>
              </a:p>
            </p:txBody>
          </p:sp>
        </p:grpSp>
        <p:sp>
          <p:nvSpPr>
            <p:cNvPr id="10" name="object 8">
              <a:extLst>
                <a:ext uri="{FF2B5EF4-FFF2-40B4-BE49-F238E27FC236}">
                  <a16:creationId xmlns="" xmlns:a16="http://schemas.microsoft.com/office/drawing/2014/main" id="{56DE80BC-A7AA-1D9E-E956-7BF8867F1E6F}"/>
                </a:ext>
              </a:extLst>
            </p:cNvPr>
            <p:cNvSpPr txBox="1"/>
            <p:nvPr/>
          </p:nvSpPr>
          <p:spPr>
            <a:xfrm>
              <a:off x="934144" y="2918457"/>
              <a:ext cx="113030" cy="258404"/>
            </a:xfrm>
            <a:prstGeom prst="rect">
              <a:avLst/>
            </a:prstGeom>
          </p:spPr>
          <p:txBody>
            <a:bodyPr vert="horz" wrap="square" lIns="0" tIns="12065" rIns="0" bIns="0" rtlCol="0">
              <a:spAutoFit/>
            </a:bodyPr>
            <a:lstStyle/>
            <a:p>
              <a:pPr marL="12700">
                <a:lnSpc>
                  <a:spcPct val="100000"/>
                </a:lnSpc>
                <a:spcBef>
                  <a:spcPts val="95"/>
                </a:spcBef>
              </a:pPr>
              <a:r>
                <a:rPr sz="1600" b="1" spc="-50" dirty="0">
                  <a:solidFill>
                    <a:srgbClr val="FFFFFF"/>
                  </a:solidFill>
                  <a:latin typeface="Times New Roman" panose="02020603050405020304" pitchFamily="18" charset="0"/>
                  <a:cs typeface="Times New Roman" panose="02020603050405020304" pitchFamily="18" charset="0"/>
                </a:rPr>
                <a:t>1</a:t>
              </a:r>
              <a:endParaRPr sz="1600">
                <a:latin typeface="Times New Roman" panose="02020603050405020304" pitchFamily="18" charset="0"/>
                <a:cs typeface="Times New Roman" panose="02020603050405020304" pitchFamily="18" charset="0"/>
              </a:endParaRPr>
            </a:p>
          </p:txBody>
        </p:sp>
        <p:sp>
          <p:nvSpPr>
            <p:cNvPr id="11" name="object 9">
              <a:extLst>
                <a:ext uri="{FF2B5EF4-FFF2-40B4-BE49-F238E27FC236}">
                  <a16:creationId xmlns="" xmlns:a16="http://schemas.microsoft.com/office/drawing/2014/main" id="{0F30D2A6-A1A9-46A8-4EB9-5C6B8337CEE3}"/>
                </a:ext>
              </a:extLst>
            </p:cNvPr>
            <p:cNvSpPr txBox="1"/>
            <p:nvPr/>
          </p:nvSpPr>
          <p:spPr>
            <a:xfrm>
              <a:off x="1282699" y="2890043"/>
              <a:ext cx="1517651" cy="322523"/>
            </a:xfrm>
            <a:prstGeom prst="rect">
              <a:avLst/>
            </a:prstGeom>
          </p:spPr>
          <p:txBody>
            <a:bodyPr vert="horz" wrap="square" lIns="0" tIns="14604" rIns="0" bIns="0" rtlCol="0">
              <a:spAutoFit/>
            </a:bodyPr>
            <a:lstStyle/>
            <a:p>
              <a:pPr marL="12700">
                <a:lnSpc>
                  <a:spcPct val="100000"/>
                </a:lnSpc>
                <a:spcBef>
                  <a:spcPts val="114"/>
                </a:spcBef>
              </a:pPr>
              <a:r>
                <a:rPr sz="2000" b="1" spc="-80" dirty="0">
                  <a:solidFill>
                    <a:srgbClr val="1D40AF"/>
                  </a:solidFill>
                  <a:latin typeface="Times New Roman" panose="02020603050405020304" pitchFamily="18" charset="0"/>
                  <a:cs typeface="Times New Roman" panose="02020603050405020304" pitchFamily="18" charset="0"/>
                </a:rPr>
                <a:t>Understanding</a:t>
              </a:r>
              <a:endParaRPr sz="2000" dirty="0">
                <a:latin typeface="Times New Roman" panose="02020603050405020304" pitchFamily="18" charset="0"/>
                <a:cs typeface="Times New Roman" panose="02020603050405020304" pitchFamily="18" charset="0"/>
              </a:endParaRPr>
            </a:p>
          </p:txBody>
        </p:sp>
        <p:grpSp>
          <p:nvGrpSpPr>
            <p:cNvPr id="12" name="object 10">
              <a:extLst>
                <a:ext uri="{FF2B5EF4-FFF2-40B4-BE49-F238E27FC236}">
                  <a16:creationId xmlns="" xmlns:a16="http://schemas.microsoft.com/office/drawing/2014/main" id="{83EB2729-95A1-5B34-9375-72EA9E30BCA1}"/>
                </a:ext>
              </a:extLst>
            </p:cNvPr>
            <p:cNvGrpSpPr/>
            <p:nvPr/>
          </p:nvGrpSpPr>
          <p:grpSpPr>
            <a:xfrm>
              <a:off x="875347" y="3418552"/>
              <a:ext cx="135255" cy="1344295"/>
              <a:chOff x="875347" y="3418552"/>
              <a:chExt cx="135255" cy="1344295"/>
            </a:xfrm>
          </p:grpSpPr>
          <p:pic>
            <p:nvPicPr>
              <p:cNvPr id="13" name="object 11">
                <a:extLst>
                  <a:ext uri="{FF2B5EF4-FFF2-40B4-BE49-F238E27FC236}">
                    <a16:creationId xmlns="" xmlns:a16="http://schemas.microsoft.com/office/drawing/2014/main" id="{7881AED9-8CD6-C413-21DD-F2F489A706EF}"/>
                  </a:ext>
                </a:extLst>
              </p:cNvPr>
              <p:cNvPicPr/>
              <p:nvPr/>
            </p:nvPicPr>
            <p:blipFill>
              <a:blip r:embed="rId2" cstate="print"/>
              <a:stretch>
                <a:fillRect/>
              </a:stretch>
            </p:blipFill>
            <p:spPr>
              <a:xfrm>
                <a:off x="875347" y="3418552"/>
                <a:ext cx="135225" cy="97125"/>
              </a:xfrm>
              <a:prstGeom prst="rect">
                <a:avLst/>
              </a:prstGeom>
            </p:spPr>
          </p:pic>
          <p:pic>
            <p:nvPicPr>
              <p:cNvPr id="14" name="object 12">
                <a:extLst>
                  <a:ext uri="{FF2B5EF4-FFF2-40B4-BE49-F238E27FC236}">
                    <a16:creationId xmlns="" xmlns:a16="http://schemas.microsoft.com/office/drawing/2014/main" id="{F7576B7B-2BA5-0CC4-2F1E-668BCEA7C335}"/>
                  </a:ext>
                </a:extLst>
              </p:cNvPr>
              <p:cNvPicPr/>
              <p:nvPr/>
            </p:nvPicPr>
            <p:blipFill>
              <a:blip r:embed="rId2" cstate="print"/>
              <a:stretch>
                <a:fillRect/>
              </a:stretch>
            </p:blipFill>
            <p:spPr>
              <a:xfrm>
                <a:off x="875347" y="3723352"/>
                <a:ext cx="135225" cy="97125"/>
              </a:xfrm>
              <a:prstGeom prst="rect">
                <a:avLst/>
              </a:prstGeom>
            </p:spPr>
          </p:pic>
          <p:pic>
            <p:nvPicPr>
              <p:cNvPr id="15" name="object 13">
                <a:extLst>
                  <a:ext uri="{FF2B5EF4-FFF2-40B4-BE49-F238E27FC236}">
                    <a16:creationId xmlns="" xmlns:a16="http://schemas.microsoft.com/office/drawing/2014/main" id="{2AB9DE4E-1253-C378-4FA4-1B9748DC144C}"/>
                  </a:ext>
                </a:extLst>
              </p:cNvPr>
              <p:cNvPicPr/>
              <p:nvPr/>
            </p:nvPicPr>
            <p:blipFill>
              <a:blip r:embed="rId2" cstate="print"/>
              <a:stretch>
                <a:fillRect/>
              </a:stretch>
            </p:blipFill>
            <p:spPr>
              <a:xfrm>
                <a:off x="875347" y="4028152"/>
                <a:ext cx="135225" cy="97125"/>
              </a:xfrm>
              <a:prstGeom prst="rect">
                <a:avLst/>
              </a:prstGeom>
            </p:spPr>
          </p:pic>
          <p:pic>
            <p:nvPicPr>
              <p:cNvPr id="16" name="object 14">
                <a:extLst>
                  <a:ext uri="{FF2B5EF4-FFF2-40B4-BE49-F238E27FC236}">
                    <a16:creationId xmlns="" xmlns:a16="http://schemas.microsoft.com/office/drawing/2014/main" id="{ABFDBD6F-1B76-59D9-6F3B-8DA6821E58FF}"/>
                  </a:ext>
                </a:extLst>
              </p:cNvPr>
              <p:cNvPicPr/>
              <p:nvPr/>
            </p:nvPicPr>
            <p:blipFill>
              <a:blip r:embed="rId2" cstate="print"/>
              <a:stretch>
                <a:fillRect/>
              </a:stretch>
            </p:blipFill>
            <p:spPr>
              <a:xfrm>
                <a:off x="875347" y="4332952"/>
                <a:ext cx="135225" cy="97125"/>
              </a:xfrm>
              <a:prstGeom prst="rect">
                <a:avLst/>
              </a:prstGeom>
            </p:spPr>
          </p:pic>
          <p:pic>
            <p:nvPicPr>
              <p:cNvPr id="17" name="object 15">
                <a:extLst>
                  <a:ext uri="{FF2B5EF4-FFF2-40B4-BE49-F238E27FC236}">
                    <a16:creationId xmlns="" xmlns:a16="http://schemas.microsoft.com/office/drawing/2014/main" id="{2942B531-F963-7DF9-AF8B-B52549190DD2}"/>
                  </a:ext>
                </a:extLst>
              </p:cNvPr>
              <p:cNvPicPr/>
              <p:nvPr/>
            </p:nvPicPr>
            <p:blipFill>
              <a:blip r:embed="rId3" cstate="print"/>
              <a:stretch>
                <a:fillRect/>
              </a:stretch>
            </p:blipFill>
            <p:spPr>
              <a:xfrm>
                <a:off x="881062" y="4610099"/>
                <a:ext cx="104768" cy="152399"/>
              </a:xfrm>
              <a:prstGeom prst="rect">
                <a:avLst/>
              </a:prstGeom>
            </p:spPr>
          </p:pic>
        </p:grpSp>
        <p:sp>
          <p:nvSpPr>
            <p:cNvPr id="18" name="object 16">
              <a:extLst>
                <a:ext uri="{FF2B5EF4-FFF2-40B4-BE49-F238E27FC236}">
                  <a16:creationId xmlns="" xmlns:a16="http://schemas.microsoft.com/office/drawing/2014/main" id="{697281E9-43BC-37EE-3499-0F49C77571CF}"/>
                </a:ext>
              </a:extLst>
            </p:cNvPr>
            <p:cNvSpPr txBox="1"/>
            <p:nvPr/>
          </p:nvSpPr>
          <p:spPr>
            <a:xfrm>
              <a:off x="1073150" y="3332479"/>
              <a:ext cx="2135462" cy="263534"/>
            </a:xfrm>
            <a:prstGeom prst="rect">
              <a:avLst/>
            </a:prstGeom>
          </p:spPr>
          <p:txBody>
            <a:bodyPr vert="horz" wrap="square" lIns="0" tIns="17145" rIns="0" bIns="0" rtlCol="0">
              <a:spAutoFit/>
            </a:bodyPr>
            <a:lstStyle/>
            <a:p>
              <a:pPr marL="12700">
                <a:lnSpc>
                  <a:spcPct val="100000"/>
                </a:lnSpc>
                <a:spcBef>
                  <a:spcPts val="135"/>
                </a:spcBef>
              </a:pPr>
              <a:r>
                <a:rPr sz="1600" spc="-65" dirty="0">
                  <a:solidFill>
                    <a:srgbClr val="2D3748"/>
                  </a:solidFill>
                  <a:latin typeface="Times New Roman" panose="02020603050405020304" pitchFamily="18" charset="0"/>
                  <a:cs typeface="Times New Roman" panose="02020603050405020304" pitchFamily="18" charset="0"/>
                </a:rPr>
                <a:t>Define</a:t>
              </a:r>
              <a:r>
                <a:rPr sz="1600" spc="10"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the</a:t>
              </a:r>
              <a:r>
                <a:rPr sz="1600" spc="10" dirty="0">
                  <a:solidFill>
                    <a:srgbClr val="2D3748"/>
                  </a:solidFill>
                  <a:latin typeface="Times New Roman" panose="02020603050405020304" pitchFamily="18" charset="0"/>
                  <a:cs typeface="Times New Roman" panose="02020603050405020304" pitchFamily="18" charset="0"/>
                </a:rPr>
                <a:t> </a:t>
              </a:r>
              <a:r>
                <a:rPr sz="1600" spc="-65" dirty="0">
                  <a:solidFill>
                    <a:srgbClr val="2D3748"/>
                  </a:solidFill>
                  <a:latin typeface="Times New Roman" panose="02020603050405020304" pitchFamily="18" charset="0"/>
                  <a:cs typeface="Times New Roman" panose="02020603050405020304" pitchFamily="18" charset="0"/>
                </a:rPr>
                <a:t>problem</a:t>
              </a:r>
              <a:r>
                <a:rPr sz="1600" spc="10" dirty="0">
                  <a:solidFill>
                    <a:srgbClr val="2D3748"/>
                  </a:solidFill>
                  <a:latin typeface="Times New Roman" panose="02020603050405020304" pitchFamily="18" charset="0"/>
                  <a:cs typeface="Times New Roman" panose="02020603050405020304" pitchFamily="18" charset="0"/>
                </a:rPr>
                <a:t> </a:t>
              </a:r>
              <a:r>
                <a:rPr sz="1600" spc="-30" dirty="0">
                  <a:solidFill>
                    <a:srgbClr val="2D3748"/>
                  </a:solidFill>
                  <a:latin typeface="Times New Roman" panose="02020603050405020304" pitchFamily="18" charset="0"/>
                  <a:cs typeface="Times New Roman" panose="02020603050405020304" pitchFamily="18" charset="0"/>
                </a:rPr>
                <a:t>clearly</a:t>
              </a:r>
              <a:endParaRPr sz="1600" dirty="0">
                <a:latin typeface="Times New Roman" panose="02020603050405020304" pitchFamily="18" charset="0"/>
                <a:cs typeface="Times New Roman" panose="02020603050405020304" pitchFamily="18" charset="0"/>
              </a:endParaRPr>
            </a:p>
          </p:txBody>
        </p:sp>
        <p:sp>
          <p:nvSpPr>
            <p:cNvPr id="19" name="object 17">
              <a:extLst>
                <a:ext uri="{FF2B5EF4-FFF2-40B4-BE49-F238E27FC236}">
                  <a16:creationId xmlns="" xmlns:a16="http://schemas.microsoft.com/office/drawing/2014/main" id="{B5C23056-0AD3-E997-5801-A9599DE50D43}"/>
                </a:ext>
              </a:extLst>
            </p:cNvPr>
            <p:cNvSpPr txBox="1"/>
            <p:nvPr/>
          </p:nvSpPr>
          <p:spPr>
            <a:xfrm>
              <a:off x="1073149" y="3637279"/>
              <a:ext cx="2036424" cy="263534"/>
            </a:xfrm>
            <a:prstGeom prst="rect">
              <a:avLst/>
            </a:prstGeom>
          </p:spPr>
          <p:txBody>
            <a:bodyPr vert="horz" wrap="square" lIns="0" tIns="17145" rIns="0" bIns="0" rtlCol="0">
              <a:spAutoFit/>
            </a:bodyPr>
            <a:lstStyle/>
            <a:p>
              <a:pPr marL="12700">
                <a:lnSpc>
                  <a:spcPct val="100000"/>
                </a:lnSpc>
                <a:spcBef>
                  <a:spcPts val="135"/>
                </a:spcBef>
              </a:pPr>
              <a:r>
                <a:rPr sz="1600" spc="-50" dirty="0">
                  <a:solidFill>
                    <a:srgbClr val="2D3748"/>
                  </a:solidFill>
                  <a:latin typeface="Times New Roman" panose="02020603050405020304" pitchFamily="18" charset="0"/>
                  <a:cs typeface="Times New Roman" panose="02020603050405020304" pitchFamily="18" charset="0"/>
                </a:rPr>
                <a:t>Restate</a:t>
              </a:r>
              <a:r>
                <a:rPr sz="1600" spc="-35" dirty="0">
                  <a:solidFill>
                    <a:srgbClr val="2D3748"/>
                  </a:solidFill>
                  <a:latin typeface="Times New Roman" panose="02020603050405020304" pitchFamily="18" charset="0"/>
                  <a:cs typeface="Times New Roman" panose="02020603050405020304" pitchFamily="18" charset="0"/>
                </a:rPr>
                <a:t> </a:t>
              </a:r>
              <a:r>
                <a:rPr sz="1600" spc="-30" dirty="0">
                  <a:solidFill>
                    <a:srgbClr val="2D3748"/>
                  </a:solidFill>
                  <a:latin typeface="Times New Roman" panose="02020603050405020304" pitchFamily="18" charset="0"/>
                  <a:cs typeface="Times New Roman" panose="02020603050405020304" pitchFamily="18" charset="0"/>
                </a:rPr>
                <a:t>in</a:t>
              </a:r>
              <a:r>
                <a:rPr sz="1600" spc="-40" dirty="0">
                  <a:solidFill>
                    <a:srgbClr val="2D3748"/>
                  </a:solidFill>
                  <a:latin typeface="Times New Roman" panose="02020603050405020304" pitchFamily="18" charset="0"/>
                  <a:cs typeface="Times New Roman" panose="02020603050405020304" pitchFamily="18" charset="0"/>
                </a:rPr>
                <a:t> plain </a:t>
              </a:r>
              <a:r>
                <a:rPr sz="1600" spc="-45" dirty="0">
                  <a:solidFill>
                    <a:srgbClr val="2D3748"/>
                  </a:solidFill>
                  <a:latin typeface="Times New Roman" panose="02020603050405020304" pitchFamily="18" charset="0"/>
                  <a:cs typeface="Times New Roman" panose="02020603050405020304" pitchFamily="18" charset="0"/>
                </a:rPr>
                <a:t>language</a:t>
              </a:r>
              <a:endParaRPr sz="1600" dirty="0">
                <a:latin typeface="Times New Roman" panose="02020603050405020304" pitchFamily="18" charset="0"/>
                <a:cs typeface="Times New Roman" panose="02020603050405020304" pitchFamily="18" charset="0"/>
              </a:endParaRPr>
            </a:p>
          </p:txBody>
        </p:sp>
        <p:sp>
          <p:nvSpPr>
            <p:cNvPr id="20" name="object 18">
              <a:extLst>
                <a:ext uri="{FF2B5EF4-FFF2-40B4-BE49-F238E27FC236}">
                  <a16:creationId xmlns="" xmlns:a16="http://schemas.microsoft.com/office/drawing/2014/main" id="{93D8F6BC-EAF8-D884-00FC-713EFB0A16E5}"/>
                </a:ext>
              </a:extLst>
            </p:cNvPr>
            <p:cNvSpPr txBox="1"/>
            <p:nvPr/>
          </p:nvSpPr>
          <p:spPr>
            <a:xfrm>
              <a:off x="1073150" y="3942079"/>
              <a:ext cx="2280862" cy="263534"/>
            </a:xfrm>
            <a:prstGeom prst="rect">
              <a:avLst/>
            </a:prstGeom>
          </p:spPr>
          <p:txBody>
            <a:bodyPr vert="horz" wrap="square" lIns="0" tIns="17145" rIns="0" bIns="0" rtlCol="0">
              <a:spAutoFit/>
            </a:bodyPr>
            <a:lstStyle/>
            <a:p>
              <a:pPr marL="12700">
                <a:lnSpc>
                  <a:spcPct val="100000"/>
                </a:lnSpc>
                <a:spcBef>
                  <a:spcPts val="135"/>
                </a:spcBef>
              </a:pPr>
              <a:r>
                <a:rPr sz="1600" spc="-40" dirty="0">
                  <a:solidFill>
                    <a:srgbClr val="2D3748"/>
                  </a:solidFill>
                  <a:latin typeface="Times New Roman" panose="02020603050405020304" pitchFamily="18" charset="0"/>
                  <a:cs typeface="Times New Roman" panose="02020603050405020304" pitchFamily="18" charset="0"/>
                </a:rPr>
                <a:t>Identify</a:t>
              </a:r>
              <a:r>
                <a:rPr sz="1600" spc="-10" dirty="0">
                  <a:solidFill>
                    <a:srgbClr val="2D3748"/>
                  </a:solidFill>
                  <a:latin typeface="Times New Roman" panose="02020603050405020304" pitchFamily="18" charset="0"/>
                  <a:cs typeface="Times New Roman" panose="02020603050405020304" pitchFamily="18" charset="0"/>
                </a:rPr>
                <a:t> </a:t>
              </a:r>
              <a:r>
                <a:rPr sz="1600" spc="-55" dirty="0">
                  <a:solidFill>
                    <a:srgbClr val="2D3748"/>
                  </a:solidFill>
                  <a:latin typeface="Times New Roman" panose="02020603050405020304" pitchFamily="18" charset="0"/>
                  <a:cs typeface="Times New Roman" panose="02020603050405020304" pitchFamily="18" charset="0"/>
                </a:rPr>
                <a:t>inputs</a:t>
              </a:r>
              <a:r>
                <a:rPr sz="1600" spc="-10" dirty="0">
                  <a:solidFill>
                    <a:srgbClr val="2D3748"/>
                  </a:solidFill>
                  <a:latin typeface="Times New Roman" panose="02020603050405020304" pitchFamily="18" charset="0"/>
                  <a:cs typeface="Times New Roman" panose="02020603050405020304" pitchFamily="18" charset="0"/>
                </a:rPr>
                <a:t> </a:t>
              </a:r>
              <a:r>
                <a:rPr sz="1600" spc="-60" dirty="0">
                  <a:solidFill>
                    <a:srgbClr val="2D3748"/>
                  </a:solidFill>
                  <a:latin typeface="Times New Roman" panose="02020603050405020304" pitchFamily="18" charset="0"/>
                  <a:cs typeface="Times New Roman" panose="02020603050405020304" pitchFamily="18" charset="0"/>
                </a:rPr>
                <a:t>and</a:t>
              </a:r>
              <a:r>
                <a:rPr sz="1600" spc="-10"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outputs</a:t>
              </a:r>
              <a:endParaRPr sz="1600" dirty="0">
                <a:latin typeface="Times New Roman" panose="02020603050405020304" pitchFamily="18" charset="0"/>
                <a:cs typeface="Times New Roman" panose="02020603050405020304" pitchFamily="18" charset="0"/>
              </a:endParaRPr>
            </a:p>
          </p:txBody>
        </p:sp>
        <p:sp>
          <p:nvSpPr>
            <p:cNvPr id="21" name="object 19">
              <a:extLst>
                <a:ext uri="{FF2B5EF4-FFF2-40B4-BE49-F238E27FC236}">
                  <a16:creationId xmlns="" xmlns:a16="http://schemas.microsoft.com/office/drawing/2014/main" id="{2484ACE6-0BA2-14F6-2EC4-88883CD1FB91}"/>
                </a:ext>
              </a:extLst>
            </p:cNvPr>
            <p:cNvSpPr txBox="1"/>
            <p:nvPr/>
          </p:nvSpPr>
          <p:spPr>
            <a:xfrm>
              <a:off x="1073150" y="4246879"/>
              <a:ext cx="2135462" cy="263534"/>
            </a:xfrm>
            <a:prstGeom prst="rect">
              <a:avLst/>
            </a:prstGeom>
          </p:spPr>
          <p:txBody>
            <a:bodyPr vert="horz" wrap="square" lIns="0" tIns="17145" rIns="0" bIns="0" rtlCol="0">
              <a:spAutoFit/>
            </a:bodyPr>
            <a:lstStyle/>
            <a:p>
              <a:pPr marL="12700">
                <a:lnSpc>
                  <a:spcPct val="100000"/>
                </a:lnSpc>
                <a:spcBef>
                  <a:spcPts val="135"/>
                </a:spcBef>
              </a:pPr>
              <a:r>
                <a:rPr sz="1600" spc="-70" dirty="0">
                  <a:solidFill>
                    <a:srgbClr val="2D3748"/>
                  </a:solidFill>
                  <a:latin typeface="Times New Roman" panose="02020603050405020304" pitchFamily="18" charset="0"/>
                  <a:cs typeface="Times New Roman" panose="02020603050405020304" pitchFamily="18" charset="0"/>
                </a:rPr>
                <a:t>Draw</a:t>
              </a:r>
              <a:r>
                <a:rPr sz="1600" spc="-25" dirty="0">
                  <a:solidFill>
                    <a:srgbClr val="2D3748"/>
                  </a:solidFill>
                  <a:latin typeface="Times New Roman" panose="02020603050405020304" pitchFamily="18" charset="0"/>
                  <a:cs typeface="Times New Roman" panose="02020603050405020304" pitchFamily="18" charset="0"/>
                </a:rPr>
                <a:t> </a:t>
              </a:r>
              <a:r>
                <a:rPr sz="1600" spc="-60" dirty="0">
                  <a:solidFill>
                    <a:srgbClr val="2D3748"/>
                  </a:solidFill>
                  <a:latin typeface="Times New Roman" panose="02020603050405020304" pitchFamily="18" charset="0"/>
                  <a:cs typeface="Times New Roman" panose="02020603050405020304" pitchFamily="18" charset="0"/>
                </a:rPr>
                <a:t>diagrams</a:t>
              </a:r>
              <a:r>
                <a:rPr sz="1600" spc="-25" dirty="0">
                  <a:solidFill>
                    <a:srgbClr val="2D3748"/>
                  </a:solidFill>
                  <a:latin typeface="Times New Roman" panose="02020603050405020304" pitchFamily="18" charset="0"/>
                  <a:cs typeface="Times New Roman" panose="02020603050405020304" pitchFamily="18" charset="0"/>
                </a:rPr>
                <a:t> </a:t>
              </a:r>
              <a:r>
                <a:rPr sz="1600" dirty="0">
                  <a:solidFill>
                    <a:srgbClr val="2D3748"/>
                  </a:solidFill>
                  <a:latin typeface="Times New Roman" panose="02020603050405020304" pitchFamily="18" charset="0"/>
                  <a:cs typeface="Times New Roman" panose="02020603050405020304" pitchFamily="18" charset="0"/>
                </a:rPr>
                <a:t>if</a:t>
              </a:r>
              <a:r>
                <a:rPr sz="1600" spc="-40" dirty="0">
                  <a:solidFill>
                    <a:srgbClr val="2D3748"/>
                  </a:solidFill>
                  <a:latin typeface="Times New Roman" panose="02020603050405020304" pitchFamily="18" charset="0"/>
                  <a:cs typeface="Times New Roman" panose="02020603050405020304" pitchFamily="18" charset="0"/>
                </a:rPr>
                <a:t> helpful</a:t>
              </a:r>
              <a:endParaRPr sz="1600" dirty="0">
                <a:latin typeface="Times New Roman" panose="02020603050405020304" pitchFamily="18" charset="0"/>
                <a:cs typeface="Times New Roman" panose="02020603050405020304" pitchFamily="18" charset="0"/>
              </a:endParaRPr>
            </a:p>
          </p:txBody>
        </p:sp>
        <p:sp>
          <p:nvSpPr>
            <p:cNvPr id="22" name="object 20">
              <a:extLst>
                <a:ext uri="{FF2B5EF4-FFF2-40B4-BE49-F238E27FC236}">
                  <a16:creationId xmlns="" xmlns:a16="http://schemas.microsoft.com/office/drawing/2014/main" id="{AB657C64-0B1B-516C-2A93-51221347877A}"/>
                </a:ext>
              </a:extLst>
            </p:cNvPr>
            <p:cNvSpPr txBox="1"/>
            <p:nvPr/>
          </p:nvSpPr>
          <p:spPr>
            <a:xfrm>
              <a:off x="1054100" y="4546462"/>
              <a:ext cx="2055475" cy="262251"/>
            </a:xfrm>
            <a:prstGeom prst="rect">
              <a:avLst/>
            </a:prstGeom>
          </p:spPr>
          <p:txBody>
            <a:bodyPr vert="horz" wrap="square" lIns="0" tIns="15875" rIns="0" bIns="0" rtlCol="0">
              <a:spAutoFit/>
            </a:bodyPr>
            <a:lstStyle/>
            <a:p>
              <a:pPr marL="12700">
                <a:lnSpc>
                  <a:spcPct val="100000"/>
                </a:lnSpc>
                <a:spcBef>
                  <a:spcPts val="125"/>
                </a:spcBef>
              </a:pPr>
              <a:r>
                <a:rPr sz="1600" i="1" spc="-75" dirty="0">
                  <a:solidFill>
                    <a:srgbClr val="2D3748"/>
                  </a:solidFill>
                  <a:latin typeface="Times New Roman" panose="02020603050405020304" pitchFamily="18" charset="0"/>
                  <a:cs typeface="Times New Roman" panose="02020603050405020304" pitchFamily="18" charset="0"/>
                </a:rPr>
                <a:t>Verify</a:t>
              </a:r>
              <a:r>
                <a:rPr sz="1600" i="1" spc="-45" dirty="0">
                  <a:solidFill>
                    <a:srgbClr val="2D3748"/>
                  </a:solidFill>
                  <a:latin typeface="Times New Roman" panose="02020603050405020304" pitchFamily="18" charset="0"/>
                  <a:cs typeface="Times New Roman" panose="02020603050405020304" pitchFamily="18" charset="0"/>
                </a:rPr>
                <a:t> </a:t>
              </a:r>
              <a:r>
                <a:rPr sz="1600" i="1" spc="-75" dirty="0">
                  <a:solidFill>
                    <a:srgbClr val="2D3748"/>
                  </a:solidFill>
                  <a:latin typeface="Times New Roman" panose="02020603050405020304" pitchFamily="18" charset="0"/>
                  <a:cs typeface="Times New Roman" panose="02020603050405020304" pitchFamily="18" charset="0"/>
                </a:rPr>
                <a:t>comprehension</a:t>
              </a:r>
              <a:endParaRPr sz="1600" dirty="0">
                <a:latin typeface="Times New Roman" panose="02020603050405020304" pitchFamily="18" charset="0"/>
                <a:cs typeface="Times New Roman" panose="02020603050405020304" pitchFamily="18" charset="0"/>
              </a:endParaRPr>
            </a:p>
          </p:txBody>
        </p:sp>
      </p:grpSp>
      <p:grpSp>
        <p:nvGrpSpPr>
          <p:cNvPr id="81" name="Group 80"/>
          <p:cNvGrpSpPr/>
          <p:nvPr/>
        </p:nvGrpSpPr>
        <p:grpSpPr>
          <a:xfrm>
            <a:off x="4105275" y="1926902"/>
            <a:ext cx="3429000" cy="2362200"/>
            <a:chOff x="4267199" y="2628900"/>
            <a:chExt cx="3429000" cy="2362200"/>
          </a:xfrm>
        </p:grpSpPr>
        <p:grpSp>
          <p:nvGrpSpPr>
            <p:cNvPr id="23" name="object 21">
              <a:extLst>
                <a:ext uri="{FF2B5EF4-FFF2-40B4-BE49-F238E27FC236}">
                  <a16:creationId xmlns="" xmlns:a16="http://schemas.microsoft.com/office/drawing/2014/main" id="{08424198-B798-395D-62C8-482AA41EB204}"/>
                </a:ext>
              </a:extLst>
            </p:cNvPr>
            <p:cNvGrpSpPr/>
            <p:nvPr/>
          </p:nvGrpSpPr>
          <p:grpSpPr>
            <a:xfrm>
              <a:off x="4267199" y="2628900"/>
              <a:ext cx="3429000" cy="2362200"/>
              <a:chOff x="4267199" y="2628900"/>
              <a:chExt cx="3429000" cy="2362200"/>
            </a:xfrm>
          </p:grpSpPr>
          <p:sp>
            <p:nvSpPr>
              <p:cNvPr id="24" name="object 22">
                <a:extLst>
                  <a:ext uri="{FF2B5EF4-FFF2-40B4-BE49-F238E27FC236}">
                    <a16:creationId xmlns="" xmlns:a16="http://schemas.microsoft.com/office/drawing/2014/main" id="{9E3F9AFC-7D97-1DE3-B1BB-0B6F5AEAB649}"/>
                  </a:ext>
                </a:extLst>
              </p:cNvPr>
              <p:cNvSpPr/>
              <p:nvPr/>
            </p:nvSpPr>
            <p:spPr>
              <a:xfrm>
                <a:off x="4267199" y="2647949"/>
                <a:ext cx="3429000" cy="2343150"/>
              </a:xfrm>
              <a:custGeom>
                <a:avLst/>
                <a:gdLst/>
                <a:ahLst/>
                <a:cxnLst/>
                <a:rect l="l" t="t" r="r" b="b"/>
                <a:pathLst>
                  <a:path w="3429000" h="2343150">
                    <a:moveTo>
                      <a:pt x="3357802" y="2343149"/>
                    </a:moveTo>
                    <a:lnTo>
                      <a:pt x="71196" y="2343149"/>
                    </a:lnTo>
                    <a:lnTo>
                      <a:pt x="66241" y="2342661"/>
                    </a:lnTo>
                    <a:lnTo>
                      <a:pt x="29705" y="2327527"/>
                    </a:lnTo>
                    <a:lnTo>
                      <a:pt x="3885" y="2291487"/>
                    </a:lnTo>
                    <a:lnTo>
                      <a:pt x="0" y="2271953"/>
                    </a:lnTo>
                    <a:lnTo>
                      <a:pt x="0" y="2266949"/>
                    </a:lnTo>
                    <a:lnTo>
                      <a:pt x="0" y="53397"/>
                    </a:lnTo>
                    <a:lnTo>
                      <a:pt x="18780" y="19392"/>
                    </a:lnTo>
                    <a:lnTo>
                      <a:pt x="56426" y="1830"/>
                    </a:lnTo>
                    <a:lnTo>
                      <a:pt x="71196" y="0"/>
                    </a:lnTo>
                    <a:lnTo>
                      <a:pt x="3357802" y="0"/>
                    </a:lnTo>
                    <a:lnTo>
                      <a:pt x="3399293" y="11716"/>
                    </a:lnTo>
                    <a:lnTo>
                      <a:pt x="3426558" y="42319"/>
                    </a:lnTo>
                    <a:lnTo>
                      <a:pt x="3429000" y="53397"/>
                    </a:lnTo>
                    <a:lnTo>
                      <a:pt x="3429000" y="2271953"/>
                    </a:lnTo>
                    <a:lnTo>
                      <a:pt x="3413377" y="2313444"/>
                    </a:lnTo>
                    <a:lnTo>
                      <a:pt x="3377337" y="2339263"/>
                    </a:lnTo>
                    <a:lnTo>
                      <a:pt x="3362757" y="2342661"/>
                    </a:lnTo>
                    <a:lnTo>
                      <a:pt x="3357802" y="2343149"/>
                    </a:lnTo>
                    <a:close/>
                  </a:path>
                </a:pathLst>
              </a:custGeom>
              <a:solidFill>
                <a:srgbClr val="EFF5FF"/>
              </a:solidFill>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sp>
            <p:nvSpPr>
              <p:cNvPr id="25" name="object 23">
                <a:extLst>
                  <a:ext uri="{FF2B5EF4-FFF2-40B4-BE49-F238E27FC236}">
                    <a16:creationId xmlns="" xmlns:a16="http://schemas.microsoft.com/office/drawing/2014/main" id="{C650CCFA-F46C-D168-B821-E26B66681300}"/>
                  </a:ext>
                </a:extLst>
              </p:cNvPr>
              <p:cNvSpPr/>
              <p:nvPr/>
            </p:nvSpPr>
            <p:spPr>
              <a:xfrm>
                <a:off x="4267466" y="2628899"/>
                <a:ext cx="3429000" cy="609600"/>
              </a:xfrm>
              <a:custGeom>
                <a:avLst/>
                <a:gdLst/>
                <a:ahLst/>
                <a:cxnLst/>
                <a:rect l="l" t="t" r="r" b="b"/>
                <a:pathLst>
                  <a:path w="3429000" h="609600">
                    <a:moveTo>
                      <a:pt x="571220" y="419100"/>
                    </a:moveTo>
                    <a:lnTo>
                      <a:pt x="565518" y="372808"/>
                    </a:lnTo>
                    <a:lnTo>
                      <a:pt x="548728" y="329298"/>
                    </a:lnTo>
                    <a:lnTo>
                      <a:pt x="521881" y="291185"/>
                    </a:lnTo>
                    <a:lnTo>
                      <a:pt x="486562" y="260705"/>
                    </a:lnTo>
                    <a:lnTo>
                      <a:pt x="444893" y="239737"/>
                    </a:lnTo>
                    <a:lnTo>
                      <a:pt x="399402" y="229527"/>
                    </a:lnTo>
                    <a:lnTo>
                      <a:pt x="380720" y="228600"/>
                    </a:lnTo>
                    <a:lnTo>
                      <a:pt x="371373" y="228828"/>
                    </a:lnTo>
                    <a:lnTo>
                      <a:pt x="325424" y="236804"/>
                    </a:lnTo>
                    <a:lnTo>
                      <a:pt x="282803" y="255701"/>
                    </a:lnTo>
                    <a:lnTo>
                      <a:pt x="246024" y="284403"/>
                    </a:lnTo>
                    <a:lnTo>
                      <a:pt x="217322" y="321183"/>
                    </a:lnTo>
                    <a:lnTo>
                      <a:pt x="198424" y="363804"/>
                    </a:lnTo>
                    <a:lnTo>
                      <a:pt x="190449" y="409752"/>
                    </a:lnTo>
                    <a:lnTo>
                      <a:pt x="190220" y="419100"/>
                    </a:lnTo>
                    <a:lnTo>
                      <a:pt x="190449" y="428459"/>
                    </a:lnTo>
                    <a:lnTo>
                      <a:pt x="198424" y="474408"/>
                    </a:lnTo>
                    <a:lnTo>
                      <a:pt x="217322" y="517029"/>
                    </a:lnTo>
                    <a:lnTo>
                      <a:pt x="246024" y="553808"/>
                    </a:lnTo>
                    <a:lnTo>
                      <a:pt x="282803" y="582510"/>
                    </a:lnTo>
                    <a:lnTo>
                      <a:pt x="325424" y="601408"/>
                    </a:lnTo>
                    <a:lnTo>
                      <a:pt x="371373" y="609371"/>
                    </a:lnTo>
                    <a:lnTo>
                      <a:pt x="380720" y="609600"/>
                    </a:lnTo>
                    <a:lnTo>
                      <a:pt x="390080" y="609371"/>
                    </a:lnTo>
                    <a:lnTo>
                      <a:pt x="436029" y="601408"/>
                    </a:lnTo>
                    <a:lnTo>
                      <a:pt x="478650" y="582510"/>
                    </a:lnTo>
                    <a:lnTo>
                      <a:pt x="515429" y="553808"/>
                    </a:lnTo>
                    <a:lnTo>
                      <a:pt x="544131" y="517029"/>
                    </a:lnTo>
                    <a:lnTo>
                      <a:pt x="563029" y="474408"/>
                    </a:lnTo>
                    <a:lnTo>
                      <a:pt x="570992" y="428459"/>
                    </a:lnTo>
                    <a:lnTo>
                      <a:pt x="571220" y="419100"/>
                    </a:lnTo>
                    <a:close/>
                  </a:path>
                  <a:path w="3429000" h="609600">
                    <a:moveTo>
                      <a:pt x="3428454" y="70459"/>
                    </a:moveTo>
                    <a:lnTo>
                      <a:pt x="3415893" y="33858"/>
                    </a:lnTo>
                    <a:lnTo>
                      <a:pt x="3381679" y="5803"/>
                    </a:lnTo>
                    <a:lnTo>
                      <a:pt x="3352520" y="0"/>
                    </a:lnTo>
                    <a:lnTo>
                      <a:pt x="75920" y="0"/>
                    </a:lnTo>
                    <a:lnTo>
                      <a:pt x="33578" y="12839"/>
                    </a:lnTo>
                    <a:lnTo>
                      <a:pt x="5524" y="47040"/>
                    </a:lnTo>
                    <a:lnTo>
                      <a:pt x="0" y="70459"/>
                    </a:lnTo>
                    <a:lnTo>
                      <a:pt x="1663" y="66294"/>
                    </a:lnTo>
                    <a:lnTo>
                      <a:pt x="9398" y="56959"/>
                    </a:lnTo>
                    <a:lnTo>
                      <a:pt x="46761" y="41008"/>
                    </a:lnTo>
                    <a:lnTo>
                      <a:pt x="75920" y="38100"/>
                    </a:lnTo>
                    <a:lnTo>
                      <a:pt x="3352520" y="38100"/>
                    </a:lnTo>
                    <a:lnTo>
                      <a:pt x="3394862" y="44526"/>
                    </a:lnTo>
                    <a:lnTo>
                      <a:pt x="3426790" y="66294"/>
                    </a:lnTo>
                    <a:lnTo>
                      <a:pt x="3428454" y="70459"/>
                    </a:lnTo>
                    <a:close/>
                  </a:path>
                </a:pathLst>
              </a:custGeom>
              <a:solidFill>
                <a:srgbClr val="2562EB"/>
              </a:solidFill>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grpSp>
        <p:grpSp>
          <p:nvGrpSpPr>
            <p:cNvPr id="3" name="Group 2"/>
            <p:cNvGrpSpPr/>
            <p:nvPr/>
          </p:nvGrpSpPr>
          <p:grpSpPr>
            <a:xfrm>
              <a:off x="4532947" y="2890043"/>
              <a:ext cx="2702878" cy="1918670"/>
              <a:chOff x="4532947" y="2890043"/>
              <a:chExt cx="2702878" cy="1918670"/>
            </a:xfrm>
          </p:grpSpPr>
          <p:sp>
            <p:nvSpPr>
              <p:cNvPr id="26" name="object 24">
                <a:extLst>
                  <a:ext uri="{FF2B5EF4-FFF2-40B4-BE49-F238E27FC236}">
                    <a16:creationId xmlns="" xmlns:a16="http://schemas.microsoft.com/office/drawing/2014/main" id="{100AF0FD-0F8D-5040-8BAA-2943F53317DE}"/>
                  </a:ext>
                </a:extLst>
              </p:cNvPr>
              <p:cNvSpPr txBox="1"/>
              <p:nvPr/>
            </p:nvSpPr>
            <p:spPr>
              <a:xfrm>
                <a:off x="4591744" y="2918457"/>
                <a:ext cx="113030" cy="258404"/>
              </a:xfrm>
              <a:prstGeom prst="rect">
                <a:avLst/>
              </a:prstGeom>
            </p:spPr>
            <p:txBody>
              <a:bodyPr vert="horz" wrap="square" lIns="0" tIns="12065" rIns="0" bIns="0" rtlCol="0">
                <a:spAutoFit/>
              </a:bodyPr>
              <a:lstStyle/>
              <a:p>
                <a:pPr marL="12700">
                  <a:lnSpc>
                    <a:spcPct val="100000"/>
                  </a:lnSpc>
                  <a:spcBef>
                    <a:spcPts val="95"/>
                  </a:spcBef>
                </a:pPr>
                <a:r>
                  <a:rPr sz="1600" b="1" spc="-50" dirty="0">
                    <a:solidFill>
                      <a:srgbClr val="FFFFFF"/>
                    </a:solidFill>
                    <a:latin typeface="Times New Roman" panose="02020603050405020304" pitchFamily="18" charset="0"/>
                    <a:cs typeface="Times New Roman" panose="02020603050405020304" pitchFamily="18" charset="0"/>
                  </a:rPr>
                  <a:t>2</a:t>
                </a:r>
                <a:endParaRPr sz="1600" dirty="0">
                  <a:latin typeface="Times New Roman" panose="02020603050405020304" pitchFamily="18" charset="0"/>
                  <a:cs typeface="Times New Roman" panose="02020603050405020304" pitchFamily="18" charset="0"/>
                </a:endParaRPr>
              </a:p>
            </p:txBody>
          </p:sp>
          <p:sp>
            <p:nvSpPr>
              <p:cNvPr id="27" name="object 25">
                <a:extLst>
                  <a:ext uri="{FF2B5EF4-FFF2-40B4-BE49-F238E27FC236}">
                    <a16:creationId xmlns="" xmlns:a16="http://schemas.microsoft.com/office/drawing/2014/main" id="{4D64080F-CA41-6BBF-96D9-BD2FC4E715DC}"/>
                  </a:ext>
                </a:extLst>
              </p:cNvPr>
              <p:cNvSpPr txBox="1"/>
              <p:nvPr/>
            </p:nvSpPr>
            <p:spPr>
              <a:xfrm>
                <a:off x="4940299" y="2890043"/>
                <a:ext cx="1273237" cy="322523"/>
              </a:xfrm>
              <a:prstGeom prst="rect">
                <a:avLst/>
              </a:prstGeom>
            </p:spPr>
            <p:txBody>
              <a:bodyPr vert="horz" wrap="square" lIns="0" tIns="14604" rIns="0" bIns="0" rtlCol="0">
                <a:spAutoFit/>
              </a:bodyPr>
              <a:lstStyle/>
              <a:p>
                <a:pPr marL="12700">
                  <a:lnSpc>
                    <a:spcPct val="100000"/>
                  </a:lnSpc>
                  <a:spcBef>
                    <a:spcPts val="114"/>
                  </a:spcBef>
                </a:pPr>
                <a:r>
                  <a:rPr sz="2000" b="1" spc="-75" dirty="0">
                    <a:solidFill>
                      <a:srgbClr val="1D40AF"/>
                    </a:solidFill>
                    <a:latin typeface="Times New Roman" panose="02020603050405020304" pitchFamily="18" charset="0"/>
                    <a:cs typeface="Times New Roman" panose="02020603050405020304" pitchFamily="18" charset="0"/>
                  </a:rPr>
                  <a:t>Planning</a:t>
                </a:r>
                <a:endParaRPr sz="2000" dirty="0">
                  <a:latin typeface="Times New Roman" panose="02020603050405020304" pitchFamily="18" charset="0"/>
                  <a:cs typeface="Times New Roman" panose="02020603050405020304" pitchFamily="18" charset="0"/>
                </a:endParaRPr>
              </a:p>
            </p:txBody>
          </p:sp>
          <p:grpSp>
            <p:nvGrpSpPr>
              <p:cNvPr id="28" name="object 26">
                <a:extLst>
                  <a:ext uri="{FF2B5EF4-FFF2-40B4-BE49-F238E27FC236}">
                    <a16:creationId xmlns="" xmlns:a16="http://schemas.microsoft.com/office/drawing/2014/main" id="{3C38126D-C185-6C85-6868-7534FB9D5A92}"/>
                  </a:ext>
                </a:extLst>
              </p:cNvPr>
              <p:cNvGrpSpPr/>
              <p:nvPr/>
            </p:nvGrpSpPr>
            <p:grpSpPr>
              <a:xfrm>
                <a:off x="4532947" y="3418552"/>
                <a:ext cx="135255" cy="1344295"/>
                <a:chOff x="4532947" y="3418552"/>
                <a:chExt cx="135255" cy="1344295"/>
              </a:xfrm>
            </p:grpSpPr>
            <p:pic>
              <p:nvPicPr>
                <p:cNvPr id="29" name="object 27">
                  <a:extLst>
                    <a:ext uri="{FF2B5EF4-FFF2-40B4-BE49-F238E27FC236}">
                      <a16:creationId xmlns="" xmlns:a16="http://schemas.microsoft.com/office/drawing/2014/main" id="{12BA2F2F-76C2-BE68-BB15-2F38AE76CFD1}"/>
                    </a:ext>
                  </a:extLst>
                </p:cNvPr>
                <p:cNvPicPr/>
                <p:nvPr/>
              </p:nvPicPr>
              <p:blipFill>
                <a:blip r:embed="rId2" cstate="print"/>
                <a:stretch>
                  <a:fillRect/>
                </a:stretch>
              </p:blipFill>
              <p:spPr>
                <a:xfrm>
                  <a:off x="4532947" y="3418552"/>
                  <a:ext cx="135225" cy="97125"/>
                </a:xfrm>
                <a:prstGeom prst="rect">
                  <a:avLst/>
                </a:prstGeom>
              </p:spPr>
            </p:pic>
            <p:pic>
              <p:nvPicPr>
                <p:cNvPr id="30" name="object 28">
                  <a:extLst>
                    <a:ext uri="{FF2B5EF4-FFF2-40B4-BE49-F238E27FC236}">
                      <a16:creationId xmlns="" xmlns:a16="http://schemas.microsoft.com/office/drawing/2014/main" id="{0229E5E1-C071-A91E-4386-3F6AB33B51E7}"/>
                    </a:ext>
                  </a:extLst>
                </p:cNvPr>
                <p:cNvPicPr/>
                <p:nvPr/>
              </p:nvPicPr>
              <p:blipFill>
                <a:blip r:embed="rId2" cstate="print"/>
                <a:stretch>
                  <a:fillRect/>
                </a:stretch>
              </p:blipFill>
              <p:spPr>
                <a:xfrm>
                  <a:off x="4532947" y="3723352"/>
                  <a:ext cx="135225" cy="97125"/>
                </a:xfrm>
                <a:prstGeom prst="rect">
                  <a:avLst/>
                </a:prstGeom>
              </p:spPr>
            </p:pic>
            <p:pic>
              <p:nvPicPr>
                <p:cNvPr id="31" name="object 29">
                  <a:extLst>
                    <a:ext uri="{FF2B5EF4-FFF2-40B4-BE49-F238E27FC236}">
                      <a16:creationId xmlns="" xmlns:a16="http://schemas.microsoft.com/office/drawing/2014/main" id="{96F0A634-31F9-4275-AC1A-396A42EC03B2}"/>
                    </a:ext>
                  </a:extLst>
                </p:cNvPr>
                <p:cNvPicPr/>
                <p:nvPr/>
              </p:nvPicPr>
              <p:blipFill>
                <a:blip r:embed="rId2" cstate="print"/>
                <a:stretch>
                  <a:fillRect/>
                </a:stretch>
              </p:blipFill>
              <p:spPr>
                <a:xfrm>
                  <a:off x="4532947" y="4028152"/>
                  <a:ext cx="135225" cy="97125"/>
                </a:xfrm>
                <a:prstGeom prst="rect">
                  <a:avLst/>
                </a:prstGeom>
              </p:spPr>
            </p:pic>
            <p:pic>
              <p:nvPicPr>
                <p:cNvPr id="32" name="object 30">
                  <a:extLst>
                    <a:ext uri="{FF2B5EF4-FFF2-40B4-BE49-F238E27FC236}">
                      <a16:creationId xmlns="" xmlns:a16="http://schemas.microsoft.com/office/drawing/2014/main" id="{BA2EE0A9-459D-D572-C078-4212B2173D96}"/>
                    </a:ext>
                  </a:extLst>
                </p:cNvPr>
                <p:cNvPicPr/>
                <p:nvPr/>
              </p:nvPicPr>
              <p:blipFill>
                <a:blip r:embed="rId2" cstate="print"/>
                <a:stretch>
                  <a:fillRect/>
                </a:stretch>
              </p:blipFill>
              <p:spPr>
                <a:xfrm>
                  <a:off x="4532947" y="4332952"/>
                  <a:ext cx="135225" cy="97125"/>
                </a:xfrm>
                <a:prstGeom prst="rect">
                  <a:avLst/>
                </a:prstGeom>
              </p:spPr>
            </p:pic>
            <p:pic>
              <p:nvPicPr>
                <p:cNvPr id="33" name="object 31">
                  <a:extLst>
                    <a:ext uri="{FF2B5EF4-FFF2-40B4-BE49-F238E27FC236}">
                      <a16:creationId xmlns="" xmlns:a16="http://schemas.microsoft.com/office/drawing/2014/main" id="{A6CC8CFB-735F-83A4-47C6-56FCC7739ACA}"/>
                    </a:ext>
                  </a:extLst>
                </p:cNvPr>
                <p:cNvPicPr/>
                <p:nvPr/>
              </p:nvPicPr>
              <p:blipFill>
                <a:blip r:embed="rId3" cstate="print"/>
                <a:stretch>
                  <a:fillRect/>
                </a:stretch>
              </p:blipFill>
              <p:spPr>
                <a:xfrm>
                  <a:off x="4538662" y="4610099"/>
                  <a:ext cx="104768" cy="152399"/>
                </a:xfrm>
                <a:prstGeom prst="rect">
                  <a:avLst/>
                </a:prstGeom>
              </p:spPr>
            </p:pic>
          </p:grpSp>
          <p:sp>
            <p:nvSpPr>
              <p:cNvPr id="34" name="object 32">
                <a:extLst>
                  <a:ext uri="{FF2B5EF4-FFF2-40B4-BE49-F238E27FC236}">
                    <a16:creationId xmlns="" xmlns:a16="http://schemas.microsoft.com/office/drawing/2014/main" id="{7BE17A74-5554-01D8-96DE-0F126BDB9673}"/>
                  </a:ext>
                </a:extLst>
              </p:cNvPr>
              <p:cNvSpPr txBox="1"/>
              <p:nvPr/>
            </p:nvSpPr>
            <p:spPr>
              <a:xfrm>
                <a:off x="4730750" y="3332479"/>
                <a:ext cx="1789430" cy="263534"/>
              </a:xfrm>
              <a:prstGeom prst="rect">
                <a:avLst/>
              </a:prstGeom>
            </p:spPr>
            <p:txBody>
              <a:bodyPr vert="horz" wrap="square" lIns="0" tIns="17145" rIns="0" bIns="0" rtlCol="0">
                <a:spAutoFit/>
              </a:bodyPr>
              <a:lstStyle/>
              <a:p>
                <a:pPr marL="12700">
                  <a:lnSpc>
                    <a:spcPct val="100000"/>
                  </a:lnSpc>
                  <a:spcBef>
                    <a:spcPts val="135"/>
                  </a:spcBef>
                </a:pPr>
                <a:r>
                  <a:rPr sz="1600" spc="-60" dirty="0">
                    <a:solidFill>
                      <a:srgbClr val="2D3748"/>
                    </a:solidFill>
                    <a:latin typeface="Times New Roman" panose="02020603050405020304" pitchFamily="18" charset="0"/>
                    <a:cs typeface="Times New Roman" panose="02020603050405020304" pitchFamily="18" charset="0"/>
                  </a:rPr>
                  <a:t>Design</a:t>
                </a:r>
                <a:r>
                  <a:rPr sz="1600" spc="-10"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the</a:t>
                </a:r>
                <a:r>
                  <a:rPr sz="1600" spc="-10" dirty="0">
                    <a:solidFill>
                      <a:srgbClr val="2D3748"/>
                    </a:solidFill>
                    <a:latin typeface="Times New Roman" panose="02020603050405020304" pitchFamily="18" charset="0"/>
                    <a:cs typeface="Times New Roman" panose="02020603050405020304" pitchFamily="18" charset="0"/>
                  </a:rPr>
                  <a:t> </a:t>
                </a:r>
                <a:r>
                  <a:rPr sz="1600" spc="-40" dirty="0">
                    <a:solidFill>
                      <a:srgbClr val="2D3748"/>
                    </a:solidFill>
                    <a:latin typeface="Times New Roman" panose="02020603050405020304" pitchFamily="18" charset="0"/>
                    <a:cs typeface="Times New Roman" panose="02020603050405020304" pitchFamily="18" charset="0"/>
                  </a:rPr>
                  <a:t>interface</a:t>
                </a:r>
                <a:endParaRPr sz="1600" dirty="0">
                  <a:latin typeface="Times New Roman" panose="02020603050405020304" pitchFamily="18" charset="0"/>
                  <a:cs typeface="Times New Roman" panose="02020603050405020304" pitchFamily="18" charset="0"/>
                </a:endParaRPr>
              </a:p>
            </p:txBody>
          </p:sp>
          <p:sp>
            <p:nvSpPr>
              <p:cNvPr id="35" name="object 33">
                <a:extLst>
                  <a:ext uri="{FF2B5EF4-FFF2-40B4-BE49-F238E27FC236}">
                    <a16:creationId xmlns="" xmlns:a16="http://schemas.microsoft.com/office/drawing/2014/main" id="{23CF6DF7-98D9-34BA-5C91-0EC1FFDBD726}"/>
                  </a:ext>
                </a:extLst>
              </p:cNvPr>
              <p:cNvSpPr txBox="1"/>
              <p:nvPr/>
            </p:nvSpPr>
            <p:spPr>
              <a:xfrm>
                <a:off x="4730750" y="3637279"/>
                <a:ext cx="2505075" cy="263534"/>
              </a:xfrm>
              <a:prstGeom prst="rect">
                <a:avLst/>
              </a:prstGeom>
            </p:spPr>
            <p:txBody>
              <a:bodyPr vert="horz" wrap="square" lIns="0" tIns="17145" rIns="0" bIns="0" rtlCol="0">
                <a:spAutoFit/>
              </a:bodyPr>
              <a:lstStyle/>
              <a:p>
                <a:pPr marL="12700">
                  <a:lnSpc>
                    <a:spcPct val="100000"/>
                  </a:lnSpc>
                  <a:spcBef>
                    <a:spcPts val="135"/>
                  </a:spcBef>
                </a:pPr>
                <a:r>
                  <a:rPr sz="1600" spc="-55" dirty="0">
                    <a:solidFill>
                      <a:srgbClr val="2D3748"/>
                    </a:solidFill>
                    <a:latin typeface="Times New Roman" panose="02020603050405020304" pitchFamily="18" charset="0"/>
                    <a:cs typeface="Times New Roman" panose="02020603050405020304" pitchFamily="18" charset="0"/>
                  </a:rPr>
                  <a:t>Determine</a:t>
                </a:r>
                <a:r>
                  <a:rPr sz="1600" spc="-5" dirty="0">
                    <a:solidFill>
                      <a:srgbClr val="2D3748"/>
                    </a:solidFill>
                    <a:latin typeface="Times New Roman" panose="02020603050405020304" pitchFamily="18" charset="0"/>
                    <a:cs typeface="Times New Roman" panose="02020603050405020304" pitchFamily="18" charset="0"/>
                  </a:rPr>
                  <a:t> </a:t>
                </a:r>
                <a:r>
                  <a:rPr sz="1600" spc="-55" dirty="0">
                    <a:solidFill>
                      <a:srgbClr val="2D3748"/>
                    </a:solidFill>
                    <a:latin typeface="Times New Roman" panose="02020603050405020304" pitchFamily="18" charset="0"/>
                    <a:cs typeface="Times New Roman" panose="02020603050405020304" pitchFamily="18" charset="0"/>
                  </a:rPr>
                  <a:t>data</a:t>
                </a:r>
                <a:r>
                  <a:rPr sz="1600"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structures</a:t>
                </a:r>
                <a:endParaRPr sz="1600" dirty="0">
                  <a:latin typeface="Times New Roman" panose="02020603050405020304" pitchFamily="18" charset="0"/>
                  <a:cs typeface="Times New Roman" panose="02020603050405020304" pitchFamily="18" charset="0"/>
                </a:endParaRPr>
              </a:p>
            </p:txBody>
          </p:sp>
          <p:sp>
            <p:nvSpPr>
              <p:cNvPr id="36" name="object 34">
                <a:extLst>
                  <a:ext uri="{FF2B5EF4-FFF2-40B4-BE49-F238E27FC236}">
                    <a16:creationId xmlns="" xmlns:a16="http://schemas.microsoft.com/office/drawing/2014/main" id="{6F845968-F6F8-35B2-934F-DE4C28796E16}"/>
                  </a:ext>
                </a:extLst>
              </p:cNvPr>
              <p:cNvSpPr txBox="1"/>
              <p:nvPr/>
            </p:nvSpPr>
            <p:spPr>
              <a:xfrm>
                <a:off x="4730750" y="3942079"/>
                <a:ext cx="2010880" cy="263534"/>
              </a:xfrm>
              <a:prstGeom prst="rect">
                <a:avLst/>
              </a:prstGeom>
            </p:spPr>
            <p:txBody>
              <a:bodyPr vert="horz" wrap="square" lIns="0" tIns="17145" rIns="0" bIns="0" rtlCol="0">
                <a:spAutoFit/>
              </a:bodyPr>
              <a:lstStyle/>
              <a:p>
                <a:pPr marL="12700">
                  <a:lnSpc>
                    <a:spcPct val="100000"/>
                  </a:lnSpc>
                  <a:spcBef>
                    <a:spcPts val="135"/>
                  </a:spcBef>
                </a:pPr>
                <a:r>
                  <a:rPr sz="1600" spc="-65" dirty="0">
                    <a:solidFill>
                      <a:srgbClr val="2D3748"/>
                    </a:solidFill>
                    <a:latin typeface="Times New Roman" panose="02020603050405020304" pitchFamily="18" charset="0"/>
                    <a:cs typeface="Times New Roman" panose="02020603050405020304" pitchFamily="18" charset="0"/>
                  </a:rPr>
                  <a:t>Sketch</a:t>
                </a:r>
                <a:r>
                  <a:rPr sz="1600" spc="5" dirty="0">
                    <a:solidFill>
                      <a:srgbClr val="2D3748"/>
                    </a:solidFill>
                    <a:latin typeface="Times New Roman" panose="02020603050405020304" pitchFamily="18" charset="0"/>
                    <a:cs typeface="Times New Roman" panose="02020603050405020304" pitchFamily="18" charset="0"/>
                  </a:rPr>
                  <a:t> </a:t>
                </a:r>
                <a:r>
                  <a:rPr sz="1600" spc="-60" dirty="0">
                    <a:solidFill>
                      <a:srgbClr val="2D3748"/>
                    </a:solidFill>
                    <a:latin typeface="Times New Roman" panose="02020603050405020304" pitchFamily="18" charset="0"/>
                    <a:cs typeface="Times New Roman" panose="02020603050405020304" pitchFamily="18" charset="0"/>
                  </a:rPr>
                  <a:t>an</a:t>
                </a:r>
                <a:r>
                  <a:rPr sz="1600" spc="5"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algorithm</a:t>
                </a:r>
                <a:endParaRPr sz="1600" dirty="0">
                  <a:latin typeface="Times New Roman" panose="02020603050405020304" pitchFamily="18" charset="0"/>
                  <a:cs typeface="Times New Roman" panose="02020603050405020304" pitchFamily="18" charset="0"/>
                </a:endParaRPr>
              </a:p>
            </p:txBody>
          </p:sp>
          <p:sp>
            <p:nvSpPr>
              <p:cNvPr id="37" name="object 35">
                <a:extLst>
                  <a:ext uri="{FF2B5EF4-FFF2-40B4-BE49-F238E27FC236}">
                    <a16:creationId xmlns="" xmlns:a16="http://schemas.microsoft.com/office/drawing/2014/main" id="{592DFD45-1957-6126-02FC-01D5A5865BC5}"/>
                  </a:ext>
                </a:extLst>
              </p:cNvPr>
              <p:cNvSpPr txBox="1"/>
              <p:nvPr/>
            </p:nvSpPr>
            <p:spPr>
              <a:xfrm>
                <a:off x="4730748" y="4246879"/>
                <a:ext cx="1861793" cy="263534"/>
              </a:xfrm>
              <a:prstGeom prst="rect">
                <a:avLst/>
              </a:prstGeom>
            </p:spPr>
            <p:txBody>
              <a:bodyPr vert="horz" wrap="square" lIns="0" tIns="17145" rIns="0" bIns="0" rtlCol="0">
                <a:spAutoFit/>
              </a:bodyPr>
              <a:lstStyle/>
              <a:p>
                <a:pPr marL="12700">
                  <a:lnSpc>
                    <a:spcPct val="100000"/>
                  </a:lnSpc>
                  <a:spcBef>
                    <a:spcPts val="135"/>
                  </a:spcBef>
                </a:pPr>
                <a:r>
                  <a:rPr sz="1600" spc="-55" dirty="0">
                    <a:solidFill>
                      <a:srgbClr val="2D3748"/>
                    </a:solidFill>
                    <a:latin typeface="Times New Roman" panose="02020603050405020304" pitchFamily="18" charset="0"/>
                    <a:cs typeface="Times New Roman" panose="02020603050405020304" pitchFamily="18" charset="0"/>
                  </a:rPr>
                  <a:t>Write</a:t>
                </a:r>
                <a:r>
                  <a:rPr sz="1600" spc="5" dirty="0">
                    <a:solidFill>
                      <a:srgbClr val="2D3748"/>
                    </a:solidFill>
                    <a:latin typeface="Times New Roman" panose="02020603050405020304" pitchFamily="18" charset="0"/>
                    <a:cs typeface="Times New Roman" panose="02020603050405020304" pitchFamily="18" charset="0"/>
                  </a:rPr>
                  <a:t> </a:t>
                </a:r>
                <a:r>
                  <a:rPr sz="1600" spc="-55" dirty="0">
                    <a:solidFill>
                      <a:srgbClr val="2D3748"/>
                    </a:solidFill>
                    <a:latin typeface="Times New Roman" panose="02020603050405020304" pitchFamily="18" charset="0"/>
                    <a:cs typeface="Times New Roman" panose="02020603050405020304" pitchFamily="18" charset="0"/>
                  </a:rPr>
                  <a:t>pseudocode</a:t>
                </a:r>
                <a:endParaRPr sz="1600" dirty="0">
                  <a:latin typeface="Times New Roman" panose="02020603050405020304" pitchFamily="18" charset="0"/>
                  <a:cs typeface="Times New Roman" panose="02020603050405020304" pitchFamily="18" charset="0"/>
                </a:endParaRPr>
              </a:p>
            </p:txBody>
          </p:sp>
          <p:sp>
            <p:nvSpPr>
              <p:cNvPr id="38" name="object 36">
                <a:extLst>
                  <a:ext uri="{FF2B5EF4-FFF2-40B4-BE49-F238E27FC236}">
                    <a16:creationId xmlns="" xmlns:a16="http://schemas.microsoft.com/office/drawing/2014/main" id="{3F5504CE-F6D5-9BA9-373D-80C6A2190C82}"/>
                  </a:ext>
                </a:extLst>
              </p:cNvPr>
              <p:cNvSpPr txBox="1"/>
              <p:nvPr/>
            </p:nvSpPr>
            <p:spPr>
              <a:xfrm>
                <a:off x="4711699" y="4546462"/>
                <a:ext cx="1880842" cy="262251"/>
              </a:xfrm>
              <a:prstGeom prst="rect">
                <a:avLst/>
              </a:prstGeom>
            </p:spPr>
            <p:txBody>
              <a:bodyPr vert="horz" wrap="square" lIns="0" tIns="15875" rIns="0" bIns="0" rtlCol="0">
                <a:spAutoFit/>
              </a:bodyPr>
              <a:lstStyle/>
              <a:p>
                <a:pPr marL="12700">
                  <a:lnSpc>
                    <a:spcPct val="100000"/>
                  </a:lnSpc>
                  <a:spcBef>
                    <a:spcPts val="125"/>
                  </a:spcBef>
                </a:pPr>
                <a:r>
                  <a:rPr sz="1600" i="1" spc="-100" dirty="0">
                    <a:solidFill>
                      <a:srgbClr val="2D3748"/>
                    </a:solidFill>
                    <a:latin typeface="Times New Roman" panose="02020603050405020304" pitchFamily="18" charset="0"/>
                    <a:cs typeface="Times New Roman" panose="02020603050405020304" pitchFamily="18" charset="0"/>
                  </a:rPr>
                  <a:t>Evaluate</a:t>
                </a:r>
                <a:r>
                  <a:rPr sz="1600" i="1" spc="-25" dirty="0">
                    <a:solidFill>
                      <a:srgbClr val="2D3748"/>
                    </a:solidFill>
                    <a:latin typeface="Times New Roman" panose="02020603050405020304" pitchFamily="18" charset="0"/>
                    <a:cs typeface="Times New Roman" panose="02020603050405020304" pitchFamily="18" charset="0"/>
                  </a:rPr>
                  <a:t> </a:t>
                </a:r>
                <a:r>
                  <a:rPr sz="1600" i="1" spc="-75" dirty="0">
                    <a:solidFill>
                      <a:srgbClr val="2D3748"/>
                    </a:solidFill>
                    <a:latin typeface="Times New Roman" panose="02020603050405020304" pitchFamily="18" charset="0"/>
                    <a:cs typeface="Times New Roman" panose="02020603050405020304" pitchFamily="18" charset="0"/>
                  </a:rPr>
                  <a:t>approaches</a:t>
                </a:r>
                <a:endParaRPr sz="1600" dirty="0">
                  <a:latin typeface="Times New Roman" panose="02020603050405020304" pitchFamily="18" charset="0"/>
                  <a:cs typeface="Times New Roman" panose="02020603050405020304" pitchFamily="18" charset="0"/>
                </a:endParaRPr>
              </a:p>
            </p:txBody>
          </p:sp>
        </p:grpSp>
      </p:grpSp>
      <p:grpSp>
        <p:nvGrpSpPr>
          <p:cNvPr id="82" name="Group 81"/>
          <p:cNvGrpSpPr/>
          <p:nvPr/>
        </p:nvGrpSpPr>
        <p:grpSpPr>
          <a:xfrm>
            <a:off x="7843839" y="1908646"/>
            <a:ext cx="3824703" cy="2362200"/>
            <a:chOff x="7924798" y="2628900"/>
            <a:chExt cx="3429000" cy="2362200"/>
          </a:xfrm>
        </p:grpSpPr>
        <p:grpSp>
          <p:nvGrpSpPr>
            <p:cNvPr id="39" name="object 37">
              <a:extLst>
                <a:ext uri="{FF2B5EF4-FFF2-40B4-BE49-F238E27FC236}">
                  <a16:creationId xmlns="" xmlns:a16="http://schemas.microsoft.com/office/drawing/2014/main" id="{8FF422E9-C11D-E704-655E-BB284E2ADE22}"/>
                </a:ext>
              </a:extLst>
            </p:cNvPr>
            <p:cNvGrpSpPr/>
            <p:nvPr/>
          </p:nvGrpSpPr>
          <p:grpSpPr>
            <a:xfrm>
              <a:off x="7924798" y="2628900"/>
              <a:ext cx="3429000" cy="2362200"/>
              <a:chOff x="7924798" y="2628900"/>
              <a:chExt cx="3429000" cy="2362200"/>
            </a:xfrm>
          </p:grpSpPr>
          <p:sp>
            <p:nvSpPr>
              <p:cNvPr id="40" name="object 38">
                <a:extLst>
                  <a:ext uri="{FF2B5EF4-FFF2-40B4-BE49-F238E27FC236}">
                    <a16:creationId xmlns="" xmlns:a16="http://schemas.microsoft.com/office/drawing/2014/main" id="{AE4F5404-0A4B-BAA6-84A4-C5FC8FEDD50B}"/>
                  </a:ext>
                </a:extLst>
              </p:cNvPr>
              <p:cNvSpPr/>
              <p:nvPr/>
            </p:nvSpPr>
            <p:spPr>
              <a:xfrm>
                <a:off x="7924798" y="2647949"/>
                <a:ext cx="3429000" cy="2343150"/>
              </a:xfrm>
              <a:custGeom>
                <a:avLst/>
                <a:gdLst/>
                <a:ahLst/>
                <a:cxnLst/>
                <a:rect l="l" t="t" r="r" b="b"/>
                <a:pathLst>
                  <a:path w="3429000" h="2343150">
                    <a:moveTo>
                      <a:pt x="3357803" y="2343149"/>
                    </a:moveTo>
                    <a:lnTo>
                      <a:pt x="71196" y="2343149"/>
                    </a:lnTo>
                    <a:lnTo>
                      <a:pt x="66241" y="2342661"/>
                    </a:lnTo>
                    <a:lnTo>
                      <a:pt x="29704" y="2327527"/>
                    </a:lnTo>
                    <a:lnTo>
                      <a:pt x="3884" y="2291487"/>
                    </a:lnTo>
                    <a:lnTo>
                      <a:pt x="0" y="2271953"/>
                    </a:lnTo>
                    <a:lnTo>
                      <a:pt x="0" y="2266949"/>
                    </a:lnTo>
                    <a:lnTo>
                      <a:pt x="0" y="53397"/>
                    </a:lnTo>
                    <a:lnTo>
                      <a:pt x="18779" y="19392"/>
                    </a:lnTo>
                    <a:lnTo>
                      <a:pt x="56426" y="1830"/>
                    </a:lnTo>
                    <a:lnTo>
                      <a:pt x="71196" y="0"/>
                    </a:lnTo>
                    <a:lnTo>
                      <a:pt x="3357803" y="0"/>
                    </a:lnTo>
                    <a:lnTo>
                      <a:pt x="3399294" y="11716"/>
                    </a:lnTo>
                    <a:lnTo>
                      <a:pt x="3426558" y="42319"/>
                    </a:lnTo>
                    <a:lnTo>
                      <a:pt x="3428999" y="53397"/>
                    </a:lnTo>
                    <a:lnTo>
                      <a:pt x="3428999" y="2271953"/>
                    </a:lnTo>
                    <a:lnTo>
                      <a:pt x="3413377" y="2313444"/>
                    </a:lnTo>
                    <a:lnTo>
                      <a:pt x="3377338" y="2339263"/>
                    </a:lnTo>
                    <a:lnTo>
                      <a:pt x="3362758" y="2342661"/>
                    </a:lnTo>
                    <a:lnTo>
                      <a:pt x="3357803" y="2343149"/>
                    </a:lnTo>
                    <a:close/>
                  </a:path>
                </a:pathLst>
              </a:custGeom>
              <a:solidFill>
                <a:srgbClr val="EFF5FF"/>
              </a:solidFill>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sp>
            <p:nvSpPr>
              <p:cNvPr id="41" name="object 39">
                <a:extLst>
                  <a:ext uri="{FF2B5EF4-FFF2-40B4-BE49-F238E27FC236}">
                    <a16:creationId xmlns="" xmlns:a16="http://schemas.microsoft.com/office/drawing/2014/main" id="{B2E2B48D-97E5-829B-A7C9-4A2567CD9ACB}"/>
                  </a:ext>
                </a:extLst>
              </p:cNvPr>
              <p:cNvSpPr/>
              <p:nvPr/>
            </p:nvSpPr>
            <p:spPr>
              <a:xfrm>
                <a:off x="7925066" y="2628899"/>
                <a:ext cx="3429000" cy="609600"/>
              </a:xfrm>
              <a:custGeom>
                <a:avLst/>
                <a:gdLst/>
                <a:ahLst/>
                <a:cxnLst/>
                <a:rect l="l" t="t" r="r" b="b"/>
                <a:pathLst>
                  <a:path w="3429000" h="609600">
                    <a:moveTo>
                      <a:pt x="571220" y="419100"/>
                    </a:moveTo>
                    <a:lnTo>
                      <a:pt x="565518" y="372808"/>
                    </a:lnTo>
                    <a:lnTo>
                      <a:pt x="548728" y="329298"/>
                    </a:lnTo>
                    <a:lnTo>
                      <a:pt x="521881" y="291185"/>
                    </a:lnTo>
                    <a:lnTo>
                      <a:pt x="486562" y="260705"/>
                    </a:lnTo>
                    <a:lnTo>
                      <a:pt x="444893" y="239737"/>
                    </a:lnTo>
                    <a:lnTo>
                      <a:pt x="399402" y="229527"/>
                    </a:lnTo>
                    <a:lnTo>
                      <a:pt x="380720" y="228600"/>
                    </a:lnTo>
                    <a:lnTo>
                      <a:pt x="371373" y="228828"/>
                    </a:lnTo>
                    <a:lnTo>
                      <a:pt x="325424" y="236804"/>
                    </a:lnTo>
                    <a:lnTo>
                      <a:pt x="282803" y="255701"/>
                    </a:lnTo>
                    <a:lnTo>
                      <a:pt x="246024" y="284403"/>
                    </a:lnTo>
                    <a:lnTo>
                      <a:pt x="217322" y="321183"/>
                    </a:lnTo>
                    <a:lnTo>
                      <a:pt x="198424" y="363804"/>
                    </a:lnTo>
                    <a:lnTo>
                      <a:pt x="190449" y="409752"/>
                    </a:lnTo>
                    <a:lnTo>
                      <a:pt x="190220" y="419100"/>
                    </a:lnTo>
                    <a:lnTo>
                      <a:pt x="190449" y="428459"/>
                    </a:lnTo>
                    <a:lnTo>
                      <a:pt x="198424" y="474408"/>
                    </a:lnTo>
                    <a:lnTo>
                      <a:pt x="217322" y="517029"/>
                    </a:lnTo>
                    <a:lnTo>
                      <a:pt x="246024" y="553808"/>
                    </a:lnTo>
                    <a:lnTo>
                      <a:pt x="282803" y="582510"/>
                    </a:lnTo>
                    <a:lnTo>
                      <a:pt x="325424" y="601408"/>
                    </a:lnTo>
                    <a:lnTo>
                      <a:pt x="371373" y="609371"/>
                    </a:lnTo>
                    <a:lnTo>
                      <a:pt x="380720" y="609600"/>
                    </a:lnTo>
                    <a:lnTo>
                      <a:pt x="390080" y="609371"/>
                    </a:lnTo>
                    <a:lnTo>
                      <a:pt x="436029" y="601408"/>
                    </a:lnTo>
                    <a:lnTo>
                      <a:pt x="478650" y="582510"/>
                    </a:lnTo>
                    <a:lnTo>
                      <a:pt x="515429" y="553808"/>
                    </a:lnTo>
                    <a:lnTo>
                      <a:pt x="544131" y="517029"/>
                    </a:lnTo>
                    <a:lnTo>
                      <a:pt x="563029" y="474408"/>
                    </a:lnTo>
                    <a:lnTo>
                      <a:pt x="570992" y="428459"/>
                    </a:lnTo>
                    <a:lnTo>
                      <a:pt x="571220" y="419100"/>
                    </a:lnTo>
                    <a:close/>
                  </a:path>
                  <a:path w="3429000" h="609600">
                    <a:moveTo>
                      <a:pt x="3428454" y="70459"/>
                    </a:moveTo>
                    <a:lnTo>
                      <a:pt x="3415893" y="33858"/>
                    </a:lnTo>
                    <a:lnTo>
                      <a:pt x="3381679" y="5803"/>
                    </a:lnTo>
                    <a:lnTo>
                      <a:pt x="3352520" y="0"/>
                    </a:lnTo>
                    <a:lnTo>
                      <a:pt x="75920" y="0"/>
                    </a:lnTo>
                    <a:lnTo>
                      <a:pt x="33578" y="12839"/>
                    </a:lnTo>
                    <a:lnTo>
                      <a:pt x="5524" y="47040"/>
                    </a:lnTo>
                    <a:lnTo>
                      <a:pt x="0" y="70459"/>
                    </a:lnTo>
                    <a:lnTo>
                      <a:pt x="1663" y="66294"/>
                    </a:lnTo>
                    <a:lnTo>
                      <a:pt x="9398" y="56959"/>
                    </a:lnTo>
                    <a:lnTo>
                      <a:pt x="46761" y="41008"/>
                    </a:lnTo>
                    <a:lnTo>
                      <a:pt x="75920" y="38100"/>
                    </a:lnTo>
                    <a:lnTo>
                      <a:pt x="3352520" y="38100"/>
                    </a:lnTo>
                    <a:lnTo>
                      <a:pt x="3394862" y="44526"/>
                    </a:lnTo>
                    <a:lnTo>
                      <a:pt x="3426790" y="66294"/>
                    </a:lnTo>
                    <a:lnTo>
                      <a:pt x="3428454" y="70459"/>
                    </a:lnTo>
                    <a:close/>
                  </a:path>
                </a:pathLst>
              </a:custGeom>
              <a:solidFill>
                <a:srgbClr val="2562EB"/>
              </a:solidFill>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grpSp>
        <p:sp>
          <p:nvSpPr>
            <p:cNvPr id="42" name="object 40">
              <a:extLst>
                <a:ext uri="{FF2B5EF4-FFF2-40B4-BE49-F238E27FC236}">
                  <a16:creationId xmlns="" xmlns:a16="http://schemas.microsoft.com/office/drawing/2014/main" id="{38928689-8829-C3E5-DBE6-B5F02F30DF53}"/>
                </a:ext>
              </a:extLst>
            </p:cNvPr>
            <p:cNvSpPr txBox="1"/>
            <p:nvPr/>
          </p:nvSpPr>
          <p:spPr>
            <a:xfrm>
              <a:off x="8249344" y="2918457"/>
              <a:ext cx="113030" cy="258404"/>
            </a:xfrm>
            <a:prstGeom prst="rect">
              <a:avLst/>
            </a:prstGeom>
          </p:spPr>
          <p:txBody>
            <a:bodyPr vert="horz" wrap="square" lIns="0" tIns="12065" rIns="0" bIns="0" rtlCol="0">
              <a:spAutoFit/>
            </a:bodyPr>
            <a:lstStyle/>
            <a:p>
              <a:pPr marL="12700">
                <a:lnSpc>
                  <a:spcPct val="100000"/>
                </a:lnSpc>
                <a:spcBef>
                  <a:spcPts val="95"/>
                </a:spcBef>
              </a:pPr>
              <a:r>
                <a:rPr sz="1600" b="1" spc="-50" dirty="0">
                  <a:solidFill>
                    <a:srgbClr val="FFFFFF"/>
                  </a:solidFill>
                  <a:latin typeface="Times New Roman" panose="02020603050405020304" pitchFamily="18" charset="0"/>
                  <a:cs typeface="Times New Roman" panose="02020603050405020304" pitchFamily="18" charset="0"/>
                </a:rPr>
                <a:t>3</a:t>
              </a:r>
              <a:endParaRPr sz="1600">
                <a:latin typeface="Times New Roman" panose="02020603050405020304" pitchFamily="18" charset="0"/>
                <a:cs typeface="Times New Roman" panose="02020603050405020304" pitchFamily="18" charset="0"/>
              </a:endParaRPr>
            </a:p>
          </p:txBody>
        </p:sp>
        <p:sp>
          <p:nvSpPr>
            <p:cNvPr id="43" name="object 41">
              <a:extLst>
                <a:ext uri="{FF2B5EF4-FFF2-40B4-BE49-F238E27FC236}">
                  <a16:creationId xmlns="" xmlns:a16="http://schemas.microsoft.com/office/drawing/2014/main" id="{5FA26A26-FB3C-37A9-AFEB-452CEE2B070F}"/>
                </a:ext>
              </a:extLst>
            </p:cNvPr>
            <p:cNvSpPr txBox="1"/>
            <p:nvPr/>
          </p:nvSpPr>
          <p:spPr>
            <a:xfrm>
              <a:off x="8597900" y="2890043"/>
              <a:ext cx="1283970" cy="322523"/>
            </a:xfrm>
            <a:prstGeom prst="rect">
              <a:avLst/>
            </a:prstGeom>
          </p:spPr>
          <p:txBody>
            <a:bodyPr vert="horz" wrap="square" lIns="0" tIns="14604" rIns="0" bIns="0" rtlCol="0">
              <a:spAutoFit/>
            </a:bodyPr>
            <a:lstStyle/>
            <a:p>
              <a:pPr marL="12700">
                <a:lnSpc>
                  <a:spcPct val="100000"/>
                </a:lnSpc>
                <a:spcBef>
                  <a:spcPts val="114"/>
                </a:spcBef>
              </a:pPr>
              <a:r>
                <a:rPr sz="2000" b="1" spc="-70" dirty="0">
                  <a:solidFill>
                    <a:srgbClr val="1D40AF"/>
                  </a:solidFill>
                  <a:latin typeface="Times New Roman" panose="02020603050405020304" pitchFamily="18" charset="0"/>
                  <a:cs typeface="Times New Roman" panose="02020603050405020304" pitchFamily="18" charset="0"/>
                </a:rPr>
                <a:t>Dividing</a:t>
              </a:r>
              <a:endParaRPr sz="2000" dirty="0">
                <a:latin typeface="Times New Roman" panose="02020603050405020304" pitchFamily="18" charset="0"/>
                <a:cs typeface="Times New Roman" panose="02020603050405020304" pitchFamily="18" charset="0"/>
              </a:endParaRPr>
            </a:p>
          </p:txBody>
        </p:sp>
        <p:grpSp>
          <p:nvGrpSpPr>
            <p:cNvPr id="44" name="object 42">
              <a:extLst>
                <a:ext uri="{FF2B5EF4-FFF2-40B4-BE49-F238E27FC236}">
                  <a16:creationId xmlns="" xmlns:a16="http://schemas.microsoft.com/office/drawing/2014/main" id="{F9F7D5E1-8BE1-24A7-FB8D-D940E45862AE}"/>
                </a:ext>
              </a:extLst>
            </p:cNvPr>
            <p:cNvGrpSpPr/>
            <p:nvPr/>
          </p:nvGrpSpPr>
          <p:grpSpPr>
            <a:xfrm>
              <a:off x="8190547" y="3418552"/>
              <a:ext cx="135255" cy="1344295"/>
              <a:chOff x="8190547" y="3418552"/>
              <a:chExt cx="135255" cy="1344295"/>
            </a:xfrm>
          </p:grpSpPr>
          <p:pic>
            <p:nvPicPr>
              <p:cNvPr id="45" name="object 43">
                <a:extLst>
                  <a:ext uri="{FF2B5EF4-FFF2-40B4-BE49-F238E27FC236}">
                    <a16:creationId xmlns="" xmlns:a16="http://schemas.microsoft.com/office/drawing/2014/main" id="{69E5EA2B-64D7-A5BF-A287-BA4512AFC4D1}"/>
                  </a:ext>
                </a:extLst>
              </p:cNvPr>
              <p:cNvPicPr/>
              <p:nvPr/>
            </p:nvPicPr>
            <p:blipFill>
              <a:blip r:embed="rId2" cstate="print"/>
              <a:stretch>
                <a:fillRect/>
              </a:stretch>
            </p:blipFill>
            <p:spPr>
              <a:xfrm>
                <a:off x="8190547" y="3418552"/>
                <a:ext cx="135225" cy="97125"/>
              </a:xfrm>
              <a:prstGeom prst="rect">
                <a:avLst/>
              </a:prstGeom>
            </p:spPr>
          </p:pic>
          <p:pic>
            <p:nvPicPr>
              <p:cNvPr id="46" name="object 44">
                <a:extLst>
                  <a:ext uri="{FF2B5EF4-FFF2-40B4-BE49-F238E27FC236}">
                    <a16:creationId xmlns="" xmlns:a16="http://schemas.microsoft.com/office/drawing/2014/main" id="{311B26D7-629A-EA1B-F63B-436B4536FBD8}"/>
                  </a:ext>
                </a:extLst>
              </p:cNvPr>
              <p:cNvPicPr/>
              <p:nvPr/>
            </p:nvPicPr>
            <p:blipFill>
              <a:blip r:embed="rId2" cstate="print"/>
              <a:stretch>
                <a:fillRect/>
              </a:stretch>
            </p:blipFill>
            <p:spPr>
              <a:xfrm>
                <a:off x="8190547" y="3723352"/>
                <a:ext cx="135225" cy="97125"/>
              </a:xfrm>
              <a:prstGeom prst="rect">
                <a:avLst/>
              </a:prstGeom>
            </p:spPr>
          </p:pic>
          <p:pic>
            <p:nvPicPr>
              <p:cNvPr id="47" name="object 45">
                <a:extLst>
                  <a:ext uri="{FF2B5EF4-FFF2-40B4-BE49-F238E27FC236}">
                    <a16:creationId xmlns="" xmlns:a16="http://schemas.microsoft.com/office/drawing/2014/main" id="{3437DE7F-2548-F3F1-1217-54A8A4C15432}"/>
                  </a:ext>
                </a:extLst>
              </p:cNvPr>
              <p:cNvPicPr/>
              <p:nvPr/>
            </p:nvPicPr>
            <p:blipFill>
              <a:blip r:embed="rId2" cstate="print"/>
              <a:stretch>
                <a:fillRect/>
              </a:stretch>
            </p:blipFill>
            <p:spPr>
              <a:xfrm>
                <a:off x="8190547" y="4028152"/>
                <a:ext cx="135225" cy="97125"/>
              </a:xfrm>
              <a:prstGeom prst="rect">
                <a:avLst/>
              </a:prstGeom>
            </p:spPr>
          </p:pic>
          <p:pic>
            <p:nvPicPr>
              <p:cNvPr id="48" name="object 46">
                <a:extLst>
                  <a:ext uri="{FF2B5EF4-FFF2-40B4-BE49-F238E27FC236}">
                    <a16:creationId xmlns="" xmlns:a16="http://schemas.microsoft.com/office/drawing/2014/main" id="{668AFA15-3FDA-C04D-5396-C94CFFBEBDAB}"/>
                  </a:ext>
                </a:extLst>
              </p:cNvPr>
              <p:cNvPicPr/>
              <p:nvPr/>
            </p:nvPicPr>
            <p:blipFill>
              <a:blip r:embed="rId2" cstate="print"/>
              <a:stretch>
                <a:fillRect/>
              </a:stretch>
            </p:blipFill>
            <p:spPr>
              <a:xfrm>
                <a:off x="8190547" y="4332952"/>
                <a:ext cx="135225" cy="97125"/>
              </a:xfrm>
              <a:prstGeom prst="rect">
                <a:avLst/>
              </a:prstGeom>
            </p:spPr>
          </p:pic>
          <p:pic>
            <p:nvPicPr>
              <p:cNvPr id="49" name="object 47">
                <a:extLst>
                  <a:ext uri="{FF2B5EF4-FFF2-40B4-BE49-F238E27FC236}">
                    <a16:creationId xmlns="" xmlns:a16="http://schemas.microsoft.com/office/drawing/2014/main" id="{97297E9C-4DA9-2498-5D5B-579262BCA65C}"/>
                  </a:ext>
                </a:extLst>
              </p:cNvPr>
              <p:cNvPicPr/>
              <p:nvPr/>
            </p:nvPicPr>
            <p:blipFill>
              <a:blip r:embed="rId3" cstate="print"/>
              <a:stretch>
                <a:fillRect/>
              </a:stretch>
            </p:blipFill>
            <p:spPr>
              <a:xfrm>
                <a:off x="8196262" y="4610099"/>
                <a:ext cx="104768" cy="152399"/>
              </a:xfrm>
              <a:prstGeom prst="rect">
                <a:avLst/>
              </a:prstGeom>
            </p:spPr>
          </p:pic>
        </p:grpSp>
        <p:sp>
          <p:nvSpPr>
            <p:cNvPr id="50" name="object 48">
              <a:extLst>
                <a:ext uri="{FF2B5EF4-FFF2-40B4-BE49-F238E27FC236}">
                  <a16:creationId xmlns="" xmlns:a16="http://schemas.microsoft.com/office/drawing/2014/main" id="{BB885F8D-17F8-3211-E4BE-3F970480208B}"/>
                </a:ext>
              </a:extLst>
            </p:cNvPr>
            <p:cNvSpPr txBox="1"/>
            <p:nvPr/>
          </p:nvSpPr>
          <p:spPr>
            <a:xfrm>
              <a:off x="8388350" y="3332479"/>
              <a:ext cx="1957410" cy="263534"/>
            </a:xfrm>
            <a:prstGeom prst="rect">
              <a:avLst/>
            </a:prstGeom>
          </p:spPr>
          <p:txBody>
            <a:bodyPr vert="horz" wrap="square" lIns="0" tIns="17145" rIns="0" bIns="0" rtlCol="0">
              <a:spAutoFit/>
            </a:bodyPr>
            <a:lstStyle/>
            <a:p>
              <a:pPr marL="12700">
                <a:lnSpc>
                  <a:spcPct val="100000"/>
                </a:lnSpc>
                <a:spcBef>
                  <a:spcPts val="135"/>
                </a:spcBef>
              </a:pPr>
              <a:r>
                <a:rPr sz="1600" spc="-65" dirty="0">
                  <a:solidFill>
                    <a:srgbClr val="2D3748"/>
                  </a:solidFill>
                  <a:latin typeface="Times New Roman" panose="02020603050405020304" pitchFamily="18" charset="0"/>
                  <a:cs typeface="Times New Roman" panose="02020603050405020304" pitchFamily="18" charset="0"/>
                </a:rPr>
                <a:t>Break</a:t>
              </a:r>
              <a:r>
                <a:rPr sz="1600" dirty="0">
                  <a:solidFill>
                    <a:srgbClr val="2D3748"/>
                  </a:solidFill>
                  <a:latin typeface="Times New Roman" panose="02020603050405020304" pitchFamily="18" charset="0"/>
                  <a:cs typeface="Times New Roman" panose="02020603050405020304" pitchFamily="18" charset="0"/>
                </a:rPr>
                <a:t> </a:t>
              </a:r>
              <a:r>
                <a:rPr sz="1600" spc="-50" dirty="0">
                  <a:solidFill>
                    <a:srgbClr val="2D3748"/>
                  </a:solidFill>
                  <a:latin typeface="Times New Roman" panose="02020603050405020304" pitchFamily="18" charset="0"/>
                  <a:cs typeface="Times New Roman" panose="02020603050405020304" pitchFamily="18" charset="0"/>
                </a:rPr>
                <a:t>into</a:t>
              </a:r>
              <a:r>
                <a:rPr sz="1600" dirty="0">
                  <a:solidFill>
                    <a:srgbClr val="2D3748"/>
                  </a:solidFill>
                  <a:latin typeface="Times New Roman" panose="02020603050405020304" pitchFamily="18" charset="0"/>
                  <a:cs typeface="Times New Roman" panose="02020603050405020304" pitchFamily="18" charset="0"/>
                </a:rPr>
                <a:t> </a:t>
              </a:r>
              <a:r>
                <a:rPr sz="1600" spc="-50" dirty="0">
                  <a:solidFill>
                    <a:srgbClr val="2D3748"/>
                  </a:solidFill>
                  <a:latin typeface="Times New Roman" panose="02020603050405020304" pitchFamily="18" charset="0"/>
                  <a:cs typeface="Times New Roman" panose="02020603050405020304" pitchFamily="18" charset="0"/>
                </a:rPr>
                <a:t>subproblems</a:t>
              </a:r>
              <a:endParaRPr sz="1600" dirty="0">
                <a:latin typeface="Times New Roman" panose="02020603050405020304" pitchFamily="18" charset="0"/>
                <a:cs typeface="Times New Roman" panose="02020603050405020304" pitchFamily="18" charset="0"/>
              </a:endParaRPr>
            </a:p>
          </p:txBody>
        </p:sp>
        <p:sp>
          <p:nvSpPr>
            <p:cNvPr id="51" name="object 49">
              <a:extLst>
                <a:ext uri="{FF2B5EF4-FFF2-40B4-BE49-F238E27FC236}">
                  <a16:creationId xmlns="" xmlns:a16="http://schemas.microsoft.com/office/drawing/2014/main" id="{B45D9886-7827-62A5-28E1-B5AF33E180BD}"/>
                </a:ext>
              </a:extLst>
            </p:cNvPr>
            <p:cNvSpPr txBox="1"/>
            <p:nvPr/>
          </p:nvSpPr>
          <p:spPr>
            <a:xfrm>
              <a:off x="8388350" y="3637279"/>
              <a:ext cx="2279315" cy="263534"/>
            </a:xfrm>
            <a:prstGeom prst="rect">
              <a:avLst/>
            </a:prstGeom>
          </p:spPr>
          <p:txBody>
            <a:bodyPr vert="horz" wrap="square" lIns="0" tIns="17145" rIns="0" bIns="0" rtlCol="0">
              <a:spAutoFit/>
            </a:bodyPr>
            <a:lstStyle/>
            <a:p>
              <a:pPr marL="12700">
                <a:lnSpc>
                  <a:spcPct val="100000"/>
                </a:lnSpc>
                <a:spcBef>
                  <a:spcPts val="135"/>
                </a:spcBef>
              </a:pPr>
              <a:r>
                <a:rPr sz="1600" spc="-35" dirty="0">
                  <a:solidFill>
                    <a:srgbClr val="2D3748"/>
                  </a:solidFill>
                  <a:latin typeface="Times New Roman" panose="02020603050405020304" pitchFamily="18" charset="0"/>
                  <a:cs typeface="Times New Roman" panose="02020603050405020304" pitchFamily="18" charset="0"/>
                </a:rPr>
                <a:t>Start</a:t>
              </a:r>
              <a:r>
                <a:rPr sz="1600" spc="-25" dirty="0">
                  <a:solidFill>
                    <a:srgbClr val="2D3748"/>
                  </a:solidFill>
                  <a:latin typeface="Times New Roman" panose="02020603050405020304" pitchFamily="18" charset="0"/>
                  <a:cs typeface="Times New Roman" panose="02020603050405020304" pitchFamily="18" charset="0"/>
                </a:rPr>
                <a:t> </a:t>
              </a:r>
              <a:r>
                <a:rPr sz="1600" spc="-50" dirty="0">
                  <a:solidFill>
                    <a:srgbClr val="2D3748"/>
                  </a:solidFill>
                  <a:latin typeface="Times New Roman" panose="02020603050405020304" pitchFamily="18" charset="0"/>
                  <a:cs typeface="Times New Roman" panose="02020603050405020304" pitchFamily="18" charset="0"/>
                </a:rPr>
                <a:t>with</a:t>
              </a:r>
              <a:r>
                <a:rPr sz="1600" spc="-25" dirty="0">
                  <a:solidFill>
                    <a:srgbClr val="2D3748"/>
                  </a:solidFill>
                  <a:latin typeface="Times New Roman" panose="02020603050405020304" pitchFamily="18" charset="0"/>
                  <a:cs typeface="Times New Roman" panose="02020603050405020304" pitchFamily="18" charset="0"/>
                </a:rPr>
                <a:t> </a:t>
              </a:r>
              <a:r>
                <a:rPr sz="1600" spc="-50" dirty="0">
                  <a:solidFill>
                    <a:srgbClr val="2D3748"/>
                  </a:solidFill>
                  <a:latin typeface="Times New Roman" panose="02020603050405020304" pitchFamily="18" charset="0"/>
                  <a:cs typeface="Times New Roman" panose="02020603050405020304" pitchFamily="18" charset="0"/>
                </a:rPr>
                <a:t>simplest</a:t>
              </a:r>
              <a:r>
                <a:rPr sz="1600" spc="-20" dirty="0">
                  <a:solidFill>
                    <a:srgbClr val="2D3748"/>
                  </a:solidFill>
                  <a:latin typeface="Times New Roman" panose="02020603050405020304" pitchFamily="18" charset="0"/>
                  <a:cs typeface="Times New Roman" panose="02020603050405020304" pitchFamily="18" charset="0"/>
                </a:rPr>
                <a:t> </a:t>
              </a:r>
              <a:r>
                <a:rPr sz="1600" spc="-35" dirty="0">
                  <a:solidFill>
                    <a:srgbClr val="2D3748"/>
                  </a:solidFill>
                  <a:latin typeface="Times New Roman" panose="02020603050405020304" pitchFamily="18" charset="0"/>
                  <a:cs typeface="Times New Roman" panose="02020603050405020304" pitchFamily="18" charset="0"/>
                </a:rPr>
                <a:t>parts</a:t>
              </a:r>
              <a:endParaRPr sz="1600" dirty="0">
                <a:latin typeface="Times New Roman" panose="02020603050405020304" pitchFamily="18" charset="0"/>
                <a:cs typeface="Times New Roman" panose="02020603050405020304" pitchFamily="18" charset="0"/>
              </a:endParaRPr>
            </a:p>
          </p:txBody>
        </p:sp>
        <p:sp>
          <p:nvSpPr>
            <p:cNvPr id="52" name="object 50">
              <a:extLst>
                <a:ext uri="{FF2B5EF4-FFF2-40B4-BE49-F238E27FC236}">
                  <a16:creationId xmlns="" xmlns:a16="http://schemas.microsoft.com/office/drawing/2014/main" id="{9E0A1CD5-EE4B-2B89-4A73-9E05B54AD3BE}"/>
                </a:ext>
              </a:extLst>
            </p:cNvPr>
            <p:cNvSpPr txBox="1"/>
            <p:nvPr/>
          </p:nvSpPr>
          <p:spPr>
            <a:xfrm>
              <a:off x="8388349" y="3942079"/>
              <a:ext cx="2179438" cy="263534"/>
            </a:xfrm>
            <a:prstGeom prst="rect">
              <a:avLst/>
            </a:prstGeom>
          </p:spPr>
          <p:txBody>
            <a:bodyPr vert="horz" wrap="square" lIns="0" tIns="17145" rIns="0" bIns="0" rtlCol="0">
              <a:spAutoFit/>
            </a:bodyPr>
            <a:lstStyle/>
            <a:p>
              <a:pPr marL="12700">
                <a:lnSpc>
                  <a:spcPct val="100000"/>
                </a:lnSpc>
                <a:spcBef>
                  <a:spcPts val="135"/>
                </a:spcBef>
              </a:pPr>
              <a:r>
                <a:rPr sz="1600" spc="-60" dirty="0">
                  <a:solidFill>
                    <a:srgbClr val="2D3748"/>
                  </a:solidFill>
                  <a:latin typeface="Times New Roman" panose="02020603050405020304" pitchFamily="18" charset="0"/>
                  <a:cs typeface="Times New Roman" panose="02020603050405020304" pitchFamily="18" charset="0"/>
                </a:rPr>
                <a:t>Solve</a:t>
              </a:r>
              <a:r>
                <a:rPr sz="1600" dirty="0">
                  <a:solidFill>
                    <a:srgbClr val="2D3748"/>
                  </a:solidFill>
                  <a:latin typeface="Times New Roman" panose="02020603050405020304" pitchFamily="18" charset="0"/>
                  <a:cs typeface="Times New Roman" panose="02020603050405020304" pitchFamily="18" charset="0"/>
                </a:rPr>
                <a:t> </a:t>
              </a:r>
              <a:r>
                <a:rPr sz="1600" spc="-45" dirty="0">
                  <a:solidFill>
                    <a:srgbClr val="2D3748"/>
                  </a:solidFill>
                  <a:latin typeface="Times New Roman" panose="02020603050405020304" pitchFamily="18" charset="0"/>
                  <a:cs typeface="Times New Roman" panose="02020603050405020304" pitchFamily="18" charset="0"/>
                </a:rPr>
                <a:t>incrementally</a:t>
              </a:r>
              <a:endParaRPr sz="1600" dirty="0">
                <a:latin typeface="Times New Roman" panose="02020603050405020304" pitchFamily="18" charset="0"/>
                <a:cs typeface="Times New Roman" panose="02020603050405020304" pitchFamily="18" charset="0"/>
              </a:endParaRPr>
            </a:p>
          </p:txBody>
        </p:sp>
        <p:sp>
          <p:nvSpPr>
            <p:cNvPr id="53" name="object 51">
              <a:extLst>
                <a:ext uri="{FF2B5EF4-FFF2-40B4-BE49-F238E27FC236}">
                  <a16:creationId xmlns="" xmlns:a16="http://schemas.microsoft.com/office/drawing/2014/main" id="{8CF5F334-0127-4AEA-C863-06D7426902B4}"/>
                </a:ext>
              </a:extLst>
            </p:cNvPr>
            <p:cNvSpPr txBox="1"/>
            <p:nvPr/>
          </p:nvSpPr>
          <p:spPr>
            <a:xfrm>
              <a:off x="8388350" y="4246879"/>
              <a:ext cx="1493520" cy="263534"/>
            </a:xfrm>
            <a:prstGeom prst="rect">
              <a:avLst/>
            </a:prstGeom>
          </p:spPr>
          <p:txBody>
            <a:bodyPr vert="horz" wrap="square" lIns="0" tIns="17145" rIns="0" bIns="0" rtlCol="0">
              <a:spAutoFit/>
            </a:bodyPr>
            <a:lstStyle/>
            <a:p>
              <a:pPr marL="12700">
                <a:lnSpc>
                  <a:spcPct val="100000"/>
                </a:lnSpc>
                <a:spcBef>
                  <a:spcPts val="135"/>
                </a:spcBef>
              </a:pPr>
              <a:r>
                <a:rPr sz="1600" spc="-75" dirty="0">
                  <a:solidFill>
                    <a:srgbClr val="2D3748"/>
                  </a:solidFill>
                  <a:latin typeface="Times New Roman" panose="02020603050405020304" pitchFamily="18" charset="0"/>
                  <a:cs typeface="Times New Roman" panose="02020603050405020304" pitchFamily="18" charset="0"/>
                </a:rPr>
                <a:t>Test</a:t>
              </a:r>
              <a:r>
                <a:rPr sz="1600" spc="-5" dirty="0">
                  <a:solidFill>
                    <a:srgbClr val="2D3748"/>
                  </a:solidFill>
                  <a:latin typeface="Times New Roman" panose="02020603050405020304" pitchFamily="18" charset="0"/>
                  <a:cs typeface="Times New Roman" panose="02020603050405020304" pitchFamily="18" charset="0"/>
                </a:rPr>
                <a:t> </a:t>
              </a:r>
              <a:r>
                <a:rPr sz="1600" spc="-60" dirty="0">
                  <a:solidFill>
                    <a:srgbClr val="2D3748"/>
                  </a:solidFill>
                  <a:latin typeface="Times New Roman" panose="02020603050405020304" pitchFamily="18" charset="0"/>
                  <a:cs typeface="Times New Roman" panose="02020603050405020304" pitchFamily="18" charset="0"/>
                </a:rPr>
                <a:t>each</a:t>
              </a:r>
              <a:r>
                <a:rPr sz="1600" dirty="0">
                  <a:solidFill>
                    <a:srgbClr val="2D3748"/>
                  </a:solidFill>
                  <a:latin typeface="Times New Roman" panose="02020603050405020304" pitchFamily="18" charset="0"/>
                  <a:cs typeface="Times New Roman" panose="02020603050405020304" pitchFamily="18" charset="0"/>
                </a:rPr>
                <a:t> </a:t>
              </a:r>
              <a:r>
                <a:rPr sz="1600" spc="-50" dirty="0">
                  <a:solidFill>
                    <a:srgbClr val="2D3748"/>
                  </a:solidFill>
                  <a:latin typeface="Times New Roman" panose="02020603050405020304" pitchFamily="18" charset="0"/>
                  <a:cs typeface="Times New Roman" panose="02020603050405020304" pitchFamily="18" charset="0"/>
                </a:rPr>
                <a:t>component</a:t>
              </a:r>
              <a:endParaRPr sz="1600">
                <a:latin typeface="Times New Roman" panose="02020603050405020304" pitchFamily="18" charset="0"/>
                <a:cs typeface="Times New Roman" panose="02020603050405020304" pitchFamily="18" charset="0"/>
              </a:endParaRPr>
            </a:p>
          </p:txBody>
        </p:sp>
        <p:sp>
          <p:nvSpPr>
            <p:cNvPr id="54" name="object 52">
              <a:extLst>
                <a:ext uri="{FF2B5EF4-FFF2-40B4-BE49-F238E27FC236}">
                  <a16:creationId xmlns="" xmlns:a16="http://schemas.microsoft.com/office/drawing/2014/main" id="{FDE01524-939E-CDB0-E8ED-34BA620EC30D}"/>
                </a:ext>
              </a:extLst>
            </p:cNvPr>
            <p:cNvSpPr txBox="1"/>
            <p:nvPr/>
          </p:nvSpPr>
          <p:spPr>
            <a:xfrm>
              <a:off x="8369300" y="4546462"/>
              <a:ext cx="1294130" cy="262251"/>
            </a:xfrm>
            <a:prstGeom prst="rect">
              <a:avLst/>
            </a:prstGeom>
          </p:spPr>
          <p:txBody>
            <a:bodyPr vert="horz" wrap="square" lIns="0" tIns="15875" rIns="0" bIns="0" rtlCol="0">
              <a:spAutoFit/>
            </a:bodyPr>
            <a:lstStyle/>
            <a:p>
              <a:pPr marL="12700">
                <a:lnSpc>
                  <a:spcPct val="100000"/>
                </a:lnSpc>
                <a:spcBef>
                  <a:spcPts val="125"/>
                </a:spcBef>
              </a:pPr>
              <a:r>
                <a:rPr sz="1600" i="1" spc="-95" dirty="0">
                  <a:solidFill>
                    <a:srgbClr val="2D3748"/>
                  </a:solidFill>
                  <a:latin typeface="Times New Roman" panose="02020603050405020304" pitchFamily="18" charset="0"/>
                  <a:cs typeface="Times New Roman" panose="02020603050405020304" pitchFamily="18" charset="0"/>
                </a:rPr>
                <a:t>Combine</a:t>
              </a:r>
              <a:r>
                <a:rPr sz="1600" i="1" spc="-40" dirty="0">
                  <a:solidFill>
                    <a:srgbClr val="2D3748"/>
                  </a:solidFill>
                  <a:latin typeface="Times New Roman" panose="02020603050405020304" pitchFamily="18" charset="0"/>
                  <a:cs typeface="Times New Roman" panose="02020603050405020304" pitchFamily="18" charset="0"/>
                </a:rPr>
                <a:t> </a:t>
              </a:r>
              <a:r>
                <a:rPr sz="1600" i="1" spc="-45" dirty="0">
                  <a:solidFill>
                    <a:srgbClr val="2D3748"/>
                  </a:solidFill>
                  <a:latin typeface="Times New Roman" panose="02020603050405020304" pitchFamily="18" charset="0"/>
                  <a:cs typeface="Times New Roman" panose="02020603050405020304" pitchFamily="18" charset="0"/>
                </a:rPr>
                <a:t>solutions</a:t>
              </a:r>
              <a:endParaRPr sz="1600" dirty="0">
                <a:latin typeface="Times New Roman" panose="02020603050405020304" pitchFamily="18" charset="0"/>
                <a:cs typeface="Times New Roman" panose="02020603050405020304" pitchFamily="18" charset="0"/>
              </a:endParaRPr>
            </a:p>
          </p:txBody>
        </p:sp>
      </p:grpSp>
      <p:sp>
        <p:nvSpPr>
          <p:cNvPr id="56" name="object 54">
            <a:extLst>
              <a:ext uri="{FF2B5EF4-FFF2-40B4-BE49-F238E27FC236}">
                <a16:creationId xmlns="" xmlns:a16="http://schemas.microsoft.com/office/drawing/2014/main" id="{19575445-0926-3498-4E1B-21449F41C552}"/>
              </a:ext>
            </a:extLst>
          </p:cNvPr>
          <p:cNvSpPr txBox="1"/>
          <p:nvPr/>
        </p:nvSpPr>
        <p:spPr>
          <a:xfrm>
            <a:off x="4519115" y="4345833"/>
            <a:ext cx="3157092" cy="263534"/>
          </a:xfrm>
          <a:prstGeom prst="rect">
            <a:avLst/>
          </a:prstGeom>
        </p:spPr>
        <p:txBody>
          <a:bodyPr vert="horz" wrap="square" lIns="0" tIns="17145" rIns="0" bIns="0" rtlCol="0">
            <a:spAutoFit/>
          </a:bodyPr>
          <a:lstStyle/>
          <a:p>
            <a:pPr marL="12700">
              <a:lnSpc>
                <a:spcPct val="100000"/>
              </a:lnSpc>
              <a:spcBef>
                <a:spcPts val="135"/>
              </a:spcBef>
            </a:pPr>
            <a:r>
              <a:rPr sz="1600" b="1" spc="-65" dirty="0">
                <a:solidFill>
                  <a:srgbClr val="2D3748"/>
                </a:solidFill>
                <a:latin typeface="Times New Roman" panose="02020603050405020304" pitchFamily="18" charset="0"/>
                <a:cs typeface="Times New Roman" panose="02020603050405020304" pitchFamily="18" charset="0"/>
              </a:rPr>
              <a:t>The</a:t>
            </a:r>
            <a:r>
              <a:rPr sz="1600" b="1" spc="-10" dirty="0">
                <a:solidFill>
                  <a:srgbClr val="2D3748"/>
                </a:solidFill>
                <a:latin typeface="Times New Roman" panose="02020603050405020304" pitchFamily="18" charset="0"/>
                <a:cs typeface="Times New Roman" panose="02020603050405020304" pitchFamily="18" charset="0"/>
              </a:rPr>
              <a:t> </a:t>
            </a:r>
            <a:r>
              <a:rPr sz="1600" b="1" spc="-65" dirty="0">
                <a:solidFill>
                  <a:srgbClr val="2D3748"/>
                </a:solidFill>
                <a:latin typeface="Times New Roman" panose="02020603050405020304" pitchFamily="18" charset="0"/>
                <a:cs typeface="Times New Roman" panose="02020603050405020304" pitchFamily="18" charset="0"/>
              </a:rPr>
              <a:t>Problem-</a:t>
            </a:r>
            <a:r>
              <a:rPr sz="1600" b="1" spc="-50" dirty="0">
                <a:solidFill>
                  <a:srgbClr val="2D3748"/>
                </a:solidFill>
                <a:latin typeface="Times New Roman" panose="02020603050405020304" pitchFamily="18" charset="0"/>
                <a:cs typeface="Times New Roman" panose="02020603050405020304" pitchFamily="18" charset="0"/>
              </a:rPr>
              <a:t>Solving</a:t>
            </a:r>
            <a:r>
              <a:rPr sz="1600" b="1" spc="-5" dirty="0">
                <a:solidFill>
                  <a:srgbClr val="2D3748"/>
                </a:solidFill>
                <a:latin typeface="Times New Roman" panose="02020603050405020304" pitchFamily="18" charset="0"/>
                <a:cs typeface="Times New Roman" panose="02020603050405020304" pitchFamily="18" charset="0"/>
              </a:rPr>
              <a:t> </a:t>
            </a:r>
            <a:r>
              <a:rPr sz="1600" b="1" spc="-65" dirty="0">
                <a:solidFill>
                  <a:srgbClr val="2D3748"/>
                </a:solidFill>
                <a:latin typeface="Times New Roman" panose="02020603050405020304" pitchFamily="18" charset="0"/>
                <a:cs typeface="Times New Roman" panose="02020603050405020304" pitchFamily="18" charset="0"/>
              </a:rPr>
              <a:t>Cycle</a:t>
            </a:r>
            <a:r>
              <a:rPr sz="1600" b="1" spc="-5" dirty="0">
                <a:solidFill>
                  <a:srgbClr val="2D3748"/>
                </a:solidFill>
                <a:latin typeface="Times New Roman" panose="02020603050405020304" pitchFamily="18" charset="0"/>
                <a:cs typeface="Times New Roman" panose="02020603050405020304" pitchFamily="18" charset="0"/>
              </a:rPr>
              <a:t> </a:t>
            </a:r>
            <a:r>
              <a:rPr sz="1600" b="1" spc="-35" dirty="0">
                <a:solidFill>
                  <a:srgbClr val="2D3748"/>
                </a:solidFill>
                <a:latin typeface="Times New Roman" panose="02020603050405020304" pitchFamily="18" charset="0"/>
                <a:cs typeface="Times New Roman" panose="02020603050405020304" pitchFamily="18" charset="0"/>
              </a:rPr>
              <a:t>in</a:t>
            </a:r>
            <a:r>
              <a:rPr sz="1600" b="1" spc="-5" dirty="0">
                <a:solidFill>
                  <a:srgbClr val="2D3748"/>
                </a:solidFill>
                <a:latin typeface="Times New Roman" panose="02020603050405020304" pitchFamily="18" charset="0"/>
                <a:cs typeface="Times New Roman" panose="02020603050405020304" pitchFamily="18" charset="0"/>
              </a:rPr>
              <a:t> </a:t>
            </a:r>
            <a:r>
              <a:rPr sz="1600" b="1" spc="-30" dirty="0">
                <a:solidFill>
                  <a:srgbClr val="2D3748"/>
                </a:solidFill>
                <a:latin typeface="Times New Roman" panose="02020603050405020304" pitchFamily="18" charset="0"/>
                <a:cs typeface="Times New Roman" panose="02020603050405020304" pitchFamily="18" charset="0"/>
              </a:rPr>
              <a:t>Action</a:t>
            </a:r>
            <a:endParaRPr sz="1600" b="1" dirty="0">
              <a:latin typeface="Times New Roman" panose="02020603050405020304" pitchFamily="18" charset="0"/>
              <a:cs typeface="Times New Roman" panose="02020603050405020304" pitchFamily="18" charset="0"/>
            </a:endParaRPr>
          </a:p>
        </p:txBody>
      </p:sp>
      <p:grpSp>
        <p:nvGrpSpPr>
          <p:cNvPr id="57" name="object 55">
            <a:extLst>
              <a:ext uri="{FF2B5EF4-FFF2-40B4-BE49-F238E27FC236}">
                <a16:creationId xmlns="" xmlns:a16="http://schemas.microsoft.com/office/drawing/2014/main" id="{1AB38244-6E51-8BA9-02F0-3BFC05E8C6E2}"/>
              </a:ext>
            </a:extLst>
          </p:cNvPr>
          <p:cNvGrpSpPr/>
          <p:nvPr/>
        </p:nvGrpSpPr>
        <p:grpSpPr>
          <a:xfrm>
            <a:off x="288238" y="4747590"/>
            <a:ext cx="3007415" cy="909458"/>
            <a:chOff x="2686049" y="5791199"/>
            <a:chExt cx="1981200" cy="609600"/>
          </a:xfrm>
        </p:grpSpPr>
        <p:sp>
          <p:nvSpPr>
            <p:cNvPr id="58" name="object 56">
              <a:extLst>
                <a:ext uri="{FF2B5EF4-FFF2-40B4-BE49-F238E27FC236}">
                  <a16:creationId xmlns="" xmlns:a16="http://schemas.microsoft.com/office/drawing/2014/main" id="{956D456D-8CEA-8C39-2A6D-4B692EB60776}"/>
                </a:ext>
              </a:extLst>
            </p:cNvPr>
            <p:cNvSpPr/>
            <p:nvPr/>
          </p:nvSpPr>
          <p:spPr>
            <a:xfrm>
              <a:off x="2695574" y="5800725"/>
              <a:ext cx="1962150" cy="590550"/>
            </a:xfrm>
            <a:custGeom>
              <a:avLst/>
              <a:gdLst/>
              <a:ahLst/>
              <a:cxnLst/>
              <a:rect l="l" t="t" r="r" b="b"/>
              <a:pathLst>
                <a:path w="1962150" h="590550">
                  <a:moveTo>
                    <a:pt x="1899852" y="590548"/>
                  </a:moveTo>
                  <a:lnTo>
                    <a:pt x="62297" y="590548"/>
                  </a:lnTo>
                  <a:lnTo>
                    <a:pt x="57960" y="590121"/>
                  </a:lnTo>
                  <a:lnTo>
                    <a:pt x="22624" y="574116"/>
                  </a:lnTo>
                  <a:lnTo>
                    <a:pt x="2135" y="541175"/>
                  </a:lnTo>
                  <a:lnTo>
                    <a:pt x="0" y="528252"/>
                  </a:lnTo>
                  <a:lnTo>
                    <a:pt x="0" y="523874"/>
                  </a:lnTo>
                  <a:lnTo>
                    <a:pt x="0" y="62296"/>
                  </a:lnTo>
                  <a:lnTo>
                    <a:pt x="13668" y="25990"/>
                  </a:lnTo>
                  <a:lnTo>
                    <a:pt x="45203" y="3399"/>
                  </a:lnTo>
                  <a:lnTo>
                    <a:pt x="62297" y="0"/>
                  </a:lnTo>
                  <a:lnTo>
                    <a:pt x="1899852" y="0"/>
                  </a:lnTo>
                  <a:lnTo>
                    <a:pt x="1936156" y="13667"/>
                  </a:lnTo>
                  <a:lnTo>
                    <a:pt x="1958749" y="45202"/>
                  </a:lnTo>
                  <a:lnTo>
                    <a:pt x="1962149" y="62296"/>
                  </a:lnTo>
                  <a:lnTo>
                    <a:pt x="1962149" y="528252"/>
                  </a:lnTo>
                  <a:lnTo>
                    <a:pt x="1948480" y="564556"/>
                  </a:lnTo>
                  <a:lnTo>
                    <a:pt x="1916945" y="587148"/>
                  </a:lnTo>
                  <a:lnTo>
                    <a:pt x="1904188" y="590121"/>
                  </a:lnTo>
                  <a:lnTo>
                    <a:pt x="1899852" y="590548"/>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59" name="object 57">
              <a:extLst>
                <a:ext uri="{FF2B5EF4-FFF2-40B4-BE49-F238E27FC236}">
                  <a16:creationId xmlns="" xmlns:a16="http://schemas.microsoft.com/office/drawing/2014/main" id="{779631BD-76BD-15DC-0091-9E5890956960}"/>
                </a:ext>
              </a:extLst>
            </p:cNvPr>
            <p:cNvSpPr/>
            <p:nvPr/>
          </p:nvSpPr>
          <p:spPr>
            <a:xfrm>
              <a:off x="2695574" y="5800724"/>
              <a:ext cx="1962150" cy="590550"/>
            </a:xfrm>
            <a:custGeom>
              <a:avLst/>
              <a:gdLst/>
              <a:ahLst/>
              <a:cxnLst/>
              <a:rect l="l" t="t" r="r" b="b"/>
              <a:pathLst>
                <a:path w="1962150" h="590550">
                  <a:moveTo>
                    <a:pt x="0" y="523874"/>
                  </a:moveTo>
                  <a:lnTo>
                    <a:pt x="0" y="66674"/>
                  </a:lnTo>
                  <a:lnTo>
                    <a:pt x="0" y="62296"/>
                  </a:lnTo>
                  <a:lnTo>
                    <a:pt x="427" y="57960"/>
                  </a:lnTo>
                  <a:lnTo>
                    <a:pt x="1281" y="53666"/>
                  </a:lnTo>
                  <a:lnTo>
                    <a:pt x="2135" y="49372"/>
                  </a:lnTo>
                  <a:lnTo>
                    <a:pt x="3399" y="45203"/>
                  </a:lnTo>
                  <a:lnTo>
                    <a:pt x="19528" y="19528"/>
                  </a:lnTo>
                  <a:lnTo>
                    <a:pt x="22624" y="16432"/>
                  </a:lnTo>
                  <a:lnTo>
                    <a:pt x="53667" y="1281"/>
                  </a:lnTo>
                  <a:lnTo>
                    <a:pt x="57960" y="427"/>
                  </a:lnTo>
                  <a:lnTo>
                    <a:pt x="62297" y="0"/>
                  </a:lnTo>
                  <a:lnTo>
                    <a:pt x="66674" y="0"/>
                  </a:lnTo>
                  <a:lnTo>
                    <a:pt x="1895474" y="0"/>
                  </a:lnTo>
                  <a:lnTo>
                    <a:pt x="1899852" y="0"/>
                  </a:lnTo>
                  <a:lnTo>
                    <a:pt x="1904188" y="427"/>
                  </a:lnTo>
                  <a:lnTo>
                    <a:pt x="1908482" y="1281"/>
                  </a:lnTo>
                  <a:lnTo>
                    <a:pt x="1912775" y="2135"/>
                  </a:lnTo>
                  <a:lnTo>
                    <a:pt x="1945716" y="22624"/>
                  </a:lnTo>
                  <a:lnTo>
                    <a:pt x="1950912" y="29631"/>
                  </a:lnTo>
                  <a:lnTo>
                    <a:pt x="1953344" y="33271"/>
                  </a:lnTo>
                  <a:lnTo>
                    <a:pt x="1955398" y="37113"/>
                  </a:lnTo>
                  <a:lnTo>
                    <a:pt x="1957073" y="41158"/>
                  </a:lnTo>
                  <a:lnTo>
                    <a:pt x="1958749" y="45203"/>
                  </a:lnTo>
                  <a:lnTo>
                    <a:pt x="1960013" y="49372"/>
                  </a:lnTo>
                  <a:lnTo>
                    <a:pt x="1960868" y="53666"/>
                  </a:lnTo>
                  <a:lnTo>
                    <a:pt x="1961722" y="57960"/>
                  </a:lnTo>
                  <a:lnTo>
                    <a:pt x="1962149" y="62296"/>
                  </a:lnTo>
                  <a:lnTo>
                    <a:pt x="1962149" y="66674"/>
                  </a:lnTo>
                  <a:lnTo>
                    <a:pt x="1962149" y="523874"/>
                  </a:lnTo>
                  <a:lnTo>
                    <a:pt x="1962149" y="528253"/>
                  </a:lnTo>
                  <a:lnTo>
                    <a:pt x="1961722" y="532588"/>
                  </a:lnTo>
                  <a:lnTo>
                    <a:pt x="1960868" y="536882"/>
                  </a:lnTo>
                  <a:lnTo>
                    <a:pt x="1960013" y="541175"/>
                  </a:lnTo>
                  <a:lnTo>
                    <a:pt x="1958749" y="545345"/>
                  </a:lnTo>
                  <a:lnTo>
                    <a:pt x="1957073" y="549389"/>
                  </a:lnTo>
                  <a:lnTo>
                    <a:pt x="1955398" y="553434"/>
                  </a:lnTo>
                  <a:lnTo>
                    <a:pt x="1953344" y="557276"/>
                  </a:lnTo>
                  <a:lnTo>
                    <a:pt x="1950912" y="560916"/>
                  </a:lnTo>
                  <a:lnTo>
                    <a:pt x="1948480" y="564556"/>
                  </a:lnTo>
                  <a:lnTo>
                    <a:pt x="1916945" y="587148"/>
                  </a:lnTo>
                  <a:lnTo>
                    <a:pt x="1908482" y="589268"/>
                  </a:lnTo>
                  <a:lnTo>
                    <a:pt x="1904188" y="590122"/>
                  </a:lnTo>
                  <a:lnTo>
                    <a:pt x="1899852" y="590549"/>
                  </a:lnTo>
                  <a:lnTo>
                    <a:pt x="1895474" y="590549"/>
                  </a:lnTo>
                  <a:lnTo>
                    <a:pt x="66674" y="590549"/>
                  </a:lnTo>
                  <a:lnTo>
                    <a:pt x="62297" y="590549"/>
                  </a:lnTo>
                  <a:lnTo>
                    <a:pt x="57960" y="590122"/>
                  </a:lnTo>
                  <a:lnTo>
                    <a:pt x="53667" y="589268"/>
                  </a:lnTo>
                  <a:lnTo>
                    <a:pt x="49373" y="588414"/>
                  </a:lnTo>
                  <a:lnTo>
                    <a:pt x="45203" y="587148"/>
                  </a:lnTo>
                  <a:lnTo>
                    <a:pt x="41159" y="585473"/>
                  </a:lnTo>
                  <a:lnTo>
                    <a:pt x="37114" y="583798"/>
                  </a:lnTo>
                  <a:lnTo>
                    <a:pt x="33272" y="581744"/>
                  </a:lnTo>
                  <a:lnTo>
                    <a:pt x="29632" y="579312"/>
                  </a:lnTo>
                  <a:lnTo>
                    <a:pt x="25992" y="576880"/>
                  </a:lnTo>
                  <a:lnTo>
                    <a:pt x="3399" y="545345"/>
                  </a:lnTo>
                  <a:lnTo>
                    <a:pt x="1281" y="536882"/>
                  </a:lnTo>
                  <a:lnTo>
                    <a:pt x="427" y="532588"/>
                  </a:lnTo>
                  <a:lnTo>
                    <a:pt x="0" y="528253"/>
                  </a:lnTo>
                  <a:lnTo>
                    <a:pt x="0" y="523874"/>
                  </a:lnTo>
                  <a:close/>
                </a:path>
              </a:pathLst>
            </a:custGeom>
            <a:ln w="19049">
              <a:solidFill>
                <a:srgbClr val="2562EB"/>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60" name="object 58">
            <a:extLst>
              <a:ext uri="{FF2B5EF4-FFF2-40B4-BE49-F238E27FC236}">
                <a16:creationId xmlns="" xmlns:a16="http://schemas.microsoft.com/office/drawing/2014/main" id="{0234BECD-73B0-F8A7-84EB-F9910F470778}"/>
              </a:ext>
            </a:extLst>
          </p:cNvPr>
          <p:cNvSpPr txBox="1"/>
          <p:nvPr/>
        </p:nvSpPr>
        <p:spPr>
          <a:xfrm>
            <a:off x="-1460" y="4761802"/>
            <a:ext cx="3750071" cy="772006"/>
          </a:xfrm>
          <a:prstGeom prst="rect">
            <a:avLst/>
          </a:prstGeom>
        </p:spPr>
        <p:txBody>
          <a:bodyPr vert="horz" wrap="square" lIns="0" tIns="91440" rIns="0" bIns="0" rtlCol="0">
            <a:spAutoFit/>
          </a:bodyPr>
          <a:lstStyle/>
          <a:p>
            <a:pPr algn="ctr">
              <a:lnSpc>
                <a:spcPct val="100000"/>
              </a:lnSpc>
              <a:spcBef>
                <a:spcPts val="720"/>
              </a:spcBef>
            </a:pPr>
            <a:r>
              <a:rPr sz="2400" b="1" spc="-10" dirty="0">
                <a:solidFill>
                  <a:srgbClr val="1D40AF"/>
                </a:solidFill>
                <a:latin typeface="Times New Roman" panose="02020603050405020304" pitchFamily="18" charset="0"/>
                <a:cs typeface="Times New Roman" panose="02020603050405020304" pitchFamily="18" charset="0"/>
              </a:rPr>
              <a:t>Understanding</a:t>
            </a:r>
            <a:endParaRPr sz="2400" b="1" dirty="0">
              <a:latin typeface="Times New Roman" panose="02020603050405020304" pitchFamily="18" charset="0"/>
              <a:cs typeface="Times New Roman" panose="02020603050405020304" pitchFamily="18" charset="0"/>
            </a:endParaRPr>
          </a:p>
          <a:p>
            <a:pPr algn="ctr">
              <a:lnSpc>
                <a:spcPct val="100000"/>
              </a:lnSpc>
              <a:spcBef>
                <a:spcPts val="465"/>
              </a:spcBef>
            </a:pPr>
            <a:r>
              <a:rPr sz="1600" b="1" spc="-55" dirty="0">
                <a:solidFill>
                  <a:srgbClr val="4A5462"/>
                </a:solidFill>
                <a:latin typeface="Times New Roman" panose="02020603050405020304" pitchFamily="18" charset="0"/>
                <a:cs typeface="Times New Roman" panose="02020603050405020304" pitchFamily="18" charset="0"/>
              </a:rPr>
              <a:t>Define</a:t>
            </a:r>
            <a:r>
              <a:rPr sz="1600" b="1" spc="-20" dirty="0">
                <a:solidFill>
                  <a:srgbClr val="4A5462"/>
                </a:solidFill>
                <a:latin typeface="Times New Roman" panose="02020603050405020304" pitchFamily="18" charset="0"/>
                <a:cs typeface="Times New Roman" panose="02020603050405020304" pitchFamily="18" charset="0"/>
              </a:rPr>
              <a:t> </a:t>
            </a:r>
            <a:r>
              <a:rPr sz="1600" b="1" spc="-70" dirty="0">
                <a:solidFill>
                  <a:srgbClr val="4A5462"/>
                </a:solidFill>
                <a:latin typeface="Times New Roman" panose="02020603050405020304" pitchFamily="18" charset="0"/>
                <a:cs typeface="Times New Roman" panose="02020603050405020304" pitchFamily="18" charset="0"/>
              </a:rPr>
              <a:t>&amp;</a:t>
            </a:r>
            <a:r>
              <a:rPr sz="1600" b="1" spc="-15" dirty="0">
                <a:solidFill>
                  <a:srgbClr val="4A5462"/>
                </a:solidFill>
                <a:latin typeface="Times New Roman" panose="02020603050405020304" pitchFamily="18" charset="0"/>
                <a:cs typeface="Times New Roman" panose="02020603050405020304" pitchFamily="18" charset="0"/>
              </a:rPr>
              <a:t> </a:t>
            </a:r>
            <a:r>
              <a:rPr sz="1600" b="1" spc="-40" dirty="0">
                <a:solidFill>
                  <a:srgbClr val="4A5462"/>
                </a:solidFill>
                <a:latin typeface="Times New Roman" panose="02020603050405020304" pitchFamily="18" charset="0"/>
                <a:cs typeface="Times New Roman" panose="02020603050405020304" pitchFamily="18" charset="0"/>
              </a:rPr>
              <a:t>clarify</a:t>
            </a:r>
            <a:r>
              <a:rPr sz="1600" b="1" spc="-15" dirty="0">
                <a:solidFill>
                  <a:srgbClr val="4A5462"/>
                </a:solidFill>
                <a:latin typeface="Times New Roman" panose="02020603050405020304" pitchFamily="18" charset="0"/>
                <a:cs typeface="Times New Roman" panose="02020603050405020304" pitchFamily="18" charset="0"/>
              </a:rPr>
              <a:t> </a:t>
            </a:r>
            <a:r>
              <a:rPr sz="1600" b="1" spc="-40" dirty="0">
                <a:solidFill>
                  <a:srgbClr val="4A5462"/>
                </a:solidFill>
                <a:latin typeface="Times New Roman" panose="02020603050405020304" pitchFamily="18" charset="0"/>
                <a:cs typeface="Times New Roman" panose="02020603050405020304" pitchFamily="18" charset="0"/>
              </a:rPr>
              <a:t>requirements</a:t>
            </a:r>
            <a:endParaRPr sz="1600" b="1" dirty="0">
              <a:latin typeface="Times New Roman" panose="02020603050405020304" pitchFamily="18" charset="0"/>
              <a:cs typeface="Times New Roman" panose="02020603050405020304" pitchFamily="18" charset="0"/>
            </a:endParaRPr>
          </a:p>
        </p:txBody>
      </p:sp>
      <p:grpSp>
        <p:nvGrpSpPr>
          <p:cNvPr id="61" name="object 59">
            <a:extLst>
              <a:ext uri="{FF2B5EF4-FFF2-40B4-BE49-F238E27FC236}">
                <a16:creationId xmlns="" xmlns:a16="http://schemas.microsoft.com/office/drawing/2014/main" id="{8194C982-20D1-8435-D870-36C4DA5CB940}"/>
              </a:ext>
            </a:extLst>
          </p:cNvPr>
          <p:cNvGrpSpPr/>
          <p:nvPr/>
        </p:nvGrpSpPr>
        <p:grpSpPr>
          <a:xfrm>
            <a:off x="4105277" y="4780410"/>
            <a:ext cx="3584835" cy="893682"/>
            <a:chOff x="5114923" y="5800724"/>
            <a:chExt cx="1962150" cy="590551"/>
          </a:xfrm>
        </p:grpSpPr>
        <p:sp>
          <p:nvSpPr>
            <p:cNvPr id="63" name="object 61">
              <a:extLst>
                <a:ext uri="{FF2B5EF4-FFF2-40B4-BE49-F238E27FC236}">
                  <a16:creationId xmlns="" xmlns:a16="http://schemas.microsoft.com/office/drawing/2014/main" id="{0F63A87A-EA4C-12A1-A3A1-8C0DA25C43C2}"/>
                </a:ext>
              </a:extLst>
            </p:cNvPr>
            <p:cNvSpPr/>
            <p:nvPr/>
          </p:nvSpPr>
          <p:spPr>
            <a:xfrm>
              <a:off x="5114923" y="5800725"/>
              <a:ext cx="1962150" cy="590550"/>
            </a:xfrm>
            <a:custGeom>
              <a:avLst/>
              <a:gdLst/>
              <a:ahLst/>
              <a:cxnLst/>
              <a:rect l="l" t="t" r="r" b="b"/>
              <a:pathLst>
                <a:path w="1962150" h="590550">
                  <a:moveTo>
                    <a:pt x="1899853" y="590548"/>
                  </a:moveTo>
                  <a:lnTo>
                    <a:pt x="62297" y="590548"/>
                  </a:lnTo>
                  <a:lnTo>
                    <a:pt x="57961" y="590121"/>
                  </a:lnTo>
                  <a:lnTo>
                    <a:pt x="22624" y="574116"/>
                  </a:lnTo>
                  <a:lnTo>
                    <a:pt x="2135" y="541175"/>
                  </a:lnTo>
                  <a:lnTo>
                    <a:pt x="0" y="528252"/>
                  </a:lnTo>
                  <a:lnTo>
                    <a:pt x="0" y="523874"/>
                  </a:lnTo>
                  <a:lnTo>
                    <a:pt x="0" y="62296"/>
                  </a:lnTo>
                  <a:lnTo>
                    <a:pt x="13668" y="25990"/>
                  </a:lnTo>
                  <a:lnTo>
                    <a:pt x="45204" y="3399"/>
                  </a:lnTo>
                  <a:lnTo>
                    <a:pt x="62297" y="0"/>
                  </a:lnTo>
                  <a:lnTo>
                    <a:pt x="1899853" y="0"/>
                  </a:lnTo>
                  <a:lnTo>
                    <a:pt x="1936157" y="13667"/>
                  </a:lnTo>
                  <a:lnTo>
                    <a:pt x="1958750" y="45202"/>
                  </a:lnTo>
                  <a:lnTo>
                    <a:pt x="1962149" y="62296"/>
                  </a:lnTo>
                  <a:lnTo>
                    <a:pt x="1962149" y="528252"/>
                  </a:lnTo>
                  <a:lnTo>
                    <a:pt x="1948480" y="564556"/>
                  </a:lnTo>
                  <a:lnTo>
                    <a:pt x="1916945" y="587148"/>
                  </a:lnTo>
                  <a:lnTo>
                    <a:pt x="1904188" y="590121"/>
                  </a:lnTo>
                  <a:lnTo>
                    <a:pt x="1899853" y="590548"/>
                  </a:lnTo>
                  <a:close/>
                </a:path>
              </a:pathLst>
            </a:custGeom>
            <a:solidFill>
              <a:srgbClr val="FFFFFF"/>
            </a:solid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64" name="object 62">
              <a:extLst>
                <a:ext uri="{FF2B5EF4-FFF2-40B4-BE49-F238E27FC236}">
                  <a16:creationId xmlns="" xmlns:a16="http://schemas.microsoft.com/office/drawing/2014/main" id="{B900664D-3128-E5EE-81CB-059EC65D08E9}"/>
                </a:ext>
              </a:extLst>
            </p:cNvPr>
            <p:cNvSpPr/>
            <p:nvPr/>
          </p:nvSpPr>
          <p:spPr>
            <a:xfrm>
              <a:off x="5114923" y="5800724"/>
              <a:ext cx="1962150" cy="590550"/>
            </a:xfrm>
            <a:custGeom>
              <a:avLst/>
              <a:gdLst/>
              <a:ahLst/>
              <a:cxnLst/>
              <a:rect l="l" t="t" r="r" b="b"/>
              <a:pathLst>
                <a:path w="1962150" h="590550">
                  <a:moveTo>
                    <a:pt x="0" y="523874"/>
                  </a:moveTo>
                  <a:lnTo>
                    <a:pt x="0" y="66674"/>
                  </a:lnTo>
                  <a:lnTo>
                    <a:pt x="0" y="62296"/>
                  </a:lnTo>
                  <a:lnTo>
                    <a:pt x="427" y="57960"/>
                  </a:lnTo>
                  <a:lnTo>
                    <a:pt x="1281" y="53666"/>
                  </a:lnTo>
                  <a:lnTo>
                    <a:pt x="2135" y="49372"/>
                  </a:lnTo>
                  <a:lnTo>
                    <a:pt x="3399" y="45203"/>
                  </a:lnTo>
                  <a:lnTo>
                    <a:pt x="5075" y="41158"/>
                  </a:lnTo>
                  <a:lnTo>
                    <a:pt x="6750" y="37113"/>
                  </a:lnTo>
                  <a:lnTo>
                    <a:pt x="8804" y="33271"/>
                  </a:lnTo>
                  <a:lnTo>
                    <a:pt x="11236" y="29631"/>
                  </a:lnTo>
                  <a:lnTo>
                    <a:pt x="13668" y="25991"/>
                  </a:lnTo>
                  <a:lnTo>
                    <a:pt x="16432" y="22624"/>
                  </a:lnTo>
                  <a:lnTo>
                    <a:pt x="19528" y="19528"/>
                  </a:lnTo>
                  <a:lnTo>
                    <a:pt x="22624" y="16432"/>
                  </a:lnTo>
                  <a:lnTo>
                    <a:pt x="57961" y="427"/>
                  </a:lnTo>
                  <a:lnTo>
                    <a:pt x="66675" y="0"/>
                  </a:lnTo>
                  <a:lnTo>
                    <a:pt x="1895475" y="0"/>
                  </a:lnTo>
                  <a:lnTo>
                    <a:pt x="1932516" y="11235"/>
                  </a:lnTo>
                  <a:lnTo>
                    <a:pt x="1950912" y="29631"/>
                  </a:lnTo>
                  <a:lnTo>
                    <a:pt x="1953345" y="33271"/>
                  </a:lnTo>
                  <a:lnTo>
                    <a:pt x="1955399" y="37113"/>
                  </a:lnTo>
                  <a:lnTo>
                    <a:pt x="1957074" y="41158"/>
                  </a:lnTo>
                  <a:lnTo>
                    <a:pt x="1958750" y="45203"/>
                  </a:lnTo>
                  <a:lnTo>
                    <a:pt x="1960015" y="49372"/>
                  </a:lnTo>
                  <a:lnTo>
                    <a:pt x="1960869" y="53666"/>
                  </a:lnTo>
                  <a:lnTo>
                    <a:pt x="1961723" y="57960"/>
                  </a:lnTo>
                  <a:lnTo>
                    <a:pt x="1962149" y="62296"/>
                  </a:lnTo>
                  <a:lnTo>
                    <a:pt x="1962150" y="66674"/>
                  </a:lnTo>
                  <a:lnTo>
                    <a:pt x="1962150" y="523874"/>
                  </a:lnTo>
                  <a:lnTo>
                    <a:pt x="1962149" y="528253"/>
                  </a:lnTo>
                  <a:lnTo>
                    <a:pt x="1961722" y="532588"/>
                  </a:lnTo>
                  <a:lnTo>
                    <a:pt x="1960868" y="536882"/>
                  </a:lnTo>
                  <a:lnTo>
                    <a:pt x="1960014" y="541175"/>
                  </a:lnTo>
                  <a:lnTo>
                    <a:pt x="1958750" y="545345"/>
                  </a:lnTo>
                  <a:lnTo>
                    <a:pt x="1957074" y="549389"/>
                  </a:lnTo>
                  <a:lnTo>
                    <a:pt x="1955399" y="553434"/>
                  </a:lnTo>
                  <a:lnTo>
                    <a:pt x="1953345" y="557276"/>
                  </a:lnTo>
                  <a:lnTo>
                    <a:pt x="1950912" y="560916"/>
                  </a:lnTo>
                  <a:lnTo>
                    <a:pt x="1948480" y="564556"/>
                  </a:lnTo>
                  <a:lnTo>
                    <a:pt x="1932516" y="579312"/>
                  </a:lnTo>
                  <a:lnTo>
                    <a:pt x="1928876" y="581744"/>
                  </a:lnTo>
                  <a:lnTo>
                    <a:pt x="1925034" y="583798"/>
                  </a:lnTo>
                  <a:lnTo>
                    <a:pt x="1920989" y="585473"/>
                  </a:lnTo>
                  <a:lnTo>
                    <a:pt x="1916945" y="587148"/>
                  </a:lnTo>
                  <a:lnTo>
                    <a:pt x="1895475" y="590549"/>
                  </a:lnTo>
                  <a:lnTo>
                    <a:pt x="66675" y="590549"/>
                  </a:lnTo>
                  <a:lnTo>
                    <a:pt x="41159" y="585473"/>
                  </a:lnTo>
                  <a:lnTo>
                    <a:pt x="37114" y="583798"/>
                  </a:lnTo>
                  <a:lnTo>
                    <a:pt x="33271" y="581744"/>
                  </a:lnTo>
                  <a:lnTo>
                    <a:pt x="29631" y="579312"/>
                  </a:lnTo>
                  <a:lnTo>
                    <a:pt x="25992" y="576880"/>
                  </a:lnTo>
                  <a:lnTo>
                    <a:pt x="3399" y="545345"/>
                  </a:lnTo>
                  <a:lnTo>
                    <a:pt x="1281" y="536882"/>
                  </a:lnTo>
                  <a:lnTo>
                    <a:pt x="427" y="532588"/>
                  </a:lnTo>
                  <a:lnTo>
                    <a:pt x="0" y="528253"/>
                  </a:lnTo>
                  <a:lnTo>
                    <a:pt x="0" y="523874"/>
                  </a:lnTo>
                  <a:close/>
                </a:path>
              </a:pathLst>
            </a:custGeom>
            <a:ln w="19049">
              <a:solidFill>
                <a:srgbClr val="2562EB"/>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65" name="object 63">
            <a:extLst>
              <a:ext uri="{FF2B5EF4-FFF2-40B4-BE49-F238E27FC236}">
                <a16:creationId xmlns="" xmlns:a16="http://schemas.microsoft.com/office/drawing/2014/main" id="{B724B5CE-7D48-702C-5EB1-385E64B4F0DD}"/>
              </a:ext>
            </a:extLst>
          </p:cNvPr>
          <p:cNvSpPr txBox="1"/>
          <p:nvPr/>
        </p:nvSpPr>
        <p:spPr>
          <a:xfrm>
            <a:off x="4300309" y="4761720"/>
            <a:ext cx="3038937" cy="772006"/>
          </a:xfrm>
          <a:prstGeom prst="rect">
            <a:avLst/>
          </a:prstGeom>
        </p:spPr>
        <p:txBody>
          <a:bodyPr vert="horz" wrap="square" lIns="0" tIns="91440" rIns="0" bIns="0" rtlCol="0">
            <a:spAutoFit/>
          </a:bodyPr>
          <a:lstStyle/>
          <a:p>
            <a:pPr algn="ctr">
              <a:lnSpc>
                <a:spcPct val="100000"/>
              </a:lnSpc>
              <a:spcBef>
                <a:spcPts val="720"/>
              </a:spcBef>
            </a:pPr>
            <a:r>
              <a:rPr sz="2400" b="1" spc="-10" dirty="0">
                <a:solidFill>
                  <a:srgbClr val="1D40AF"/>
                </a:solidFill>
                <a:latin typeface="Times New Roman" panose="02020603050405020304" pitchFamily="18" charset="0"/>
                <a:cs typeface="Times New Roman" panose="02020603050405020304" pitchFamily="18" charset="0"/>
              </a:rPr>
              <a:t>Planning</a:t>
            </a:r>
            <a:endParaRPr sz="2400" b="1" dirty="0">
              <a:latin typeface="Times New Roman" panose="02020603050405020304" pitchFamily="18" charset="0"/>
              <a:cs typeface="Times New Roman" panose="02020603050405020304" pitchFamily="18" charset="0"/>
            </a:endParaRPr>
          </a:p>
          <a:p>
            <a:pPr algn="ctr">
              <a:lnSpc>
                <a:spcPct val="100000"/>
              </a:lnSpc>
              <a:spcBef>
                <a:spcPts val="465"/>
              </a:spcBef>
            </a:pPr>
            <a:r>
              <a:rPr sz="1600" b="1" spc="-60" dirty="0">
                <a:solidFill>
                  <a:srgbClr val="4A5462"/>
                </a:solidFill>
                <a:latin typeface="Times New Roman" panose="02020603050405020304" pitchFamily="18" charset="0"/>
                <a:cs typeface="Times New Roman" panose="02020603050405020304" pitchFamily="18" charset="0"/>
              </a:rPr>
              <a:t>Design</a:t>
            </a:r>
            <a:r>
              <a:rPr sz="1600" b="1" dirty="0">
                <a:solidFill>
                  <a:srgbClr val="4A5462"/>
                </a:solidFill>
                <a:latin typeface="Times New Roman" panose="02020603050405020304" pitchFamily="18" charset="0"/>
                <a:cs typeface="Times New Roman" panose="02020603050405020304" pitchFamily="18" charset="0"/>
              </a:rPr>
              <a:t> </a:t>
            </a:r>
            <a:r>
              <a:rPr sz="1600" b="1" spc="-50" dirty="0">
                <a:solidFill>
                  <a:srgbClr val="4A5462"/>
                </a:solidFill>
                <a:latin typeface="Times New Roman" panose="02020603050405020304" pitchFamily="18" charset="0"/>
                <a:cs typeface="Times New Roman" panose="02020603050405020304" pitchFamily="18" charset="0"/>
              </a:rPr>
              <a:t>algorithm</a:t>
            </a:r>
            <a:r>
              <a:rPr sz="1600" b="1" spc="5" dirty="0">
                <a:solidFill>
                  <a:srgbClr val="4A5462"/>
                </a:solidFill>
                <a:latin typeface="Times New Roman" panose="02020603050405020304" pitchFamily="18" charset="0"/>
                <a:cs typeface="Times New Roman" panose="02020603050405020304" pitchFamily="18" charset="0"/>
              </a:rPr>
              <a:t> </a:t>
            </a:r>
            <a:r>
              <a:rPr sz="1600" b="1" spc="-70" dirty="0">
                <a:solidFill>
                  <a:srgbClr val="4A5462"/>
                </a:solidFill>
                <a:latin typeface="Times New Roman" panose="02020603050405020304" pitchFamily="18" charset="0"/>
                <a:cs typeface="Times New Roman" panose="02020603050405020304" pitchFamily="18" charset="0"/>
              </a:rPr>
              <a:t>&amp;</a:t>
            </a:r>
            <a:r>
              <a:rPr sz="1600" b="1" dirty="0">
                <a:solidFill>
                  <a:srgbClr val="4A5462"/>
                </a:solidFill>
                <a:latin typeface="Times New Roman" panose="02020603050405020304" pitchFamily="18" charset="0"/>
                <a:cs typeface="Times New Roman" panose="02020603050405020304" pitchFamily="18" charset="0"/>
              </a:rPr>
              <a:t> </a:t>
            </a:r>
            <a:r>
              <a:rPr sz="1600" b="1" spc="-45" dirty="0">
                <a:solidFill>
                  <a:srgbClr val="4A5462"/>
                </a:solidFill>
                <a:latin typeface="Times New Roman" panose="02020603050405020304" pitchFamily="18" charset="0"/>
                <a:cs typeface="Times New Roman" panose="02020603050405020304" pitchFamily="18" charset="0"/>
              </a:rPr>
              <a:t>pseudocode</a:t>
            </a:r>
            <a:endParaRPr sz="1600" b="1" dirty="0">
              <a:latin typeface="Times New Roman" panose="02020603050405020304" pitchFamily="18" charset="0"/>
              <a:cs typeface="Times New Roman" panose="02020603050405020304" pitchFamily="18" charset="0"/>
            </a:endParaRPr>
          </a:p>
        </p:txBody>
      </p:sp>
      <p:grpSp>
        <p:nvGrpSpPr>
          <p:cNvPr id="66" name="object 64">
            <a:extLst>
              <a:ext uri="{FF2B5EF4-FFF2-40B4-BE49-F238E27FC236}">
                <a16:creationId xmlns="" xmlns:a16="http://schemas.microsoft.com/office/drawing/2014/main" id="{7EE54CFC-DCA7-60E6-3DDE-076766E96A90}"/>
              </a:ext>
            </a:extLst>
          </p:cNvPr>
          <p:cNvGrpSpPr/>
          <p:nvPr/>
        </p:nvGrpSpPr>
        <p:grpSpPr>
          <a:xfrm>
            <a:off x="8435587" y="4762551"/>
            <a:ext cx="3022168" cy="909522"/>
            <a:chOff x="7534274" y="5800724"/>
            <a:chExt cx="1962150" cy="590551"/>
          </a:xfrm>
        </p:grpSpPr>
        <p:sp>
          <p:nvSpPr>
            <p:cNvPr id="68" name="object 66">
              <a:extLst>
                <a:ext uri="{FF2B5EF4-FFF2-40B4-BE49-F238E27FC236}">
                  <a16:creationId xmlns="" xmlns:a16="http://schemas.microsoft.com/office/drawing/2014/main" id="{649ED863-FFF3-9D36-81DA-B441A505D8B2}"/>
                </a:ext>
              </a:extLst>
            </p:cNvPr>
            <p:cNvSpPr/>
            <p:nvPr/>
          </p:nvSpPr>
          <p:spPr>
            <a:xfrm>
              <a:off x="7534274" y="5800725"/>
              <a:ext cx="1962150" cy="590550"/>
            </a:xfrm>
            <a:custGeom>
              <a:avLst/>
              <a:gdLst/>
              <a:ahLst/>
              <a:cxnLst/>
              <a:rect l="l" t="t" r="r" b="b"/>
              <a:pathLst>
                <a:path w="1962150" h="590550">
                  <a:moveTo>
                    <a:pt x="1899852" y="590548"/>
                  </a:moveTo>
                  <a:lnTo>
                    <a:pt x="62296" y="590548"/>
                  </a:lnTo>
                  <a:lnTo>
                    <a:pt x="57960" y="590121"/>
                  </a:lnTo>
                  <a:lnTo>
                    <a:pt x="22624" y="574116"/>
                  </a:lnTo>
                  <a:lnTo>
                    <a:pt x="2135" y="541175"/>
                  </a:lnTo>
                  <a:lnTo>
                    <a:pt x="0" y="523874"/>
                  </a:lnTo>
                  <a:lnTo>
                    <a:pt x="0" y="62296"/>
                  </a:lnTo>
                  <a:lnTo>
                    <a:pt x="13668" y="25990"/>
                  </a:lnTo>
                  <a:lnTo>
                    <a:pt x="45203" y="3399"/>
                  </a:lnTo>
                  <a:lnTo>
                    <a:pt x="62296" y="0"/>
                  </a:lnTo>
                  <a:lnTo>
                    <a:pt x="1899852" y="0"/>
                  </a:lnTo>
                  <a:lnTo>
                    <a:pt x="1936156" y="13667"/>
                  </a:lnTo>
                  <a:lnTo>
                    <a:pt x="1958748" y="45202"/>
                  </a:lnTo>
                  <a:lnTo>
                    <a:pt x="1962149" y="62296"/>
                  </a:lnTo>
                  <a:lnTo>
                    <a:pt x="1962149" y="528252"/>
                  </a:lnTo>
                  <a:lnTo>
                    <a:pt x="1948479" y="564556"/>
                  </a:lnTo>
                  <a:lnTo>
                    <a:pt x="1916944" y="587148"/>
                  </a:lnTo>
                  <a:lnTo>
                    <a:pt x="1899852" y="590548"/>
                  </a:lnTo>
                  <a:close/>
                </a:path>
              </a:pathLst>
            </a:custGeom>
            <a:solidFill>
              <a:srgbClr val="FFFFFF"/>
            </a:solidFill>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sp>
          <p:nvSpPr>
            <p:cNvPr id="69" name="object 67">
              <a:extLst>
                <a:ext uri="{FF2B5EF4-FFF2-40B4-BE49-F238E27FC236}">
                  <a16:creationId xmlns="" xmlns:a16="http://schemas.microsoft.com/office/drawing/2014/main" id="{43E395ED-9D37-A33D-D65E-B437F1230E9C}"/>
                </a:ext>
              </a:extLst>
            </p:cNvPr>
            <p:cNvSpPr/>
            <p:nvPr/>
          </p:nvSpPr>
          <p:spPr>
            <a:xfrm>
              <a:off x="7534274" y="5800724"/>
              <a:ext cx="1962150" cy="590550"/>
            </a:xfrm>
            <a:custGeom>
              <a:avLst/>
              <a:gdLst/>
              <a:ahLst/>
              <a:cxnLst/>
              <a:rect l="l" t="t" r="r" b="b"/>
              <a:pathLst>
                <a:path w="1962150" h="590550">
                  <a:moveTo>
                    <a:pt x="0" y="523874"/>
                  </a:moveTo>
                  <a:lnTo>
                    <a:pt x="0" y="66674"/>
                  </a:lnTo>
                  <a:lnTo>
                    <a:pt x="0" y="62296"/>
                  </a:lnTo>
                  <a:lnTo>
                    <a:pt x="427" y="57960"/>
                  </a:lnTo>
                  <a:lnTo>
                    <a:pt x="1281" y="53666"/>
                  </a:lnTo>
                  <a:lnTo>
                    <a:pt x="2135" y="49372"/>
                  </a:lnTo>
                  <a:lnTo>
                    <a:pt x="3399" y="45203"/>
                  </a:lnTo>
                  <a:lnTo>
                    <a:pt x="5075" y="41158"/>
                  </a:lnTo>
                  <a:lnTo>
                    <a:pt x="6750" y="37113"/>
                  </a:lnTo>
                  <a:lnTo>
                    <a:pt x="8804" y="33271"/>
                  </a:lnTo>
                  <a:lnTo>
                    <a:pt x="11236" y="29631"/>
                  </a:lnTo>
                  <a:lnTo>
                    <a:pt x="13668" y="25991"/>
                  </a:lnTo>
                  <a:lnTo>
                    <a:pt x="16432" y="22624"/>
                  </a:lnTo>
                  <a:lnTo>
                    <a:pt x="19528" y="19528"/>
                  </a:lnTo>
                  <a:lnTo>
                    <a:pt x="22624" y="16432"/>
                  </a:lnTo>
                  <a:lnTo>
                    <a:pt x="53667" y="1281"/>
                  </a:lnTo>
                  <a:lnTo>
                    <a:pt x="57960" y="427"/>
                  </a:lnTo>
                  <a:lnTo>
                    <a:pt x="62296" y="0"/>
                  </a:lnTo>
                  <a:lnTo>
                    <a:pt x="66674" y="0"/>
                  </a:lnTo>
                  <a:lnTo>
                    <a:pt x="1895474" y="0"/>
                  </a:lnTo>
                  <a:lnTo>
                    <a:pt x="1932516" y="11235"/>
                  </a:lnTo>
                  <a:lnTo>
                    <a:pt x="1957073" y="41158"/>
                  </a:lnTo>
                  <a:lnTo>
                    <a:pt x="1958748" y="45203"/>
                  </a:lnTo>
                  <a:lnTo>
                    <a:pt x="1960013" y="49372"/>
                  </a:lnTo>
                  <a:lnTo>
                    <a:pt x="1960867" y="53666"/>
                  </a:lnTo>
                  <a:lnTo>
                    <a:pt x="1961721" y="57960"/>
                  </a:lnTo>
                  <a:lnTo>
                    <a:pt x="1962149" y="62296"/>
                  </a:lnTo>
                  <a:lnTo>
                    <a:pt x="1962149" y="66674"/>
                  </a:lnTo>
                  <a:lnTo>
                    <a:pt x="1962149" y="523874"/>
                  </a:lnTo>
                  <a:lnTo>
                    <a:pt x="1962149" y="528253"/>
                  </a:lnTo>
                  <a:lnTo>
                    <a:pt x="1961721" y="532588"/>
                  </a:lnTo>
                  <a:lnTo>
                    <a:pt x="1960867" y="536882"/>
                  </a:lnTo>
                  <a:lnTo>
                    <a:pt x="1960013" y="541175"/>
                  </a:lnTo>
                  <a:lnTo>
                    <a:pt x="1939524" y="574116"/>
                  </a:lnTo>
                  <a:lnTo>
                    <a:pt x="1920988" y="585473"/>
                  </a:lnTo>
                  <a:lnTo>
                    <a:pt x="1916944" y="587148"/>
                  </a:lnTo>
                  <a:lnTo>
                    <a:pt x="1895474" y="590549"/>
                  </a:lnTo>
                  <a:lnTo>
                    <a:pt x="66674" y="590549"/>
                  </a:lnTo>
                  <a:lnTo>
                    <a:pt x="62296" y="590549"/>
                  </a:lnTo>
                  <a:lnTo>
                    <a:pt x="57960" y="590122"/>
                  </a:lnTo>
                  <a:lnTo>
                    <a:pt x="53667" y="589268"/>
                  </a:lnTo>
                  <a:lnTo>
                    <a:pt x="49373" y="588414"/>
                  </a:lnTo>
                  <a:lnTo>
                    <a:pt x="45203" y="587148"/>
                  </a:lnTo>
                  <a:lnTo>
                    <a:pt x="41159" y="585473"/>
                  </a:lnTo>
                  <a:lnTo>
                    <a:pt x="37114" y="583798"/>
                  </a:lnTo>
                  <a:lnTo>
                    <a:pt x="8804" y="557276"/>
                  </a:lnTo>
                  <a:lnTo>
                    <a:pt x="1281" y="536882"/>
                  </a:lnTo>
                  <a:lnTo>
                    <a:pt x="427" y="532588"/>
                  </a:lnTo>
                  <a:lnTo>
                    <a:pt x="0" y="528253"/>
                  </a:lnTo>
                  <a:lnTo>
                    <a:pt x="0" y="523874"/>
                  </a:lnTo>
                  <a:close/>
                </a:path>
              </a:pathLst>
            </a:custGeom>
            <a:ln w="19049">
              <a:solidFill>
                <a:srgbClr val="2562EB"/>
              </a:solidFill>
            </a:ln>
          </p:spPr>
          <p:txBody>
            <a:bodyPr wrap="square" lIns="0" tIns="0" rIns="0" bIns="0" rtlCol="0"/>
            <a:lstStyle/>
            <a:p>
              <a:endParaRPr sz="1600">
                <a:latin typeface="Times New Roman" panose="02020603050405020304" pitchFamily="18" charset="0"/>
                <a:cs typeface="Times New Roman" panose="02020603050405020304" pitchFamily="18" charset="0"/>
              </a:endParaRPr>
            </a:p>
          </p:txBody>
        </p:sp>
      </p:grpSp>
      <p:sp>
        <p:nvSpPr>
          <p:cNvPr id="70" name="object 68">
            <a:extLst>
              <a:ext uri="{FF2B5EF4-FFF2-40B4-BE49-F238E27FC236}">
                <a16:creationId xmlns="" xmlns:a16="http://schemas.microsoft.com/office/drawing/2014/main" id="{ABA2157D-ACC3-775D-D053-F45A4136D59F}"/>
              </a:ext>
            </a:extLst>
          </p:cNvPr>
          <p:cNvSpPr txBox="1"/>
          <p:nvPr/>
        </p:nvSpPr>
        <p:spPr>
          <a:xfrm>
            <a:off x="8435587" y="4788733"/>
            <a:ext cx="3022168" cy="772006"/>
          </a:xfrm>
          <a:prstGeom prst="rect">
            <a:avLst/>
          </a:prstGeom>
        </p:spPr>
        <p:txBody>
          <a:bodyPr vert="horz" wrap="square" lIns="0" tIns="91440" rIns="0" bIns="0" rtlCol="0">
            <a:spAutoFit/>
          </a:bodyPr>
          <a:lstStyle/>
          <a:p>
            <a:pPr algn="ctr">
              <a:lnSpc>
                <a:spcPct val="100000"/>
              </a:lnSpc>
              <a:spcBef>
                <a:spcPts val="720"/>
              </a:spcBef>
            </a:pPr>
            <a:r>
              <a:rPr sz="2400" b="1" spc="-10" dirty="0">
                <a:solidFill>
                  <a:srgbClr val="1D40AF"/>
                </a:solidFill>
                <a:latin typeface="Times New Roman" panose="02020603050405020304" pitchFamily="18" charset="0"/>
                <a:cs typeface="Times New Roman" panose="02020603050405020304" pitchFamily="18" charset="0"/>
              </a:rPr>
              <a:t>Dividing</a:t>
            </a:r>
            <a:endParaRPr sz="2000" b="1" dirty="0">
              <a:latin typeface="Times New Roman" panose="02020603050405020304" pitchFamily="18" charset="0"/>
              <a:cs typeface="Times New Roman" panose="02020603050405020304" pitchFamily="18" charset="0"/>
            </a:endParaRPr>
          </a:p>
          <a:p>
            <a:pPr algn="ctr">
              <a:lnSpc>
                <a:spcPct val="100000"/>
              </a:lnSpc>
              <a:spcBef>
                <a:spcPts val="465"/>
              </a:spcBef>
            </a:pPr>
            <a:r>
              <a:rPr sz="1600" b="1" spc="-60" dirty="0">
                <a:solidFill>
                  <a:srgbClr val="4A5462"/>
                </a:solidFill>
                <a:latin typeface="Times New Roman" panose="02020603050405020304" pitchFamily="18" charset="0"/>
                <a:cs typeface="Times New Roman" panose="02020603050405020304" pitchFamily="18" charset="0"/>
              </a:rPr>
              <a:t>Solve</a:t>
            </a:r>
            <a:r>
              <a:rPr sz="1600" b="1" spc="5" dirty="0">
                <a:solidFill>
                  <a:srgbClr val="4A5462"/>
                </a:solidFill>
                <a:latin typeface="Times New Roman" panose="02020603050405020304" pitchFamily="18" charset="0"/>
                <a:cs typeface="Times New Roman" panose="02020603050405020304" pitchFamily="18" charset="0"/>
              </a:rPr>
              <a:t> </a:t>
            </a:r>
            <a:r>
              <a:rPr sz="1600" b="1" spc="-60" dirty="0">
                <a:solidFill>
                  <a:srgbClr val="4A5462"/>
                </a:solidFill>
                <a:latin typeface="Times New Roman" panose="02020603050405020304" pitchFamily="18" charset="0"/>
                <a:cs typeface="Times New Roman" panose="02020603050405020304" pitchFamily="18" charset="0"/>
              </a:rPr>
              <a:t>components</a:t>
            </a:r>
            <a:r>
              <a:rPr sz="1600" b="1" spc="5" dirty="0">
                <a:solidFill>
                  <a:srgbClr val="4A5462"/>
                </a:solidFill>
                <a:latin typeface="Times New Roman" panose="02020603050405020304" pitchFamily="18" charset="0"/>
                <a:cs typeface="Times New Roman" panose="02020603050405020304" pitchFamily="18" charset="0"/>
              </a:rPr>
              <a:t> </a:t>
            </a:r>
            <a:r>
              <a:rPr sz="1600" b="1" spc="-35" dirty="0">
                <a:solidFill>
                  <a:srgbClr val="4A5462"/>
                </a:solidFill>
                <a:latin typeface="Times New Roman" panose="02020603050405020304" pitchFamily="18" charset="0"/>
                <a:cs typeface="Times New Roman" panose="02020603050405020304" pitchFamily="18" charset="0"/>
              </a:rPr>
              <a:t>incrementally</a:t>
            </a:r>
            <a:endParaRPr sz="1600" b="1" dirty="0">
              <a:latin typeface="Times New Roman" panose="02020603050405020304" pitchFamily="18" charset="0"/>
              <a:cs typeface="Times New Roman" panose="02020603050405020304" pitchFamily="18" charset="0"/>
            </a:endParaRPr>
          </a:p>
        </p:txBody>
      </p:sp>
      <p:pic>
        <p:nvPicPr>
          <p:cNvPr id="71" name="object 69">
            <a:extLst>
              <a:ext uri="{FF2B5EF4-FFF2-40B4-BE49-F238E27FC236}">
                <a16:creationId xmlns="" xmlns:a16="http://schemas.microsoft.com/office/drawing/2014/main" id="{94758638-E75D-75A9-B2B4-C441657720FA}"/>
              </a:ext>
            </a:extLst>
          </p:cNvPr>
          <p:cNvPicPr/>
          <p:nvPr/>
        </p:nvPicPr>
        <p:blipFill>
          <a:blip r:embed="rId4" cstate="print"/>
          <a:stretch>
            <a:fillRect/>
          </a:stretch>
        </p:blipFill>
        <p:spPr>
          <a:xfrm>
            <a:off x="3647661" y="5931386"/>
            <a:ext cx="419875" cy="260697"/>
          </a:xfrm>
          <a:prstGeom prst="rect">
            <a:avLst/>
          </a:prstGeom>
        </p:spPr>
      </p:pic>
      <p:sp>
        <p:nvSpPr>
          <p:cNvPr id="72" name="object 70">
            <a:extLst>
              <a:ext uri="{FF2B5EF4-FFF2-40B4-BE49-F238E27FC236}">
                <a16:creationId xmlns="" xmlns:a16="http://schemas.microsoft.com/office/drawing/2014/main" id="{23801A9B-D1D7-5D51-9041-577787657ABF}"/>
              </a:ext>
            </a:extLst>
          </p:cNvPr>
          <p:cNvSpPr txBox="1"/>
          <p:nvPr/>
        </p:nvSpPr>
        <p:spPr>
          <a:xfrm>
            <a:off x="4201726" y="5889066"/>
            <a:ext cx="5936191" cy="293670"/>
          </a:xfrm>
          <a:prstGeom prst="rect">
            <a:avLst/>
          </a:prstGeom>
        </p:spPr>
        <p:txBody>
          <a:bodyPr vert="horz" wrap="square" lIns="0" tIns="16510" rIns="0" bIns="0" rtlCol="0">
            <a:spAutoFit/>
          </a:bodyPr>
          <a:lstStyle/>
          <a:p>
            <a:pPr marL="12700">
              <a:lnSpc>
                <a:spcPct val="100000"/>
              </a:lnSpc>
              <a:spcBef>
                <a:spcPts val="130"/>
              </a:spcBef>
            </a:pPr>
            <a:r>
              <a:rPr sz="1800" b="1" spc="-50" dirty="0">
                <a:solidFill>
                  <a:srgbClr val="4A5462"/>
                </a:solidFill>
                <a:latin typeface="Times New Roman" panose="02020603050405020304" pitchFamily="18" charset="0"/>
                <a:cs typeface="Times New Roman" panose="02020603050405020304" pitchFamily="18" charset="0"/>
              </a:rPr>
              <a:t>Iterate</a:t>
            </a:r>
            <a:r>
              <a:rPr sz="1800" b="1" spc="-10" dirty="0">
                <a:solidFill>
                  <a:srgbClr val="4A5462"/>
                </a:solidFill>
                <a:latin typeface="Times New Roman" panose="02020603050405020304" pitchFamily="18" charset="0"/>
                <a:cs typeface="Times New Roman" panose="02020603050405020304" pitchFamily="18" charset="0"/>
              </a:rPr>
              <a:t> </a:t>
            </a:r>
            <a:r>
              <a:rPr sz="1800" b="1" spc="-55" dirty="0">
                <a:solidFill>
                  <a:srgbClr val="4A5462"/>
                </a:solidFill>
                <a:latin typeface="Times New Roman" panose="02020603050405020304" pitchFamily="18" charset="0"/>
                <a:cs typeface="Times New Roman" panose="02020603050405020304" pitchFamily="18" charset="0"/>
              </a:rPr>
              <a:t>through</a:t>
            </a:r>
            <a:r>
              <a:rPr sz="1800" b="1" spc="-10" dirty="0">
                <a:solidFill>
                  <a:srgbClr val="4A5462"/>
                </a:solidFill>
                <a:latin typeface="Times New Roman" panose="02020603050405020304" pitchFamily="18" charset="0"/>
                <a:cs typeface="Times New Roman" panose="02020603050405020304" pitchFamily="18" charset="0"/>
              </a:rPr>
              <a:t> </a:t>
            </a:r>
            <a:r>
              <a:rPr sz="1800" b="1" spc="-50" dirty="0">
                <a:solidFill>
                  <a:srgbClr val="4A5462"/>
                </a:solidFill>
                <a:latin typeface="Times New Roman" panose="02020603050405020304" pitchFamily="18" charset="0"/>
                <a:cs typeface="Times New Roman" panose="02020603050405020304" pitchFamily="18" charset="0"/>
              </a:rPr>
              <a:t>the</a:t>
            </a:r>
            <a:r>
              <a:rPr sz="1800" b="1" spc="-10" dirty="0">
                <a:solidFill>
                  <a:srgbClr val="4A5462"/>
                </a:solidFill>
                <a:latin typeface="Times New Roman" panose="02020603050405020304" pitchFamily="18" charset="0"/>
                <a:cs typeface="Times New Roman" panose="02020603050405020304" pitchFamily="18" charset="0"/>
              </a:rPr>
              <a:t> </a:t>
            </a:r>
            <a:r>
              <a:rPr sz="1800" b="1" spc="-55" dirty="0">
                <a:solidFill>
                  <a:srgbClr val="4A5462"/>
                </a:solidFill>
                <a:latin typeface="Times New Roman" panose="02020603050405020304" pitchFamily="18" charset="0"/>
                <a:cs typeface="Times New Roman" panose="02020603050405020304" pitchFamily="18" charset="0"/>
              </a:rPr>
              <a:t>process</a:t>
            </a:r>
            <a:r>
              <a:rPr sz="1800" b="1" spc="-10" dirty="0">
                <a:solidFill>
                  <a:srgbClr val="4A5462"/>
                </a:solidFill>
                <a:latin typeface="Times New Roman" panose="02020603050405020304" pitchFamily="18" charset="0"/>
                <a:cs typeface="Times New Roman" panose="02020603050405020304" pitchFamily="18" charset="0"/>
              </a:rPr>
              <a:t> </a:t>
            </a:r>
            <a:r>
              <a:rPr sz="1800" b="1" spc="-55" dirty="0">
                <a:solidFill>
                  <a:srgbClr val="4A5462"/>
                </a:solidFill>
                <a:latin typeface="Times New Roman" panose="02020603050405020304" pitchFamily="18" charset="0"/>
                <a:cs typeface="Times New Roman" panose="02020603050405020304" pitchFamily="18" charset="0"/>
              </a:rPr>
              <a:t>as</a:t>
            </a:r>
            <a:r>
              <a:rPr sz="1800" b="1" spc="-10" dirty="0">
                <a:solidFill>
                  <a:srgbClr val="4A5462"/>
                </a:solidFill>
                <a:latin typeface="Times New Roman" panose="02020603050405020304" pitchFamily="18" charset="0"/>
                <a:cs typeface="Times New Roman" panose="02020603050405020304" pitchFamily="18" charset="0"/>
              </a:rPr>
              <a:t> </a:t>
            </a:r>
            <a:r>
              <a:rPr sz="1800" b="1" spc="-65" dirty="0">
                <a:solidFill>
                  <a:srgbClr val="4A5462"/>
                </a:solidFill>
                <a:latin typeface="Times New Roman" panose="02020603050405020304" pitchFamily="18" charset="0"/>
                <a:cs typeface="Times New Roman" panose="02020603050405020304" pitchFamily="18" charset="0"/>
              </a:rPr>
              <a:t>needed</a:t>
            </a:r>
            <a:r>
              <a:rPr sz="1800" b="1" spc="-10" dirty="0">
                <a:solidFill>
                  <a:srgbClr val="4A5462"/>
                </a:solidFill>
                <a:latin typeface="Times New Roman" panose="02020603050405020304" pitchFamily="18" charset="0"/>
                <a:cs typeface="Times New Roman" panose="02020603050405020304" pitchFamily="18" charset="0"/>
              </a:rPr>
              <a:t> </a:t>
            </a:r>
            <a:r>
              <a:rPr sz="1800" b="1" spc="-45" dirty="0">
                <a:solidFill>
                  <a:srgbClr val="4A5462"/>
                </a:solidFill>
                <a:latin typeface="Times New Roman" panose="02020603050405020304" pitchFamily="18" charset="0"/>
                <a:cs typeface="Times New Roman" panose="02020603050405020304" pitchFamily="18" charset="0"/>
              </a:rPr>
              <a:t>for</a:t>
            </a:r>
            <a:r>
              <a:rPr sz="1800" b="1" spc="-10" dirty="0">
                <a:solidFill>
                  <a:srgbClr val="4A5462"/>
                </a:solidFill>
                <a:latin typeface="Times New Roman" panose="02020603050405020304" pitchFamily="18" charset="0"/>
                <a:cs typeface="Times New Roman" panose="02020603050405020304" pitchFamily="18" charset="0"/>
              </a:rPr>
              <a:t> </a:t>
            </a:r>
            <a:r>
              <a:rPr sz="1800" b="1" spc="-60" dirty="0">
                <a:solidFill>
                  <a:srgbClr val="4A5462"/>
                </a:solidFill>
                <a:latin typeface="Times New Roman" panose="02020603050405020304" pitchFamily="18" charset="0"/>
                <a:cs typeface="Times New Roman" panose="02020603050405020304" pitchFamily="18" charset="0"/>
              </a:rPr>
              <a:t>complex</a:t>
            </a:r>
            <a:r>
              <a:rPr sz="1800" b="1" spc="-10" dirty="0">
                <a:solidFill>
                  <a:srgbClr val="4A5462"/>
                </a:solidFill>
                <a:latin typeface="Times New Roman" panose="02020603050405020304" pitchFamily="18" charset="0"/>
                <a:cs typeface="Times New Roman" panose="02020603050405020304" pitchFamily="18" charset="0"/>
              </a:rPr>
              <a:t> </a:t>
            </a:r>
            <a:r>
              <a:rPr sz="1800" b="1" spc="-45" dirty="0">
                <a:solidFill>
                  <a:srgbClr val="4A5462"/>
                </a:solidFill>
                <a:latin typeface="Times New Roman" panose="02020603050405020304" pitchFamily="18" charset="0"/>
                <a:cs typeface="Times New Roman" panose="02020603050405020304" pitchFamily="18" charset="0"/>
              </a:rPr>
              <a:t>problems</a:t>
            </a:r>
            <a:endParaRPr sz="1800" b="1" dirty="0">
              <a:latin typeface="Times New Roman" panose="02020603050405020304" pitchFamily="18" charset="0"/>
              <a:cs typeface="Times New Roman" panose="02020603050405020304" pitchFamily="18" charset="0"/>
            </a:endParaRPr>
          </a:p>
        </p:txBody>
      </p:sp>
      <p:grpSp>
        <p:nvGrpSpPr>
          <p:cNvPr id="74" name="object 72">
            <a:extLst>
              <a:ext uri="{FF2B5EF4-FFF2-40B4-BE49-F238E27FC236}">
                <a16:creationId xmlns="" xmlns:a16="http://schemas.microsoft.com/office/drawing/2014/main" id="{6EBDC362-435B-A27D-CE92-2E54B27CF558}"/>
              </a:ext>
            </a:extLst>
          </p:cNvPr>
          <p:cNvGrpSpPr/>
          <p:nvPr/>
        </p:nvGrpSpPr>
        <p:grpSpPr>
          <a:xfrm>
            <a:off x="10544176" y="6953250"/>
            <a:ext cx="1457325" cy="323850"/>
            <a:chOff x="10544174" y="6953250"/>
            <a:chExt cx="1457325" cy="323850"/>
          </a:xfrm>
        </p:grpSpPr>
        <p:sp>
          <p:nvSpPr>
            <p:cNvPr id="75" name="object 73">
              <a:extLst>
                <a:ext uri="{FF2B5EF4-FFF2-40B4-BE49-F238E27FC236}">
                  <a16:creationId xmlns="" xmlns:a16="http://schemas.microsoft.com/office/drawing/2014/main" id="{2EB63496-87C6-8BC1-4376-590A7AF6928B}"/>
                </a:ext>
              </a:extLst>
            </p:cNvPr>
            <p:cNvSpPr/>
            <p:nvPr/>
          </p:nvSpPr>
          <p:spPr>
            <a:xfrm>
              <a:off x="10544174" y="6953250"/>
              <a:ext cx="1457325" cy="323850"/>
            </a:xfrm>
            <a:custGeom>
              <a:avLst/>
              <a:gdLst/>
              <a:ahLst/>
              <a:cxnLst/>
              <a:rect l="l" t="t" r="r" b="b"/>
              <a:pathLst>
                <a:path w="1457325" h="323850">
                  <a:moveTo>
                    <a:pt x="1424277" y="323849"/>
                  </a:moveTo>
                  <a:lnTo>
                    <a:pt x="33047" y="323849"/>
                  </a:lnTo>
                  <a:lnTo>
                    <a:pt x="28187" y="322883"/>
                  </a:lnTo>
                  <a:lnTo>
                    <a:pt x="966" y="295662"/>
                  </a:lnTo>
                  <a:lnTo>
                    <a:pt x="0" y="290802"/>
                  </a:lnTo>
                  <a:lnTo>
                    <a:pt x="0" y="285749"/>
                  </a:lnTo>
                  <a:lnTo>
                    <a:pt x="0" y="33047"/>
                  </a:lnTo>
                  <a:lnTo>
                    <a:pt x="28187" y="966"/>
                  </a:lnTo>
                  <a:lnTo>
                    <a:pt x="33047" y="0"/>
                  </a:lnTo>
                  <a:lnTo>
                    <a:pt x="1424277" y="0"/>
                  </a:lnTo>
                  <a:lnTo>
                    <a:pt x="1456357" y="28187"/>
                  </a:lnTo>
                  <a:lnTo>
                    <a:pt x="1457324" y="33047"/>
                  </a:lnTo>
                  <a:lnTo>
                    <a:pt x="1457324" y="290802"/>
                  </a:lnTo>
                  <a:lnTo>
                    <a:pt x="1429137" y="322883"/>
                  </a:lnTo>
                  <a:lnTo>
                    <a:pt x="1424277" y="323849"/>
                  </a:lnTo>
                  <a:close/>
                </a:path>
              </a:pathLst>
            </a:custGeom>
            <a:solidFill>
              <a:srgbClr val="333333"/>
            </a:solidFill>
          </p:spPr>
          <p:txBody>
            <a:bodyPr wrap="square" lIns="0" tIns="0" rIns="0" bIns="0" rtlCol="0"/>
            <a:lstStyle/>
            <a:p>
              <a:endParaRPr/>
            </a:p>
          </p:txBody>
        </p:sp>
        <p:pic>
          <p:nvPicPr>
            <p:cNvPr id="76" name="object 74">
              <a:extLst>
                <a:ext uri="{FF2B5EF4-FFF2-40B4-BE49-F238E27FC236}">
                  <a16:creationId xmlns="" xmlns:a16="http://schemas.microsoft.com/office/drawing/2014/main" id="{B96FF2D9-B136-3180-7AB5-D9843CE9E7D5}"/>
                </a:ext>
              </a:extLst>
            </p:cNvPr>
            <p:cNvPicPr/>
            <p:nvPr/>
          </p:nvPicPr>
          <p:blipFill>
            <a:blip r:embed="rId5" cstate="print"/>
            <a:stretch>
              <a:fillRect/>
            </a:stretch>
          </p:blipFill>
          <p:spPr>
            <a:xfrm>
              <a:off x="10658474" y="7048499"/>
              <a:ext cx="133349" cy="133349"/>
            </a:xfrm>
            <a:prstGeom prst="rect">
              <a:avLst/>
            </a:prstGeom>
          </p:spPr>
        </p:pic>
      </p:grpSp>
      <p:sp>
        <p:nvSpPr>
          <p:cNvPr id="77" name="object 75">
            <a:extLst>
              <a:ext uri="{FF2B5EF4-FFF2-40B4-BE49-F238E27FC236}">
                <a16:creationId xmlns="" xmlns:a16="http://schemas.microsoft.com/office/drawing/2014/main" id="{F25A668B-CEC6-F8B2-3CEA-2EAD55A7A4D6}"/>
              </a:ext>
            </a:extLst>
          </p:cNvPr>
          <p:cNvSpPr txBox="1"/>
          <p:nvPr/>
        </p:nvSpPr>
        <p:spPr>
          <a:xfrm>
            <a:off x="7073900" y="7047461"/>
            <a:ext cx="4826000" cy="171842"/>
          </a:xfrm>
          <a:prstGeom prst="rect">
            <a:avLst/>
          </a:prstGeom>
        </p:spPr>
        <p:txBody>
          <a:bodyPr vert="horz" wrap="square" lIns="0" tIns="10160" rIns="0" bIns="0" rtlCol="0">
            <a:spAutoFit/>
          </a:bodyPr>
          <a:lstStyle/>
          <a:p>
            <a:pPr marL="12700">
              <a:lnSpc>
                <a:spcPct val="100000"/>
              </a:lnSpc>
              <a:spcBef>
                <a:spcPts val="80"/>
              </a:spcBef>
            </a:pPr>
            <a:r>
              <a:rPr sz="1050" b="0" dirty="0">
                <a:solidFill>
                  <a:srgbClr val="6A7280"/>
                </a:solidFill>
                <a:latin typeface="Source Code Pro ExtraLight"/>
                <a:cs typeface="Source Code Pro ExtraLight"/>
              </a:rPr>
              <a:t>Slide</a:t>
            </a:r>
            <a:r>
              <a:rPr sz="1050" b="0" spc="-5" dirty="0">
                <a:solidFill>
                  <a:srgbClr val="6A7280"/>
                </a:solidFill>
                <a:latin typeface="Source Code Pro ExtraLight"/>
                <a:cs typeface="Source Code Pro ExtraLight"/>
              </a:rPr>
              <a:t> </a:t>
            </a:r>
            <a:fld id="{81D60167-4931-47E6-BA6A-407CBD079E47}" type="slidenum">
              <a:rPr sz="1050" b="0" dirty="0">
                <a:solidFill>
                  <a:srgbClr val="6A7280"/>
                </a:solidFill>
                <a:latin typeface="Source Code Pro ExtraLight"/>
                <a:cs typeface="Source Code Pro ExtraLight"/>
              </a:rPr>
              <a:t>11</a:t>
            </a:fld>
            <a:r>
              <a:rPr sz="1050" b="0" spc="10" dirty="0">
                <a:solidFill>
                  <a:srgbClr val="6A7280"/>
                </a:solidFill>
                <a:latin typeface="Source Code Pro ExtraLight"/>
                <a:cs typeface="Source Code Pro ExtraLight"/>
              </a:rPr>
              <a:t> </a:t>
            </a:r>
            <a:r>
              <a:rPr sz="1050" b="0" dirty="0">
                <a:solidFill>
                  <a:srgbClr val="6A7280"/>
                </a:solidFill>
                <a:latin typeface="Source Code Pro ExtraLight"/>
                <a:cs typeface="Source Code Pro ExtraLight"/>
              </a:rPr>
              <a:t>|</a:t>
            </a:r>
            <a:r>
              <a:rPr sz="1050" b="0" spc="10" dirty="0">
                <a:solidFill>
                  <a:srgbClr val="6A7280"/>
                </a:solidFill>
                <a:latin typeface="Source Code Pro ExtraLight"/>
                <a:cs typeface="Source Code Pro ExtraLight"/>
              </a:rPr>
              <a:t> </a:t>
            </a:r>
            <a:r>
              <a:rPr sz="1050" b="0" dirty="0">
                <a:solidFill>
                  <a:srgbClr val="6A7280"/>
                </a:solidFill>
                <a:latin typeface="Source Code Pro ExtraLight"/>
                <a:cs typeface="Source Code Pro ExtraLight"/>
              </a:rPr>
              <a:t>Introduction</a:t>
            </a:r>
            <a:r>
              <a:rPr sz="1050" b="0" spc="10" dirty="0">
                <a:solidFill>
                  <a:srgbClr val="6A7280"/>
                </a:solidFill>
                <a:latin typeface="Source Code Pro ExtraLight"/>
                <a:cs typeface="Source Code Pro ExtraLight"/>
              </a:rPr>
              <a:t> </a:t>
            </a:r>
            <a:r>
              <a:rPr sz="1050" b="0" dirty="0">
                <a:solidFill>
                  <a:srgbClr val="6A7280"/>
                </a:solidFill>
                <a:latin typeface="Source Code Pro ExtraLight"/>
                <a:cs typeface="Source Code Pro ExtraLight"/>
              </a:rPr>
              <a:t>to</a:t>
            </a:r>
            <a:r>
              <a:rPr sz="1050" b="0" spc="5" dirty="0">
                <a:solidFill>
                  <a:srgbClr val="6A7280"/>
                </a:solidFill>
                <a:latin typeface="Source Code Pro ExtraLight"/>
                <a:cs typeface="Source Code Pro ExtraLight"/>
              </a:rPr>
              <a:t> </a:t>
            </a:r>
            <a:r>
              <a:rPr sz="1050" b="0" dirty="0">
                <a:solidFill>
                  <a:srgbClr val="6A7280"/>
                </a:solidFill>
                <a:latin typeface="Source Code Pro ExtraLight"/>
                <a:cs typeface="Source Code Pro ExtraLight"/>
              </a:rPr>
              <a:t>Structured</a:t>
            </a:r>
            <a:r>
              <a:rPr sz="1050" b="0" spc="10" dirty="0">
                <a:solidFill>
                  <a:srgbClr val="6A7280"/>
                </a:solidFill>
                <a:latin typeface="Source Code Pro ExtraLight"/>
                <a:cs typeface="Source Code Pro ExtraLight"/>
              </a:rPr>
              <a:t> </a:t>
            </a:r>
            <a:r>
              <a:rPr sz="1050" b="0" spc="-5" dirty="0">
                <a:solidFill>
                  <a:srgbClr val="6A7280"/>
                </a:solidFill>
                <a:latin typeface="Source Code Pro ExtraLight"/>
                <a:cs typeface="Source Code Pro ExtraLight"/>
              </a:rPr>
              <a:t>Programmi</a:t>
            </a:r>
            <a:r>
              <a:rPr sz="1050" b="0" spc="-20" dirty="0">
                <a:solidFill>
                  <a:srgbClr val="6A7280"/>
                </a:solidFill>
                <a:latin typeface="Source Code Pro ExtraLight"/>
                <a:cs typeface="Source Code Pro ExtraLight"/>
              </a:rPr>
              <a:t>n</a:t>
            </a:r>
            <a:r>
              <a:rPr sz="1500" spc="-1327" baseline="16666" dirty="0">
                <a:solidFill>
                  <a:srgbClr val="FFFFFF"/>
                </a:solidFill>
                <a:latin typeface="Roboto"/>
                <a:cs typeface="Roboto"/>
              </a:rPr>
              <a:t>M</a:t>
            </a:r>
            <a:r>
              <a:rPr sz="1050" b="0" spc="-5" dirty="0">
                <a:solidFill>
                  <a:srgbClr val="6A7280"/>
                </a:solidFill>
                <a:latin typeface="Source Code Pro ExtraLight"/>
                <a:cs typeface="Source Code Pro ExtraLight"/>
              </a:rPr>
              <a:t>g</a:t>
            </a:r>
            <a:r>
              <a:rPr sz="1050" b="0" spc="-480" dirty="0">
                <a:solidFill>
                  <a:srgbClr val="6A7280"/>
                </a:solidFill>
                <a:latin typeface="Source Code Pro ExtraLight"/>
                <a:cs typeface="Source Code Pro ExtraLight"/>
              </a:rPr>
              <a:t> </a:t>
            </a:r>
            <a:r>
              <a:rPr sz="1500" spc="-52" baseline="16666" dirty="0">
                <a:solidFill>
                  <a:srgbClr val="FFFFFF"/>
                </a:solidFill>
                <a:latin typeface="Roboto"/>
                <a:cs typeface="Roboto"/>
              </a:rPr>
              <a:t>a</a:t>
            </a:r>
            <a:r>
              <a:rPr sz="1050" b="0" spc="-655" dirty="0">
                <a:solidFill>
                  <a:srgbClr val="6A7280"/>
                </a:solidFill>
                <a:latin typeface="Source Code Pro ExtraLight"/>
                <a:cs typeface="Source Code Pro ExtraLight"/>
              </a:rPr>
              <a:t>M</a:t>
            </a:r>
            <a:r>
              <a:rPr sz="1500" spc="-37" baseline="16666" dirty="0">
                <a:solidFill>
                  <a:srgbClr val="FFFFFF"/>
                </a:solidFill>
                <a:latin typeface="Roboto"/>
                <a:cs typeface="Roboto"/>
              </a:rPr>
              <a:t>d</a:t>
            </a:r>
            <a:r>
              <a:rPr sz="1500" spc="-637" baseline="16666" dirty="0">
                <a:solidFill>
                  <a:srgbClr val="FFFFFF"/>
                </a:solidFill>
                <a:latin typeface="Roboto"/>
                <a:cs typeface="Roboto"/>
              </a:rPr>
              <a:t>e</a:t>
            </a:r>
            <a:r>
              <a:rPr sz="1050" b="0" spc="-75" dirty="0">
                <a:solidFill>
                  <a:srgbClr val="6A7280"/>
                </a:solidFill>
                <a:latin typeface="Source Code Pro ExtraLight"/>
                <a:cs typeface="Source Code Pro ExtraLight"/>
              </a:rPr>
              <a:t>e</a:t>
            </a:r>
            <a:r>
              <a:rPr sz="1500" spc="-1087" baseline="16666" dirty="0">
                <a:solidFill>
                  <a:srgbClr val="FFFFFF"/>
                </a:solidFill>
                <a:latin typeface="Roboto"/>
                <a:cs typeface="Roboto"/>
              </a:rPr>
              <a:t>w</a:t>
            </a:r>
            <a:r>
              <a:rPr sz="1050" b="0" spc="-30" dirty="0">
                <a:solidFill>
                  <a:srgbClr val="6A7280"/>
                </a:solidFill>
                <a:latin typeface="Source Code Pro ExtraLight"/>
                <a:cs typeface="Source Code Pro ExtraLight"/>
              </a:rPr>
              <a:t>t</a:t>
            </a:r>
            <a:r>
              <a:rPr sz="1500" spc="-397" baseline="16666" dirty="0">
                <a:solidFill>
                  <a:srgbClr val="FFFFFF"/>
                </a:solidFill>
                <a:latin typeface="Roboto"/>
                <a:cs typeface="Roboto"/>
              </a:rPr>
              <a:t>i</a:t>
            </a:r>
            <a:r>
              <a:rPr sz="1050" b="0" spc="-440" dirty="0">
                <a:solidFill>
                  <a:srgbClr val="6A7280"/>
                </a:solidFill>
                <a:latin typeface="Source Code Pro ExtraLight"/>
                <a:cs typeface="Source Code Pro ExtraLight"/>
              </a:rPr>
              <a:t>h</a:t>
            </a:r>
            <a:r>
              <a:rPr sz="1500" spc="-37" baseline="16666" dirty="0">
                <a:solidFill>
                  <a:srgbClr val="FFFFFF"/>
                </a:solidFill>
                <a:latin typeface="Roboto"/>
                <a:cs typeface="Roboto"/>
              </a:rPr>
              <a:t>t</a:t>
            </a:r>
            <a:r>
              <a:rPr sz="1500" spc="-682" baseline="16666" dirty="0">
                <a:solidFill>
                  <a:srgbClr val="FFFFFF"/>
                </a:solidFill>
                <a:latin typeface="Roboto"/>
                <a:cs typeface="Roboto"/>
              </a:rPr>
              <a:t>h</a:t>
            </a:r>
            <a:r>
              <a:rPr sz="1050" b="0" spc="-55" dirty="0">
                <a:solidFill>
                  <a:srgbClr val="6A7280"/>
                </a:solidFill>
                <a:latin typeface="Source Code Pro ExtraLight"/>
                <a:cs typeface="Source Code Pro ExtraLight"/>
              </a:rPr>
              <a:t>o</a:t>
            </a:r>
            <a:r>
              <a:rPr sz="1500" spc="-1012" baseline="16666" dirty="0">
                <a:solidFill>
                  <a:srgbClr val="FFFFFF"/>
                </a:solidFill>
                <a:latin typeface="Roboto"/>
                <a:cs typeface="Roboto"/>
              </a:rPr>
              <a:t>G</a:t>
            </a:r>
            <a:r>
              <a:rPr sz="1050" b="0" spc="-75" dirty="0">
                <a:solidFill>
                  <a:srgbClr val="6A7280"/>
                </a:solidFill>
                <a:latin typeface="Source Code Pro ExtraLight"/>
                <a:cs typeface="Source Code Pro ExtraLight"/>
              </a:rPr>
              <a:t>d</a:t>
            </a:r>
            <a:r>
              <a:rPr sz="1500" spc="-765" baseline="16666" dirty="0">
                <a:solidFill>
                  <a:srgbClr val="FFFFFF"/>
                </a:solidFill>
                <a:latin typeface="Roboto"/>
                <a:cs typeface="Roboto"/>
              </a:rPr>
              <a:t>e</a:t>
            </a:r>
            <a:r>
              <a:rPr sz="1050" b="0" spc="-225" dirty="0">
                <a:solidFill>
                  <a:srgbClr val="6A7280"/>
                </a:solidFill>
                <a:latin typeface="Source Code Pro ExtraLight"/>
                <a:cs typeface="Source Code Pro ExtraLight"/>
              </a:rPr>
              <a:t>o</a:t>
            </a:r>
            <a:r>
              <a:rPr sz="1500" spc="-547" baseline="16666" dirty="0">
                <a:solidFill>
                  <a:srgbClr val="FFFFFF"/>
                </a:solidFill>
                <a:latin typeface="Roboto"/>
                <a:cs typeface="Roboto"/>
              </a:rPr>
              <a:t>n</a:t>
            </a:r>
            <a:r>
              <a:rPr sz="1050" b="0" spc="-360" dirty="0">
                <a:solidFill>
                  <a:srgbClr val="6A7280"/>
                </a:solidFill>
                <a:latin typeface="Source Code Pro ExtraLight"/>
                <a:cs typeface="Source Code Pro ExtraLight"/>
              </a:rPr>
              <a:t>l</a:t>
            </a:r>
            <a:r>
              <a:rPr sz="1500" spc="-262" baseline="16666" dirty="0">
                <a:solidFill>
                  <a:srgbClr val="FFFFFF"/>
                </a:solidFill>
                <a:latin typeface="Roboto"/>
                <a:cs typeface="Roboto"/>
              </a:rPr>
              <a:t>s</a:t>
            </a:r>
            <a:r>
              <a:rPr sz="1050" b="0" spc="-525" dirty="0">
                <a:solidFill>
                  <a:srgbClr val="6A7280"/>
                </a:solidFill>
                <a:latin typeface="Source Code Pro ExtraLight"/>
                <a:cs typeface="Source Code Pro ExtraLight"/>
              </a:rPr>
              <a:t>o</a:t>
            </a:r>
            <a:r>
              <a:rPr sz="1500" spc="-60" baseline="16666" dirty="0">
                <a:solidFill>
                  <a:srgbClr val="FFFFFF"/>
                </a:solidFill>
                <a:latin typeface="Roboto"/>
                <a:cs typeface="Roboto"/>
              </a:rPr>
              <a:t>p</a:t>
            </a:r>
            <a:r>
              <a:rPr sz="1050" b="0" spc="-650" dirty="0">
                <a:solidFill>
                  <a:srgbClr val="6A7280"/>
                </a:solidFill>
                <a:latin typeface="Source Code Pro ExtraLight"/>
                <a:cs typeface="Source Code Pro ExtraLight"/>
              </a:rPr>
              <a:t>g</a:t>
            </a:r>
            <a:r>
              <a:rPr sz="1500" spc="-37" baseline="16666" dirty="0">
                <a:solidFill>
                  <a:srgbClr val="FFFFFF"/>
                </a:solidFill>
                <a:latin typeface="Roboto"/>
                <a:cs typeface="Roboto"/>
              </a:rPr>
              <a:t>a</a:t>
            </a:r>
            <a:r>
              <a:rPr sz="1500" spc="-330" baseline="16666" dirty="0">
                <a:solidFill>
                  <a:srgbClr val="FFFFFF"/>
                </a:solidFill>
                <a:latin typeface="Roboto"/>
                <a:cs typeface="Roboto"/>
              </a:rPr>
              <a:t>r</a:t>
            </a:r>
            <a:r>
              <a:rPr sz="1050" b="0" spc="-484" dirty="0">
                <a:solidFill>
                  <a:srgbClr val="6A7280"/>
                </a:solidFill>
                <a:latin typeface="Source Code Pro ExtraLight"/>
                <a:cs typeface="Source Code Pro ExtraLight"/>
              </a:rPr>
              <a:t>y</a:t>
            </a:r>
            <a:r>
              <a:rPr sz="1500" spc="-37" baseline="16666" dirty="0">
                <a:solidFill>
                  <a:srgbClr val="FFFFFF"/>
                </a:solidFill>
                <a:latin typeface="Roboto"/>
                <a:cs typeface="Roboto"/>
              </a:rPr>
              <a:t>k</a:t>
            </a:r>
            <a:endParaRPr sz="1500" baseline="16666">
              <a:latin typeface="Roboto"/>
              <a:cs typeface="Roboto"/>
            </a:endParaRPr>
          </a:p>
        </p:txBody>
      </p:sp>
    </p:spTree>
    <p:extLst>
      <p:ext uri="{BB962C8B-B14F-4D97-AF65-F5344CB8AC3E}">
        <p14:creationId xmlns:p14="http://schemas.microsoft.com/office/powerpoint/2010/main" val="40742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12BDBCED-4BB6-2B47-8F9B-017A65253318}"/>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8C41E4B2-74C9-55EA-2C75-E5D2CEFE137D}"/>
              </a:ext>
            </a:extLst>
          </p:cNvPr>
          <p:cNvSpPr txBox="1"/>
          <p:nvPr/>
        </p:nvSpPr>
        <p:spPr>
          <a:xfrm>
            <a:off x="178905" y="860575"/>
            <a:ext cx="11897139" cy="48320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en-US" sz="2800" dirty="0">
                <a:latin typeface="Times New Roman" panose="02020603050405020304" pitchFamily="18" charset="0"/>
                <a:cs typeface="Times New Roman" panose="02020603050405020304" pitchFamily="18" charset="0"/>
              </a:rPr>
              <a:t>The word “algorithm” relates to the name of the mathematician Al-</a:t>
            </a:r>
            <a:r>
              <a:rPr lang="en-US" sz="2800" dirty="0" err="1">
                <a:latin typeface="Times New Roman" panose="02020603050405020304" pitchFamily="18" charset="0"/>
                <a:cs typeface="Times New Roman" panose="02020603050405020304" pitchFamily="18" charset="0"/>
              </a:rPr>
              <a:t>khowarizmi</a:t>
            </a:r>
            <a:r>
              <a:rPr lang="en-US" sz="2800" dirty="0">
                <a:latin typeface="Times New Roman" panose="02020603050405020304" pitchFamily="18" charset="0"/>
                <a:cs typeface="Times New Roman" panose="02020603050405020304" pitchFamily="18" charset="0"/>
              </a:rPr>
              <a:t>, which means a procedure or a technique. Software Engineer commonly uses an algorithm for planning and solving the problems. </a:t>
            </a:r>
            <a:r>
              <a:rPr lang="en-US" sz="2800" b="1" dirty="0">
                <a:latin typeface="Times New Roman" panose="02020603050405020304" pitchFamily="18" charset="0"/>
                <a:cs typeface="Times New Roman" panose="02020603050405020304" pitchFamily="18" charset="0"/>
              </a:rPr>
              <a:t>An algorithm is a sequence of steps to solve a particular problem or algorithm is an ordered set of unambiguous steps that produces a result and terminates in a finite </a:t>
            </a:r>
            <a:r>
              <a:rPr lang="en-US" sz="2800" b="1" dirty="0" smtClean="0">
                <a:latin typeface="Times New Roman" panose="02020603050405020304" pitchFamily="18" charset="0"/>
                <a:cs typeface="Times New Roman" panose="02020603050405020304" pitchFamily="18" charset="0"/>
              </a:rPr>
              <a:t>time</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algn="just"/>
            <a:r>
              <a:rPr lang="en-US" sz="28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Algorithm </a:t>
            </a:r>
            <a:r>
              <a:rPr lang="en-US" sz="28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has the following characteristics:</a:t>
            </a:r>
          </a:p>
          <a:p>
            <a:pPr marL="285750" indent="-285750" algn="just">
              <a:buFont typeface="Wingdings" panose="05000000000000000000" pitchFamily="2" charset="2"/>
              <a:buChar char="q"/>
            </a:pPr>
            <a:r>
              <a:rPr lang="en-US" sz="2800" dirty="0" smtClean="0">
                <a:latin typeface="Times New Roman" panose="02020603050405020304" pitchFamily="18" charset="0"/>
                <a:cs typeface="Times New Roman" panose="02020603050405020304" pitchFamily="18" charset="0"/>
              </a:rPr>
              <a:t>Input</a:t>
            </a:r>
            <a:r>
              <a:rPr lang="en-US" sz="2800" dirty="0">
                <a:latin typeface="Times New Roman" panose="02020603050405020304" pitchFamily="18" charset="0"/>
                <a:cs typeface="Times New Roman" panose="02020603050405020304" pitchFamily="18" charset="0"/>
              </a:rPr>
              <a:t>: An algorithm may or may not require input</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Output: Each algorithm is expected to produce at least one result</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Definiteness: Each instruction must be clear and unambiguous. </a:t>
            </a:r>
          </a:p>
          <a:p>
            <a:pPr marL="285750" indent="-28575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Finiteness: If the instructions of an algorithm are executed, the algorithm should terminate after finite number of steps </a:t>
            </a:r>
            <a:endParaRPr lang="en-IN" sz="28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 xmlns:a16="http://schemas.microsoft.com/office/drawing/2014/main" id="{E82E80AD-8FCE-4035-5A25-45B5245B652D}"/>
              </a:ext>
            </a:extLst>
          </p:cNvPr>
          <p:cNvSpPr txBox="1">
            <a:spLocks/>
          </p:cNvSpPr>
          <p:nvPr/>
        </p:nvSpPr>
        <p:spPr>
          <a:xfrm>
            <a:off x="2611325" y="96598"/>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Algorithm</a:t>
            </a:r>
          </a:p>
        </p:txBody>
      </p:sp>
    </p:spTree>
    <p:extLst>
      <p:ext uri="{BB962C8B-B14F-4D97-AF65-F5344CB8AC3E}">
        <p14:creationId xmlns:p14="http://schemas.microsoft.com/office/powerpoint/2010/main" val="32257303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A9704C68-E709-1342-D989-FAE44B705E22}"/>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1FFE35E3-524D-8B95-3ABF-9939ADD90523}"/>
              </a:ext>
            </a:extLst>
          </p:cNvPr>
          <p:cNvSpPr txBox="1"/>
          <p:nvPr/>
        </p:nvSpPr>
        <p:spPr>
          <a:xfrm>
            <a:off x="510853" y="1443846"/>
            <a:ext cx="6774531" cy="44012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000" dirty="0">
                <a:latin typeface="Times New Roman" panose="02020603050405020304" pitchFamily="18" charset="0"/>
                <a:cs typeface="Times New Roman" panose="02020603050405020304" pitchFamily="18" charset="0"/>
              </a:rPr>
              <a:t>The algorithm and flowchart include following three types of control structures. </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Sequence</a:t>
            </a:r>
            <a:r>
              <a:rPr lang="en-US" sz="2000" dirty="0">
                <a:latin typeface="Times New Roman" panose="02020603050405020304" pitchFamily="18" charset="0"/>
                <a:cs typeface="Times New Roman" panose="02020603050405020304" pitchFamily="18" charset="0"/>
              </a:rPr>
              <a:t>: In the sequence structure, statements are placed one after the other and the execution takes place starting from up to down. </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Branching</a:t>
            </a:r>
            <a:r>
              <a:rPr lang="en-US" sz="2000" dirty="0">
                <a:latin typeface="Times New Roman" panose="02020603050405020304" pitchFamily="18" charset="0"/>
                <a:cs typeface="Times New Roman" panose="02020603050405020304" pitchFamily="18" charset="0"/>
              </a:rPr>
              <a:t> (Selection): In branch control, there is a condition and according to a condition, a decision of either TRUE or FALSE is achieved. In the case of TRUE, one of the two branches is explored; but in the case of FALSE condition, the other alternative is taken. Generally, the ‘IF-THEN’ is used to represent branch control.</a:t>
            </a:r>
          </a:p>
          <a:p>
            <a:pPr marL="342900" indent="-342900" algn="just">
              <a:buAutoNum type="arabicPeriod"/>
            </a:pPr>
            <a:r>
              <a:rPr lang="en-US" sz="2000" b="1" dirty="0">
                <a:latin typeface="Times New Roman" panose="02020603050405020304" pitchFamily="18" charset="0"/>
                <a:cs typeface="Times New Roman" panose="02020603050405020304" pitchFamily="18" charset="0"/>
              </a:rPr>
              <a:t>Loop</a:t>
            </a:r>
            <a:r>
              <a:rPr lang="en-US" sz="2000" dirty="0">
                <a:latin typeface="Times New Roman" panose="02020603050405020304" pitchFamily="18" charset="0"/>
                <a:cs typeface="Times New Roman" panose="02020603050405020304" pitchFamily="18" charset="0"/>
              </a:rPr>
              <a:t> (Repetition): The Loop or Repetition allows a statement(s) to be executed repeatedly based on certain loop condition e.g. WHILE, FOR loops</a:t>
            </a:r>
            <a:endParaRPr lang="en-IN" sz="2000" dirty="0">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 xmlns:a16="http://schemas.microsoft.com/office/drawing/2014/main" id="{EDA2B746-0FB7-283B-6C27-C787ADA9DA31}"/>
              </a:ext>
            </a:extLst>
          </p:cNvPr>
          <p:cNvSpPr txBox="1">
            <a:spLocks/>
          </p:cNvSpPr>
          <p:nvPr/>
        </p:nvSpPr>
        <p:spPr>
          <a:xfrm>
            <a:off x="2611325" y="650243"/>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Algorithm</a:t>
            </a:r>
          </a:p>
        </p:txBody>
      </p:sp>
      <p:sp>
        <p:nvSpPr>
          <p:cNvPr id="8" name="TextBox 7">
            <a:extLst>
              <a:ext uri="{FF2B5EF4-FFF2-40B4-BE49-F238E27FC236}">
                <a16:creationId xmlns="" xmlns:a16="http://schemas.microsoft.com/office/drawing/2014/main" id="{C020859F-0507-7590-B19B-282D5B266B75}"/>
              </a:ext>
            </a:extLst>
          </p:cNvPr>
          <p:cNvSpPr txBox="1"/>
          <p:nvPr/>
        </p:nvSpPr>
        <p:spPr>
          <a:xfrm>
            <a:off x="7583557" y="1443841"/>
            <a:ext cx="3884171" cy="40934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latin typeface="Times New Roman" panose="02020603050405020304" pitchFamily="18" charset="0"/>
                <a:cs typeface="Times New Roman" panose="02020603050405020304" pitchFamily="18" charset="0"/>
              </a:rPr>
              <a:t>Advantages of algorithm: </a:t>
            </a:r>
          </a:p>
          <a:p>
            <a:pPr lvl="2" algn="just"/>
            <a:r>
              <a:rPr lang="en-US" sz="2000" dirty="0">
                <a:latin typeface="Times New Roman" panose="02020603050405020304" pitchFamily="18" charset="0"/>
                <a:cs typeface="Times New Roman" panose="02020603050405020304" pitchFamily="18" charset="0"/>
              </a:rPr>
              <a:t>• It is a step-wise representation of a solution to a given problem, which makes it easy to understand. </a:t>
            </a:r>
          </a:p>
          <a:p>
            <a:pPr lvl="2" algn="just"/>
            <a:r>
              <a:rPr lang="en-US" sz="2000" dirty="0">
                <a:latin typeface="Times New Roman" panose="02020603050405020304" pitchFamily="18" charset="0"/>
                <a:cs typeface="Times New Roman" panose="02020603050405020304" pitchFamily="18" charset="0"/>
              </a:rPr>
              <a:t>• An algorithm uses a definite procedure. </a:t>
            </a:r>
          </a:p>
          <a:p>
            <a:pPr lvl="2" algn="just"/>
            <a:r>
              <a:rPr lang="en-US" sz="2000" dirty="0">
                <a:latin typeface="Times New Roman" panose="02020603050405020304" pitchFamily="18" charset="0"/>
                <a:cs typeface="Times New Roman" panose="02020603050405020304" pitchFamily="18" charset="0"/>
              </a:rPr>
              <a:t>• It is not dependent on any programming language, so it is easy to understand for anyone even without programming knowledge.</a:t>
            </a:r>
          </a:p>
          <a:p>
            <a:pPr lvl="2" algn="just"/>
            <a:r>
              <a:rPr lang="en-US" sz="2000" dirty="0">
                <a:latin typeface="Times New Roman" panose="02020603050405020304" pitchFamily="18" charset="0"/>
                <a:cs typeface="Times New Roman" panose="02020603050405020304" pitchFamily="18" charset="0"/>
              </a:rPr>
              <a:t> • Every step in an algorithm has its own logical sequence so it is easy to debug.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5895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8A81AF83-6A5F-DB91-1294-BE0F50197AB7}"/>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00FEA2BD-B8B4-8F3E-4D5E-1059A356E8A4}"/>
              </a:ext>
            </a:extLst>
          </p:cNvPr>
          <p:cNvSpPr txBox="1"/>
          <p:nvPr/>
        </p:nvSpPr>
        <p:spPr>
          <a:xfrm>
            <a:off x="166225" y="989106"/>
            <a:ext cx="11777296" cy="4708981"/>
          </a:xfrm>
          <a:prstGeom prst="rect">
            <a:avLst/>
          </a:prstGeom>
          <a:noFill/>
        </p:spPr>
        <p:txBody>
          <a:bodyPr wrap="square">
            <a:spAutoFit/>
          </a:bodyPr>
          <a:lstStyle/>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Step 1 Define your algorithms input: Many algorithms take in data to be processed, e.g. </a:t>
            </a:r>
            <a:r>
              <a:rPr lang="en-US" sz="2000" b="1" dirty="0">
                <a:solidFill>
                  <a:srgbClr val="FF0000"/>
                </a:solidFill>
                <a:latin typeface="Times New Roman" panose="02020603050405020304" pitchFamily="18" charset="0"/>
                <a:cs typeface="Times New Roman" panose="02020603050405020304" pitchFamily="18" charset="0"/>
              </a:rPr>
              <a:t>to calculate the area of rectangle input may be the rectangle height and rectangle width. </a:t>
            </a:r>
          </a:p>
          <a:p>
            <a:pPr marL="285750" indent="-28575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Step 2 Define the variables: Algorithm's variables allow you to use it for more than one place. We can define </a:t>
            </a:r>
            <a:r>
              <a:rPr lang="en-US" sz="2000" b="1" dirty="0">
                <a:solidFill>
                  <a:srgbClr val="FF0000"/>
                </a:solidFill>
                <a:latin typeface="Times New Roman" panose="02020603050405020304" pitchFamily="18" charset="0"/>
                <a:cs typeface="Times New Roman" panose="02020603050405020304" pitchFamily="18" charset="0"/>
              </a:rPr>
              <a:t>two variables for rectangle height and rectangle width as HEIGHT and WIDTH (or H &amp; W). </a:t>
            </a:r>
            <a:r>
              <a:rPr lang="en-US" sz="2000" dirty="0">
                <a:latin typeface="Times New Roman" panose="02020603050405020304" pitchFamily="18" charset="0"/>
                <a:cs typeface="Times New Roman" panose="02020603050405020304" pitchFamily="18" charset="0"/>
              </a:rPr>
              <a:t>We should use meaningful variable name e.g. instead of using H &amp; W use HEIGHT and WIDTH as variable name.</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Step 3 Outline the algorithm's operations: Use input variable for computation purpose, e.g. to find area of rectangle multiply the HEIGHT and WIDTH variable and store the value in </a:t>
            </a:r>
            <a:r>
              <a:rPr lang="en-US" sz="2000" b="1" dirty="0">
                <a:solidFill>
                  <a:srgbClr val="FF0000"/>
                </a:solidFill>
                <a:latin typeface="Times New Roman" panose="02020603050405020304" pitchFamily="18" charset="0"/>
                <a:cs typeface="Times New Roman" panose="02020603050405020304" pitchFamily="18" charset="0"/>
              </a:rPr>
              <a:t>new variable (say) AREA</a:t>
            </a:r>
            <a:r>
              <a:rPr lang="en-US" sz="2000" dirty="0">
                <a:latin typeface="Times New Roman" panose="02020603050405020304" pitchFamily="18" charset="0"/>
                <a:cs typeface="Times New Roman" panose="02020603050405020304" pitchFamily="18" charset="0"/>
              </a:rPr>
              <a:t>. An algorithm's operations can take the form of multiple steps and even branch, depending on the value of the input variables. </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Step 4 Output the results of your algorithm's operations: In case of </a:t>
            </a:r>
            <a:r>
              <a:rPr lang="en-US" sz="2000" b="1" dirty="0">
                <a:solidFill>
                  <a:srgbClr val="FF0000"/>
                </a:solidFill>
                <a:latin typeface="Times New Roman" panose="02020603050405020304" pitchFamily="18" charset="0"/>
                <a:cs typeface="Times New Roman" panose="02020603050405020304" pitchFamily="18" charset="0"/>
              </a:rPr>
              <a:t>area of rectangle output will be the value stored in variable AREA. </a:t>
            </a:r>
            <a:r>
              <a:rPr lang="en-US" sz="2000" dirty="0">
                <a:latin typeface="Times New Roman" panose="02020603050405020304" pitchFamily="18" charset="0"/>
                <a:cs typeface="Times New Roman" panose="02020603050405020304" pitchFamily="18" charset="0"/>
              </a:rPr>
              <a:t>if the input variables described a rectangle with a HEIGHT of 2 and a WIDTH of 3, the algorithm would output the value of 6.</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 xmlns:a16="http://schemas.microsoft.com/office/drawing/2014/main" id="{D660F0D5-E7EB-F984-21C8-A940FE1EB1E8}"/>
              </a:ext>
            </a:extLst>
          </p:cNvPr>
          <p:cNvSpPr txBox="1"/>
          <p:nvPr/>
        </p:nvSpPr>
        <p:spPr>
          <a:xfrm>
            <a:off x="3684073" y="251223"/>
            <a:ext cx="6097555" cy="523220"/>
          </a:xfrm>
          <a:prstGeom prst="rect">
            <a:avLst/>
          </a:prstGeom>
          <a:noFill/>
        </p:spPr>
        <p:txBody>
          <a:bodyPr wrap="square">
            <a:spAutoFit/>
          </a:bodyPr>
          <a:lstStyle/>
          <a:p>
            <a:r>
              <a:rPr lang="en-US" sz="2800" b="1" dirty="0">
                <a:solidFill>
                  <a:schemeClr val="tx1"/>
                </a:solidFill>
                <a:latin typeface="Times New Roman" panose="02020603050405020304" pitchFamily="18" charset="0"/>
                <a:cs typeface="Times New Roman" panose="02020603050405020304" pitchFamily="18" charset="0"/>
              </a:rPr>
              <a:t>HOW TO WRITE ALGORITHMS </a:t>
            </a:r>
            <a:endParaRPr lang="en-IN"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16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07731560-6A95-89A7-B840-1C12006C0096}"/>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FA12992F-038A-2F00-6B1C-99DAD19229D4}"/>
              </a:ext>
            </a:extLst>
          </p:cNvPr>
          <p:cNvSpPr txBox="1"/>
          <p:nvPr/>
        </p:nvSpPr>
        <p:spPr>
          <a:xfrm>
            <a:off x="716124" y="1361077"/>
            <a:ext cx="9006373" cy="3785652"/>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Example 1. </a:t>
            </a:r>
          </a:p>
          <a:p>
            <a:r>
              <a:rPr lang="en-US" sz="2400" dirty="0">
                <a:latin typeface="Times New Roman" panose="02020603050405020304" pitchFamily="18" charset="0"/>
                <a:cs typeface="Times New Roman" panose="02020603050405020304" pitchFamily="18" charset="0"/>
              </a:rPr>
              <a:t>Suppose we want to find the average of three numbers, the algorithm is as follows </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1 Read the numbers a, b, 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2 Compute the sum of a, b and c</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3 Divide the sum by 3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4 Store the result in variable d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5 Print the value of d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Step 6 End of the program </a:t>
            </a:r>
            <a:endParaRPr lang="en-IN" sz="24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 xmlns:a16="http://schemas.microsoft.com/office/drawing/2014/main" id="{BE854269-7845-8198-ABF2-22CBF1999F07}"/>
              </a:ext>
            </a:extLst>
          </p:cNvPr>
          <p:cNvSpPr txBox="1">
            <a:spLocks/>
          </p:cNvSpPr>
          <p:nvPr/>
        </p:nvSpPr>
        <p:spPr>
          <a:xfrm>
            <a:off x="2611325" y="650243"/>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Algorithm</a:t>
            </a:r>
          </a:p>
        </p:txBody>
      </p:sp>
    </p:spTree>
    <p:extLst>
      <p:ext uri="{BB962C8B-B14F-4D97-AF65-F5344CB8AC3E}">
        <p14:creationId xmlns:p14="http://schemas.microsoft.com/office/powerpoint/2010/main" val="3829308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E4F32025-9BE7-FF61-6984-D9D5EB5E02EF}"/>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0FC9806F-B57B-7D00-5240-6DD7D8541B5F}"/>
              </a:ext>
            </a:extLst>
          </p:cNvPr>
          <p:cNvSpPr txBox="1"/>
          <p:nvPr/>
        </p:nvSpPr>
        <p:spPr>
          <a:xfrm>
            <a:off x="528347" y="1247839"/>
            <a:ext cx="11135308"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buAutoNum type="arabicPeriod"/>
            </a:pPr>
            <a:r>
              <a:rPr lang="en-US" sz="2000" dirty="0">
                <a:solidFill>
                  <a:schemeClr val="tx1"/>
                </a:solidFill>
                <a:latin typeface="Times New Roman" panose="02020603050405020304" pitchFamily="18" charset="0"/>
                <a:cs typeface="Times New Roman" panose="02020603050405020304" pitchFamily="18" charset="0"/>
              </a:rPr>
              <a:t>Write an algorithm to calculate the simple interest using the formula. Simple interest = P*N* R/100.</a:t>
            </a:r>
          </a:p>
          <a:p>
            <a:r>
              <a:rPr lang="en-US" sz="2000" dirty="0">
                <a:solidFill>
                  <a:schemeClr val="tx1"/>
                </a:solidFill>
                <a:latin typeface="Times New Roman" panose="02020603050405020304" pitchFamily="18" charset="0"/>
                <a:cs typeface="Times New Roman" panose="02020603050405020304" pitchFamily="18" charset="0"/>
              </a:rPr>
              <a:t>Where P is principle Amount, N is the number of years and R is the rate of interest. </a:t>
            </a:r>
            <a:endParaRPr lang="en-IN" dirty="0"/>
          </a:p>
        </p:txBody>
      </p:sp>
      <p:sp>
        <p:nvSpPr>
          <p:cNvPr id="5" name="TextBox 4">
            <a:extLst>
              <a:ext uri="{FF2B5EF4-FFF2-40B4-BE49-F238E27FC236}">
                <a16:creationId xmlns="" xmlns:a16="http://schemas.microsoft.com/office/drawing/2014/main" id="{6E1331B1-7E19-7B71-64C9-368AE71C575C}"/>
              </a:ext>
            </a:extLst>
          </p:cNvPr>
          <p:cNvSpPr txBox="1"/>
          <p:nvPr/>
        </p:nvSpPr>
        <p:spPr>
          <a:xfrm>
            <a:off x="714573" y="2305617"/>
            <a:ext cx="8634703" cy="2246769"/>
          </a:xfrm>
          <a:prstGeom prst="rect">
            <a:avLst/>
          </a:prstGeom>
          <a:noFill/>
        </p:spPr>
        <p:txBody>
          <a:bodyPr wrap="square">
            <a:spAutoFit/>
          </a:bodyPr>
          <a:lstStyle/>
          <a:p>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1: Read the three input quantities’ P, N and R. </a:t>
            </a:r>
          </a:p>
          <a:p>
            <a:pPr marL="342900" indent="-342900">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2 : Calculate simple interest as Simple interest = P* N* R/100 </a:t>
            </a:r>
          </a:p>
          <a:p>
            <a:pPr marL="342900" indent="-342900">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3: Print simple interest. </a:t>
            </a:r>
          </a:p>
          <a:p>
            <a:pPr marL="342900" indent="-342900">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4: Stop. </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 xmlns:a16="http://schemas.microsoft.com/office/drawing/2014/main" id="{104816C4-5CE8-6E40-2127-DB71E02F23D0}"/>
              </a:ext>
            </a:extLst>
          </p:cNvPr>
          <p:cNvSpPr txBox="1">
            <a:spLocks/>
          </p:cNvSpPr>
          <p:nvPr/>
        </p:nvSpPr>
        <p:spPr>
          <a:xfrm>
            <a:off x="2611325" y="650243"/>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Algorithm</a:t>
            </a:r>
          </a:p>
        </p:txBody>
      </p:sp>
    </p:spTree>
    <p:extLst>
      <p:ext uri="{BB962C8B-B14F-4D97-AF65-F5344CB8AC3E}">
        <p14:creationId xmlns:p14="http://schemas.microsoft.com/office/powerpoint/2010/main" val="12454973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238EFC65-3831-0AE9-ECD5-B2C365F9BE35}"/>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01397034-6FB7-7010-42B7-2451D3600B5B}"/>
              </a:ext>
            </a:extLst>
          </p:cNvPr>
          <p:cNvSpPr txBox="1"/>
          <p:nvPr/>
        </p:nvSpPr>
        <p:spPr>
          <a:xfrm>
            <a:off x="528347" y="1247838"/>
            <a:ext cx="1113530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Times New Roman" panose="02020603050405020304" pitchFamily="18" charset="0"/>
                <a:cs typeface="Times New Roman" panose="02020603050405020304" pitchFamily="18" charset="0"/>
              </a:rPr>
              <a:t>2. Write an algorithm to find the largest of three numbers X, Y,Z.</a:t>
            </a:r>
            <a:endParaRPr lang="en-IN" dirty="0"/>
          </a:p>
        </p:txBody>
      </p:sp>
      <p:sp>
        <p:nvSpPr>
          <p:cNvPr id="5" name="TextBox 4">
            <a:extLst>
              <a:ext uri="{FF2B5EF4-FFF2-40B4-BE49-F238E27FC236}">
                <a16:creationId xmlns="" xmlns:a16="http://schemas.microsoft.com/office/drawing/2014/main" id="{44B15447-BD6B-3406-DC2D-5289AB1BDF83}"/>
              </a:ext>
            </a:extLst>
          </p:cNvPr>
          <p:cNvSpPr txBox="1"/>
          <p:nvPr/>
        </p:nvSpPr>
        <p:spPr>
          <a:xfrm>
            <a:off x="528350" y="1979044"/>
            <a:ext cx="8634703" cy="2708434"/>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1: Read the numbers X,Y,Z.</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2: if (X &gt; Y)</a:t>
            </a:r>
          </a:p>
          <a:p>
            <a:r>
              <a:rPr lang="en-US" sz="2000" dirty="0">
                <a:solidFill>
                  <a:schemeClr val="tx1"/>
                </a:solidFill>
                <a:latin typeface="Times New Roman" panose="02020603050405020304" pitchFamily="18" charset="0"/>
                <a:cs typeface="Times New Roman" panose="02020603050405020304" pitchFamily="18" charset="0"/>
              </a:rPr>
              <a:t>	Big = X</a:t>
            </a:r>
          </a:p>
          <a:p>
            <a:r>
              <a:rPr lang="en-US" sz="2000" dirty="0">
                <a:solidFill>
                  <a:schemeClr val="tx1"/>
                </a:solidFill>
                <a:latin typeface="Times New Roman" panose="02020603050405020304" pitchFamily="18" charset="0"/>
                <a:cs typeface="Times New Roman" panose="02020603050405020304" pitchFamily="18" charset="0"/>
              </a:rPr>
              <a:t>	else BIG = Y</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3 : if (BIG &lt; Z)</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4: Big = Z</a:t>
            </a:r>
          </a:p>
          <a:p>
            <a:pPr marL="342900" indent="-342900">
              <a:lnSpc>
                <a:spcPct val="150000"/>
              </a:lnSpc>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5: Print the largest number i.e. Big</a:t>
            </a:r>
          </a:p>
          <a:p>
            <a:pPr marL="342900" indent="-342900">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Step 6: Stop.</a:t>
            </a:r>
          </a:p>
        </p:txBody>
      </p:sp>
      <p:sp>
        <p:nvSpPr>
          <p:cNvPr id="6" name="object 2">
            <a:extLst>
              <a:ext uri="{FF2B5EF4-FFF2-40B4-BE49-F238E27FC236}">
                <a16:creationId xmlns="" xmlns:a16="http://schemas.microsoft.com/office/drawing/2014/main" id="{6C853466-B977-70D0-72E2-2F6EB999A4CD}"/>
              </a:ext>
            </a:extLst>
          </p:cNvPr>
          <p:cNvSpPr txBox="1">
            <a:spLocks/>
          </p:cNvSpPr>
          <p:nvPr/>
        </p:nvSpPr>
        <p:spPr>
          <a:xfrm>
            <a:off x="2611325" y="650243"/>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Algorithm</a:t>
            </a:r>
          </a:p>
        </p:txBody>
      </p:sp>
    </p:spTree>
    <p:extLst>
      <p:ext uri="{BB962C8B-B14F-4D97-AF65-F5344CB8AC3E}">
        <p14:creationId xmlns:p14="http://schemas.microsoft.com/office/powerpoint/2010/main" val="9906761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5ACCEB4B-8226-E205-7823-86B004040782}"/>
            </a:ext>
          </a:extLst>
        </p:cNvPr>
        <p:cNvGrpSpPr/>
        <p:nvPr/>
      </p:nvGrpSpPr>
      <p:grpSpPr>
        <a:xfrm>
          <a:off x="0" y="0"/>
          <a:ext cx="0" cy="0"/>
          <a:chOff x="0" y="0"/>
          <a:chExt cx="0" cy="0"/>
        </a:xfrm>
      </p:grpSpPr>
      <p:sp>
        <p:nvSpPr>
          <p:cNvPr id="3" name="TextBox 2">
            <a:extLst>
              <a:ext uri="{FF2B5EF4-FFF2-40B4-BE49-F238E27FC236}">
                <a16:creationId xmlns="" xmlns:a16="http://schemas.microsoft.com/office/drawing/2014/main" id="{D1A67438-56EC-F131-E93A-B8620D57B1CA}"/>
              </a:ext>
            </a:extLst>
          </p:cNvPr>
          <p:cNvSpPr txBox="1"/>
          <p:nvPr/>
        </p:nvSpPr>
        <p:spPr>
          <a:xfrm>
            <a:off x="208723" y="948451"/>
            <a:ext cx="11787808" cy="5262979"/>
          </a:xfrm>
          <a:prstGeom prst="rect">
            <a:avLst/>
          </a:prstGeom>
          <a:noFill/>
        </p:spPr>
        <p:txBody>
          <a:bodyPr wrap="square">
            <a:sp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A flow chart is a step by step diagrammatic representation of the logic paths to solve a given problem. Or A flowchart is visual or graphical representation of an algorithm. The flowcharts are pictorial representation of the methods to be used to solve a given problem and help a great deal to analyze the problem and plan its solution in a systematic and orderly manner. A flowchart when translated in to a proper computer language, results in a complete program. </a:t>
            </a:r>
          </a:p>
          <a:p>
            <a:pPr algn="just"/>
            <a:endParaRPr lang="en-US" sz="2400" dirty="0">
              <a:solidFill>
                <a:schemeClr val="tx1"/>
              </a:solidFill>
              <a:latin typeface="Times New Roman" panose="02020603050405020304" pitchFamily="18" charset="0"/>
              <a:cs typeface="Times New Roman" panose="02020603050405020304" pitchFamily="18" charset="0"/>
            </a:endParaRPr>
          </a:p>
          <a:p>
            <a:pPr algn="just"/>
            <a:r>
              <a:rPr lang="en-US" sz="2400" b="1" dirty="0">
                <a:solidFill>
                  <a:schemeClr val="tx1"/>
                </a:solidFill>
                <a:latin typeface="Times New Roman" panose="02020603050405020304" pitchFamily="18" charset="0"/>
                <a:cs typeface="Times New Roman" panose="02020603050405020304" pitchFamily="18" charset="0"/>
              </a:rPr>
              <a:t>Advantages of Flowcharts </a:t>
            </a:r>
          </a:p>
          <a:p>
            <a:pPr marL="342900" indent="-342900" algn="just">
              <a:buAutoNum type="arabicPeriod"/>
            </a:pPr>
            <a:r>
              <a:rPr lang="en-US" sz="2400" dirty="0">
                <a:solidFill>
                  <a:schemeClr val="tx1"/>
                </a:solidFill>
                <a:latin typeface="Times New Roman" panose="02020603050405020304" pitchFamily="18" charset="0"/>
                <a:cs typeface="Times New Roman" panose="02020603050405020304" pitchFamily="18" charset="0"/>
              </a:rPr>
              <a:t>The flowchart shows the logic of a problem displayed in pictorial fashion which felicitates easier checking of an algorithm. </a:t>
            </a:r>
          </a:p>
          <a:p>
            <a:pPr marL="342900" indent="-342900" algn="just">
              <a:buAutoNum type="arabicPeriod"/>
            </a:pPr>
            <a:r>
              <a:rPr lang="en-US" sz="2400" dirty="0">
                <a:solidFill>
                  <a:schemeClr val="tx1"/>
                </a:solidFill>
                <a:latin typeface="Times New Roman" panose="02020603050405020304" pitchFamily="18" charset="0"/>
                <a:cs typeface="Times New Roman" panose="02020603050405020304" pitchFamily="18" charset="0"/>
              </a:rPr>
              <a:t>The Flowchart is good means of communication to other users. It is also a compact means of recording an algorithm solution to a problem.</a:t>
            </a:r>
          </a:p>
          <a:p>
            <a:pPr marL="342900" indent="-342900" algn="just">
              <a:buAutoNum type="arabicPeriod"/>
            </a:pPr>
            <a:r>
              <a:rPr lang="en-US" sz="2400" dirty="0">
                <a:solidFill>
                  <a:schemeClr val="tx1"/>
                </a:solidFill>
                <a:latin typeface="Times New Roman" panose="02020603050405020304" pitchFamily="18" charset="0"/>
                <a:cs typeface="Times New Roman" panose="02020603050405020304" pitchFamily="18" charset="0"/>
              </a:rPr>
              <a:t>The flowchart allows the problem solver to break the problem into parts. These parts can be connected to make master chart. </a:t>
            </a:r>
          </a:p>
          <a:p>
            <a:pPr marL="342900" indent="-342900" algn="just">
              <a:buAutoNum type="arabicPeriod"/>
            </a:pPr>
            <a:r>
              <a:rPr lang="en-US" sz="2400" dirty="0">
                <a:solidFill>
                  <a:schemeClr val="tx1"/>
                </a:solidFill>
                <a:latin typeface="Times New Roman" panose="02020603050405020304" pitchFamily="18" charset="0"/>
                <a:cs typeface="Times New Roman" panose="02020603050405020304" pitchFamily="18" charset="0"/>
              </a:rPr>
              <a:t>The flowchart is a permanent record of the solution which can be consulted at a later time.</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 xmlns:a16="http://schemas.microsoft.com/office/drawing/2014/main" id="{32BACFF7-F7AA-4170-ACBA-835116FD5486}"/>
              </a:ext>
            </a:extLst>
          </p:cNvPr>
          <p:cNvSpPr txBox="1">
            <a:spLocks/>
          </p:cNvSpPr>
          <p:nvPr/>
        </p:nvSpPr>
        <p:spPr>
          <a:xfrm>
            <a:off x="3006781" y="104103"/>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Fundamentals of Flowchart</a:t>
            </a:r>
          </a:p>
        </p:txBody>
      </p:sp>
    </p:spTree>
    <p:extLst>
      <p:ext uri="{BB962C8B-B14F-4D97-AF65-F5344CB8AC3E}">
        <p14:creationId xmlns:p14="http://schemas.microsoft.com/office/powerpoint/2010/main" val="38361674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 xmlns:a16="http://schemas.microsoft.com/office/drawing/2014/main" id="{82C95896-5724-857D-C624-06BC78D7B8C4}"/>
              </a:ext>
            </a:extLst>
          </p:cNvPr>
          <p:cNvSpPr txBox="1">
            <a:spLocks/>
          </p:cNvSpPr>
          <p:nvPr/>
        </p:nvSpPr>
        <p:spPr>
          <a:xfrm>
            <a:off x="2380617" y="174382"/>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Symbols Used in Flowchart</a:t>
            </a:r>
          </a:p>
        </p:txBody>
      </p:sp>
      <p:pic>
        <p:nvPicPr>
          <p:cNvPr id="11" name="Picture 10">
            <a:extLst>
              <a:ext uri="{FF2B5EF4-FFF2-40B4-BE49-F238E27FC236}">
                <a16:creationId xmlns="" xmlns:a16="http://schemas.microsoft.com/office/drawing/2014/main" id="{CAB79E96-8554-CC44-0FB7-CB2D89F4EFED}"/>
              </a:ext>
            </a:extLst>
          </p:cNvPr>
          <p:cNvPicPr>
            <a:picLocks noChangeAspect="1"/>
          </p:cNvPicPr>
          <p:nvPr/>
        </p:nvPicPr>
        <p:blipFill>
          <a:blip r:embed="rId2"/>
          <a:stretch>
            <a:fillRect/>
          </a:stretch>
        </p:blipFill>
        <p:spPr>
          <a:xfrm>
            <a:off x="564875" y="806052"/>
            <a:ext cx="11062252" cy="5605372"/>
          </a:xfrm>
          <a:prstGeom prst="rect">
            <a:avLst/>
          </a:prstGeom>
        </p:spPr>
      </p:pic>
    </p:spTree>
    <p:extLst>
      <p:ext uri="{BB962C8B-B14F-4D97-AF65-F5344CB8AC3E}">
        <p14:creationId xmlns:p14="http://schemas.microsoft.com/office/powerpoint/2010/main" val="37791371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
          <a:extLst>
            <a:ext uri="{FF2B5EF4-FFF2-40B4-BE49-F238E27FC236}">
              <a16:creationId xmlns="" xmlns:a16="http://schemas.microsoft.com/office/drawing/2014/main" id="{5B373B9B-61FD-7668-7FE2-F8DB67EACB97}"/>
            </a:ext>
          </a:extLst>
        </p:cNvPr>
        <p:cNvGrpSpPr/>
        <p:nvPr/>
      </p:nvGrpSpPr>
      <p:grpSpPr>
        <a:xfrm>
          <a:off x="0" y="0"/>
          <a:ext cx="0" cy="0"/>
          <a:chOff x="0" y="0"/>
          <a:chExt cx="0" cy="0"/>
        </a:xfrm>
      </p:grpSpPr>
      <p:graphicFrame>
        <p:nvGraphicFramePr>
          <p:cNvPr id="2" name="Table 1">
            <a:extLst>
              <a:ext uri="{FF2B5EF4-FFF2-40B4-BE49-F238E27FC236}">
                <a16:creationId xmlns="" xmlns:a16="http://schemas.microsoft.com/office/drawing/2014/main" id="{BA887450-2B2B-C47D-F27C-0A7A7127AD22}"/>
              </a:ext>
            </a:extLst>
          </p:cNvPr>
          <p:cNvGraphicFramePr>
            <a:graphicFrameLocks noGrp="1"/>
          </p:cNvGraphicFramePr>
          <p:nvPr>
            <p:extLst>
              <p:ext uri="{D42A27DB-BD31-4B8C-83A1-F6EECF244321}">
                <p14:modId xmlns:p14="http://schemas.microsoft.com/office/powerpoint/2010/main" val="1923575794"/>
              </p:ext>
            </p:extLst>
          </p:nvPr>
        </p:nvGraphicFramePr>
        <p:xfrm>
          <a:off x="177960" y="1340868"/>
          <a:ext cx="11739059" cy="4642488"/>
        </p:xfrm>
        <a:graphic>
          <a:graphicData uri="http://schemas.openxmlformats.org/drawingml/2006/table">
            <a:tbl>
              <a:tblPr>
                <a:tableStyleId>{C4B1156A-380E-4F78-BDF5-A606A8083BF9}</a:tableStyleId>
              </a:tblPr>
              <a:tblGrid>
                <a:gridCol w="5869529">
                  <a:extLst>
                    <a:ext uri="{9D8B030D-6E8A-4147-A177-3AD203B41FA5}">
                      <a16:colId xmlns="" xmlns:a16="http://schemas.microsoft.com/office/drawing/2014/main" val="2487780221"/>
                    </a:ext>
                  </a:extLst>
                </a:gridCol>
                <a:gridCol w="5869529">
                  <a:extLst>
                    <a:ext uri="{9D8B030D-6E8A-4147-A177-3AD203B41FA5}">
                      <a16:colId xmlns="" xmlns:a16="http://schemas.microsoft.com/office/drawing/2014/main" val="3712283705"/>
                    </a:ext>
                  </a:extLst>
                </a:gridCol>
              </a:tblGrid>
              <a:tr h="410560">
                <a:tc>
                  <a:txBody>
                    <a:bodyPr/>
                    <a:lstStyle/>
                    <a:p>
                      <a:pPr algn="ctr"/>
                      <a:r>
                        <a:rPr lang="en-IN" sz="2000" b="1" dirty="0">
                          <a:effectLst/>
                          <a:latin typeface="Times New Roman" panose="02020603050405020304" pitchFamily="18" charset="0"/>
                          <a:cs typeface="Times New Roman" panose="02020603050405020304" pitchFamily="18" charset="0"/>
                        </a:rPr>
                        <a:t>Flowchart</a:t>
                      </a:r>
                    </a:p>
                  </a:txBody>
                  <a:tcPr anchor="ctr"/>
                </a:tc>
                <a:tc>
                  <a:txBody>
                    <a:bodyPr/>
                    <a:lstStyle/>
                    <a:p>
                      <a:pPr algn="ctr"/>
                      <a:r>
                        <a:rPr lang="en-IN" sz="2000" b="1" dirty="0">
                          <a:effectLst/>
                          <a:latin typeface="Times New Roman" panose="02020603050405020304" pitchFamily="18" charset="0"/>
                          <a:cs typeface="Times New Roman" panose="02020603050405020304" pitchFamily="18" charset="0"/>
                        </a:rPr>
                        <a:t>Algorithm</a:t>
                      </a:r>
                    </a:p>
                  </a:txBody>
                  <a:tcPr anchor="ctr"/>
                </a:tc>
                <a:extLst>
                  <a:ext uri="{0D108BD9-81ED-4DB2-BD59-A6C34878D82A}">
                    <a16:rowId xmlns="" xmlns:a16="http://schemas.microsoft.com/office/drawing/2014/main" val="188114602"/>
                  </a:ext>
                </a:extLst>
              </a:tr>
              <a:tr h="726376">
                <a:tc>
                  <a:txBody>
                    <a:bodyPr/>
                    <a:lstStyle/>
                    <a:p>
                      <a:r>
                        <a:rPr lang="en-US" sz="2000" dirty="0">
                          <a:effectLst/>
                          <a:latin typeface="Times New Roman" panose="02020603050405020304" pitchFamily="18" charset="0"/>
                          <a:cs typeface="Times New Roman" panose="02020603050405020304" pitchFamily="18" charset="0"/>
                        </a:rPr>
                        <a:t>Block by block information diagram representing the data flow.</a:t>
                      </a:r>
                    </a:p>
                  </a:txBody>
                  <a:tcPr anchor="ctr"/>
                </a:tc>
                <a:tc>
                  <a:txBody>
                    <a:bodyPr/>
                    <a:lstStyle/>
                    <a:p>
                      <a:r>
                        <a:rPr lang="en-US" sz="2000" dirty="0">
                          <a:effectLst/>
                          <a:latin typeface="Times New Roman" panose="02020603050405020304" pitchFamily="18" charset="0"/>
                          <a:cs typeface="Times New Roman" panose="02020603050405020304" pitchFamily="18" charset="0"/>
                        </a:rPr>
                        <a:t>Step by step instruction representing the process of any solution.</a:t>
                      </a:r>
                    </a:p>
                  </a:txBody>
                  <a:tcPr anchor="ctr"/>
                </a:tc>
                <a:extLst>
                  <a:ext uri="{0D108BD9-81ED-4DB2-BD59-A6C34878D82A}">
                    <a16:rowId xmlns="" xmlns:a16="http://schemas.microsoft.com/office/drawing/2014/main" val="788457997"/>
                  </a:ext>
                </a:extLst>
              </a:tr>
              <a:tr h="410560">
                <a:tc>
                  <a:txBody>
                    <a:bodyPr/>
                    <a:lstStyle/>
                    <a:p>
                      <a:r>
                        <a:rPr lang="en-US" sz="2000" dirty="0">
                          <a:effectLst/>
                          <a:latin typeface="Times New Roman" panose="02020603050405020304" pitchFamily="18" charset="0"/>
                          <a:cs typeface="Times New Roman" panose="02020603050405020304" pitchFamily="18" charset="0"/>
                        </a:rPr>
                        <a:t>It is a pictorial representation of a process.</a:t>
                      </a:r>
                    </a:p>
                  </a:txBody>
                  <a:tcPr anchor="ctr"/>
                </a:tc>
                <a:tc>
                  <a:txBody>
                    <a:bodyPr/>
                    <a:lstStyle/>
                    <a:p>
                      <a:r>
                        <a:rPr lang="en-US" sz="2000" dirty="0">
                          <a:effectLst/>
                          <a:latin typeface="Times New Roman" panose="02020603050405020304" pitchFamily="18" charset="0"/>
                          <a:cs typeface="Times New Roman" panose="02020603050405020304" pitchFamily="18" charset="0"/>
                        </a:rPr>
                        <a:t>It is a stepwise analysis of the work to be done.</a:t>
                      </a:r>
                    </a:p>
                  </a:txBody>
                  <a:tcPr anchor="ctr"/>
                </a:tc>
                <a:extLst>
                  <a:ext uri="{0D108BD9-81ED-4DB2-BD59-A6C34878D82A}">
                    <a16:rowId xmlns="" xmlns:a16="http://schemas.microsoft.com/office/drawing/2014/main" val="3008869135"/>
                  </a:ext>
                </a:extLst>
              </a:tr>
              <a:tr h="726376">
                <a:tc>
                  <a:txBody>
                    <a:bodyPr/>
                    <a:lstStyle/>
                    <a:p>
                      <a:r>
                        <a:rPr lang="en-US" sz="2000" dirty="0">
                          <a:effectLst/>
                          <a:latin typeface="Times New Roman" panose="02020603050405020304" pitchFamily="18" charset="0"/>
                          <a:cs typeface="Times New Roman" panose="02020603050405020304" pitchFamily="18" charset="0"/>
                        </a:rPr>
                        <a:t>The solution is shown in a graphical format.</a:t>
                      </a:r>
                    </a:p>
                  </a:txBody>
                  <a:tcPr anchor="ctr"/>
                </a:tc>
                <a:tc>
                  <a:txBody>
                    <a:bodyPr/>
                    <a:lstStyle/>
                    <a:p>
                      <a:r>
                        <a:rPr lang="en-US" sz="2000">
                          <a:effectLst/>
                          <a:latin typeface="Times New Roman" panose="02020603050405020304" pitchFamily="18" charset="0"/>
                          <a:cs typeface="Times New Roman" panose="02020603050405020304" pitchFamily="18" charset="0"/>
                        </a:rPr>
                        <a:t>The solution is shown in a non-computer language like English.</a:t>
                      </a:r>
                    </a:p>
                  </a:txBody>
                  <a:tcPr anchor="ctr"/>
                </a:tc>
                <a:extLst>
                  <a:ext uri="{0D108BD9-81ED-4DB2-BD59-A6C34878D82A}">
                    <a16:rowId xmlns="" xmlns:a16="http://schemas.microsoft.com/office/drawing/2014/main" val="1862703584"/>
                  </a:ext>
                </a:extLst>
              </a:tr>
              <a:tr h="410560">
                <a:tc>
                  <a:txBody>
                    <a:bodyPr/>
                    <a:lstStyle/>
                    <a:p>
                      <a:r>
                        <a:rPr lang="en-US" sz="2000" dirty="0">
                          <a:effectLst/>
                          <a:latin typeface="Times New Roman" panose="02020603050405020304" pitchFamily="18" charset="0"/>
                          <a:cs typeface="Times New Roman" panose="02020603050405020304" pitchFamily="18" charset="0"/>
                        </a:rPr>
                        <a:t>Easy to understand as compared to the algorithm.</a:t>
                      </a:r>
                    </a:p>
                  </a:txBody>
                  <a:tcPr anchor="ctr"/>
                </a:tc>
                <a:tc>
                  <a:txBody>
                    <a:bodyPr/>
                    <a:lstStyle/>
                    <a:p>
                      <a:r>
                        <a:rPr lang="en-US" sz="2000">
                          <a:effectLst/>
                          <a:latin typeface="Times New Roman" panose="02020603050405020304" pitchFamily="18" charset="0"/>
                          <a:cs typeface="Times New Roman" panose="02020603050405020304" pitchFamily="18" charset="0"/>
                        </a:rPr>
                        <a:t>It is somewhat difficult to understand.</a:t>
                      </a:r>
                    </a:p>
                  </a:txBody>
                  <a:tcPr anchor="ctr"/>
                </a:tc>
                <a:extLst>
                  <a:ext uri="{0D108BD9-81ED-4DB2-BD59-A6C34878D82A}">
                    <a16:rowId xmlns="" xmlns:a16="http://schemas.microsoft.com/office/drawing/2014/main" val="3751548007"/>
                  </a:ext>
                </a:extLst>
              </a:tr>
              <a:tr h="410560">
                <a:tc>
                  <a:txBody>
                    <a:bodyPr/>
                    <a:lstStyle/>
                    <a:p>
                      <a:r>
                        <a:rPr lang="en-US" sz="2000" dirty="0">
                          <a:effectLst/>
                          <a:latin typeface="Times New Roman" panose="02020603050405020304" pitchFamily="18" charset="0"/>
                          <a:cs typeface="Times New Roman" panose="02020603050405020304" pitchFamily="18" charset="0"/>
                        </a:rPr>
                        <a:t>Easy to show branching and looping.</a:t>
                      </a:r>
                    </a:p>
                  </a:txBody>
                  <a:tcPr anchor="ctr"/>
                </a:tc>
                <a:tc>
                  <a:txBody>
                    <a:bodyPr/>
                    <a:lstStyle/>
                    <a:p>
                      <a:r>
                        <a:rPr lang="en-US" sz="2000">
                          <a:effectLst/>
                          <a:latin typeface="Times New Roman" panose="02020603050405020304" pitchFamily="18" charset="0"/>
                          <a:cs typeface="Times New Roman" panose="02020603050405020304" pitchFamily="18" charset="0"/>
                        </a:rPr>
                        <a:t>Difficult to show branching and looping.</a:t>
                      </a:r>
                    </a:p>
                  </a:txBody>
                  <a:tcPr anchor="ctr"/>
                </a:tc>
                <a:extLst>
                  <a:ext uri="{0D108BD9-81ED-4DB2-BD59-A6C34878D82A}">
                    <a16:rowId xmlns="" xmlns:a16="http://schemas.microsoft.com/office/drawing/2014/main" val="2584272861"/>
                  </a:ext>
                </a:extLst>
              </a:tr>
              <a:tr h="410560">
                <a:tc>
                  <a:txBody>
                    <a:bodyPr/>
                    <a:lstStyle/>
                    <a:p>
                      <a:r>
                        <a:rPr lang="en-US" sz="2000" dirty="0">
                          <a:effectLst/>
                          <a:latin typeface="Times New Roman" panose="02020603050405020304" pitchFamily="18" charset="0"/>
                          <a:cs typeface="Times New Roman" panose="02020603050405020304" pitchFamily="18" charset="0"/>
                        </a:rPr>
                        <a:t>Flowchart for a big problem is impractical.</a:t>
                      </a:r>
                    </a:p>
                  </a:txBody>
                  <a:tcPr anchor="ctr"/>
                </a:tc>
                <a:tc>
                  <a:txBody>
                    <a:bodyPr/>
                    <a:lstStyle/>
                    <a:p>
                      <a:r>
                        <a:rPr lang="en-US" sz="2000" dirty="0">
                          <a:effectLst/>
                          <a:latin typeface="Times New Roman" panose="02020603050405020304" pitchFamily="18" charset="0"/>
                          <a:cs typeface="Times New Roman" panose="02020603050405020304" pitchFamily="18" charset="0"/>
                        </a:rPr>
                        <a:t>The algorithm can be written for any problem.</a:t>
                      </a:r>
                    </a:p>
                  </a:txBody>
                  <a:tcPr anchor="ctr"/>
                </a:tc>
                <a:extLst>
                  <a:ext uri="{0D108BD9-81ED-4DB2-BD59-A6C34878D82A}">
                    <a16:rowId xmlns="" xmlns:a16="http://schemas.microsoft.com/office/drawing/2014/main" val="1872413263"/>
                  </a:ext>
                </a:extLst>
              </a:tr>
              <a:tr h="410560">
                <a:tc>
                  <a:txBody>
                    <a:bodyPr/>
                    <a:lstStyle/>
                    <a:p>
                      <a:r>
                        <a:rPr lang="en-IN" sz="2000">
                          <a:effectLst/>
                          <a:latin typeface="Times New Roman" panose="02020603050405020304" pitchFamily="18" charset="0"/>
                          <a:cs typeface="Times New Roman" panose="02020603050405020304" pitchFamily="18" charset="0"/>
                        </a:rPr>
                        <a:t>Difficult to debug errors.</a:t>
                      </a:r>
                    </a:p>
                  </a:txBody>
                  <a:tcPr anchor="ctr"/>
                </a:tc>
                <a:tc>
                  <a:txBody>
                    <a:bodyPr/>
                    <a:lstStyle/>
                    <a:p>
                      <a:r>
                        <a:rPr lang="en-IN" sz="2000" dirty="0">
                          <a:effectLst/>
                          <a:latin typeface="Times New Roman" panose="02020603050405020304" pitchFamily="18" charset="0"/>
                          <a:cs typeface="Times New Roman" panose="02020603050405020304" pitchFamily="18" charset="0"/>
                        </a:rPr>
                        <a:t>Easy to debug errors.</a:t>
                      </a:r>
                    </a:p>
                  </a:txBody>
                  <a:tcPr anchor="ctr"/>
                </a:tc>
                <a:extLst>
                  <a:ext uri="{0D108BD9-81ED-4DB2-BD59-A6C34878D82A}">
                    <a16:rowId xmlns="" xmlns:a16="http://schemas.microsoft.com/office/drawing/2014/main" val="3494574230"/>
                  </a:ext>
                </a:extLst>
              </a:tr>
              <a:tr h="726376">
                <a:tc>
                  <a:txBody>
                    <a:bodyPr/>
                    <a:lstStyle/>
                    <a:p>
                      <a:r>
                        <a:rPr lang="en-US" sz="2000" dirty="0">
                          <a:effectLst/>
                          <a:latin typeface="Times New Roman" panose="02020603050405020304" pitchFamily="18" charset="0"/>
                          <a:cs typeface="Times New Roman" panose="02020603050405020304" pitchFamily="18" charset="0"/>
                        </a:rPr>
                        <a:t>It is easy to make a flowchart.</a:t>
                      </a:r>
                    </a:p>
                  </a:txBody>
                  <a:tcPr anchor="ctr"/>
                </a:tc>
                <a:tc>
                  <a:txBody>
                    <a:bodyPr/>
                    <a:lstStyle/>
                    <a:p>
                      <a:r>
                        <a:rPr lang="en-US" sz="2000" dirty="0">
                          <a:effectLst/>
                          <a:latin typeface="Times New Roman" panose="02020603050405020304" pitchFamily="18" charset="0"/>
                          <a:cs typeface="Times New Roman" panose="02020603050405020304" pitchFamily="18" charset="0"/>
                        </a:rPr>
                        <a:t>It is difficult to write an algorithm as compared to a flowchart.</a:t>
                      </a:r>
                    </a:p>
                  </a:txBody>
                  <a:tcPr anchor="ctr"/>
                </a:tc>
                <a:extLst>
                  <a:ext uri="{0D108BD9-81ED-4DB2-BD59-A6C34878D82A}">
                    <a16:rowId xmlns="" xmlns:a16="http://schemas.microsoft.com/office/drawing/2014/main" val="1978672986"/>
                  </a:ext>
                </a:extLst>
              </a:tr>
            </a:tbl>
          </a:graphicData>
        </a:graphic>
      </p:graphicFrame>
      <p:sp>
        <p:nvSpPr>
          <p:cNvPr id="3" name="object 2">
            <a:extLst>
              <a:ext uri="{FF2B5EF4-FFF2-40B4-BE49-F238E27FC236}">
                <a16:creationId xmlns="" xmlns:a16="http://schemas.microsoft.com/office/drawing/2014/main" id="{8FDED526-7810-8E44-A702-799FC6DB351E}"/>
              </a:ext>
            </a:extLst>
          </p:cNvPr>
          <p:cNvSpPr txBox="1">
            <a:spLocks/>
          </p:cNvSpPr>
          <p:nvPr/>
        </p:nvSpPr>
        <p:spPr>
          <a:xfrm>
            <a:off x="2833557" y="177538"/>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Difference between flowchart and algorithm</a:t>
            </a:r>
          </a:p>
        </p:txBody>
      </p:sp>
    </p:spTree>
    <p:extLst>
      <p:ext uri="{BB962C8B-B14F-4D97-AF65-F5344CB8AC3E}">
        <p14:creationId xmlns:p14="http://schemas.microsoft.com/office/powerpoint/2010/main" val="193025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 xmlns:a16="http://schemas.microsoft.com/office/drawing/2014/main" id="{DC635294-7523-A340-AADE-3904EC0D232E}"/>
              </a:ext>
            </a:extLst>
          </p:cNvPr>
          <p:cNvSpPr txBox="1">
            <a:spLocks/>
          </p:cNvSpPr>
          <p:nvPr/>
        </p:nvSpPr>
        <p:spPr>
          <a:xfrm>
            <a:off x="2546267" y="-9816"/>
            <a:ext cx="8158176" cy="1274708"/>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3600" b="1" dirty="0"/>
              <a:t>Read two numbers, add them, display result</a:t>
            </a:r>
            <a:endParaRPr lang="en-IN" sz="3600" b="1" dirty="0">
              <a:solidFill>
                <a:srgbClr val="1E293B"/>
              </a:solidFill>
              <a:latin typeface="Times New Roman" panose="02020603050405020304" pitchFamily="18" charset="0"/>
              <a:cs typeface="Times New Roman" panose="02020603050405020304" pitchFamily="18" charset="0"/>
            </a:endParaRPr>
          </a:p>
        </p:txBody>
      </p:sp>
      <p:sp>
        <p:nvSpPr>
          <p:cNvPr id="2" name="Rectangle 1"/>
          <p:cNvSpPr/>
          <p:nvPr/>
        </p:nvSpPr>
        <p:spPr>
          <a:xfrm>
            <a:off x="993912" y="1000756"/>
            <a:ext cx="10535479" cy="4832092"/>
          </a:xfrm>
          <a:prstGeom prst="rect">
            <a:avLst/>
          </a:prstGeom>
        </p:spPr>
        <p:txBody>
          <a:bodyPr wrap="square">
            <a:spAutoFit/>
          </a:bodyPr>
          <a:lstStyle/>
          <a:p>
            <a:pPr lvl="1">
              <a:buFont typeface="Arial" pitchFamily="34" charset="0"/>
              <a:buChar char="•"/>
            </a:pPr>
            <a:r>
              <a:rPr lang="en-IN" sz="4400" dirty="0" smtClean="0"/>
              <a:t>Algorithm</a:t>
            </a:r>
            <a:r>
              <a:rPr lang="en-IN" sz="4400" dirty="0"/>
              <a:t>:</a:t>
            </a:r>
            <a:endParaRPr lang="en-IN" sz="6600" dirty="0"/>
          </a:p>
          <a:p>
            <a:pPr lvl="8"/>
            <a:r>
              <a:rPr lang="en-IN" sz="4400" dirty="0" smtClean="0"/>
              <a:t>	Start</a:t>
            </a:r>
            <a:endParaRPr lang="en-IN" sz="6000" dirty="0"/>
          </a:p>
          <a:p>
            <a:pPr lvl="8"/>
            <a:r>
              <a:rPr lang="en-IN" sz="4400" dirty="0" smtClean="0"/>
              <a:t>	Read num1 as A</a:t>
            </a:r>
            <a:endParaRPr lang="en-IN" sz="6000" dirty="0"/>
          </a:p>
          <a:p>
            <a:pPr lvl="8"/>
            <a:r>
              <a:rPr lang="en-IN" sz="4400" dirty="0" smtClean="0"/>
              <a:t>	Read num2 as B</a:t>
            </a:r>
            <a:endParaRPr lang="en-IN" sz="6000" dirty="0"/>
          </a:p>
          <a:p>
            <a:pPr lvl="8"/>
            <a:r>
              <a:rPr lang="en-IN" sz="4400" dirty="0" smtClean="0"/>
              <a:t>	SUM </a:t>
            </a:r>
            <a:r>
              <a:rPr lang="en-IN" sz="4400" dirty="0"/>
              <a:t>= </a:t>
            </a:r>
            <a:r>
              <a:rPr lang="en-IN" sz="4400" dirty="0" smtClean="0"/>
              <a:t>A </a:t>
            </a:r>
            <a:r>
              <a:rPr lang="en-IN" sz="4400" dirty="0"/>
              <a:t>+ </a:t>
            </a:r>
            <a:r>
              <a:rPr lang="en-IN" sz="4400" dirty="0" smtClean="0"/>
              <a:t>B</a:t>
            </a:r>
            <a:endParaRPr lang="en-IN" sz="6000" dirty="0"/>
          </a:p>
          <a:p>
            <a:pPr lvl="8"/>
            <a:r>
              <a:rPr lang="en-IN" sz="4400" dirty="0" smtClean="0"/>
              <a:t>	Display SUM</a:t>
            </a:r>
            <a:endParaRPr lang="en-IN" sz="6000" dirty="0"/>
          </a:p>
          <a:p>
            <a:pPr lvl="8"/>
            <a:r>
              <a:rPr lang="en-IN" sz="4400" dirty="0" smtClean="0"/>
              <a:t>	Stop</a:t>
            </a:r>
            <a:endParaRPr lang="en-IN" sz="6000" dirty="0"/>
          </a:p>
        </p:txBody>
      </p:sp>
    </p:spTree>
    <p:extLst>
      <p:ext uri="{BB962C8B-B14F-4D97-AF65-F5344CB8AC3E}">
        <p14:creationId xmlns:p14="http://schemas.microsoft.com/office/powerpoint/2010/main" val="399033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CF5795DC-F22B-A059-FDDC-84B8BF35DEC5}"/>
              </a:ext>
            </a:extLst>
          </p:cNvPr>
          <p:cNvPicPr>
            <a:picLocks noChangeAspect="1"/>
          </p:cNvPicPr>
          <p:nvPr/>
        </p:nvPicPr>
        <p:blipFill>
          <a:blip r:embed="rId2"/>
          <a:srcRect l="27934" t="26667" r="35714" b="20272"/>
          <a:stretch>
            <a:fillRect/>
          </a:stretch>
        </p:blipFill>
        <p:spPr>
          <a:xfrm>
            <a:off x="2761449" y="758594"/>
            <a:ext cx="9155571" cy="5443044"/>
          </a:xfrm>
          <a:prstGeom prst="rect">
            <a:avLst/>
          </a:prstGeom>
          <a:ln>
            <a:solidFill>
              <a:schemeClr val="accent1"/>
            </a:solidFill>
          </a:ln>
        </p:spPr>
      </p:pic>
      <p:sp>
        <p:nvSpPr>
          <p:cNvPr id="6" name="object 2">
            <a:extLst>
              <a:ext uri="{FF2B5EF4-FFF2-40B4-BE49-F238E27FC236}">
                <a16:creationId xmlns="" xmlns:a16="http://schemas.microsoft.com/office/drawing/2014/main" id="{DC635294-7523-A340-AADE-3904EC0D232E}"/>
              </a:ext>
            </a:extLst>
          </p:cNvPr>
          <p:cNvSpPr txBox="1">
            <a:spLocks/>
          </p:cNvSpPr>
          <p:nvPr/>
        </p:nvSpPr>
        <p:spPr>
          <a:xfrm>
            <a:off x="2501917" y="160998"/>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Flowchart</a:t>
            </a:r>
          </a:p>
        </p:txBody>
      </p:sp>
    </p:spTree>
    <p:extLst>
      <p:ext uri="{BB962C8B-B14F-4D97-AF65-F5344CB8AC3E}">
        <p14:creationId xmlns:p14="http://schemas.microsoft.com/office/powerpoint/2010/main" val="22552804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895" y="1080190"/>
            <a:ext cx="10515600" cy="4351338"/>
          </a:xfrm>
        </p:spPr>
        <p:txBody>
          <a:bodyPr/>
          <a:lstStyle/>
          <a:p>
            <a:pPr marL="342900" lvl="0">
              <a:lnSpc>
                <a:spcPct val="100000"/>
              </a:lnSpc>
              <a:spcBef>
                <a:spcPct val="20000"/>
              </a:spcBef>
              <a:buClrTx/>
              <a:buSzTx/>
              <a:buNone/>
            </a:pPr>
            <a:r>
              <a:rPr lang="en-US" sz="2800" b="1" kern="1200" dirty="0">
                <a:solidFill>
                  <a:prstClr val="black"/>
                </a:solidFill>
                <a:latin typeface="Calibri"/>
                <a:ea typeface="+mn-ea"/>
                <a:cs typeface="+mn-cs"/>
              </a:rPr>
              <a:t>Write an algorithm and draw a flowchart that will read the two sides of a rectangle and calculate its area.</a:t>
            </a:r>
            <a:r>
              <a:rPr lang="en-US" sz="2800" kern="1200" dirty="0">
                <a:solidFill>
                  <a:prstClr val="black"/>
                </a:solidFill>
                <a:latin typeface="Calibri"/>
                <a:ea typeface="+mn-ea"/>
                <a:cs typeface="+mn-cs"/>
              </a:rPr>
              <a:t> </a:t>
            </a:r>
            <a:endParaRPr lang="en-US" sz="2800" b="1" kern="1200" dirty="0">
              <a:solidFill>
                <a:prstClr val="black"/>
              </a:solidFill>
              <a:latin typeface="Calibri"/>
              <a:ea typeface="+mn-ea"/>
              <a:cs typeface="+mn-cs"/>
            </a:endParaRPr>
          </a:p>
          <a:p>
            <a:pPr marL="342900" lvl="0">
              <a:lnSpc>
                <a:spcPct val="100000"/>
              </a:lnSpc>
              <a:spcBef>
                <a:spcPct val="20000"/>
              </a:spcBef>
              <a:buClrTx/>
              <a:buSzTx/>
              <a:buNone/>
            </a:pPr>
            <a:r>
              <a:rPr lang="en-US" sz="2800" b="1" kern="1200" dirty="0">
                <a:solidFill>
                  <a:prstClr val="black"/>
                </a:solidFill>
                <a:latin typeface="Calibri"/>
                <a:ea typeface="+mn-ea"/>
                <a:cs typeface="+mn-cs"/>
              </a:rPr>
              <a:t>Pseudocode</a:t>
            </a:r>
            <a:r>
              <a:rPr lang="en-US" sz="2800" kern="1200" dirty="0">
                <a:solidFill>
                  <a:prstClr val="black"/>
                </a:solidFill>
                <a:latin typeface="Calibri"/>
                <a:ea typeface="+mn-ea"/>
                <a:cs typeface="+mn-cs"/>
              </a:rPr>
              <a:t> </a:t>
            </a:r>
          </a:p>
          <a:p>
            <a:pPr marL="342900" lvl="0">
              <a:lnSpc>
                <a:spcPct val="100000"/>
              </a:lnSpc>
              <a:spcBef>
                <a:spcPct val="20000"/>
              </a:spcBef>
              <a:buClrTx/>
              <a:buSzTx/>
              <a:buFont typeface="Arial" pitchFamily="34" charset="0"/>
              <a:buChar char="•"/>
            </a:pPr>
            <a:r>
              <a:rPr lang="en-US" sz="2800" i="1" kern="1200" dirty="0">
                <a:solidFill>
                  <a:prstClr val="black"/>
                </a:solidFill>
                <a:latin typeface="Calibri"/>
                <a:ea typeface="+mn-ea"/>
                <a:cs typeface="+mn-cs"/>
              </a:rPr>
              <a:t>Input the width (W) and Length (L) of a rectangle</a:t>
            </a:r>
          </a:p>
          <a:p>
            <a:pPr marL="342900" lvl="0">
              <a:lnSpc>
                <a:spcPct val="100000"/>
              </a:lnSpc>
              <a:spcBef>
                <a:spcPct val="20000"/>
              </a:spcBef>
              <a:buClrTx/>
              <a:buSzTx/>
              <a:buFont typeface="Arial" pitchFamily="34" charset="0"/>
              <a:buChar char="•"/>
            </a:pPr>
            <a:r>
              <a:rPr lang="en-US" sz="2800" i="1" kern="1200" dirty="0">
                <a:solidFill>
                  <a:prstClr val="black"/>
                </a:solidFill>
                <a:latin typeface="Calibri"/>
                <a:ea typeface="+mn-ea"/>
                <a:cs typeface="+mn-cs"/>
              </a:rPr>
              <a:t>Calculate the area (</a:t>
            </a:r>
            <a:r>
              <a:rPr lang="en-US" sz="2800" i="1" kern="1200" dirty="0" smtClean="0">
                <a:solidFill>
                  <a:prstClr val="black"/>
                </a:solidFill>
                <a:latin typeface="Calibri"/>
                <a:ea typeface="+mn-ea"/>
                <a:cs typeface="+mn-cs"/>
              </a:rPr>
              <a:t>A) </a:t>
            </a:r>
            <a:r>
              <a:rPr lang="en-US" sz="2800" i="1" kern="1200" dirty="0">
                <a:solidFill>
                  <a:prstClr val="black"/>
                </a:solidFill>
                <a:latin typeface="Calibri"/>
                <a:ea typeface="+mn-ea"/>
                <a:cs typeface="+mn-cs"/>
              </a:rPr>
              <a:t>by multiplying L with W</a:t>
            </a:r>
          </a:p>
          <a:p>
            <a:pPr marL="342900" lvl="0">
              <a:lnSpc>
                <a:spcPct val="100000"/>
              </a:lnSpc>
              <a:spcBef>
                <a:spcPct val="20000"/>
              </a:spcBef>
              <a:buClrTx/>
              <a:buSzTx/>
              <a:buFont typeface="Arial" pitchFamily="34" charset="0"/>
              <a:buChar char="•"/>
            </a:pPr>
            <a:r>
              <a:rPr lang="en-US" sz="2800" i="1" kern="1200" dirty="0">
                <a:solidFill>
                  <a:prstClr val="black"/>
                </a:solidFill>
                <a:latin typeface="Calibri"/>
                <a:ea typeface="+mn-ea"/>
                <a:cs typeface="+mn-cs"/>
              </a:rPr>
              <a:t>Print A</a:t>
            </a:r>
          </a:p>
          <a:p>
            <a:endParaRPr lang="en-IN" dirty="0"/>
          </a:p>
        </p:txBody>
      </p:sp>
      <p:sp>
        <p:nvSpPr>
          <p:cNvPr id="4" name="Rectangle 3"/>
          <p:cNvSpPr/>
          <p:nvPr/>
        </p:nvSpPr>
        <p:spPr>
          <a:xfrm>
            <a:off x="4571489" y="253617"/>
            <a:ext cx="2507418" cy="769441"/>
          </a:xfrm>
          <a:prstGeom prst="rect">
            <a:avLst/>
          </a:prstGeom>
        </p:spPr>
        <p:txBody>
          <a:bodyPr wrap="none">
            <a:spAutoFit/>
          </a:bodyPr>
          <a:lstStyle/>
          <a:p>
            <a:r>
              <a:rPr lang="en-US" sz="4400" b="1" dirty="0">
                <a:solidFill>
                  <a:srgbClr val="C00000"/>
                </a:solidFill>
              </a:rPr>
              <a:t>Example</a:t>
            </a:r>
            <a:endParaRPr lang="en-IN" sz="4400" dirty="0"/>
          </a:p>
        </p:txBody>
      </p:sp>
    </p:spTree>
    <p:extLst>
      <p:ext uri="{BB962C8B-B14F-4D97-AF65-F5344CB8AC3E}">
        <p14:creationId xmlns:p14="http://schemas.microsoft.com/office/powerpoint/2010/main" val="8145006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751F9F-942B-63C3-B5C1-24ED073B2626}"/>
            </a:ext>
          </a:extLst>
        </p:cNvPr>
        <p:cNvGrpSpPr/>
        <p:nvPr/>
      </p:nvGrpSpPr>
      <p:grpSpPr>
        <a:xfrm>
          <a:off x="0" y="0"/>
          <a:ext cx="0" cy="0"/>
          <a:chOff x="0" y="0"/>
          <a:chExt cx="0" cy="0"/>
        </a:xfrm>
      </p:grpSpPr>
      <p:sp>
        <p:nvSpPr>
          <p:cNvPr id="6" name="object 2">
            <a:extLst>
              <a:ext uri="{FF2B5EF4-FFF2-40B4-BE49-F238E27FC236}">
                <a16:creationId xmlns="" xmlns:a16="http://schemas.microsoft.com/office/drawing/2014/main" id="{E4E42AF8-ADC3-D3D5-FFB2-15BA234E91EF}"/>
              </a:ext>
            </a:extLst>
          </p:cNvPr>
          <p:cNvSpPr txBox="1">
            <a:spLocks/>
          </p:cNvSpPr>
          <p:nvPr/>
        </p:nvSpPr>
        <p:spPr>
          <a:xfrm>
            <a:off x="2501917" y="6"/>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Flowchart</a:t>
            </a:r>
          </a:p>
        </p:txBody>
      </p:sp>
      <p:pic>
        <p:nvPicPr>
          <p:cNvPr id="3" name="Picture 2">
            <a:extLst>
              <a:ext uri="{FF2B5EF4-FFF2-40B4-BE49-F238E27FC236}">
                <a16:creationId xmlns="" xmlns:a16="http://schemas.microsoft.com/office/drawing/2014/main" id="{DF4DD767-18F9-C73E-37DC-65E8EC9383A2}"/>
              </a:ext>
            </a:extLst>
          </p:cNvPr>
          <p:cNvPicPr>
            <a:picLocks noChangeAspect="1"/>
          </p:cNvPicPr>
          <p:nvPr/>
        </p:nvPicPr>
        <p:blipFill>
          <a:blip r:embed="rId2"/>
          <a:srcRect l="27780" t="35510" r="31658" b="13197"/>
          <a:stretch>
            <a:fillRect/>
          </a:stretch>
        </p:blipFill>
        <p:spPr>
          <a:xfrm>
            <a:off x="2981744" y="894014"/>
            <a:ext cx="8796129" cy="5253327"/>
          </a:xfrm>
          <a:prstGeom prst="rect">
            <a:avLst/>
          </a:prstGeom>
          <a:ln>
            <a:solidFill>
              <a:schemeClr val="accent2"/>
            </a:solidFill>
          </a:ln>
        </p:spPr>
      </p:pic>
    </p:spTree>
    <p:extLst>
      <p:ext uri="{BB962C8B-B14F-4D97-AF65-F5344CB8AC3E}">
        <p14:creationId xmlns:p14="http://schemas.microsoft.com/office/powerpoint/2010/main" val="39600597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43FE2F-84EA-90E3-8CFE-A4C1086C60E0}"/>
            </a:ext>
          </a:extLst>
        </p:cNvPr>
        <p:cNvGrpSpPr/>
        <p:nvPr/>
      </p:nvGrpSpPr>
      <p:grpSpPr>
        <a:xfrm>
          <a:off x="0" y="0"/>
          <a:ext cx="0" cy="0"/>
          <a:chOff x="0" y="0"/>
          <a:chExt cx="0" cy="0"/>
        </a:xfrm>
      </p:grpSpPr>
      <p:sp>
        <p:nvSpPr>
          <p:cNvPr id="6" name="object 2">
            <a:extLst>
              <a:ext uri="{FF2B5EF4-FFF2-40B4-BE49-F238E27FC236}">
                <a16:creationId xmlns="" xmlns:a16="http://schemas.microsoft.com/office/drawing/2014/main" id="{2A9C728A-F1E3-A13E-C97C-A317F5D973DB}"/>
              </a:ext>
            </a:extLst>
          </p:cNvPr>
          <p:cNvSpPr txBox="1">
            <a:spLocks/>
          </p:cNvSpPr>
          <p:nvPr/>
        </p:nvSpPr>
        <p:spPr>
          <a:xfrm>
            <a:off x="2501917" y="448564"/>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Flowchart</a:t>
            </a:r>
          </a:p>
        </p:txBody>
      </p:sp>
      <p:sp>
        <p:nvSpPr>
          <p:cNvPr id="7" name="object 2">
            <a:extLst>
              <a:ext uri="{FF2B5EF4-FFF2-40B4-BE49-F238E27FC236}">
                <a16:creationId xmlns="" xmlns:a16="http://schemas.microsoft.com/office/drawing/2014/main" id="{0136F696-4885-E304-E27B-0188D1D56A5E}"/>
              </a:ext>
            </a:extLst>
          </p:cNvPr>
          <p:cNvSpPr txBox="1">
            <a:spLocks/>
          </p:cNvSpPr>
          <p:nvPr/>
        </p:nvSpPr>
        <p:spPr>
          <a:xfrm>
            <a:off x="1106741" y="1122620"/>
            <a:ext cx="7430771" cy="47448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gn="l">
              <a:lnSpc>
                <a:spcPct val="100000"/>
              </a:lnSpc>
              <a:spcAft>
                <a:spcPts val="1200"/>
              </a:spcAft>
              <a:buClr>
                <a:srgbClr val="000000"/>
              </a:buClr>
            </a:pPr>
            <a:r>
              <a:rPr lang="en-US" sz="2000" b="1" dirty="0">
                <a:solidFill>
                  <a:srgbClr val="1E293B"/>
                </a:solidFill>
                <a:latin typeface="Times New Roman" panose="02020603050405020304" pitchFamily="18" charset="0"/>
                <a:cs typeface="Times New Roman" panose="02020603050405020304" pitchFamily="18" charset="0"/>
              </a:rPr>
              <a:t>Ex</a:t>
            </a:r>
            <a:r>
              <a:rPr lang="en-IN" sz="2000" b="1" dirty="0">
                <a:solidFill>
                  <a:srgbClr val="1E293B"/>
                </a:solidFill>
                <a:latin typeface="Times New Roman" panose="02020603050405020304" pitchFamily="18" charset="0"/>
                <a:cs typeface="Times New Roman" panose="02020603050405020304" pitchFamily="18" charset="0"/>
              </a:rPr>
              <a:t>ample No.3</a:t>
            </a:r>
          </a:p>
        </p:txBody>
      </p:sp>
      <p:pic>
        <p:nvPicPr>
          <p:cNvPr id="4" name="Picture 3">
            <a:extLst>
              <a:ext uri="{FF2B5EF4-FFF2-40B4-BE49-F238E27FC236}">
                <a16:creationId xmlns="" xmlns:a16="http://schemas.microsoft.com/office/drawing/2014/main" id="{C3D90BF1-C57C-1ACB-FC5A-CAB1C2761BE4}"/>
              </a:ext>
            </a:extLst>
          </p:cNvPr>
          <p:cNvPicPr>
            <a:picLocks noChangeAspect="1"/>
          </p:cNvPicPr>
          <p:nvPr/>
        </p:nvPicPr>
        <p:blipFill>
          <a:blip r:embed="rId2"/>
          <a:srcRect l="27245" t="33605" r="25995" b="14149"/>
          <a:stretch>
            <a:fillRect/>
          </a:stretch>
        </p:blipFill>
        <p:spPr>
          <a:xfrm>
            <a:off x="2183365" y="1480929"/>
            <a:ext cx="9644203" cy="4701209"/>
          </a:xfrm>
          <a:prstGeom prst="rect">
            <a:avLst/>
          </a:prstGeom>
          <a:ln>
            <a:solidFill>
              <a:schemeClr val="accent2"/>
            </a:solidFill>
          </a:ln>
        </p:spPr>
      </p:pic>
    </p:spTree>
    <p:extLst>
      <p:ext uri="{BB962C8B-B14F-4D97-AF65-F5344CB8AC3E}">
        <p14:creationId xmlns:p14="http://schemas.microsoft.com/office/powerpoint/2010/main" val="930136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ctr" eaLnBrk="1" hangingPunct="1"/>
            <a:r>
              <a:rPr lang="en-US" b="1" dirty="0" smtClean="0">
                <a:solidFill>
                  <a:srgbClr val="C00000"/>
                </a:solidFill>
              </a:rPr>
              <a:t>Example </a:t>
            </a:r>
          </a:p>
        </p:txBody>
      </p:sp>
      <p:sp>
        <p:nvSpPr>
          <p:cNvPr id="13315" name="Rectangle 3"/>
          <p:cNvSpPr>
            <a:spLocks noGrp="1" noChangeArrowheads="1"/>
          </p:cNvSpPr>
          <p:nvPr>
            <p:ph type="body" idx="1"/>
          </p:nvPr>
        </p:nvSpPr>
        <p:spPr/>
        <p:txBody>
          <a:bodyPr/>
          <a:lstStyle/>
          <a:p>
            <a:pPr eaLnBrk="1" hangingPunct="1">
              <a:lnSpc>
                <a:spcPct val="90000"/>
              </a:lnSpc>
            </a:pPr>
            <a:r>
              <a:rPr lang="en-US" dirty="0" smtClean="0"/>
              <a:t>Write an algorithm and draw a flowchart to convert the length in feet to centimeter.</a:t>
            </a:r>
          </a:p>
          <a:p>
            <a:pPr eaLnBrk="1" hangingPunct="1">
              <a:lnSpc>
                <a:spcPct val="90000"/>
              </a:lnSpc>
              <a:buFont typeface="Wingdings" pitchFamily="2" charset="2"/>
              <a:buNone/>
            </a:pPr>
            <a:r>
              <a:rPr lang="en-US" b="1" dirty="0" smtClean="0"/>
              <a:t>Pseudocode</a:t>
            </a:r>
            <a:r>
              <a:rPr lang="en-US" dirty="0" smtClean="0"/>
              <a:t>:	</a:t>
            </a:r>
          </a:p>
          <a:p>
            <a:pPr eaLnBrk="1" hangingPunct="1">
              <a:lnSpc>
                <a:spcPct val="90000"/>
              </a:lnSpc>
            </a:pPr>
            <a:r>
              <a:rPr lang="en-US" dirty="0" smtClean="0"/>
              <a:t> </a:t>
            </a:r>
            <a:r>
              <a:rPr lang="en-US" i="1" dirty="0" smtClean="0"/>
              <a:t>Input the length in feet (</a:t>
            </a:r>
            <a:r>
              <a:rPr lang="en-US" i="1" dirty="0" err="1" smtClean="0"/>
              <a:t>Lft</a:t>
            </a:r>
            <a:r>
              <a:rPr lang="en-US" i="1" dirty="0" smtClean="0"/>
              <a:t>)</a:t>
            </a:r>
          </a:p>
          <a:p>
            <a:pPr eaLnBrk="1" hangingPunct="1">
              <a:lnSpc>
                <a:spcPct val="90000"/>
              </a:lnSpc>
            </a:pPr>
            <a:r>
              <a:rPr lang="en-US" i="1" dirty="0" smtClean="0"/>
              <a:t>Calculate the length in cm (Lcm) by multiplying LFT with 30</a:t>
            </a:r>
          </a:p>
          <a:p>
            <a:pPr eaLnBrk="1" hangingPunct="1">
              <a:lnSpc>
                <a:spcPct val="90000"/>
              </a:lnSpc>
            </a:pPr>
            <a:r>
              <a:rPr lang="en-US" i="1" dirty="0" smtClean="0"/>
              <a:t>Print length in cm (LCM)</a:t>
            </a:r>
          </a:p>
        </p:txBody>
      </p:sp>
    </p:spTree>
    <p:extLst>
      <p:ext uri="{BB962C8B-B14F-4D97-AF65-F5344CB8AC3E}">
        <p14:creationId xmlns:p14="http://schemas.microsoft.com/office/powerpoint/2010/main" val="16184555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6CA2F547-3430-523C-853B-5FEC87EBCC50}"/>
              </a:ext>
            </a:extLst>
          </p:cNvPr>
          <p:cNvSpPr txBox="1"/>
          <p:nvPr/>
        </p:nvSpPr>
        <p:spPr>
          <a:xfrm>
            <a:off x="308117" y="980077"/>
            <a:ext cx="11658599" cy="4708981"/>
          </a:xfrm>
          <a:prstGeom prst="rect">
            <a:avLst/>
          </a:prstGeom>
          <a:noFill/>
        </p:spPr>
        <p:txBody>
          <a:bodyPr wrap="square">
            <a:sp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The Pseudo code is neither an algorithm nor a program. It is an abstract form of a program. It consists of English like statements which perform the specific operations. It is defined for an algorithm. It does not use any graphical representation. In pseudo code, the program is represented in terms of words and phrases, but the syntax of program is not strictly followed.</a:t>
            </a:r>
          </a:p>
          <a:p>
            <a:pPr algn="just"/>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b="1" dirty="0">
                <a:solidFill>
                  <a:schemeClr val="tx1"/>
                </a:solidFill>
                <a:latin typeface="Times New Roman" panose="02020603050405020304" pitchFamily="18" charset="0"/>
                <a:cs typeface="Times New Roman" panose="02020603050405020304" pitchFamily="18" charset="0"/>
              </a:rPr>
              <a:t>Advantages: * Easy to read, * Easy to understand, * Easy to modify. </a:t>
            </a:r>
          </a:p>
          <a:p>
            <a:pPr algn="just"/>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b="1" dirty="0">
                <a:solidFill>
                  <a:schemeClr val="tx1"/>
                </a:solidFill>
                <a:latin typeface="Times New Roman" panose="02020603050405020304" pitchFamily="18" charset="0"/>
                <a:cs typeface="Times New Roman" panose="02020603050405020304" pitchFamily="18" charset="0"/>
              </a:rPr>
              <a:t>Example: Write a pseudo code to perform the basic arithmetic operations. </a:t>
            </a:r>
          </a:p>
          <a:p>
            <a:pPr algn="just"/>
            <a:r>
              <a:rPr lang="en-US" sz="2000" dirty="0">
                <a:solidFill>
                  <a:schemeClr val="tx1"/>
                </a:solidFill>
                <a:latin typeface="Times New Roman" panose="02020603050405020304" pitchFamily="18" charset="0"/>
                <a:cs typeface="Times New Roman" panose="02020603050405020304" pitchFamily="18" charset="0"/>
              </a:rPr>
              <a:t>Read n1, n2 </a:t>
            </a:r>
          </a:p>
          <a:p>
            <a:pPr algn="just"/>
            <a:r>
              <a:rPr lang="en-US" sz="2000" dirty="0">
                <a:solidFill>
                  <a:schemeClr val="tx1"/>
                </a:solidFill>
                <a:latin typeface="Times New Roman" panose="02020603050405020304" pitchFamily="18" charset="0"/>
                <a:cs typeface="Times New Roman" panose="02020603050405020304" pitchFamily="18" charset="0"/>
              </a:rPr>
              <a:t>Sum = n1 + n2 </a:t>
            </a:r>
          </a:p>
          <a:p>
            <a:pPr algn="just"/>
            <a:r>
              <a:rPr lang="en-US" sz="2000" dirty="0">
                <a:solidFill>
                  <a:schemeClr val="tx1"/>
                </a:solidFill>
                <a:latin typeface="Times New Roman" panose="02020603050405020304" pitchFamily="18" charset="0"/>
                <a:cs typeface="Times New Roman" panose="02020603050405020304" pitchFamily="18" charset="0"/>
              </a:rPr>
              <a:t>Diff = n1 – n2 </a:t>
            </a:r>
          </a:p>
          <a:p>
            <a:pPr algn="just"/>
            <a:r>
              <a:rPr lang="en-US" sz="2000" dirty="0">
                <a:solidFill>
                  <a:schemeClr val="tx1"/>
                </a:solidFill>
                <a:latin typeface="Times New Roman" panose="02020603050405020304" pitchFamily="18" charset="0"/>
                <a:cs typeface="Times New Roman" panose="02020603050405020304" pitchFamily="18" charset="0"/>
              </a:rPr>
              <a:t>Mult = n1 * n2 </a:t>
            </a:r>
          </a:p>
          <a:p>
            <a:pPr algn="just"/>
            <a:r>
              <a:rPr lang="en-US" sz="2000" dirty="0" err="1">
                <a:solidFill>
                  <a:schemeClr val="tx1"/>
                </a:solidFill>
                <a:latin typeface="Times New Roman" panose="02020603050405020304" pitchFamily="18" charset="0"/>
                <a:cs typeface="Times New Roman" panose="02020603050405020304" pitchFamily="18" charset="0"/>
              </a:rPr>
              <a:t>Quot</a:t>
            </a:r>
            <a:r>
              <a:rPr lang="en-US" sz="2000" dirty="0">
                <a:solidFill>
                  <a:schemeClr val="tx1"/>
                </a:solidFill>
                <a:latin typeface="Times New Roman" panose="02020603050405020304" pitchFamily="18" charset="0"/>
                <a:cs typeface="Times New Roman" panose="02020603050405020304" pitchFamily="18" charset="0"/>
              </a:rPr>
              <a:t> = n1/n2 </a:t>
            </a:r>
          </a:p>
          <a:p>
            <a:pPr algn="just"/>
            <a:r>
              <a:rPr lang="en-US" sz="2000" dirty="0">
                <a:solidFill>
                  <a:schemeClr val="tx1"/>
                </a:solidFill>
                <a:latin typeface="Times New Roman" panose="02020603050405020304" pitchFamily="18" charset="0"/>
                <a:cs typeface="Times New Roman" panose="02020603050405020304" pitchFamily="18" charset="0"/>
              </a:rPr>
              <a:t>Print sum, diff, </a:t>
            </a:r>
            <a:r>
              <a:rPr lang="en-US" sz="2000" dirty="0" err="1">
                <a:solidFill>
                  <a:schemeClr val="tx1"/>
                </a:solidFill>
                <a:latin typeface="Times New Roman" panose="02020603050405020304" pitchFamily="18" charset="0"/>
                <a:cs typeface="Times New Roman" panose="02020603050405020304" pitchFamily="18" charset="0"/>
              </a:rPr>
              <a:t>mult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quot</a:t>
            </a:r>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End.</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 xmlns:a16="http://schemas.microsoft.com/office/drawing/2014/main" id="{A96DAF15-EA16-6578-ECD5-D2456D186B08}"/>
              </a:ext>
            </a:extLst>
          </p:cNvPr>
          <p:cNvSpPr txBox="1">
            <a:spLocks/>
          </p:cNvSpPr>
          <p:nvPr/>
        </p:nvSpPr>
        <p:spPr>
          <a:xfrm>
            <a:off x="2690761" y="149759"/>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Pseudo code</a:t>
            </a:r>
          </a:p>
        </p:txBody>
      </p:sp>
    </p:spTree>
    <p:extLst>
      <p:ext uri="{BB962C8B-B14F-4D97-AF65-F5344CB8AC3E}">
        <p14:creationId xmlns:p14="http://schemas.microsoft.com/office/powerpoint/2010/main" val="1800039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628FF34-015F-2E71-7CD0-7AB46F056011}"/>
              </a:ext>
            </a:extLst>
          </p:cNvPr>
          <p:cNvSpPr txBox="1"/>
          <p:nvPr/>
        </p:nvSpPr>
        <p:spPr>
          <a:xfrm>
            <a:off x="288240" y="933450"/>
            <a:ext cx="11501689" cy="923330"/>
          </a:xfrm>
          <a:prstGeom prst="rect">
            <a:avLst/>
          </a:prstGeom>
          <a:noFill/>
        </p:spPr>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Program Design in Structured Programming refers to a methodical and logical way of organizing code to make it clear, efficient, and easy to maintain. Structured programming follows a top-down approach and is based on the idea of breaking down a program into smaller, manageable sections called modules or functions.</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 xmlns:a16="http://schemas.microsoft.com/office/drawing/2014/main" id="{81629AF2-9DF5-7294-F781-311CC90B9F81}"/>
              </a:ext>
            </a:extLst>
          </p:cNvPr>
          <p:cNvSpPr>
            <a:spLocks noChangeArrowheads="1"/>
          </p:cNvSpPr>
          <p:nvPr/>
        </p:nvSpPr>
        <p:spPr bwMode="auto">
          <a:xfrm>
            <a:off x="424259" y="1856783"/>
            <a:ext cx="767294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Features of Program Design in Structured Programming</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Top-Down Design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Start from the main problem and break it down into smaller sub-problems.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sub-problem becomes a module or function.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Modularity</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Divide the program into independent modules.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module performs a specific task and can be tested separately.</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Entry and Exit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control structure (loop, condition, function) should have only one entry and one exit point, which avoids confusion and errors.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of Functions/Procedures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Reusable blocks of code help in avoiding repetition and promote code reuse.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Structures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goto</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statements.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clear and limited control structures (sequence, selection, and iteration).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object 2">
            <a:extLst>
              <a:ext uri="{FF2B5EF4-FFF2-40B4-BE49-F238E27FC236}">
                <a16:creationId xmlns="" xmlns:a16="http://schemas.microsoft.com/office/drawing/2014/main" id="{0A363E2D-DD21-7226-0D45-AF2F62E7CFFA}"/>
              </a:ext>
            </a:extLst>
          </p:cNvPr>
          <p:cNvSpPr txBox="1">
            <a:spLocks/>
          </p:cNvSpPr>
          <p:nvPr/>
        </p:nvSpPr>
        <p:spPr>
          <a:xfrm>
            <a:off x="2635213" y="160997"/>
            <a:ext cx="7430771" cy="597599"/>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800" b="1" dirty="0">
                <a:solidFill>
                  <a:srgbClr val="1E293B"/>
                </a:solidFill>
                <a:latin typeface="Times New Roman" panose="02020603050405020304" pitchFamily="18" charset="0"/>
                <a:cs typeface="Times New Roman" panose="02020603050405020304" pitchFamily="18" charset="0"/>
              </a:rPr>
              <a:t>Program Design in Structured Programming</a:t>
            </a:r>
          </a:p>
        </p:txBody>
      </p:sp>
      <p:sp>
        <p:nvSpPr>
          <p:cNvPr id="11" name="TextBox 10">
            <a:extLst>
              <a:ext uri="{FF2B5EF4-FFF2-40B4-BE49-F238E27FC236}">
                <a16:creationId xmlns="" xmlns:a16="http://schemas.microsoft.com/office/drawing/2014/main" id="{1F382053-2E10-EB90-FB0F-8B1483F088F7}"/>
              </a:ext>
            </a:extLst>
          </p:cNvPr>
          <p:cNvSpPr txBox="1"/>
          <p:nvPr/>
        </p:nvSpPr>
        <p:spPr>
          <a:xfrm>
            <a:off x="7732647" y="1968166"/>
            <a:ext cx="4383156"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sz="1800" b="1" dirty="0">
                <a:latin typeface="Times New Roman" panose="02020603050405020304" pitchFamily="18" charset="0"/>
                <a:cs typeface="Times New Roman" panose="02020603050405020304" pitchFamily="18" charset="0"/>
              </a:rPr>
              <a:t>Benefits of Structured Program Design</a:t>
            </a:r>
          </a:p>
          <a:p>
            <a:r>
              <a:rPr lang="en-US" sz="1800" dirty="0">
                <a:latin typeface="Times New Roman" panose="02020603050405020304" pitchFamily="18" charset="0"/>
                <a:cs typeface="Times New Roman" panose="02020603050405020304" pitchFamily="18" charset="0"/>
              </a:rPr>
              <a:t>✅ Easier to understand and maintain</a:t>
            </a:r>
          </a:p>
          <a:p>
            <a:r>
              <a:rPr lang="en-US" sz="1800" dirty="0">
                <a:latin typeface="Times New Roman" panose="02020603050405020304" pitchFamily="18" charset="0"/>
                <a:cs typeface="Times New Roman" panose="02020603050405020304" pitchFamily="18" charset="0"/>
              </a:rPr>
              <a:t>✅ Code reusability through functions</a:t>
            </a:r>
          </a:p>
          <a:p>
            <a:r>
              <a:rPr lang="en-US" sz="1800" dirty="0">
                <a:latin typeface="Times New Roman" panose="02020603050405020304" pitchFamily="18" charset="0"/>
                <a:cs typeface="Times New Roman" panose="02020603050405020304" pitchFamily="18" charset="0"/>
              </a:rPr>
              <a:t>✅ Simpler debugging and testing</a:t>
            </a:r>
          </a:p>
          <a:p>
            <a:r>
              <a:rPr lang="en-US" sz="1800" dirty="0">
                <a:latin typeface="Times New Roman" panose="02020603050405020304" pitchFamily="18" charset="0"/>
                <a:cs typeface="Times New Roman" panose="02020603050405020304" pitchFamily="18" charset="0"/>
              </a:rPr>
              <a:t>✅ Better collaboration among programmers</a:t>
            </a:r>
          </a:p>
          <a:p>
            <a:r>
              <a:rPr lang="en-US" sz="1800" dirty="0">
                <a:latin typeface="Times New Roman" panose="02020603050405020304" pitchFamily="18" charset="0"/>
                <a:cs typeface="Times New Roman" panose="02020603050405020304" pitchFamily="18" charset="0"/>
              </a:rPr>
              <a:t>✅ Encourages good programming practices</a:t>
            </a:r>
          </a:p>
        </p:txBody>
      </p:sp>
    </p:spTree>
    <p:extLst>
      <p:ext uri="{BB962C8B-B14F-4D97-AF65-F5344CB8AC3E}">
        <p14:creationId xmlns:p14="http://schemas.microsoft.com/office/powerpoint/2010/main" val="1314167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223F1AF2-0E48-10D2-4069-5C5B8FE8699B}"/>
              </a:ext>
            </a:extLst>
          </p:cNvPr>
          <p:cNvSpPr txBox="1"/>
          <p:nvPr/>
        </p:nvSpPr>
        <p:spPr>
          <a:xfrm>
            <a:off x="199832" y="953660"/>
            <a:ext cx="8350781" cy="2308324"/>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Example: Structured Program Design (C Language)</a:t>
            </a:r>
          </a:p>
          <a:p>
            <a:pPr>
              <a:buNone/>
            </a:pPr>
            <a:r>
              <a:rPr lang="en-US" sz="1600" dirty="0">
                <a:latin typeface="Times New Roman" panose="02020603050405020304" pitchFamily="18" charset="0"/>
                <a:cs typeface="Times New Roman" panose="02020603050405020304" pitchFamily="18" charset="0"/>
              </a:rPr>
              <a:t>Let’s consider a simple problem: </a:t>
            </a:r>
            <a:r>
              <a:rPr lang="en-US" sz="1600" b="1" dirty="0">
                <a:latin typeface="Times New Roman" panose="02020603050405020304" pitchFamily="18" charset="0"/>
                <a:cs typeface="Times New Roman" panose="02020603050405020304" pitchFamily="18" charset="0"/>
              </a:rPr>
              <a:t>Calculate the average of three numbers</a:t>
            </a:r>
            <a:endParaRPr lang="en-US" sz="1600"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Step 1: Top-down design</a:t>
            </a: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Input three numbers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 the average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Display the result</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Step 2: Code</a:t>
            </a:r>
            <a:endParaRPr lang="en-US"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36BF4A80-BB39-BA95-CBEF-10B8109FEBE2}"/>
              </a:ext>
            </a:extLst>
          </p:cNvPr>
          <p:cNvSpPr txBox="1"/>
          <p:nvPr/>
        </p:nvSpPr>
        <p:spPr>
          <a:xfrm>
            <a:off x="3016125" y="1826588"/>
            <a:ext cx="4952223" cy="443198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200" dirty="0"/>
              <a:t>#include &lt;</a:t>
            </a:r>
            <a:r>
              <a:rPr lang="en-IN" sz="1200" dirty="0" err="1"/>
              <a:t>stdio.h</a:t>
            </a:r>
            <a:r>
              <a:rPr lang="en-IN" sz="1200" dirty="0"/>
              <a:t>&gt;</a:t>
            </a:r>
          </a:p>
          <a:p>
            <a:endParaRPr lang="en-IN" sz="1200" dirty="0"/>
          </a:p>
          <a:p>
            <a:r>
              <a:rPr lang="en-IN" sz="1200" dirty="0"/>
              <a:t>// Function to calculate average</a:t>
            </a:r>
          </a:p>
          <a:p>
            <a:r>
              <a:rPr lang="en-IN" sz="1200" dirty="0"/>
              <a:t>float </a:t>
            </a:r>
            <a:r>
              <a:rPr lang="en-IN" sz="1200" dirty="0" err="1"/>
              <a:t>calculateAverage</a:t>
            </a:r>
            <a:r>
              <a:rPr lang="en-IN" sz="1200" dirty="0"/>
              <a:t>(int a, int b, int c) {</a:t>
            </a:r>
          </a:p>
          <a:p>
            <a:r>
              <a:rPr lang="en-IN" sz="1200" dirty="0"/>
              <a:t>    return (a + b + c) / 3.0;</a:t>
            </a:r>
          </a:p>
          <a:p>
            <a:r>
              <a:rPr lang="en-IN" sz="1200" dirty="0"/>
              <a:t>}</a:t>
            </a:r>
          </a:p>
          <a:p>
            <a:endParaRPr lang="en-IN" sz="1200" dirty="0"/>
          </a:p>
          <a:p>
            <a:r>
              <a:rPr lang="en-IN" sz="1200" dirty="0"/>
              <a:t>int main() {</a:t>
            </a:r>
          </a:p>
          <a:p>
            <a:r>
              <a:rPr lang="en-IN" sz="1200" dirty="0"/>
              <a:t>    int num1, num2, num3;</a:t>
            </a:r>
          </a:p>
          <a:p>
            <a:r>
              <a:rPr lang="en-IN" sz="1200" dirty="0"/>
              <a:t>    float </a:t>
            </a:r>
            <a:r>
              <a:rPr lang="en-IN" sz="1200" dirty="0" err="1"/>
              <a:t>avg</a:t>
            </a:r>
            <a:r>
              <a:rPr lang="en-IN" sz="1200" dirty="0"/>
              <a:t>;</a:t>
            </a:r>
          </a:p>
          <a:p>
            <a:endParaRPr lang="en-IN" sz="1200" dirty="0"/>
          </a:p>
          <a:p>
            <a:r>
              <a:rPr lang="en-IN" sz="1200" dirty="0"/>
              <a:t>    // Input</a:t>
            </a:r>
          </a:p>
          <a:p>
            <a:r>
              <a:rPr lang="en-IN" sz="1200" dirty="0"/>
              <a:t>    </a:t>
            </a:r>
            <a:r>
              <a:rPr lang="en-IN" sz="1200" dirty="0" err="1"/>
              <a:t>printf</a:t>
            </a:r>
            <a:r>
              <a:rPr lang="en-IN" sz="1200" dirty="0"/>
              <a:t>("Enter three numbers: ");</a:t>
            </a:r>
          </a:p>
          <a:p>
            <a:r>
              <a:rPr lang="en-IN" sz="1200" dirty="0"/>
              <a:t>    </a:t>
            </a:r>
            <a:r>
              <a:rPr lang="en-IN" sz="1200" dirty="0" err="1"/>
              <a:t>scanf</a:t>
            </a:r>
            <a:r>
              <a:rPr lang="en-IN" sz="1200" dirty="0"/>
              <a:t>("%d %d %d", &amp;num1, &amp;num2, &amp;num3);</a:t>
            </a:r>
          </a:p>
          <a:p>
            <a:endParaRPr lang="en-IN" sz="1200" dirty="0"/>
          </a:p>
          <a:p>
            <a:r>
              <a:rPr lang="en-IN" sz="1200" dirty="0"/>
              <a:t>    // Processing</a:t>
            </a:r>
          </a:p>
          <a:p>
            <a:r>
              <a:rPr lang="en-IN" sz="1200" dirty="0"/>
              <a:t>    </a:t>
            </a:r>
            <a:r>
              <a:rPr lang="en-IN" sz="1200" dirty="0" err="1"/>
              <a:t>avg</a:t>
            </a:r>
            <a:r>
              <a:rPr lang="en-IN" sz="1200" dirty="0"/>
              <a:t> = </a:t>
            </a:r>
            <a:r>
              <a:rPr lang="en-IN" sz="1200" dirty="0" err="1"/>
              <a:t>calculateAverage</a:t>
            </a:r>
            <a:r>
              <a:rPr lang="en-IN" sz="1200" dirty="0"/>
              <a:t>(num1, num2, num3);</a:t>
            </a:r>
          </a:p>
          <a:p>
            <a:endParaRPr lang="en-IN" sz="1200" dirty="0"/>
          </a:p>
          <a:p>
            <a:r>
              <a:rPr lang="en-IN" sz="1200" dirty="0"/>
              <a:t>    // Output</a:t>
            </a:r>
          </a:p>
          <a:p>
            <a:r>
              <a:rPr lang="en-IN" sz="1200" dirty="0"/>
              <a:t>    </a:t>
            </a:r>
            <a:r>
              <a:rPr lang="en-IN" sz="1200" dirty="0" err="1"/>
              <a:t>printf</a:t>
            </a:r>
            <a:r>
              <a:rPr lang="en-IN" sz="1200" dirty="0"/>
              <a:t>("Average = %.2f\n", </a:t>
            </a:r>
            <a:r>
              <a:rPr lang="en-IN" sz="1200" dirty="0" err="1"/>
              <a:t>avg</a:t>
            </a:r>
            <a:r>
              <a:rPr lang="en-IN" sz="1200" dirty="0"/>
              <a:t>);</a:t>
            </a:r>
          </a:p>
          <a:p>
            <a:endParaRPr lang="en-IN" sz="1200" dirty="0"/>
          </a:p>
          <a:p>
            <a:r>
              <a:rPr lang="en-IN" sz="1200" dirty="0"/>
              <a:t>    return 0;</a:t>
            </a:r>
          </a:p>
          <a:p>
            <a:r>
              <a:rPr lang="en-IN" sz="1200" dirty="0"/>
              <a:t>}</a:t>
            </a:r>
          </a:p>
        </p:txBody>
      </p:sp>
      <p:graphicFrame>
        <p:nvGraphicFramePr>
          <p:cNvPr id="8" name="Table 7">
            <a:extLst>
              <a:ext uri="{FF2B5EF4-FFF2-40B4-BE49-F238E27FC236}">
                <a16:creationId xmlns="" xmlns:a16="http://schemas.microsoft.com/office/drawing/2014/main" id="{2E65DF18-F578-7802-2D6C-CD51B2AB7D6B}"/>
              </a:ext>
            </a:extLst>
          </p:cNvPr>
          <p:cNvGraphicFramePr>
            <a:graphicFrameLocks noGrp="1"/>
          </p:cNvGraphicFramePr>
          <p:nvPr>
            <p:extLst>
              <p:ext uri="{D42A27DB-BD31-4B8C-83A1-F6EECF244321}">
                <p14:modId xmlns:p14="http://schemas.microsoft.com/office/powerpoint/2010/main" val="997006047"/>
              </p:ext>
            </p:extLst>
          </p:nvPr>
        </p:nvGraphicFramePr>
        <p:xfrm>
          <a:off x="8943392" y="1707501"/>
          <a:ext cx="3248608" cy="3108960"/>
        </p:xfrm>
        <a:graphic>
          <a:graphicData uri="http://schemas.openxmlformats.org/drawingml/2006/table">
            <a:tbl>
              <a:tblPr>
                <a:tableStyleId>{35758FB7-9AC5-4552-8A53-C91805E547FA}</a:tableStyleId>
              </a:tblPr>
              <a:tblGrid>
                <a:gridCol w="1624304">
                  <a:extLst>
                    <a:ext uri="{9D8B030D-6E8A-4147-A177-3AD203B41FA5}">
                      <a16:colId xmlns="" xmlns:a16="http://schemas.microsoft.com/office/drawing/2014/main" val="3933247048"/>
                    </a:ext>
                  </a:extLst>
                </a:gridCol>
                <a:gridCol w="1624304">
                  <a:extLst>
                    <a:ext uri="{9D8B030D-6E8A-4147-A177-3AD203B41FA5}">
                      <a16:colId xmlns="" xmlns:a16="http://schemas.microsoft.com/office/drawing/2014/main" val="2918645305"/>
                    </a:ext>
                  </a:extLst>
                </a:gridCol>
              </a:tblGrid>
              <a:tr h="0">
                <a:tc>
                  <a:txBody>
                    <a:bodyPr/>
                    <a:lstStyle/>
                    <a:p>
                      <a:r>
                        <a:rPr lang="en-IN" dirty="0"/>
                        <a:t>Concept</a:t>
                      </a:r>
                    </a:p>
                  </a:txBody>
                  <a:tcPr anchor="ctr"/>
                </a:tc>
                <a:tc>
                  <a:txBody>
                    <a:bodyPr/>
                    <a:lstStyle/>
                    <a:p>
                      <a:r>
                        <a:rPr lang="en-IN" dirty="0"/>
                        <a:t>Description</a:t>
                      </a:r>
                    </a:p>
                  </a:txBody>
                  <a:tcPr anchor="ctr"/>
                </a:tc>
                <a:extLst>
                  <a:ext uri="{0D108BD9-81ED-4DB2-BD59-A6C34878D82A}">
                    <a16:rowId xmlns="" xmlns:a16="http://schemas.microsoft.com/office/drawing/2014/main" val="3655718634"/>
                  </a:ext>
                </a:extLst>
              </a:tr>
              <a:tr h="0">
                <a:tc>
                  <a:txBody>
                    <a:bodyPr/>
                    <a:lstStyle/>
                    <a:p>
                      <a:r>
                        <a:rPr lang="en-IN" dirty="0"/>
                        <a:t>Approach</a:t>
                      </a:r>
                    </a:p>
                  </a:txBody>
                  <a:tcPr anchor="ctr"/>
                </a:tc>
                <a:tc>
                  <a:txBody>
                    <a:bodyPr/>
                    <a:lstStyle/>
                    <a:p>
                      <a:r>
                        <a:rPr lang="en-IN"/>
                        <a:t>Top-down</a:t>
                      </a:r>
                    </a:p>
                  </a:txBody>
                  <a:tcPr anchor="ctr"/>
                </a:tc>
                <a:extLst>
                  <a:ext uri="{0D108BD9-81ED-4DB2-BD59-A6C34878D82A}">
                    <a16:rowId xmlns="" xmlns:a16="http://schemas.microsoft.com/office/drawing/2014/main" val="1798200027"/>
                  </a:ext>
                </a:extLst>
              </a:tr>
              <a:tr h="0">
                <a:tc>
                  <a:txBody>
                    <a:bodyPr/>
                    <a:lstStyle/>
                    <a:p>
                      <a:r>
                        <a:rPr lang="en-IN"/>
                        <a:t>Structure</a:t>
                      </a:r>
                    </a:p>
                  </a:txBody>
                  <a:tcPr anchor="ctr"/>
                </a:tc>
                <a:tc>
                  <a:txBody>
                    <a:bodyPr/>
                    <a:lstStyle/>
                    <a:p>
                      <a:r>
                        <a:rPr lang="en-IN"/>
                        <a:t>Sequence, Selection, Iteration</a:t>
                      </a:r>
                    </a:p>
                  </a:txBody>
                  <a:tcPr anchor="ctr"/>
                </a:tc>
                <a:extLst>
                  <a:ext uri="{0D108BD9-81ED-4DB2-BD59-A6C34878D82A}">
                    <a16:rowId xmlns="" xmlns:a16="http://schemas.microsoft.com/office/drawing/2014/main" val="2074373051"/>
                  </a:ext>
                </a:extLst>
              </a:tr>
              <a:tr h="0">
                <a:tc>
                  <a:txBody>
                    <a:bodyPr/>
                    <a:lstStyle/>
                    <a:p>
                      <a:r>
                        <a:rPr lang="en-IN"/>
                        <a:t>Reusability</a:t>
                      </a:r>
                    </a:p>
                  </a:txBody>
                  <a:tcPr anchor="ctr"/>
                </a:tc>
                <a:tc>
                  <a:txBody>
                    <a:bodyPr/>
                    <a:lstStyle/>
                    <a:p>
                      <a:r>
                        <a:rPr lang="en-IN"/>
                        <a:t>Through functions</a:t>
                      </a:r>
                    </a:p>
                  </a:txBody>
                  <a:tcPr anchor="ctr"/>
                </a:tc>
                <a:extLst>
                  <a:ext uri="{0D108BD9-81ED-4DB2-BD59-A6C34878D82A}">
                    <a16:rowId xmlns="" xmlns:a16="http://schemas.microsoft.com/office/drawing/2014/main" val="3364527490"/>
                  </a:ext>
                </a:extLst>
              </a:tr>
              <a:tr h="0">
                <a:tc>
                  <a:txBody>
                    <a:bodyPr/>
                    <a:lstStyle/>
                    <a:p>
                      <a:r>
                        <a:rPr lang="en-IN"/>
                        <a:t>Modularity</a:t>
                      </a:r>
                    </a:p>
                  </a:txBody>
                  <a:tcPr anchor="ctr"/>
                </a:tc>
                <a:tc>
                  <a:txBody>
                    <a:bodyPr/>
                    <a:lstStyle/>
                    <a:p>
                      <a:r>
                        <a:rPr lang="en-US"/>
                        <a:t>Break program into smaller components</a:t>
                      </a:r>
                    </a:p>
                  </a:txBody>
                  <a:tcPr anchor="ctr"/>
                </a:tc>
                <a:extLst>
                  <a:ext uri="{0D108BD9-81ED-4DB2-BD59-A6C34878D82A}">
                    <a16:rowId xmlns="" xmlns:a16="http://schemas.microsoft.com/office/drawing/2014/main" val="2751571082"/>
                  </a:ext>
                </a:extLst>
              </a:tr>
              <a:tr h="0">
                <a:tc>
                  <a:txBody>
                    <a:bodyPr/>
                    <a:lstStyle/>
                    <a:p>
                      <a:r>
                        <a:rPr lang="en-IN"/>
                        <a:t>Control Flow</a:t>
                      </a:r>
                    </a:p>
                  </a:txBody>
                  <a:tcPr anchor="ctr"/>
                </a:tc>
                <a:tc>
                  <a:txBody>
                    <a:bodyPr/>
                    <a:lstStyle/>
                    <a:p>
                      <a:r>
                        <a:rPr lang="en-US" dirty="0"/>
                        <a:t>No </a:t>
                      </a:r>
                      <a:r>
                        <a:rPr lang="en-US" dirty="0" err="1"/>
                        <a:t>goto</a:t>
                      </a:r>
                      <a:r>
                        <a:rPr lang="en-US" dirty="0"/>
                        <a:t>, clear entry/exit in functions</a:t>
                      </a:r>
                    </a:p>
                  </a:txBody>
                  <a:tcPr anchor="ctr"/>
                </a:tc>
                <a:extLst>
                  <a:ext uri="{0D108BD9-81ED-4DB2-BD59-A6C34878D82A}">
                    <a16:rowId xmlns="" xmlns:a16="http://schemas.microsoft.com/office/drawing/2014/main" val="2363794143"/>
                  </a:ext>
                </a:extLst>
              </a:tr>
            </a:tbl>
          </a:graphicData>
        </a:graphic>
      </p:graphicFrame>
      <p:sp>
        <p:nvSpPr>
          <p:cNvPr id="10" name="TextBox 9">
            <a:extLst>
              <a:ext uri="{FF2B5EF4-FFF2-40B4-BE49-F238E27FC236}">
                <a16:creationId xmlns="" xmlns:a16="http://schemas.microsoft.com/office/drawing/2014/main" id="{D0A176E1-FD43-4EC5-F76F-C43C00BE0CE8}"/>
              </a:ext>
            </a:extLst>
          </p:cNvPr>
          <p:cNvSpPr txBox="1"/>
          <p:nvPr/>
        </p:nvSpPr>
        <p:spPr>
          <a:xfrm>
            <a:off x="10245861" y="1186778"/>
            <a:ext cx="1094015" cy="338554"/>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Summary</a:t>
            </a:r>
          </a:p>
        </p:txBody>
      </p:sp>
      <p:sp>
        <p:nvSpPr>
          <p:cNvPr id="11" name="object 2">
            <a:extLst>
              <a:ext uri="{FF2B5EF4-FFF2-40B4-BE49-F238E27FC236}">
                <a16:creationId xmlns="" xmlns:a16="http://schemas.microsoft.com/office/drawing/2014/main" id="{3E66EE83-DAC5-9F69-386E-4CD5A33D44D6}"/>
              </a:ext>
            </a:extLst>
          </p:cNvPr>
          <p:cNvSpPr txBox="1">
            <a:spLocks/>
          </p:cNvSpPr>
          <p:nvPr/>
        </p:nvSpPr>
        <p:spPr>
          <a:xfrm>
            <a:off x="3136925" y="326527"/>
            <a:ext cx="7430771" cy="536044"/>
          </a:xfrm>
          <a:prstGeom prst="rect">
            <a:avLst/>
          </a:prstGeom>
          <a:noFill/>
          <a:ln>
            <a:noFill/>
          </a:ln>
        </p:spPr>
        <p:txBody>
          <a:bodyPr spcFirstLastPara="1" vert="horz" wrap="square" lIns="0" tIns="12700" rIns="0" bIns="0" rtlCol="0" anchor="b" anchorCtr="0">
            <a:sp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12700">
              <a:lnSpc>
                <a:spcPct val="100000"/>
              </a:lnSpc>
              <a:spcAft>
                <a:spcPts val="1200"/>
              </a:spcAft>
              <a:buClr>
                <a:srgbClr val="000000"/>
              </a:buClr>
            </a:pPr>
            <a:r>
              <a:rPr lang="en-IN" sz="2400" b="1" dirty="0">
                <a:solidFill>
                  <a:srgbClr val="1E293B"/>
                </a:solidFill>
                <a:latin typeface="Times New Roman" panose="02020603050405020304" pitchFamily="18" charset="0"/>
                <a:cs typeface="Times New Roman" panose="02020603050405020304" pitchFamily="18" charset="0"/>
              </a:rPr>
              <a:t>Program Design in Structured Programming</a:t>
            </a:r>
          </a:p>
        </p:txBody>
      </p:sp>
    </p:spTree>
    <p:extLst>
      <p:ext uri="{BB962C8B-B14F-4D97-AF65-F5344CB8AC3E}">
        <p14:creationId xmlns:p14="http://schemas.microsoft.com/office/powerpoint/2010/main" val="2117576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49C9C731-123F-5F7C-3A0E-88A4B43C2328}"/>
              </a:ext>
            </a:extLst>
          </p:cNvPr>
          <p:cNvSpPr txBox="1"/>
          <p:nvPr/>
        </p:nvSpPr>
        <p:spPr>
          <a:xfrm>
            <a:off x="3806893" y="2351315"/>
            <a:ext cx="3954929" cy="923330"/>
          </a:xfrm>
          <a:prstGeom prst="rect">
            <a:avLst/>
          </a:prstGeom>
          <a:noFill/>
        </p:spPr>
        <p:txBody>
          <a:bodyPr wrap="none" rtlCol="0">
            <a:spAutoFit/>
          </a:bodyPr>
          <a:lstStyle/>
          <a:p>
            <a:r>
              <a:rPr lang="en-US" sz="5400" b="1" dirty="0">
                <a:ln w="9525">
                  <a:solidFill>
                    <a:schemeClr val="bg1"/>
                  </a:solidFill>
                  <a:prstDash val="solid"/>
                </a:ln>
                <a:solidFill>
                  <a:schemeClr val="accent5"/>
                </a:solidFill>
                <a:effectLst>
                  <a:outerShdw blurRad="50800" dist="38100" dir="2700000" algn="tl" rotWithShape="0">
                    <a:prstClr val="black">
                      <a:alpha val="40000"/>
                    </a:prstClr>
                  </a:outerShdw>
                </a:effectLst>
              </a:rPr>
              <a:t>Thank You!</a:t>
            </a:r>
            <a:endParaRPr lang="en-IN" sz="5400" b="1" dirty="0">
              <a:ln w="9525">
                <a:solidFill>
                  <a:schemeClr val="bg1"/>
                </a:solidFill>
                <a:prstDash val="solid"/>
              </a:ln>
              <a:solidFill>
                <a:schemeClr val="accent5"/>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721250192"/>
      </p:ext>
    </p:extLst>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2351</Words>
  <Application>Microsoft Office PowerPoint</Application>
  <PresentationFormat>Custom</PresentationFormat>
  <Paragraphs>290</Paragraphs>
  <Slides>30</Slides>
  <Notes>15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30</vt:i4>
      </vt:variant>
    </vt:vector>
  </HeadingPairs>
  <TitlesOfParts>
    <vt:vector size="42" baseType="lpstr">
      <vt:lpstr>Arial</vt:lpstr>
      <vt:lpstr>Roboto</vt:lpstr>
      <vt:lpstr>Times New Roman</vt:lpstr>
      <vt:lpstr>Wingdings</vt:lpstr>
      <vt:lpstr>Source Code Pro ExtraLight</vt:lpstr>
      <vt:lpstr>Fira Sans</vt:lpstr>
      <vt:lpstr>Inter</vt:lpstr>
      <vt:lpstr>Roboto Medium</vt:lpstr>
      <vt:lpstr>Marcellus</vt:lpstr>
      <vt:lpstr>Calibri</vt:lpstr>
      <vt:lpstr>Office Theme</vt:lpstr>
      <vt:lpstr>1_Office Theme</vt:lpstr>
      <vt:lpstr>PowerPoint Presentation</vt:lpstr>
      <vt:lpstr>PowerPoint Presentation</vt:lpstr>
      <vt:lpstr>PowerPoint Presentation</vt:lpstr>
      <vt:lpstr>What is Programming?</vt:lpstr>
      <vt:lpstr>Introduction to Problem Solving  Methodology</vt:lpstr>
      <vt:lpstr>PowerPoint Presentation</vt:lpstr>
      <vt:lpstr>PowerPoint Presentation</vt:lpstr>
      <vt:lpstr>PowerPoint Presentation</vt:lpstr>
      <vt:lpstr>PowerPoint Presentation</vt:lpstr>
      <vt:lpstr>PowerPoint Presentation</vt:lpstr>
      <vt:lpstr>The Problem-Solving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Pushpendra Kumar Dhansoia</dc:creator>
  <cp:lastModifiedBy>Admin</cp:lastModifiedBy>
  <cp:revision>44</cp:revision>
  <dcterms:created xsi:type="dcterms:W3CDTF">2022-02-21T05:08:08Z</dcterms:created>
  <dcterms:modified xsi:type="dcterms:W3CDTF">2025-08-03T17:00:48Z</dcterms:modified>
</cp:coreProperties>
</file>
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4" r:id="rId10"/>
    <p:sldId id="263" r:id="rId11"/>
    <p:sldId id="267" r:id="rId12"/>
    <p:sldId id="268" r:id="rId13"/>
    <p:sldId id="269" r:id="rId14"/>
    <p:sldId id="266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-1276" y="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User Defined Functions and Structures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5609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4800"/>
            <a:ext cx="8458200" cy="5568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59567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User defined Function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function is a self-contained block of statements that perform </a:t>
            </a:r>
            <a:r>
              <a:rPr lang="en-US" dirty="0" smtClean="0"/>
              <a:t>a coherent </a:t>
            </a:r>
            <a:r>
              <a:rPr lang="en-US" dirty="0"/>
              <a:t>task of some kind. Every C program can be thought of as </a:t>
            </a:r>
            <a:r>
              <a:rPr lang="en-US" dirty="0" smtClean="0"/>
              <a:t>a collection </a:t>
            </a:r>
            <a:r>
              <a:rPr lang="en-US" dirty="0"/>
              <a:t>of these functions. As we noted earlier, using a function </a:t>
            </a:r>
            <a:r>
              <a:rPr lang="en-US" dirty="0" smtClean="0"/>
              <a:t>is something </a:t>
            </a:r>
            <a:r>
              <a:rPr lang="en-US" dirty="0"/>
              <a:t>like hiring a person to do a specific job for you.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1930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52400"/>
            <a:ext cx="8763000" cy="59737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# 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void message( ) ; </a:t>
            </a:r>
            <a:r>
              <a:rPr lang="en-IN" b="1" dirty="0">
                <a:solidFill>
                  <a:srgbClr val="FF0000"/>
                </a:solidFill>
              </a:rPr>
              <a:t>/* function prototype declaration */</a:t>
            </a:r>
          </a:p>
          <a:p>
            <a:pPr marL="0" indent="0">
              <a:buNone/>
            </a:pPr>
            <a:r>
              <a:rPr lang="en-IN" dirty="0" err="1"/>
              <a:t>int</a:t>
            </a:r>
            <a:r>
              <a:rPr lang="en-IN" dirty="0"/>
              <a:t> main( )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message( ) ; </a:t>
            </a:r>
            <a:r>
              <a:rPr lang="en-IN" b="1" dirty="0">
                <a:solidFill>
                  <a:srgbClr val="FF3300"/>
                </a:solidFill>
              </a:rPr>
              <a:t>/* function call */</a:t>
            </a:r>
          </a:p>
          <a:p>
            <a:pPr marL="0" indent="0">
              <a:buNone/>
            </a:pPr>
            <a:r>
              <a:rPr lang="en-IN" dirty="0" err="1"/>
              <a:t>printf</a:t>
            </a:r>
            <a:r>
              <a:rPr lang="en-IN" dirty="0"/>
              <a:t> ( "Cry, and you stop the monotony!\n" ) ;</a:t>
            </a:r>
          </a:p>
          <a:p>
            <a:pPr marL="0" indent="0">
              <a:buNone/>
            </a:pPr>
            <a:r>
              <a:rPr lang="en-IN" dirty="0"/>
              <a:t>return 0 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void message( ) </a:t>
            </a:r>
            <a:r>
              <a:rPr lang="en-IN" b="1" dirty="0">
                <a:solidFill>
                  <a:srgbClr val="FF0000"/>
                </a:solidFill>
              </a:rPr>
              <a:t>/* function definition */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 err="1"/>
              <a:t>printf</a:t>
            </a:r>
            <a:r>
              <a:rPr lang="en-IN" dirty="0"/>
              <a:t> ( "Smile, and the world smiles with you...\n" ) 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3011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"/>
            <a:ext cx="8229600" cy="5973763"/>
          </a:xfrm>
        </p:spPr>
        <p:txBody>
          <a:bodyPr>
            <a:normAutofit lnSpcReduction="10000"/>
          </a:bodyPr>
          <a:lstStyle/>
          <a:p>
            <a:r>
              <a:rPr lang="en-IN" sz="4400" dirty="0"/>
              <a:t>function prototype </a:t>
            </a:r>
            <a:r>
              <a:rPr lang="en-IN" sz="4400" dirty="0" smtClean="0"/>
              <a:t>declaration: </a:t>
            </a:r>
            <a:r>
              <a:rPr lang="en-US" sz="4400" dirty="0"/>
              <a:t>This prototype declaration indicates that </a:t>
            </a:r>
            <a:r>
              <a:rPr lang="en-US" sz="4400" b="1" dirty="0"/>
              <a:t>message( ) </a:t>
            </a:r>
            <a:r>
              <a:rPr lang="en-US" sz="4400" dirty="0"/>
              <a:t>is a function </a:t>
            </a:r>
            <a:r>
              <a:rPr lang="en-US" sz="4400" dirty="0" smtClean="0"/>
              <a:t>which after </a:t>
            </a:r>
            <a:r>
              <a:rPr lang="en-US" sz="4400" dirty="0"/>
              <a:t>completing its execution does not return any value</a:t>
            </a:r>
            <a:r>
              <a:rPr lang="en-US" sz="4400" dirty="0" smtClean="0"/>
              <a:t>.</a:t>
            </a:r>
          </a:p>
          <a:p>
            <a:r>
              <a:rPr lang="en-US" sz="4400" dirty="0" smtClean="0"/>
              <a:t> </a:t>
            </a:r>
            <a:r>
              <a:rPr lang="en-US" sz="4400" dirty="0"/>
              <a:t>This ‘does </a:t>
            </a:r>
            <a:r>
              <a:rPr lang="en-US" sz="4400" dirty="0" smtClean="0"/>
              <a:t>not return </a:t>
            </a:r>
            <a:r>
              <a:rPr lang="en-US" sz="4400" dirty="0"/>
              <a:t>any value’ is indicated using the keyword </a:t>
            </a:r>
            <a:r>
              <a:rPr lang="en-US" sz="4400" b="1" dirty="0"/>
              <a:t>void</a:t>
            </a:r>
            <a:r>
              <a:rPr lang="en-US" sz="4400" dirty="0" smtClean="0"/>
              <a:t>.</a:t>
            </a:r>
          </a:p>
          <a:p>
            <a:pPr marL="0" indent="0">
              <a:buNone/>
            </a:pPr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1338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68" y="457200"/>
            <a:ext cx="9047745" cy="541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18268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1" y="304801"/>
            <a:ext cx="2895599" cy="138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0" y="1604960"/>
            <a:ext cx="9144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Here the function </a:t>
            </a:r>
            <a:r>
              <a:rPr lang="en-US" sz="2800" b="1" dirty="0"/>
              <a:t>message( ) </a:t>
            </a:r>
            <a:r>
              <a:rPr lang="en-US" sz="2800" dirty="0"/>
              <a:t>is being called by </a:t>
            </a:r>
            <a:r>
              <a:rPr lang="en-US" sz="2800" b="1" dirty="0"/>
              <a:t>main( </a:t>
            </a:r>
            <a:r>
              <a:rPr lang="en-US" sz="2800" b="1" dirty="0" smtClean="0"/>
              <a:t>)</a:t>
            </a:r>
            <a:r>
              <a:rPr lang="en-US" sz="2800" dirty="0" smtClean="0"/>
              <a:t>.</a:t>
            </a:r>
          </a:p>
          <a:p>
            <a:r>
              <a:rPr lang="en-US" sz="2800" dirty="0" smtClean="0"/>
              <a:t> </a:t>
            </a:r>
            <a:r>
              <a:rPr lang="en-US" sz="2800" dirty="0"/>
              <a:t>What do </a:t>
            </a:r>
            <a:r>
              <a:rPr lang="en-US" sz="2800" dirty="0" smtClean="0"/>
              <a:t>we mean </a:t>
            </a:r>
            <a:r>
              <a:rPr lang="en-US" sz="2800" dirty="0"/>
              <a:t>when we say that </a:t>
            </a:r>
            <a:r>
              <a:rPr lang="en-US" sz="2800" b="1" dirty="0"/>
              <a:t>main( ) </a:t>
            </a:r>
            <a:r>
              <a:rPr lang="en-US" sz="2800" dirty="0"/>
              <a:t>‘calls’ the function </a:t>
            </a:r>
            <a:r>
              <a:rPr lang="en-US" sz="2800" b="1" dirty="0"/>
              <a:t>message( </a:t>
            </a:r>
            <a:r>
              <a:rPr lang="en-US" sz="2800" b="1" dirty="0" smtClean="0"/>
              <a:t>)</a:t>
            </a:r>
            <a:r>
              <a:rPr lang="en-US" sz="2800" dirty="0" smtClean="0"/>
              <a:t>?</a:t>
            </a:r>
          </a:p>
          <a:p>
            <a:r>
              <a:rPr lang="en-US" sz="2800" dirty="0" smtClean="0"/>
              <a:t> We mean </a:t>
            </a:r>
            <a:r>
              <a:rPr lang="en-US" sz="2800" dirty="0"/>
              <a:t>that the control passes to the function </a:t>
            </a:r>
            <a:r>
              <a:rPr lang="en-US" sz="2800" b="1" dirty="0"/>
              <a:t>message( )</a:t>
            </a:r>
            <a:r>
              <a:rPr lang="en-US" sz="2800" dirty="0"/>
              <a:t>. The activity </a:t>
            </a:r>
            <a:r>
              <a:rPr lang="en-US" sz="2800" dirty="0" smtClean="0"/>
              <a:t>of </a:t>
            </a:r>
            <a:r>
              <a:rPr lang="en-US" sz="2800" b="1" dirty="0" smtClean="0"/>
              <a:t>main</a:t>
            </a:r>
            <a:r>
              <a:rPr lang="en-US" sz="2800" b="1" dirty="0"/>
              <a:t>( ) </a:t>
            </a:r>
            <a:r>
              <a:rPr lang="en-US" sz="2800" dirty="0"/>
              <a:t>is temporarily suspended; it falls asleep while the </a:t>
            </a:r>
            <a:r>
              <a:rPr lang="en-US" sz="2800" b="1" dirty="0"/>
              <a:t>message( </a:t>
            </a:r>
            <a:r>
              <a:rPr lang="en-US" sz="2800" b="1" dirty="0" smtClean="0"/>
              <a:t>) </a:t>
            </a:r>
            <a:r>
              <a:rPr lang="en-US" sz="2800" dirty="0" smtClean="0"/>
              <a:t>function </a:t>
            </a:r>
            <a:r>
              <a:rPr lang="en-US" sz="2800" dirty="0"/>
              <a:t>wakes up and goes to work. When the </a:t>
            </a:r>
            <a:r>
              <a:rPr lang="en-US" sz="2800" b="1" dirty="0"/>
              <a:t>message( ) </a:t>
            </a:r>
            <a:r>
              <a:rPr lang="en-US" sz="2800" dirty="0"/>
              <a:t>function </a:t>
            </a:r>
            <a:r>
              <a:rPr lang="en-US" sz="2800" dirty="0" smtClean="0"/>
              <a:t>runs out </a:t>
            </a:r>
            <a:r>
              <a:rPr lang="en-US" sz="2800" dirty="0"/>
              <a:t>of statements to execute, the control returns to </a:t>
            </a:r>
            <a:r>
              <a:rPr lang="en-US" sz="2800" b="1" dirty="0"/>
              <a:t>main( )</a:t>
            </a:r>
            <a:r>
              <a:rPr lang="en-US" sz="2800" dirty="0"/>
              <a:t>, </a:t>
            </a:r>
            <a:r>
              <a:rPr lang="en-US" sz="2800" dirty="0" smtClean="0"/>
              <a:t>which comes </a:t>
            </a:r>
            <a:r>
              <a:rPr lang="en-US" sz="2800" dirty="0"/>
              <a:t>to life again and begins executing its code at the exact </a:t>
            </a:r>
            <a:r>
              <a:rPr lang="en-US" sz="2800" dirty="0" smtClean="0"/>
              <a:t>point where </a:t>
            </a:r>
            <a:r>
              <a:rPr lang="en-US" sz="2800" dirty="0"/>
              <a:t>it left off. </a:t>
            </a:r>
            <a:endParaRPr lang="en-US" sz="2800" dirty="0" smtClean="0"/>
          </a:p>
          <a:p>
            <a:r>
              <a:rPr lang="en-US" sz="2800" dirty="0" smtClean="0"/>
              <a:t>Thus</a:t>
            </a:r>
            <a:r>
              <a:rPr lang="en-US" sz="2800" dirty="0"/>
              <a:t>, </a:t>
            </a:r>
            <a:r>
              <a:rPr lang="en-US" sz="2800" b="1" dirty="0"/>
              <a:t>main( ) </a:t>
            </a:r>
            <a:r>
              <a:rPr lang="en-US" sz="2800" dirty="0"/>
              <a:t>becomes the ‘calling’ function, </a:t>
            </a:r>
            <a:r>
              <a:rPr lang="en-US" sz="2800" dirty="0" smtClean="0"/>
              <a:t>whereas </a:t>
            </a:r>
            <a:r>
              <a:rPr lang="en-US" sz="2800" b="1" dirty="0" smtClean="0"/>
              <a:t>message</a:t>
            </a:r>
            <a:r>
              <a:rPr lang="en-US" sz="2800" b="1" dirty="0"/>
              <a:t>( ) </a:t>
            </a:r>
            <a:r>
              <a:rPr lang="en-US" sz="2800" dirty="0"/>
              <a:t>becomes the ‘called’ function.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543981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6042"/>
            <a:ext cx="91440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# 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r>
              <a:rPr lang="en-IN" dirty="0"/>
              <a:t>void </a:t>
            </a:r>
            <a:r>
              <a:rPr lang="en-IN" dirty="0" err="1"/>
              <a:t>italy</a:t>
            </a:r>
            <a:r>
              <a:rPr lang="en-IN" dirty="0"/>
              <a:t>( ) ;</a:t>
            </a:r>
          </a:p>
          <a:p>
            <a:r>
              <a:rPr lang="en-IN" dirty="0"/>
              <a:t>void brazil( ) ;</a:t>
            </a:r>
          </a:p>
          <a:p>
            <a:r>
              <a:rPr lang="en-IN" dirty="0"/>
              <a:t>void </a:t>
            </a:r>
            <a:r>
              <a:rPr lang="en-IN" dirty="0" err="1"/>
              <a:t>argentina</a:t>
            </a:r>
            <a:r>
              <a:rPr lang="en-IN" dirty="0"/>
              <a:t>( ) ;</a:t>
            </a:r>
          </a:p>
          <a:p>
            <a:r>
              <a:rPr lang="en-IN" dirty="0" err="1"/>
              <a:t>int</a:t>
            </a:r>
            <a:r>
              <a:rPr lang="en-IN" dirty="0"/>
              <a:t> main( )</a:t>
            </a:r>
          </a:p>
          <a:p>
            <a:r>
              <a:rPr lang="en-IN" dirty="0"/>
              <a:t>{</a:t>
            </a:r>
          </a:p>
          <a:p>
            <a:r>
              <a:rPr lang="en-IN" dirty="0" err="1"/>
              <a:t>printf</a:t>
            </a:r>
            <a:r>
              <a:rPr lang="en-IN" dirty="0"/>
              <a:t> ( "I am in main\n" ) ;</a:t>
            </a:r>
          </a:p>
          <a:p>
            <a:r>
              <a:rPr lang="en-IN" dirty="0" err="1"/>
              <a:t>italy</a:t>
            </a:r>
            <a:r>
              <a:rPr lang="en-IN" dirty="0"/>
              <a:t>( ) ;</a:t>
            </a:r>
          </a:p>
          <a:p>
            <a:r>
              <a:rPr lang="en-IN" dirty="0"/>
              <a:t>brazil( ) ;</a:t>
            </a:r>
          </a:p>
          <a:p>
            <a:r>
              <a:rPr lang="en-IN" dirty="0" err="1"/>
              <a:t>argentina</a:t>
            </a:r>
            <a:r>
              <a:rPr lang="en-IN" dirty="0"/>
              <a:t>( ) ;</a:t>
            </a:r>
          </a:p>
          <a:p>
            <a:r>
              <a:rPr lang="en-IN" dirty="0"/>
              <a:t>return 0 ;</a:t>
            </a:r>
          </a:p>
          <a:p>
            <a:r>
              <a:rPr lang="en-IN" dirty="0"/>
              <a:t>}</a:t>
            </a:r>
          </a:p>
          <a:p>
            <a:r>
              <a:rPr lang="en-IN" dirty="0" smtClean="0"/>
              <a:t>	void </a:t>
            </a:r>
            <a:r>
              <a:rPr lang="en-IN" dirty="0" err="1"/>
              <a:t>italy</a:t>
            </a:r>
            <a:r>
              <a:rPr lang="en-IN" dirty="0"/>
              <a:t>( )</a:t>
            </a:r>
          </a:p>
          <a:p>
            <a:r>
              <a:rPr lang="en-IN" dirty="0" smtClean="0"/>
              <a:t>	{</a:t>
            </a:r>
            <a:endParaRPr lang="en-IN" dirty="0"/>
          </a:p>
          <a:p>
            <a:r>
              <a:rPr lang="en-IN" dirty="0" smtClean="0"/>
              <a:t>		</a:t>
            </a:r>
            <a:r>
              <a:rPr lang="en-IN" dirty="0" err="1" smtClean="0"/>
              <a:t>printf</a:t>
            </a:r>
            <a:r>
              <a:rPr lang="en-IN" dirty="0" smtClean="0"/>
              <a:t> </a:t>
            </a:r>
            <a:r>
              <a:rPr lang="en-IN" dirty="0"/>
              <a:t>( "I am in </a:t>
            </a:r>
            <a:r>
              <a:rPr lang="en-IN" dirty="0" err="1"/>
              <a:t>italy</a:t>
            </a:r>
            <a:r>
              <a:rPr lang="en-IN" dirty="0"/>
              <a:t>\n" ) ;</a:t>
            </a:r>
          </a:p>
          <a:p>
            <a:r>
              <a:rPr lang="en-IN" dirty="0" smtClean="0"/>
              <a:t>	}</a:t>
            </a:r>
            <a:endParaRPr lang="en-IN" dirty="0"/>
          </a:p>
          <a:p>
            <a:r>
              <a:rPr lang="en-IN" dirty="0" smtClean="0"/>
              <a:t>	void </a:t>
            </a:r>
            <a:r>
              <a:rPr lang="en-IN" dirty="0"/>
              <a:t>brazil( )</a:t>
            </a:r>
          </a:p>
          <a:p>
            <a:r>
              <a:rPr lang="en-IN" dirty="0" smtClean="0"/>
              <a:t>	{</a:t>
            </a:r>
            <a:endParaRPr lang="en-IN" dirty="0"/>
          </a:p>
          <a:p>
            <a:r>
              <a:rPr lang="en-IN" dirty="0" smtClean="0"/>
              <a:t>		</a:t>
            </a:r>
            <a:r>
              <a:rPr lang="en-IN" dirty="0" err="1" smtClean="0"/>
              <a:t>printf</a:t>
            </a:r>
            <a:r>
              <a:rPr lang="en-IN" dirty="0" smtClean="0"/>
              <a:t> </a:t>
            </a:r>
            <a:r>
              <a:rPr lang="en-IN" dirty="0"/>
              <a:t>( "I am in brazil\n" ) ;</a:t>
            </a:r>
          </a:p>
          <a:p>
            <a:r>
              <a:rPr lang="en-IN" dirty="0" smtClean="0"/>
              <a:t>	}</a:t>
            </a:r>
            <a:endParaRPr lang="en-IN" dirty="0"/>
          </a:p>
          <a:p>
            <a:r>
              <a:rPr lang="en-IN" dirty="0" smtClean="0"/>
              <a:t>	void </a:t>
            </a:r>
            <a:r>
              <a:rPr lang="en-IN" dirty="0" err="1"/>
              <a:t>argentina</a:t>
            </a:r>
            <a:r>
              <a:rPr lang="en-IN" dirty="0"/>
              <a:t>( )</a:t>
            </a:r>
          </a:p>
          <a:p>
            <a:r>
              <a:rPr lang="en-IN" dirty="0" smtClean="0"/>
              <a:t>	{</a:t>
            </a:r>
            <a:endParaRPr lang="en-IN" dirty="0"/>
          </a:p>
          <a:p>
            <a:r>
              <a:rPr lang="en-IN" dirty="0" smtClean="0"/>
              <a:t>		</a:t>
            </a:r>
            <a:r>
              <a:rPr lang="en-IN" dirty="0" err="1" smtClean="0"/>
              <a:t>printf</a:t>
            </a:r>
            <a:r>
              <a:rPr lang="en-IN" dirty="0" smtClean="0"/>
              <a:t> </a:t>
            </a:r>
            <a:r>
              <a:rPr lang="en-IN" dirty="0"/>
              <a:t>( "I am in </a:t>
            </a:r>
            <a:r>
              <a:rPr lang="en-IN" dirty="0" err="1"/>
              <a:t>argentina</a:t>
            </a:r>
            <a:r>
              <a:rPr lang="en-IN" dirty="0"/>
              <a:t>\n" ) ;</a:t>
            </a:r>
          </a:p>
          <a:p>
            <a:r>
              <a:rPr lang="en-IN" dirty="0" smtClean="0"/>
              <a:t>	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0401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 number of conclusions can be drawn from this program</a:t>
            </a:r>
            <a:r>
              <a:rPr lang="en-US" dirty="0" smtClean="0"/>
              <a:t>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763000" cy="5334000"/>
          </a:xfrm>
        </p:spPr>
        <p:txBody>
          <a:bodyPr>
            <a:noAutofit/>
          </a:bodyPr>
          <a:lstStyle/>
          <a:p>
            <a:r>
              <a:rPr lang="en-US" sz="2400" dirty="0" smtClean="0"/>
              <a:t>A </a:t>
            </a:r>
            <a:r>
              <a:rPr lang="en-US" sz="2400" dirty="0"/>
              <a:t>C program is a collection of one or more functions.</a:t>
            </a:r>
          </a:p>
          <a:p>
            <a:r>
              <a:rPr lang="en-US" sz="2400" dirty="0" smtClean="0"/>
              <a:t> </a:t>
            </a:r>
            <a:r>
              <a:rPr lang="en-US" sz="2400" dirty="0"/>
              <a:t>If a C program contains only one function, it must be </a:t>
            </a:r>
            <a:r>
              <a:rPr lang="en-US" sz="2400" b="1" dirty="0"/>
              <a:t>main( )</a:t>
            </a:r>
            <a:r>
              <a:rPr lang="en-US" sz="2400" dirty="0"/>
              <a:t>.</a:t>
            </a:r>
          </a:p>
          <a:p>
            <a:r>
              <a:rPr lang="en-US" sz="2400" dirty="0" smtClean="0"/>
              <a:t> </a:t>
            </a:r>
            <a:r>
              <a:rPr lang="en-US" sz="2400" dirty="0"/>
              <a:t>If a C program contains more than one function, then one (and </a:t>
            </a:r>
            <a:r>
              <a:rPr lang="en-US" sz="2400" dirty="0" smtClean="0"/>
              <a:t>only one</a:t>
            </a:r>
            <a:r>
              <a:rPr lang="en-US" sz="2400" dirty="0"/>
              <a:t>) of these functions must be </a:t>
            </a:r>
            <a:r>
              <a:rPr lang="en-US" sz="2400" b="1" dirty="0"/>
              <a:t>main( )</a:t>
            </a:r>
            <a:r>
              <a:rPr lang="en-US" sz="2400" dirty="0"/>
              <a:t>, because program </a:t>
            </a:r>
            <a:r>
              <a:rPr lang="en-US" sz="2400" dirty="0" smtClean="0"/>
              <a:t>execution </a:t>
            </a:r>
            <a:r>
              <a:rPr lang="en-IN" sz="2400" dirty="0" smtClean="0"/>
              <a:t>always </a:t>
            </a:r>
            <a:r>
              <a:rPr lang="en-IN" sz="2400" dirty="0"/>
              <a:t>begins with </a:t>
            </a:r>
            <a:r>
              <a:rPr lang="en-IN" sz="2400" b="1" dirty="0"/>
              <a:t>main( </a:t>
            </a:r>
            <a:r>
              <a:rPr lang="en-IN" sz="2400" b="1" dirty="0" smtClean="0"/>
              <a:t>)</a:t>
            </a:r>
            <a:r>
              <a:rPr lang="en-IN" sz="2400" dirty="0" smtClean="0"/>
              <a:t>.</a:t>
            </a:r>
          </a:p>
          <a:p>
            <a:r>
              <a:rPr lang="en-US" sz="2400" dirty="0"/>
              <a:t>There is no limit on the number of functions that might be present </a:t>
            </a:r>
            <a:r>
              <a:rPr lang="en-US" sz="2400" dirty="0" smtClean="0"/>
              <a:t>in </a:t>
            </a:r>
            <a:r>
              <a:rPr lang="en-IN" sz="2400" dirty="0" smtClean="0"/>
              <a:t>a </a:t>
            </a:r>
            <a:r>
              <a:rPr lang="en-IN" sz="2400" dirty="0"/>
              <a:t>C program.</a:t>
            </a:r>
          </a:p>
          <a:p>
            <a:r>
              <a:rPr lang="en-US" sz="2400" dirty="0" smtClean="0"/>
              <a:t>Each </a:t>
            </a:r>
            <a:r>
              <a:rPr lang="en-US" sz="2400" dirty="0"/>
              <a:t>function in a program is called in the sequence specified by </a:t>
            </a:r>
            <a:r>
              <a:rPr lang="en-US" sz="2400" dirty="0" smtClean="0"/>
              <a:t>the </a:t>
            </a:r>
            <a:r>
              <a:rPr lang="en-IN" sz="2400" dirty="0" smtClean="0"/>
              <a:t>function </a:t>
            </a:r>
            <a:r>
              <a:rPr lang="en-IN" sz="2400" dirty="0"/>
              <a:t>calls in </a:t>
            </a:r>
            <a:r>
              <a:rPr lang="en-IN" sz="2400" b="1" dirty="0"/>
              <a:t>main( )</a:t>
            </a:r>
            <a:r>
              <a:rPr lang="en-IN" sz="2400" dirty="0"/>
              <a:t>.</a:t>
            </a:r>
          </a:p>
          <a:p>
            <a:r>
              <a:rPr lang="en-US" sz="2400" dirty="0" smtClean="0"/>
              <a:t>After </a:t>
            </a:r>
            <a:r>
              <a:rPr lang="en-US" sz="2400" dirty="0"/>
              <a:t>each function has done its thing, control returns to </a:t>
            </a:r>
            <a:r>
              <a:rPr lang="en-US" sz="2400" b="1" dirty="0"/>
              <a:t>main( )</a:t>
            </a:r>
            <a:r>
              <a:rPr lang="en-US" sz="2400" dirty="0"/>
              <a:t>.</a:t>
            </a:r>
          </a:p>
          <a:p>
            <a:r>
              <a:rPr lang="en-US" sz="2400" dirty="0"/>
              <a:t>When </a:t>
            </a:r>
            <a:r>
              <a:rPr lang="en-US" sz="2400" b="1" dirty="0"/>
              <a:t>main( ) </a:t>
            </a:r>
            <a:r>
              <a:rPr lang="en-US" sz="2400" dirty="0"/>
              <a:t>runs out of statements and function calls, the </a:t>
            </a:r>
            <a:r>
              <a:rPr lang="en-US" sz="2400" dirty="0" smtClean="0"/>
              <a:t>program </a:t>
            </a:r>
            <a:r>
              <a:rPr lang="en-IN" sz="2400" dirty="0" smtClean="0"/>
              <a:t>ends</a:t>
            </a:r>
            <a:r>
              <a:rPr lang="en-IN" sz="2400" dirty="0"/>
              <a:t>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92413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668963"/>
          </a:xfrm>
        </p:spPr>
        <p:txBody>
          <a:bodyPr>
            <a:normAutofit/>
          </a:bodyPr>
          <a:lstStyle/>
          <a:p>
            <a:r>
              <a:rPr lang="en-US" dirty="0"/>
              <a:t>Write a general-purpose function to convert any given year into </a:t>
            </a:r>
            <a:r>
              <a:rPr lang="en-US" dirty="0" smtClean="0"/>
              <a:t>its Roman </a:t>
            </a:r>
            <a:r>
              <a:rPr lang="en-US" dirty="0"/>
              <a:t>equivalent. Use these Roman equivalents for </a:t>
            </a:r>
            <a:r>
              <a:rPr lang="en-US" dirty="0" smtClean="0"/>
              <a:t>decimal numbers</a:t>
            </a:r>
            <a:r>
              <a:rPr lang="en-US" dirty="0"/>
              <a:t>: 1 – I, 5 – V, 10 – X, 50 – L, 100 – C, 500 – D, 1000 – M.</a:t>
            </a:r>
          </a:p>
          <a:p>
            <a:pPr marL="0" indent="0">
              <a:buNone/>
            </a:pPr>
            <a:r>
              <a:rPr lang="en-IN" dirty="0"/>
              <a:t>Example:</a:t>
            </a:r>
          </a:p>
          <a:p>
            <a:r>
              <a:rPr lang="en-US" dirty="0"/>
              <a:t>Roman equivalent of 1988 is </a:t>
            </a:r>
            <a:r>
              <a:rPr lang="en-US" dirty="0" err="1"/>
              <a:t>mdcccclxxxviii</a:t>
            </a:r>
            <a:r>
              <a:rPr lang="en-US" dirty="0"/>
              <a:t>.</a:t>
            </a:r>
          </a:p>
          <a:p>
            <a:r>
              <a:rPr lang="en-US" dirty="0"/>
              <a:t>Roman equivalent of 1525 is mdxxv.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0151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8445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7714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2632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458200" cy="4525963"/>
          </a:xfrm>
        </p:spPr>
        <p:txBody>
          <a:bodyPr/>
          <a:lstStyle/>
          <a:p>
            <a:r>
              <a:rPr lang="en-US" dirty="0"/>
              <a:t>A positive integer is entered through the keyboard. Write a </a:t>
            </a:r>
            <a:r>
              <a:rPr lang="en-US" dirty="0" smtClean="0"/>
              <a:t>function to </a:t>
            </a:r>
            <a:r>
              <a:rPr lang="en-US" dirty="0"/>
              <a:t>obtain the prime factors of this number.</a:t>
            </a:r>
          </a:p>
          <a:p>
            <a:r>
              <a:rPr lang="en-US" dirty="0"/>
              <a:t>For example, prime factors of 24 are 2, 2, 2 and 3, whereas </a:t>
            </a:r>
            <a:r>
              <a:rPr lang="en-US" dirty="0" smtClean="0"/>
              <a:t>prime factors </a:t>
            </a:r>
            <a:r>
              <a:rPr lang="en-US" dirty="0"/>
              <a:t>of 35 are 5 and 7.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0693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</TotalTime>
  <Words>615</Words>
  <Application>Microsoft Office PowerPoint</Application>
  <PresentationFormat>On-screen Show (4:3)</PresentationFormat>
  <Paragraphs>59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User Defined Functions and Structures</vt:lpstr>
      <vt:lpstr>PowerPoint Presentation</vt:lpstr>
      <vt:lpstr>User defined Function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 number of conclusions can be drawn from this program: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User Defined Functions and Structures</dc:title>
  <dc:creator>Admin</dc:creator>
  <cp:lastModifiedBy>Admin</cp:lastModifiedBy>
  <cp:revision>9</cp:revision>
  <dcterms:created xsi:type="dcterms:W3CDTF">2006-08-16T00:00:00Z</dcterms:created>
  <dcterms:modified xsi:type="dcterms:W3CDTF">2025-02-10T12:21:46Z</dcterms:modified>
</cp:coreProperties>
</file>
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1"/>
  </p:notesMasterIdLst>
  <p:sldIdLst>
    <p:sldId id="256" r:id="rId3"/>
    <p:sldId id="257" r:id="rId4"/>
    <p:sldId id="509" r:id="rId5"/>
    <p:sldId id="510" r:id="rId6"/>
    <p:sldId id="511" r:id="rId7"/>
    <p:sldId id="512" r:id="rId8"/>
    <p:sldId id="514" r:id="rId9"/>
    <p:sldId id="534" r:id="rId10"/>
    <p:sldId id="533" r:id="rId11"/>
    <p:sldId id="535" r:id="rId12"/>
    <p:sldId id="515" r:id="rId13"/>
    <p:sldId id="537" r:id="rId14"/>
    <p:sldId id="549" r:id="rId15"/>
    <p:sldId id="517" r:id="rId16"/>
    <p:sldId id="518" r:id="rId17"/>
    <p:sldId id="519" r:id="rId18"/>
    <p:sldId id="520" r:id="rId19"/>
    <p:sldId id="521" r:id="rId20"/>
    <p:sldId id="544" r:id="rId21"/>
    <p:sldId id="522" r:id="rId22"/>
    <p:sldId id="539" r:id="rId23"/>
    <p:sldId id="536" r:id="rId24"/>
    <p:sldId id="523" r:id="rId25"/>
    <p:sldId id="524" r:id="rId26"/>
    <p:sldId id="525" r:id="rId27"/>
    <p:sldId id="526" r:id="rId28"/>
    <p:sldId id="527" r:id="rId29"/>
    <p:sldId id="540" r:id="rId30"/>
    <p:sldId id="528" r:id="rId31"/>
    <p:sldId id="529" r:id="rId32"/>
    <p:sldId id="547" r:id="rId33"/>
    <p:sldId id="530" r:id="rId34"/>
    <p:sldId id="541" r:id="rId35"/>
    <p:sldId id="531" r:id="rId36"/>
    <p:sldId id="532" r:id="rId37"/>
    <p:sldId id="542" r:id="rId38"/>
    <p:sldId id="543" r:id="rId39"/>
    <p:sldId id="546"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4" userDrawn="1">
          <p15:clr>
            <a:srgbClr val="A4A3A4"/>
          </p15:clr>
        </p15:guide>
        <p15:guide id="2" pos="3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showGuides="1">
      <p:cViewPr>
        <p:scale>
          <a:sx n="81" d="100"/>
          <a:sy n="81" d="100"/>
        </p:scale>
        <p:origin x="-300" y="-36"/>
      </p:cViewPr>
      <p:guideLst>
        <p:guide orient="horz" pos="2194"/>
        <p:guide pos="3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4" Type="http://schemas.openxmlformats.org/officeDocument/2006/relationships/tableStyles" Target="tableStyles.xml"/><Relationship Id="rId43" Type="http://schemas.openxmlformats.org/officeDocument/2006/relationships/viewProps" Target="viewProps.xml"/><Relationship Id="rId42" Type="http://schemas.openxmlformats.org/officeDocument/2006/relationships/presProps" Target="presProps.xml"/><Relationship Id="rId41" Type="http://schemas.openxmlformats.org/officeDocument/2006/relationships/notesMaster" Target="notesMasters/notesMaster1.xml"/><Relationship Id="rId40" Type="http://schemas.openxmlformats.org/officeDocument/2006/relationships/slide" Target="slides/slide38.xml"/><Relationship Id="rId4" Type="http://schemas.openxmlformats.org/officeDocument/2006/relationships/slide" Target="slides/slide2.xml"/><Relationship Id="rId39" Type="http://schemas.openxmlformats.org/officeDocument/2006/relationships/slide" Target="slides/slide37.xml"/><Relationship Id="rId38" Type="http://schemas.openxmlformats.org/officeDocument/2006/relationships/slide" Target="slides/slide36.xml"/><Relationship Id="rId37" Type="http://schemas.openxmlformats.org/officeDocument/2006/relationships/slide" Target="slides/slide35.xml"/><Relationship Id="rId36" Type="http://schemas.openxmlformats.org/officeDocument/2006/relationships/slide" Target="slides/slide34.xml"/><Relationship Id="rId35" Type="http://schemas.openxmlformats.org/officeDocument/2006/relationships/slide" Target="slides/slide33.xml"/><Relationship Id="rId34" Type="http://schemas.openxmlformats.org/officeDocument/2006/relationships/slide" Target="slides/slide32.xml"/><Relationship Id="rId33" Type="http://schemas.openxmlformats.org/officeDocument/2006/relationships/slide" Target="slides/slide31.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57E271-3D31-435E-97C8-CF5DF3E767D1}"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2CDCF1-89C0-4D8D-BADD-81D50C43910F}"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E72BA4C-1ECB-4422-8D2F-350AD55618F9}"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6" name="Slide Number Placeholder 5"/>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9BA6CA6F-5997-4083-B982-9DC6D9078DD8}"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6" name="Slide Number Placeholder 5"/>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endParaRPr lang="en-US" smtClean="0"/>
          </a:p>
        </p:txBody>
      </p:sp>
      <p:sp>
        <p:nvSpPr>
          <p:cNvPr id="4" name="Date Placeholder 3"/>
          <p:cNvSpPr>
            <a:spLocks noGrp="1"/>
          </p:cNvSpPr>
          <p:nvPr>
            <p:ph type="dt" sz="half" idx="10"/>
          </p:nvPr>
        </p:nvSpPr>
        <p:spPr/>
        <p:txBody>
          <a:bodyPr/>
          <a:lstStyle/>
          <a:p>
            <a:fld id="{9A87B03E-A27D-4313-AC0E-693EE8D9D8A3}"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6" name="Slide Number Placeholder 5"/>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F007CFC1-E3C2-4A41-9AF0-23D001855C4B}" type="datetime1">
              <a:rPr lang="en-US" smtClean="0"/>
            </a:fld>
            <a:endParaRPr lang="en-US"/>
          </a:p>
        </p:txBody>
      </p:sp>
      <p:sp>
        <p:nvSpPr>
          <p:cNvPr id="6" name="Footer Placeholder 5"/>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7" name="Slide Number Placeholder 6"/>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9E5F153E-12A5-42F8-9CFC-E72BA3F39F65}" type="datetime1">
              <a:rPr lang="en-US" smtClean="0"/>
            </a:fld>
            <a:endParaRPr lang="en-US"/>
          </a:p>
        </p:txBody>
      </p:sp>
      <p:sp>
        <p:nvSpPr>
          <p:cNvPr id="8" name="Footer Placeholder 7"/>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9" name="Slide Number Placeholder 8"/>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4257D85-7933-42CB-AE7B-269FF1C33119}" type="datetime1">
              <a:rPr lang="en-US" smtClean="0"/>
            </a:fld>
            <a:endParaRPr lang="en-US"/>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Slide Number Placeholder 4"/>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sp>
        <p:nvSpPr>
          <p:cNvPr id="3" name="Footer Placeholder 2"/>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4" name="Slide Number Placeholder 3"/>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8D1377C2-B7C5-4B26-B4C5-AA9F91F7C0EB}" type="datetime1">
              <a:rPr lang="en-US" smtClean="0"/>
            </a:fld>
            <a:endParaRPr lang="en-US"/>
          </a:p>
        </p:txBody>
      </p:sp>
      <p:sp>
        <p:nvSpPr>
          <p:cNvPr id="6" name="Footer Placeholder 5"/>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7" name="Slide Number Placeholder 6"/>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endParaRPr lang="en-US" smtClean="0"/>
          </a:p>
        </p:txBody>
      </p:sp>
      <p:sp>
        <p:nvSpPr>
          <p:cNvPr id="5" name="Date Placeholder 4"/>
          <p:cNvSpPr>
            <a:spLocks noGrp="1"/>
          </p:cNvSpPr>
          <p:nvPr>
            <p:ph type="dt" sz="half" idx="10"/>
          </p:nvPr>
        </p:nvSpPr>
        <p:spPr/>
        <p:txBody>
          <a:bodyPr/>
          <a:lstStyle/>
          <a:p>
            <a:fld id="{4D0D7126-05BC-4255-AE75-A43026FB00A5}" type="datetime1">
              <a:rPr lang="en-US" smtClean="0"/>
            </a:fld>
            <a:endParaRPr lang="en-US"/>
          </a:p>
        </p:txBody>
      </p:sp>
      <p:sp>
        <p:nvSpPr>
          <p:cNvPr id="6" name="Footer Placeholder 5"/>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7" name="Slide Number Placeholder 6"/>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BCD72C62-2D2F-440D-86D0-481747EC14BB}"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6" name="Slide Number Placeholder 5"/>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07FDB620-C328-4DF2-9B58-EAF4C265836C}"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6" name="Slide Number Placeholder 5"/>
          <p:cNvSpPr>
            <a:spLocks noGrp="1"/>
          </p:cNvSpPr>
          <p:nvPr>
            <p:ph type="sldNum" sz="quarter" idx="12"/>
          </p:nvPr>
        </p:nvSpPr>
        <p:spPr/>
        <p:txBody>
          <a:bodyPr/>
          <a:lstStyle/>
          <a:p>
            <a:fld id="{D7492A49-D09E-4543-B77A-A8A84AA279A0}"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EF2C4-65C9-4259-BB23-FE16CB925A91}" type="datetime1">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Programming in C_Dr. Rupali Patil                                                        Source: Google images wherever required</a:t>
            </a: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7492A49-D09E-4543-B77A-A8A84AA279A0}"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4.png"/><Relationship Id="rId1" Type="http://schemas.openxmlformats.org/officeDocument/2006/relationships/image" Target="../media/image3.png"/></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6.png"/></Relationships>
</file>

<file path=ppt/slides/_rels/slide2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7.png"/></Relationships>
</file>

<file path=ppt/slides/_rels/slide21.xml.rels><?xml version="1.0" encoding="UTF-8" standalone="yes"?>
<Relationships xmlns="http://schemas.openxmlformats.org/package/2006/relationships"><Relationship Id="rId8" Type="http://schemas.openxmlformats.org/officeDocument/2006/relationships/slideLayout" Target="../slideLayouts/slideLayout7.xml"/><Relationship Id="rId7" Type="http://schemas.openxmlformats.org/officeDocument/2006/relationships/image" Target="../media/image13.png"/><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1.png"/></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4.png"/></Relationships>
</file>

<file path=ppt/slides/_rels/slide2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8.xml.rels><?xml version="1.0" encoding="UTF-8" standalone="yes"?>
<Relationships xmlns="http://schemas.openxmlformats.org/package/2006/relationships"><Relationship Id="rId9" Type="http://schemas.openxmlformats.org/officeDocument/2006/relationships/image" Target="../media/image23.png"/><Relationship Id="rId8" Type="http://schemas.openxmlformats.org/officeDocument/2006/relationships/image" Target="../media/image22.png"/><Relationship Id="rId7" Type="http://schemas.openxmlformats.org/officeDocument/2006/relationships/image" Target="../media/image21.png"/><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 Id="rId3" Type="http://schemas.openxmlformats.org/officeDocument/2006/relationships/image" Target="../media/image17.png"/><Relationship Id="rId2" Type="http://schemas.openxmlformats.org/officeDocument/2006/relationships/image" Target="../media/image16.png"/><Relationship Id="rId10" Type="http://schemas.openxmlformats.org/officeDocument/2006/relationships/slideLayout" Target="../slideLayouts/slideLayout2.xml"/><Relationship Id="rId1" Type="http://schemas.openxmlformats.org/officeDocument/2006/relationships/image" Target="../media/image15.png"/></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24.png"/><Relationship Id="rId1" Type="http://schemas.openxmlformats.org/officeDocument/2006/relationships/image" Target="../media/image1.png"/></Relationships>
</file>

<file path=ppt/slides/_rels/slide33.xml.rels><?xml version="1.0" encoding="UTF-8" standalone="yes"?>
<Relationships xmlns="http://schemas.openxmlformats.org/package/2006/relationships"><Relationship Id="rId4" Type="http://schemas.openxmlformats.org/officeDocument/2006/relationships/slideLayout" Target="../slideLayouts/slideLayout4.xml"/><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2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1" y="5969726"/>
            <a:ext cx="12192001" cy="888274"/>
          </a:xfrm>
          <a:prstGeom prst="rect">
            <a:avLst/>
          </a:prstGeom>
        </p:spPr>
      </p:pic>
      <p:sp>
        <p:nvSpPr>
          <p:cNvPr id="5" name="Title 1"/>
          <p:cNvSpPr>
            <a:spLocks noGrp="1"/>
          </p:cNvSpPr>
          <p:nvPr>
            <p:ph type="ctrTitle"/>
          </p:nvPr>
        </p:nvSpPr>
        <p:spPr>
          <a:xfrm>
            <a:off x="1524000" y="1122363"/>
            <a:ext cx="9144000" cy="2387600"/>
          </a:xfrm>
        </p:spPr>
        <p:txBody>
          <a:bodyPr/>
          <a:lstStyle/>
          <a:p>
            <a:r>
              <a:rPr lang="en-US" dirty="0" smtClean="0">
                <a:latin typeface="Times New Roman" panose="02020603050405020304" pitchFamily="18" charset="0"/>
                <a:cs typeface="Times New Roman" panose="02020603050405020304" pitchFamily="18" charset="0"/>
              </a:rPr>
              <a:t>Stuctured Programming Methodology</a:t>
            </a:r>
            <a:endParaRPr lang="en-US" dirty="0">
              <a:latin typeface="Times New Roman" panose="02020603050405020304" pitchFamily="18" charset="0"/>
              <a:cs typeface="Times New Roman" panose="02020603050405020304" pitchFamily="18" charset="0"/>
            </a:endParaRPr>
          </a:p>
        </p:txBody>
      </p:sp>
      <p:sp>
        <p:nvSpPr>
          <p:cNvPr id="6" name="Subtitle 2"/>
          <p:cNvSpPr>
            <a:spLocks noGrp="1"/>
          </p:cNvSpPr>
          <p:nvPr>
            <p:ph type="subTitle" idx="1"/>
          </p:nvPr>
        </p:nvSpPr>
        <p:spPr>
          <a:xfrm>
            <a:off x="1524000" y="3602038"/>
            <a:ext cx="9144000" cy="1655762"/>
          </a:xfrm>
        </p:spPr>
        <p:txBody>
          <a:bodyPr/>
          <a:lstStyle/>
          <a:p>
            <a:r>
              <a:rPr lang="en-US" sz="3200" dirty="0" smtClean="0">
                <a:latin typeface="Times New Roman" panose="02020603050405020304" pitchFamily="18" charset="0"/>
                <a:cs typeface="Times New Roman" panose="02020603050405020304" pitchFamily="18" charset="0"/>
                <a:sym typeface="+mn-ea"/>
              </a:rPr>
              <a:t>Module 4:</a:t>
            </a:r>
            <a:endParaRPr lang="en-US" sz="3200" dirty="0" smtClean="0">
              <a:latin typeface="Times New Roman" panose="02020603050405020304" pitchFamily="18" charset="0"/>
              <a:cs typeface="Times New Roman" panose="02020603050405020304" pitchFamily="18" charset="0"/>
            </a:endParaRPr>
          </a:p>
          <a:p>
            <a:r>
              <a:rPr lang="en-US" sz="3200" dirty="0" smtClean="0">
                <a:latin typeface="Times New Roman" panose="02020603050405020304" pitchFamily="18" charset="0"/>
                <a:cs typeface="Times New Roman" panose="02020603050405020304" pitchFamily="18" charset="0"/>
                <a:sym typeface="+mn-ea"/>
              </a:rPr>
              <a:t>Functions</a:t>
            </a:r>
            <a:endParaRPr lang="en-US" sz="3200" dirty="0" smtClean="0">
              <a:latin typeface="Times New Roman" panose="02020603050405020304" pitchFamily="18" charset="0"/>
              <a:cs typeface="Times New Roman" panose="02020603050405020304" pitchFamily="18" charset="0"/>
              <a:sym typeface="+mn-ea"/>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5" name="TextBox 4"/>
          <p:cNvSpPr txBox="1"/>
          <p:nvPr/>
        </p:nvSpPr>
        <p:spPr>
          <a:xfrm>
            <a:off x="5079365" y="716280"/>
            <a:ext cx="2599690" cy="749935"/>
          </a:xfrm>
          <a:prstGeom prst="rect">
            <a:avLst/>
          </a:prstGeom>
          <a:noFill/>
        </p:spPr>
        <p:txBody>
          <a:bodyPr wrap="square" rtlCol="0">
            <a:noAutofit/>
          </a:bodyPr>
          <a:lstStyle/>
          <a:p>
            <a:r>
              <a:rPr lang="en-US" sz="3600" b="1" dirty="0" smtClean="0">
                <a:latin typeface="Times New Roman" panose="02020603050405020304" pitchFamily="18" charset="0"/>
                <a:cs typeface="Times New Roman" panose="02020603050405020304" pitchFamily="18" charset="0"/>
              </a:rPr>
              <a:t>Functions</a:t>
            </a:r>
            <a:endParaRPr lang="en-US" sz="3600" b="1" dirty="0" smtClean="0">
              <a:latin typeface="Times New Roman" panose="02020603050405020304" pitchFamily="18" charset="0"/>
              <a:cs typeface="Times New Roman" panose="02020603050405020304" pitchFamily="18" charset="0"/>
            </a:endParaRPr>
          </a:p>
        </p:txBody>
      </p:sp>
      <p:sp>
        <p:nvSpPr>
          <p:cNvPr id="8" name="TextBox 7"/>
          <p:cNvSpPr txBox="1"/>
          <p:nvPr/>
        </p:nvSpPr>
        <p:spPr>
          <a:xfrm>
            <a:off x="1007110" y="1729105"/>
            <a:ext cx="9709150" cy="1814830"/>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User Defined Functions: Need, Function Declaration and Definition, Return Values, Function Calls, Passing Arguments to a Function by Value, Recursive functions, String Handling functions (in-built)</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4427" y="908596"/>
            <a:ext cx="12083144" cy="5139055"/>
          </a:xfrm>
          <a:prstGeom prst="rect">
            <a:avLst/>
          </a:prstGeom>
          <a:noFill/>
        </p:spPr>
        <p:txBody>
          <a:bodyPr wrap="square" rtlCol="0">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 function is a block of statements that performs a specific task. Let’s say you are writing a C program and you need to perform a same task in that program more than once. </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such case you have two options:</a:t>
            </a:r>
            <a:endParaRPr lang="en-US" sz="2800" dirty="0">
              <a:latin typeface="Times New Roman" panose="02020603050405020304" pitchFamily="18" charset="0"/>
              <a:cs typeface="Times New Roman" panose="02020603050405020304" pitchFamily="18" charset="0"/>
            </a:endParaRPr>
          </a:p>
          <a:p>
            <a:pPr indent="457200">
              <a:buFont typeface="Arial" panose="020B0604020202020204" pitchFamily="34" charset="0"/>
              <a:buNone/>
            </a:pPr>
            <a:r>
              <a:rPr lang="en-US" sz="2800" dirty="0">
                <a:latin typeface="Times New Roman" panose="02020603050405020304" pitchFamily="18" charset="0"/>
                <a:cs typeface="Times New Roman" panose="02020603050405020304" pitchFamily="18" charset="0"/>
              </a:rPr>
              <a:t>a) Use the same set of statements every time you want to perform the task</a:t>
            </a:r>
            <a:endParaRPr lang="en-US" sz="2800" dirty="0">
              <a:latin typeface="Times New Roman" panose="02020603050405020304" pitchFamily="18" charset="0"/>
              <a:cs typeface="Times New Roman" panose="02020603050405020304" pitchFamily="18" charset="0"/>
            </a:endParaRPr>
          </a:p>
          <a:p>
            <a:pPr indent="457200"/>
            <a:r>
              <a:rPr lang="en-US" sz="2800" dirty="0">
                <a:latin typeface="Times New Roman" panose="02020603050405020304" pitchFamily="18" charset="0"/>
                <a:cs typeface="Times New Roman" panose="02020603050405020304" pitchFamily="18" charset="0"/>
              </a:rPr>
              <a:t>b) Create a function to perform that task, and just call it every time you need to   perform that task.</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Using option (b) is a good practice and a good programmer always uses functions while writing code in C/C++.</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altLang="en-US" sz="2400" dirty="0">
                <a:latin typeface="Times New Roman" panose="02020603050405020304" pitchFamily="18" charset="0"/>
                <a:cs typeface="Times New Roman" panose="02020603050405020304" pitchFamily="18" charset="0"/>
              </a:rPr>
              <a:t>C++ also supports advanced features like function overloading, default arguments, and inline functions, which give more flexibility compared to C.</a:t>
            </a: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4427" y="908596"/>
            <a:ext cx="12083144" cy="439991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Why we need functions in C++</a:t>
            </a:r>
            <a:endParaRPr lang="en-US" sz="2800" b="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Functions are used because of following reasons </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To </a:t>
            </a:r>
            <a:r>
              <a:rPr lang="en-US" sz="2800" dirty="0">
                <a:latin typeface="Times New Roman" panose="02020603050405020304" pitchFamily="18" charset="0"/>
                <a:cs typeface="Times New Roman" panose="02020603050405020304" pitchFamily="18" charset="0"/>
              </a:rPr>
              <a:t>improve the </a:t>
            </a:r>
            <a:r>
              <a:rPr lang="en-US" sz="2800" b="1" dirty="0">
                <a:latin typeface="Times New Roman" panose="02020603050405020304" pitchFamily="18" charset="0"/>
                <a:cs typeface="Times New Roman" panose="02020603050405020304" pitchFamily="18" charset="0"/>
              </a:rPr>
              <a:t>readability of code</a:t>
            </a:r>
            <a:r>
              <a:rPr lang="en-US" sz="2800" dirty="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smtClean="0">
                <a:latin typeface="Times New Roman" panose="02020603050405020304" pitchFamily="18" charset="0"/>
                <a:cs typeface="Times New Roman" panose="02020603050405020304" pitchFamily="18" charset="0"/>
              </a:rPr>
              <a:t>Improves </a:t>
            </a: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reusability</a:t>
            </a:r>
            <a:r>
              <a:rPr lang="en-US" sz="2800" dirty="0">
                <a:latin typeface="Times New Roman" panose="02020603050405020304" pitchFamily="18" charset="0"/>
                <a:cs typeface="Times New Roman" panose="02020603050405020304" pitchFamily="18" charset="0"/>
              </a:rPr>
              <a:t> of the code, same function can be used in any program rather than writing the same code from scratch.</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Debugging </a:t>
            </a:r>
            <a:r>
              <a:rPr lang="en-US" sz="2800" dirty="0">
                <a:latin typeface="Times New Roman" panose="02020603050405020304" pitchFamily="18" charset="0"/>
                <a:cs typeface="Times New Roman" panose="02020603050405020304" pitchFamily="18" charset="0"/>
              </a:rPr>
              <a:t>of the code </a:t>
            </a:r>
            <a:r>
              <a:rPr lang="en-US" sz="2800" b="1" dirty="0">
                <a:latin typeface="Times New Roman" panose="02020603050405020304" pitchFamily="18" charset="0"/>
                <a:cs typeface="Times New Roman" panose="02020603050405020304" pitchFamily="18" charset="0"/>
              </a:rPr>
              <a:t>would be easier </a:t>
            </a:r>
            <a:r>
              <a:rPr lang="en-US" sz="2800" dirty="0">
                <a:latin typeface="Times New Roman" panose="02020603050405020304" pitchFamily="18" charset="0"/>
                <a:cs typeface="Times New Roman" panose="02020603050405020304" pitchFamily="18" charset="0"/>
              </a:rPr>
              <a:t>if you use functions, as errors are easy to be traced.</a:t>
            </a:r>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Reduces </a:t>
            </a:r>
            <a:r>
              <a:rPr lang="en-US" sz="2800" b="1" dirty="0">
                <a:latin typeface="Times New Roman" panose="02020603050405020304" pitchFamily="18" charset="0"/>
                <a:cs typeface="Times New Roman" panose="02020603050405020304" pitchFamily="18" charset="0"/>
              </a:rPr>
              <a:t>the size of the code</a:t>
            </a:r>
            <a:r>
              <a:rPr lang="en-US" sz="2800" dirty="0">
                <a:latin typeface="Times New Roman" panose="02020603050405020304" pitchFamily="18" charset="0"/>
                <a:cs typeface="Times New Roman" panose="02020603050405020304" pitchFamily="18" charset="0"/>
              </a:rPr>
              <a:t>, duplicate set of statements are replaced by function calls.</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76555" y="1012190"/>
            <a:ext cx="11100435" cy="4831080"/>
          </a:xfrm>
          <a:prstGeom prst="rect">
            <a:avLst/>
          </a:prstGeom>
          <a:noFill/>
        </p:spPr>
        <p:txBody>
          <a:bodyPr wrap="square" rtlCol="0">
            <a:noAutofit/>
          </a:bodyPr>
          <a:lstStyle/>
          <a:p>
            <a:r>
              <a:rPr lang="en-US" sz="2400" b="1" dirty="0" smtClean="0">
                <a:latin typeface="Times New Roman" panose="02020603050405020304" pitchFamily="18" charset="0"/>
                <a:cs typeface="Times New Roman" panose="02020603050405020304" pitchFamily="18" charset="0"/>
              </a:rPr>
              <a:t>Types </a:t>
            </a:r>
            <a:r>
              <a:rPr lang="en-US" sz="2400" b="1" dirty="0">
                <a:latin typeface="Times New Roman" panose="02020603050405020304" pitchFamily="18" charset="0"/>
                <a:cs typeface="Times New Roman" panose="02020603050405020304" pitchFamily="18" charset="0"/>
              </a:rPr>
              <a:t>of functions</a:t>
            </a:r>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1) Predefined standard library functions</a:t>
            </a:r>
            <a:endParaRPr lang="en-US" sz="2400" b="1"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Standard library functions are also known as built-in functions. </a:t>
            </a:r>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Functions such as </a:t>
            </a:r>
            <a:r>
              <a:rPr lang="en-US" altLang="en-US" sz="2400" dirty="0" err="1">
                <a:latin typeface="Times New Roman" panose="02020603050405020304" pitchFamily="18" charset="0"/>
                <a:cs typeface="Times New Roman" panose="02020603050405020304" pitchFamily="18" charset="0"/>
              </a:rPr>
              <a:t> cout, sqrt(), abs(), and getline() </a:t>
            </a:r>
            <a:r>
              <a:rPr lang="en-US" sz="2400" dirty="0" err="1">
                <a:latin typeface="Times New Roman" panose="02020603050405020304" pitchFamily="18" charset="0"/>
                <a:cs typeface="Times New Roman" panose="02020603050405020304" pitchFamily="18" charset="0"/>
              </a:rPr>
              <a:t>etc</a:t>
            </a:r>
            <a:r>
              <a:rPr lang="en-US" sz="2400" dirty="0">
                <a:latin typeface="Times New Roman" panose="02020603050405020304" pitchFamily="18" charset="0"/>
                <a:cs typeface="Times New Roman" panose="02020603050405020304" pitchFamily="18" charset="0"/>
              </a:rPr>
              <a:t> are standard library functions. </a:t>
            </a:r>
            <a:endParaRPr lang="en-US" sz="24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These functions are already defined in header files (files with .h extensions are called header files such as</a:t>
            </a:r>
            <a:r>
              <a:rPr lang="en-US" sz="2400" dirty="0" err="1">
                <a:latin typeface="Times New Roman" panose="02020603050405020304" pitchFamily="18" charset="0"/>
                <a:cs typeface="Times New Roman" panose="02020603050405020304" pitchFamily="18" charset="0"/>
              </a:rPr>
              <a:t> </a:t>
            </a:r>
            <a:r>
              <a:rPr lang="en-US" altLang="en-US" sz="2400" dirty="0">
                <a:latin typeface="Times New Roman" panose="02020603050405020304" pitchFamily="18" charset="0"/>
                <a:cs typeface="Times New Roman" panose="02020603050405020304" pitchFamily="18" charset="0"/>
              </a:rPr>
              <a:t>&lt;iostream&gt;, &lt;cmath&gt;, or &lt;string&gt;.</a:t>
            </a:r>
            <a:r>
              <a:rPr lang="en-US" sz="2400" dirty="0">
                <a:latin typeface="Times New Roman" panose="02020603050405020304" pitchFamily="18" charset="0"/>
                <a:cs typeface="Times New Roman" panose="02020603050405020304" pitchFamily="18" charset="0"/>
              </a:rPr>
              <a:t>), so we just call them whenever there is a need to use them.</a:t>
            </a:r>
            <a:endParaRPr lang="en-US" sz="2400" dirty="0">
              <a:latin typeface="Times New Roman" panose="02020603050405020304" pitchFamily="18" charset="0"/>
              <a:cs typeface="Times New Roman" panose="02020603050405020304" pitchFamily="18" charset="0"/>
            </a:endParaRPr>
          </a:p>
          <a:p>
            <a:endParaRPr lang="en-US" sz="2400" b="1"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Note: </a:t>
            </a:r>
            <a:endParaRPr lang="en-US" sz="2400" b="1" dirty="0">
              <a:latin typeface="Times New Roman" panose="02020603050405020304" pitchFamily="18" charset="0"/>
              <a:cs typeface="Times New Roman" panose="02020603050405020304" pitchFamily="18" charset="0"/>
            </a:endParaRPr>
          </a:p>
          <a:p>
            <a:r>
              <a:rPr lang="en-US" altLang="en-US" sz="2400" dirty="0">
                <a:solidFill>
                  <a:srgbClr val="FF0000"/>
                </a:solidFill>
                <a:latin typeface="Times New Roman" panose="02020603050405020304" pitchFamily="18" charset="0"/>
                <a:cs typeface="Times New Roman" panose="02020603050405020304" pitchFamily="18" charset="0"/>
              </a:rPr>
              <a:t>main() is a special user-defined function that must be present in every C++ program.</a:t>
            </a:r>
            <a:endParaRPr lang="en-US" altLang="en-US" sz="2400" dirty="0">
              <a:solidFill>
                <a:srgbClr val="FF0000"/>
              </a:solidFill>
              <a:latin typeface="Times New Roman" panose="02020603050405020304" pitchFamily="18" charset="0"/>
              <a:cs typeface="Times New Roman" panose="02020603050405020304" pitchFamily="18" charset="0"/>
            </a:endParaRPr>
          </a:p>
          <a:p>
            <a:r>
              <a:rPr lang="en-US" altLang="en-US" sz="2400" dirty="0">
                <a:solidFill>
                  <a:srgbClr val="FF0000"/>
                </a:solidFill>
                <a:latin typeface="Times New Roman" panose="02020603050405020304" pitchFamily="18" charset="0"/>
                <a:cs typeface="Times New Roman" panose="02020603050405020304" pitchFamily="18" charset="0"/>
              </a:rPr>
              <a:t>It is the entry point of the program where execution begins. The compiler doesn’t provide it for you, you write it yourself.</a:t>
            </a:r>
            <a:endParaRPr lang="en-US" altLang="en-US" sz="24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935355" y="852805"/>
            <a:ext cx="9681210" cy="4036060"/>
          </a:xfrm>
          <a:prstGeom prst="rect">
            <a:avLst/>
          </a:prstGeom>
          <a:noFill/>
        </p:spPr>
        <p:txBody>
          <a:bodyPr wrap="square" rtlCol="0">
            <a:noAutofit/>
          </a:bodyPr>
          <a:lstStyle/>
          <a:p>
            <a:r>
              <a:rPr lang="en-US" sz="2800" b="1" dirty="0" smtClean="0">
                <a:latin typeface="Times New Roman" panose="02020603050405020304" pitchFamily="18" charset="0"/>
                <a:cs typeface="Times New Roman" panose="02020603050405020304" pitchFamily="18" charset="0"/>
              </a:rPr>
              <a:t>Types </a:t>
            </a:r>
            <a:r>
              <a:rPr lang="en-US" sz="2800" b="1" dirty="0">
                <a:latin typeface="Times New Roman" panose="02020603050405020304" pitchFamily="18" charset="0"/>
                <a:cs typeface="Times New Roman" panose="02020603050405020304" pitchFamily="18" charset="0"/>
              </a:rPr>
              <a:t>of functions</a:t>
            </a:r>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2) User Defined functions</a:t>
            </a:r>
            <a:endParaRPr lang="en-US" sz="2800" b="1"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The functions that we create in a program are known as user defined functions or in other words you can say that a function created by user is known as user defined function.</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Now we will learn how to create user defined functions and how to use them in C++</a:t>
            </a:r>
            <a:endParaRPr lang="en-US" sz="28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1" y="329021"/>
            <a:ext cx="12083144" cy="5692775"/>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User Defined functions </a:t>
            </a:r>
            <a:r>
              <a:rPr lang="en-US" sz="2800" b="1" dirty="0">
                <a:latin typeface="Times New Roman" panose="02020603050405020304" pitchFamily="18" charset="0"/>
                <a:cs typeface="Times New Roman" panose="02020603050405020304" pitchFamily="18" charset="0"/>
              </a:rPr>
              <a:t>: </a:t>
            </a:r>
            <a:r>
              <a:rPr lang="en-US" sz="2800" b="1" dirty="0">
                <a:solidFill>
                  <a:srgbClr val="FF0000"/>
                </a:solidFill>
                <a:latin typeface="Times New Roman" panose="02020603050405020304" pitchFamily="18" charset="0"/>
                <a:cs typeface="Times New Roman" panose="02020603050405020304" pitchFamily="18" charset="0"/>
              </a:rPr>
              <a:t>Syntax of a function</a:t>
            </a:r>
            <a:endParaRPr lang="en-US" sz="2800" b="1" dirty="0" smtClean="0">
              <a:solidFill>
                <a:srgbClr val="FF0000"/>
              </a:solidFill>
              <a:latin typeface="Times New Roman" panose="02020603050405020304" pitchFamily="18" charset="0"/>
              <a:cs typeface="Times New Roman" panose="02020603050405020304" pitchFamily="18" charset="0"/>
            </a:endParaRPr>
          </a:p>
          <a:p>
            <a:r>
              <a:rPr lang="en-US" sz="2400" dirty="0" err="1" smtClean="0">
                <a:latin typeface="Times New Roman" panose="02020603050405020304" pitchFamily="18" charset="0"/>
                <a:cs typeface="Times New Roman" panose="02020603050405020304" pitchFamily="18" charset="0"/>
              </a:rPr>
              <a:t>return_type</a:t>
            </a:r>
            <a:r>
              <a:rPr lang="en-US" sz="2400" dirty="0" smtClean="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function_name</a:t>
            </a:r>
            <a:r>
              <a:rPr lang="en-US" sz="2400" dirty="0">
                <a:latin typeface="Times New Roman" panose="02020603050405020304" pitchFamily="18" charset="0"/>
                <a:cs typeface="Times New Roman" panose="02020603050405020304" pitchFamily="18" charset="0"/>
              </a:rPr>
              <a:t> (argument list)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    Set of statements – Block of code</a:t>
            </a:r>
            <a:endParaRPr lang="en-US" sz="2400" dirty="0">
              <a:latin typeface="Times New Roman" panose="02020603050405020304" pitchFamily="18" charset="0"/>
              <a:cs typeface="Times New Roman" panose="02020603050405020304" pitchFamily="18" charset="0"/>
            </a:endParaRPr>
          </a:p>
          <a:p>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b="1" dirty="0" err="1">
                <a:latin typeface="Times New Roman" panose="02020603050405020304" pitchFamily="18" charset="0"/>
                <a:cs typeface="Times New Roman" panose="02020603050405020304" pitchFamily="18" charset="0"/>
              </a:rPr>
              <a:t>return_type</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Return type can be of </a:t>
            </a:r>
            <a:r>
              <a:rPr lang="en-US" sz="2400" dirty="0">
                <a:solidFill>
                  <a:srgbClr val="0000CC"/>
                </a:solidFill>
                <a:latin typeface="Times New Roman" panose="02020603050405020304" pitchFamily="18" charset="0"/>
                <a:cs typeface="Times New Roman" panose="02020603050405020304" pitchFamily="18" charset="0"/>
              </a:rPr>
              <a:t>any data type such as </a:t>
            </a:r>
            <a:r>
              <a:rPr lang="en-US" sz="2400" dirty="0" err="1">
                <a:solidFill>
                  <a:srgbClr val="0000CC"/>
                </a:solidFill>
                <a:latin typeface="Times New Roman" panose="02020603050405020304" pitchFamily="18" charset="0"/>
                <a:cs typeface="Times New Roman" panose="02020603050405020304" pitchFamily="18" charset="0"/>
              </a:rPr>
              <a:t>int</a:t>
            </a:r>
            <a:r>
              <a:rPr lang="en-US" sz="2400" dirty="0">
                <a:solidFill>
                  <a:srgbClr val="0000CC"/>
                </a:solidFill>
                <a:latin typeface="Times New Roman" panose="02020603050405020304" pitchFamily="18" charset="0"/>
                <a:cs typeface="Times New Roman" panose="02020603050405020304" pitchFamily="18" charset="0"/>
              </a:rPr>
              <a:t>, double, char, void, short</a:t>
            </a:r>
            <a:r>
              <a:rPr lang="en-US" sz="2400" dirty="0">
                <a:latin typeface="Times New Roman" panose="02020603050405020304" pitchFamily="18" charset="0"/>
                <a:cs typeface="Times New Roman" panose="02020603050405020304" pitchFamily="18" charset="0"/>
              </a:rPr>
              <a:t> etc.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err="1">
                <a:latin typeface="Times New Roman" panose="02020603050405020304" pitchFamily="18" charset="0"/>
                <a:cs typeface="Times New Roman" panose="02020603050405020304" pitchFamily="18" charset="0"/>
              </a:rPr>
              <a:t>function_name</a:t>
            </a:r>
            <a:r>
              <a:rPr lang="en-US" sz="2400" b="1" dirty="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 </a:t>
            </a:r>
            <a:r>
              <a:rPr lang="en-US" sz="2400" dirty="0">
                <a:solidFill>
                  <a:srgbClr val="0000CC"/>
                </a:solidFill>
                <a:latin typeface="Times New Roman" panose="02020603050405020304" pitchFamily="18" charset="0"/>
                <a:cs typeface="Times New Roman" panose="02020603050405020304" pitchFamily="18" charset="0"/>
              </a:rPr>
              <a:t>It can be anything</a:t>
            </a:r>
            <a:r>
              <a:rPr lang="en-US" sz="2400" dirty="0">
                <a:latin typeface="Times New Roman" panose="02020603050405020304" pitchFamily="18" charset="0"/>
                <a:cs typeface="Times New Roman" panose="02020603050405020304" pitchFamily="18" charset="0"/>
              </a:rPr>
              <a:t>, however it is advised to have a meaningful name for the functions so that it would be easy to understand the purpose of function just by seeing it’s name.</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a:latin typeface="Times New Roman" panose="02020603050405020304" pitchFamily="18" charset="0"/>
                <a:cs typeface="Times New Roman" panose="02020603050405020304" pitchFamily="18" charset="0"/>
              </a:rPr>
              <a:t>argument list:</a:t>
            </a:r>
            <a:r>
              <a:rPr lang="en-US" sz="2400" dirty="0">
                <a:latin typeface="Times New Roman" panose="02020603050405020304" pitchFamily="18" charset="0"/>
                <a:cs typeface="Times New Roman" panose="02020603050405020304" pitchFamily="18" charset="0"/>
              </a:rPr>
              <a:t> Argument list contains </a:t>
            </a:r>
            <a:r>
              <a:rPr lang="en-US" sz="2400" dirty="0">
                <a:solidFill>
                  <a:srgbClr val="0000CC"/>
                </a:solidFill>
                <a:latin typeface="Times New Roman" panose="02020603050405020304" pitchFamily="18" charset="0"/>
                <a:cs typeface="Times New Roman" panose="02020603050405020304" pitchFamily="18" charset="0"/>
              </a:rPr>
              <a:t>variables names along with their data types.</a:t>
            </a:r>
            <a:r>
              <a:rPr lang="en-US" sz="2400" dirty="0">
                <a:latin typeface="Times New Roman" panose="02020603050405020304" pitchFamily="18" charset="0"/>
                <a:cs typeface="Times New Roman" panose="02020603050405020304" pitchFamily="18" charset="0"/>
              </a:rPr>
              <a:t> These arguments are kind of inputs for the function. For example – A function which is used to add two integer variables, will be having two integer argument</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r>
              <a:rPr lang="en-US" sz="2400" b="1" dirty="0" smtClean="0">
                <a:latin typeface="Times New Roman" panose="02020603050405020304" pitchFamily="18" charset="0"/>
                <a:cs typeface="Times New Roman" panose="02020603050405020304" pitchFamily="18" charset="0"/>
              </a:rPr>
              <a:t>Block </a:t>
            </a:r>
            <a:r>
              <a:rPr lang="en-US" sz="2400" b="1" dirty="0">
                <a:latin typeface="Times New Roman" panose="02020603050405020304" pitchFamily="18" charset="0"/>
                <a:cs typeface="Times New Roman" panose="02020603050405020304" pitchFamily="18" charset="0"/>
              </a:rPr>
              <a:t>of code:</a:t>
            </a:r>
            <a:r>
              <a:rPr lang="en-US" sz="2400" dirty="0">
                <a:latin typeface="Times New Roman" panose="02020603050405020304" pitchFamily="18" charset="0"/>
                <a:cs typeface="Times New Roman" panose="02020603050405020304" pitchFamily="18" charset="0"/>
              </a:rPr>
              <a:t> </a:t>
            </a:r>
            <a:r>
              <a:rPr lang="en-US" sz="2400" dirty="0">
                <a:solidFill>
                  <a:srgbClr val="0000CC"/>
                </a:solidFill>
                <a:latin typeface="Times New Roman" panose="02020603050405020304" pitchFamily="18" charset="0"/>
                <a:cs typeface="Times New Roman" panose="02020603050405020304" pitchFamily="18" charset="0"/>
              </a:rPr>
              <a:t>Set of C statements, </a:t>
            </a:r>
            <a:r>
              <a:rPr lang="en-US" sz="2400" dirty="0">
                <a:latin typeface="Times New Roman" panose="02020603050405020304" pitchFamily="18" charset="0"/>
                <a:cs typeface="Times New Roman" panose="02020603050405020304" pitchFamily="18" charset="0"/>
              </a:rPr>
              <a:t>which will be executed whenever a call will be made to the function.</a:t>
            </a:r>
            <a:endParaRPr lang="en-US" sz="24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Example </a:t>
            </a:r>
            <a:endParaRPr lang="en-IN" dirty="0"/>
          </a:p>
        </p:txBody>
      </p:sp>
      <p:sp>
        <p:nvSpPr>
          <p:cNvPr id="5" name="Content Placeholder 4"/>
          <p:cNvSpPr>
            <a:spLocks noGrp="1"/>
          </p:cNvSpPr>
          <p:nvPr>
            <p:ph idx="1"/>
          </p:nvPr>
        </p:nvSpPr>
        <p:spPr/>
        <p:txBody>
          <a:bodyPr/>
          <a:lstStyle/>
          <a:p>
            <a:endParaRPr lang="en-IN"/>
          </a:p>
        </p:txBody>
      </p:sp>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pic>
        <p:nvPicPr>
          <p:cNvPr id="2050" name="Picture 2" descr="Function Declaration"/>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773360" y="2105148"/>
            <a:ext cx="6585194" cy="394425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Function Declaration and </a:t>
            </a:r>
            <a:r>
              <a:rPr lang="en-IN" dirty="0" smtClean="0"/>
              <a:t>Definition</a:t>
            </a:r>
            <a:endParaRPr lang="en-IN" dirty="0"/>
          </a:p>
        </p:txBody>
      </p:sp>
      <p:sp>
        <p:nvSpPr>
          <p:cNvPr id="5" name="Content Placeholder 4"/>
          <p:cNvSpPr>
            <a:spLocks noGrp="1"/>
          </p:cNvSpPr>
          <p:nvPr>
            <p:ph idx="1"/>
          </p:nvPr>
        </p:nvSpPr>
        <p:spPr>
          <a:xfrm>
            <a:off x="715108" y="1781908"/>
            <a:ext cx="6605222" cy="4126523"/>
          </a:xfrm>
        </p:spPr>
        <p:txBody>
          <a:bodyPr>
            <a:normAutofit fontScale="92500" lnSpcReduction="10000"/>
          </a:bodyPr>
          <a:lstStyle/>
          <a:p>
            <a:r>
              <a:rPr lang="en-US" dirty="0"/>
              <a:t>A function consist of 3</a:t>
            </a:r>
            <a:r>
              <a:rPr lang="en-US" dirty="0" smtClean="0"/>
              <a:t> </a:t>
            </a:r>
            <a:r>
              <a:rPr lang="en-US" dirty="0"/>
              <a:t>parts</a:t>
            </a:r>
            <a:r>
              <a:rPr lang="en-US" dirty="0" smtClean="0"/>
              <a:t>:</a:t>
            </a:r>
            <a:endParaRPr lang="en-US" dirty="0" smtClean="0"/>
          </a:p>
          <a:p>
            <a:r>
              <a:rPr lang="en-US" b="1" dirty="0" smtClean="0"/>
              <a:t>Declaration</a:t>
            </a:r>
            <a:r>
              <a:rPr lang="en-US" b="1" dirty="0"/>
              <a:t>:</a:t>
            </a:r>
            <a:r>
              <a:rPr lang="en-US" dirty="0"/>
              <a:t> </a:t>
            </a:r>
            <a:endParaRPr lang="en-US" dirty="0" smtClean="0"/>
          </a:p>
          <a:p>
            <a:r>
              <a:rPr lang="en-US" dirty="0" smtClean="0"/>
              <a:t>the </a:t>
            </a:r>
            <a:r>
              <a:rPr lang="en-US" dirty="0"/>
              <a:t>function's name, return type, and parameters (if any)</a:t>
            </a:r>
            <a:endParaRPr lang="en-US" dirty="0"/>
          </a:p>
          <a:p>
            <a:r>
              <a:rPr lang="en-US" b="1" dirty="0"/>
              <a:t>Definition:</a:t>
            </a:r>
            <a:r>
              <a:rPr lang="en-US" dirty="0"/>
              <a:t> </a:t>
            </a:r>
            <a:endParaRPr lang="en-US" dirty="0" smtClean="0"/>
          </a:p>
          <a:p>
            <a:r>
              <a:rPr lang="en-US" dirty="0" smtClean="0"/>
              <a:t>the </a:t>
            </a:r>
            <a:r>
              <a:rPr lang="en-US" dirty="0"/>
              <a:t>body of the function (code to be executed</a:t>
            </a:r>
            <a:r>
              <a:rPr lang="en-US" dirty="0" smtClean="0"/>
              <a:t>)</a:t>
            </a:r>
            <a:endParaRPr lang="en-US" dirty="0" smtClean="0"/>
          </a:p>
          <a:p>
            <a:r>
              <a:rPr lang="en-US" b="1" dirty="0"/>
              <a:t>Function </a:t>
            </a:r>
            <a:r>
              <a:rPr lang="en-US" b="1" dirty="0" smtClean="0"/>
              <a:t>Calls</a:t>
            </a:r>
            <a:r>
              <a:rPr lang="en-US" dirty="0" smtClean="0"/>
              <a:t>:</a:t>
            </a:r>
            <a:endParaRPr lang="en-US" dirty="0" smtClean="0"/>
          </a:p>
          <a:p>
            <a:r>
              <a:rPr lang="en-US" dirty="0"/>
              <a:t>A function call is a statement that instructs the compiler to execute the function.</a:t>
            </a:r>
            <a:endParaRPr lang="en-US" dirty="0"/>
          </a:p>
        </p:txBody>
      </p:sp>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b="24007"/>
          <a:stretch>
            <a:fillRect/>
          </a:stretch>
        </p:blipFill>
        <p:spPr bwMode="auto">
          <a:xfrm>
            <a:off x="7538085" y="1955165"/>
            <a:ext cx="4273550" cy="293878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 name="Picture 5"/>
          <p:cNvPicPr>
            <a:picLocks noChangeAspect="1"/>
          </p:cNvPicPr>
          <p:nvPr/>
        </p:nvPicPr>
        <p:blipFill>
          <a:blip r:embed="rId2"/>
          <a:stretch>
            <a:fillRect/>
          </a:stretch>
        </p:blipFill>
        <p:spPr>
          <a:xfrm>
            <a:off x="7686040" y="5158105"/>
            <a:ext cx="3667760" cy="881380"/>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IN" b="1"/>
              <a:t>How function works in c++</a:t>
            </a:r>
            <a:endParaRPr lang="en-US" altLang="en-IN" b="1"/>
          </a:p>
        </p:txBody>
      </p:sp>
      <p:pic>
        <p:nvPicPr>
          <p:cNvPr id="6" name="Content Placeholder 5"/>
          <p:cNvPicPr>
            <a:picLocks noChangeAspect="1"/>
          </p:cNvPicPr>
          <p:nvPr>
            <p:ph idx="1"/>
          </p:nvPr>
        </p:nvPicPr>
        <p:blipFill>
          <a:blip r:embed="rId1"/>
          <a:stretch>
            <a:fillRect/>
          </a:stretch>
        </p:blipFill>
        <p:spPr>
          <a:xfrm>
            <a:off x="2743200" y="1691005"/>
            <a:ext cx="7124065" cy="4343400"/>
          </a:xfrm>
          <a:prstGeom prst="rect">
            <a:avLst/>
          </a:prstGeom>
        </p:spPr>
      </p:pic>
      <p:sp>
        <p:nvSpPr>
          <p:cNvPr id="4" name="Date Placeholder 3"/>
          <p:cNvSpPr>
            <a:spLocks noGrp="1"/>
          </p:cNvSpPr>
          <p:nvPr>
            <p:ph type="dt" sz="half" idx="10"/>
          </p:nvPr>
        </p:nvSpPr>
        <p:spPr/>
        <p:txBody>
          <a:bodyPr/>
          <a:lstStyle/>
          <a:p>
            <a:fld id="{9BA6CA6F-5997-4083-B982-9DC6D9078DD8}" type="datetime1">
              <a:rPr lang="en-US" smtClean="0"/>
            </a:fld>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5755422"/>
          </a:xfrm>
          <a:prstGeom prst="rect">
            <a:avLst/>
          </a:prstGeom>
          <a:noFill/>
        </p:spPr>
        <p:txBody>
          <a:bodyPr wrap="square" rtlCol="0">
            <a:spAutoFit/>
          </a:bodyPr>
          <a:lstStyle/>
          <a:p>
            <a:r>
              <a:rPr lang="en-US" sz="2800" dirty="0" smtClean="0">
                <a:latin typeface="Times New Roman" panose="02020603050405020304" pitchFamily="18" charset="0"/>
                <a:cs typeface="Times New Roman" panose="02020603050405020304" pitchFamily="18" charset="0"/>
              </a:rPr>
              <a:t>Lets </a:t>
            </a:r>
            <a:r>
              <a:rPr lang="en-US" sz="2800" dirty="0">
                <a:latin typeface="Times New Roman" panose="02020603050405020304" pitchFamily="18" charset="0"/>
                <a:cs typeface="Times New Roman" panose="02020603050405020304" pitchFamily="18" charset="0"/>
              </a:rPr>
              <a:t>take an example – </a:t>
            </a:r>
            <a:r>
              <a:rPr lang="en-US" sz="2800" b="1" dirty="0">
                <a:latin typeface="Times New Roman" panose="02020603050405020304" pitchFamily="18" charset="0"/>
                <a:cs typeface="Times New Roman" panose="02020603050405020304" pitchFamily="18" charset="0"/>
              </a:rPr>
              <a:t>Suppose you want to create a function to add two integer variables</a:t>
            </a:r>
            <a:r>
              <a:rPr lang="en-US" sz="2800" b="1" dirty="0" smtClean="0">
                <a:latin typeface="Times New Roman" panose="02020603050405020304" pitchFamily="18" charset="0"/>
                <a:cs typeface="Times New Roman" panose="02020603050405020304" pitchFamily="18" charset="0"/>
              </a:rPr>
              <a:t>.</a:t>
            </a:r>
            <a:endParaRPr lang="en-US" sz="28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example lets take the name addition for this function</a:t>
            </a:r>
            <a:r>
              <a:rPr lang="en-US" sz="2400" dirty="0" smtClean="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return_type</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addition</a:t>
            </a:r>
            <a:r>
              <a:rPr lang="en-US" sz="2400" dirty="0">
                <a:latin typeface="Times New Roman" panose="02020603050405020304" pitchFamily="18" charset="0"/>
                <a:cs typeface="Times New Roman" panose="02020603050405020304" pitchFamily="18" charset="0"/>
              </a:rPr>
              <a:t>(argument list)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This function addition adds two integer variables, which means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need two </a:t>
            </a:r>
            <a:r>
              <a:rPr lang="en-US" sz="2400" dirty="0">
                <a:solidFill>
                  <a:srgbClr val="0000CC"/>
                </a:solidFill>
                <a:latin typeface="Times New Roman" panose="02020603050405020304" pitchFamily="18" charset="0"/>
                <a:cs typeface="Times New Roman" panose="02020603050405020304" pitchFamily="18" charset="0"/>
              </a:rPr>
              <a:t>integer variable as input</a:t>
            </a:r>
            <a:r>
              <a:rPr lang="en-US" sz="2400" dirty="0">
                <a:latin typeface="Times New Roman" panose="02020603050405020304" pitchFamily="18" charset="0"/>
                <a:cs typeface="Times New Roman" panose="02020603050405020304" pitchFamily="18" charset="0"/>
              </a:rPr>
              <a:t>, lets provide two integer parameters in the function signature. The function signature would be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dirty="0" err="1">
                <a:latin typeface="Times New Roman" panose="02020603050405020304" pitchFamily="18" charset="0"/>
                <a:cs typeface="Times New Roman" panose="02020603050405020304" pitchFamily="18" charset="0"/>
              </a:rPr>
              <a:t>return_type</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addition</a:t>
            </a:r>
            <a:r>
              <a:rPr lang="en-US" sz="2400" dirty="0">
                <a:latin typeface="Times New Roman" panose="02020603050405020304" pitchFamily="18" charset="0"/>
                <a:cs typeface="Times New Roman" panose="02020603050405020304" pitchFamily="18" charset="0"/>
              </a:rPr>
              <a:t>(</a:t>
            </a:r>
            <a:r>
              <a:rPr lang="en-US" sz="2400" dirty="0" err="1">
                <a:solidFill>
                  <a:srgbClr val="0000CC"/>
                </a:solidFill>
                <a:latin typeface="Times New Roman" panose="02020603050405020304" pitchFamily="18" charset="0"/>
                <a:cs typeface="Times New Roman" panose="02020603050405020304" pitchFamily="18" charset="0"/>
              </a:rPr>
              <a:t>int</a:t>
            </a:r>
            <a:r>
              <a:rPr lang="en-US" sz="2400" dirty="0">
                <a:solidFill>
                  <a:srgbClr val="0000CC"/>
                </a:solidFill>
                <a:latin typeface="Times New Roman" panose="02020603050405020304" pitchFamily="18" charset="0"/>
                <a:cs typeface="Times New Roman" panose="02020603050405020304" pitchFamily="18" charset="0"/>
              </a:rPr>
              <a:t> num1, </a:t>
            </a:r>
            <a:r>
              <a:rPr lang="en-US" sz="2400" dirty="0" err="1">
                <a:solidFill>
                  <a:srgbClr val="0000CC"/>
                </a:solidFill>
                <a:latin typeface="Times New Roman" panose="02020603050405020304" pitchFamily="18" charset="0"/>
                <a:cs typeface="Times New Roman" panose="02020603050405020304" pitchFamily="18" charset="0"/>
              </a:rPr>
              <a:t>int</a:t>
            </a:r>
            <a:r>
              <a:rPr lang="en-US" sz="2400" dirty="0">
                <a:solidFill>
                  <a:srgbClr val="0000CC"/>
                </a:solidFill>
                <a:latin typeface="Times New Roman" panose="02020603050405020304" pitchFamily="18" charset="0"/>
                <a:cs typeface="Times New Roman" panose="02020603050405020304" pitchFamily="18" charset="0"/>
              </a:rPr>
              <a:t> num2</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The result of the sum of two integers would be integer only. Hence function should return an integer value –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got </a:t>
            </a:r>
            <a:r>
              <a:rPr lang="en-US" sz="2400" dirty="0" smtClean="0">
                <a:latin typeface="Times New Roman" panose="02020603050405020304" pitchFamily="18" charset="0"/>
                <a:cs typeface="Times New Roman" panose="02020603050405020304" pitchFamily="18" charset="0"/>
              </a:rPr>
              <a:t>our </a:t>
            </a:r>
            <a:r>
              <a:rPr lang="en-US" sz="2400" b="1" dirty="0">
                <a:solidFill>
                  <a:srgbClr val="00B050"/>
                </a:solidFill>
                <a:latin typeface="Times New Roman" panose="02020603050405020304" pitchFamily="18" charset="0"/>
                <a:cs typeface="Times New Roman" panose="02020603050405020304" pitchFamily="18" charset="0"/>
              </a:rPr>
              <a:t>return type </a:t>
            </a:r>
            <a:r>
              <a:rPr lang="en-US" sz="2400" dirty="0">
                <a:latin typeface="Times New Roman" panose="02020603050405020304" pitchFamily="18" charset="0"/>
                <a:cs typeface="Times New Roman" panose="02020603050405020304" pitchFamily="18" charset="0"/>
              </a:rPr>
              <a:t>– It would be integer –</a:t>
            </a:r>
            <a:endParaRPr lang="en-US" sz="2400" dirty="0">
              <a:latin typeface="Times New Roman" panose="02020603050405020304" pitchFamily="18" charset="0"/>
              <a:cs typeface="Times New Roman" panose="02020603050405020304" pitchFamily="18" charset="0"/>
            </a:endParaRPr>
          </a:p>
          <a:p>
            <a:endParaRPr lang="en-US" sz="2400" dirty="0">
              <a:latin typeface="Times New Roman" panose="02020603050405020304" pitchFamily="18" charset="0"/>
              <a:cs typeface="Times New Roman" panose="02020603050405020304" pitchFamily="18" charset="0"/>
            </a:endParaRPr>
          </a:p>
          <a:p>
            <a:r>
              <a:rPr lang="en-US" sz="2400" b="1" dirty="0" err="1">
                <a:solidFill>
                  <a:srgbClr val="00B050"/>
                </a:solidFill>
                <a:latin typeface="Times New Roman" panose="02020603050405020304" pitchFamily="18" charset="0"/>
                <a:cs typeface="Times New Roman" panose="02020603050405020304" pitchFamily="18" charset="0"/>
              </a:rPr>
              <a:t>int</a:t>
            </a:r>
            <a:r>
              <a:rPr lang="en-US" sz="2400" dirty="0">
                <a:latin typeface="Times New Roman" panose="02020603050405020304" pitchFamily="18" charset="0"/>
                <a:cs typeface="Times New Roman" panose="02020603050405020304" pitchFamily="18" charset="0"/>
              </a:rPr>
              <a:t> </a:t>
            </a:r>
            <a:r>
              <a:rPr lang="en-US" sz="2400" dirty="0">
                <a:solidFill>
                  <a:srgbClr val="FF0000"/>
                </a:solidFill>
                <a:latin typeface="Times New Roman" panose="02020603050405020304" pitchFamily="18" charset="0"/>
                <a:cs typeface="Times New Roman" panose="02020603050405020304" pitchFamily="18" charset="0"/>
              </a:rPr>
              <a:t>addition</a:t>
            </a:r>
            <a:r>
              <a:rPr lang="en-US" sz="2400" dirty="0">
                <a:latin typeface="Times New Roman" panose="02020603050405020304" pitchFamily="18" charset="0"/>
                <a:cs typeface="Times New Roman" panose="02020603050405020304" pitchFamily="18" charset="0"/>
              </a:rPr>
              <a:t>(</a:t>
            </a:r>
            <a:r>
              <a:rPr lang="en-US" sz="2400" dirty="0" err="1">
                <a:solidFill>
                  <a:srgbClr val="0000CC"/>
                </a:solidFill>
                <a:latin typeface="Times New Roman" panose="02020603050405020304" pitchFamily="18" charset="0"/>
                <a:cs typeface="Times New Roman" panose="02020603050405020304" pitchFamily="18" charset="0"/>
              </a:rPr>
              <a:t>int</a:t>
            </a:r>
            <a:r>
              <a:rPr lang="en-US" sz="2400" dirty="0">
                <a:solidFill>
                  <a:srgbClr val="0000CC"/>
                </a:solidFill>
                <a:latin typeface="Times New Roman" panose="02020603050405020304" pitchFamily="18" charset="0"/>
                <a:cs typeface="Times New Roman" panose="02020603050405020304" pitchFamily="18" charset="0"/>
              </a:rPr>
              <a:t> num1, </a:t>
            </a:r>
            <a:r>
              <a:rPr lang="en-US" sz="2400" dirty="0" err="1">
                <a:solidFill>
                  <a:srgbClr val="0000CC"/>
                </a:solidFill>
                <a:latin typeface="Times New Roman" panose="02020603050405020304" pitchFamily="18" charset="0"/>
                <a:cs typeface="Times New Roman" panose="02020603050405020304" pitchFamily="18" charset="0"/>
              </a:rPr>
              <a:t>int</a:t>
            </a:r>
            <a:r>
              <a:rPr lang="en-US" sz="2400" dirty="0">
                <a:solidFill>
                  <a:srgbClr val="0000CC"/>
                </a:solidFill>
                <a:latin typeface="Times New Roman" panose="02020603050405020304" pitchFamily="18" charset="0"/>
                <a:cs typeface="Times New Roman" panose="02020603050405020304" pitchFamily="18" charset="0"/>
              </a:rPr>
              <a:t> num2</a:t>
            </a:r>
            <a:r>
              <a:rPr lang="en-US" sz="2400" dirty="0">
                <a:latin typeface="Times New Roman" panose="02020603050405020304" pitchFamily="18" charset="0"/>
                <a:cs typeface="Times New Roman" panose="02020603050405020304" pitchFamily="18" charset="0"/>
              </a:rPr>
              <a: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So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got </a:t>
            </a:r>
            <a:r>
              <a:rPr lang="en-US" sz="2400" dirty="0" smtClean="0">
                <a:latin typeface="Times New Roman" panose="02020603050405020304" pitchFamily="18" charset="0"/>
                <a:cs typeface="Times New Roman" panose="02020603050405020304" pitchFamily="18" charset="0"/>
              </a:rPr>
              <a:t>our </a:t>
            </a:r>
            <a:r>
              <a:rPr lang="en-US" sz="2400" dirty="0">
                <a:latin typeface="Times New Roman" panose="02020603050405020304" pitchFamily="18" charset="0"/>
                <a:cs typeface="Times New Roman" panose="02020603050405020304" pitchFamily="18" charset="0"/>
              </a:rPr>
              <a:t>function prototype or signature. Now </a:t>
            </a:r>
            <a:r>
              <a:rPr lang="en-US" sz="2400" dirty="0" smtClean="0">
                <a:latin typeface="Times New Roman" panose="02020603050405020304" pitchFamily="18" charset="0"/>
                <a:cs typeface="Times New Roman" panose="02020603050405020304" pitchFamily="18" charset="0"/>
              </a:rPr>
              <a:t>we </a:t>
            </a:r>
            <a:r>
              <a:rPr lang="en-US" sz="2400" dirty="0">
                <a:latin typeface="Times New Roman" panose="02020603050405020304" pitchFamily="18" charset="0"/>
                <a:cs typeface="Times New Roman" panose="02020603050405020304" pitchFamily="18" charset="0"/>
              </a:rPr>
              <a:t>can implement the logic in C program like this:</a:t>
            </a:r>
            <a:endParaRPr lang="en-US" sz="24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 </a:t>
            </a:r>
            <a:endParaRPr lang="en-IN" dirty="0"/>
          </a:p>
        </p:txBody>
      </p:sp>
      <p:sp>
        <p:nvSpPr>
          <p:cNvPr id="3" name="Content Placeholder 2"/>
          <p:cNvSpPr>
            <a:spLocks noGrp="1"/>
          </p:cNvSpPr>
          <p:nvPr>
            <p:ph idx="1"/>
          </p:nvPr>
        </p:nvSpPr>
        <p:spPr/>
        <p:txBody>
          <a:bodyPr/>
          <a:lstStyle/>
          <a:p>
            <a:r>
              <a:rPr lang="en-US" dirty="0">
                <a:sym typeface="+mn-ea"/>
              </a:rPr>
              <a:t>double</a:t>
            </a:r>
            <a:r>
              <a:rPr lang="en-US" dirty="0" smtClean="0"/>
              <a:t> A</a:t>
            </a:r>
            <a:r>
              <a:rPr lang="en-US" dirty="0" err="1" smtClean="0"/>
              <a:t>reaR</a:t>
            </a:r>
            <a:r>
              <a:rPr lang="en-US" dirty="0" smtClean="0"/>
              <a:t>(</a:t>
            </a:r>
            <a:r>
              <a:rPr lang="en-US" dirty="0">
                <a:sym typeface="+mn-ea"/>
              </a:rPr>
              <a:t>double</a:t>
            </a:r>
            <a:r>
              <a:rPr lang="en-US" dirty="0" err="1" smtClean="0"/>
              <a:t>,</a:t>
            </a:r>
            <a:r>
              <a:rPr lang="en-US" dirty="0">
                <a:sym typeface="+mn-ea"/>
              </a:rPr>
              <a:t>double</a:t>
            </a:r>
            <a:r>
              <a:rPr lang="en-US" dirty="0" smtClean="0"/>
              <a:t>);// function declaration</a:t>
            </a:r>
            <a:endParaRPr lang="en-US" dirty="0" smtClean="0"/>
          </a:p>
          <a:p>
            <a:endParaRPr lang="en-US" dirty="0"/>
          </a:p>
          <a:p>
            <a:r>
              <a:rPr lang="en-US" dirty="0"/>
              <a:t>double A</a:t>
            </a:r>
            <a:r>
              <a:rPr lang="en-US" dirty="0" err="1" smtClean="0"/>
              <a:t>reaR</a:t>
            </a:r>
            <a:r>
              <a:rPr lang="en-US" dirty="0" smtClean="0"/>
              <a:t>(</a:t>
            </a:r>
            <a:r>
              <a:rPr lang="en-US" dirty="0">
                <a:sym typeface="+mn-ea"/>
              </a:rPr>
              <a:t>double </a:t>
            </a:r>
            <a:r>
              <a:rPr lang="en-US" dirty="0" err="1" smtClean="0"/>
              <a:t>x,</a:t>
            </a:r>
            <a:r>
              <a:rPr lang="en-US" dirty="0">
                <a:sym typeface="+mn-ea"/>
              </a:rPr>
              <a:t>double</a:t>
            </a:r>
            <a:r>
              <a:rPr lang="en-US" dirty="0" smtClean="0"/>
              <a:t> y);//function definition</a:t>
            </a:r>
            <a:endParaRPr lang="en-US" dirty="0" smtClean="0"/>
          </a:p>
          <a:p>
            <a:endParaRPr lang="en-US" dirty="0"/>
          </a:p>
          <a:p>
            <a:r>
              <a:rPr lang="en-US" dirty="0" err="1" smtClean="0"/>
              <a:t>AreaR</a:t>
            </a:r>
            <a:r>
              <a:rPr lang="en-US" dirty="0" smtClean="0"/>
              <a:t>(</a:t>
            </a:r>
            <a:r>
              <a:rPr lang="en-US" dirty="0" err="1" smtClean="0"/>
              <a:t>a,b</a:t>
            </a:r>
            <a:r>
              <a:rPr lang="en-US" dirty="0" smtClean="0"/>
              <a:t>);//function calling</a:t>
            </a:r>
            <a:endParaRPr lang="en-IN" dirty="0"/>
          </a:p>
        </p:txBody>
      </p:sp>
      <p:sp>
        <p:nvSpPr>
          <p:cNvPr id="4" name="Date Placeholder 3"/>
          <p:cNvSpPr>
            <a:spLocks noGrp="1"/>
          </p:cNvSpPr>
          <p:nvPr>
            <p:ph type="dt" sz="half" idx="10"/>
          </p:nvPr>
        </p:nvSpPr>
        <p:spPr/>
        <p:txBody>
          <a:bodyPr/>
          <a:lstStyle/>
          <a:p>
            <a:fld id="{9BA6CA6F-5997-4083-B982-9DC6D9078DD8}"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a:xfrm>
            <a:off x="615950" y="135890"/>
            <a:ext cx="10737850" cy="6041390"/>
          </a:xfrm>
        </p:spPr>
        <p:txBody>
          <a:bodyPr>
            <a:noAutofit/>
          </a:bodyPr>
          <a:p>
            <a:pPr marL="0" indent="0">
              <a:buNone/>
            </a:pPr>
            <a:r>
              <a:rPr lang="en-US" altLang="en-US" sz="1800"/>
              <a:t>#include &lt;iostream&gt; </a:t>
            </a:r>
            <a:endParaRPr lang="en-US" altLang="en-US" sz="1800">
              <a:solidFill>
                <a:schemeClr val="accent6"/>
              </a:solidFill>
            </a:endParaRPr>
          </a:p>
          <a:p>
            <a:pPr marL="0" indent="0">
              <a:buNone/>
            </a:pPr>
            <a:r>
              <a:rPr lang="en-US" altLang="en-US" sz="1800"/>
              <a:t>using namespace std;</a:t>
            </a:r>
            <a:endParaRPr lang="en-US" altLang="en-US" sz="1800"/>
          </a:p>
          <a:p>
            <a:pPr marL="0" indent="0">
              <a:buNone/>
            </a:pPr>
            <a:r>
              <a:rPr lang="en-US" altLang="en-US" sz="1800"/>
              <a:t>double AreaR(double length, double width) {</a:t>
            </a:r>
            <a:endParaRPr lang="en-US" altLang="en-US" sz="1800"/>
          </a:p>
          <a:p>
            <a:pPr marL="0" indent="0">
              <a:buNone/>
            </a:pPr>
            <a:r>
              <a:rPr lang="en-US" altLang="en-US" sz="1800"/>
              <a:t>    return length * width;</a:t>
            </a:r>
            <a:endParaRPr lang="en-US" altLang="en-US" sz="1800"/>
          </a:p>
          <a:p>
            <a:pPr marL="0" indent="0">
              <a:buNone/>
            </a:pPr>
            <a:r>
              <a:rPr lang="en-US" altLang="en-US" sz="1800"/>
              <a:t>}</a:t>
            </a:r>
            <a:endParaRPr lang="en-US" altLang="en-US" sz="1800"/>
          </a:p>
          <a:p>
            <a:pPr marL="0" indent="0">
              <a:buNone/>
            </a:pPr>
            <a:r>
              <a:rPr lang="en-US" altLang="en-US" sz="1800"/>
              <a:t>int main() {</a:t>
            </a:r>
            <a:endParaRPr lang="en-US" altLang="en-US" sz="1800"/>
          </a:p>
          <a:p>
            <a:pPr marL="0" indent="0">
              <a:buNone/>
            </a:pPr>
            <a:r>
              <a:rPr lang="en-US" altLang="en-US" sz="1800"/>
              <a:t>    double rectLength, rectWidth;</a:t>
            </a:r>
            <a:endParaRPr lang="en-US" altLang="en-US" sz="1800"/>
          </a:p>
          <a:p>
            <a:pPr marL="0" indent="0">
              <a:buNone/>
            </a:pPr>
            <a:r>
              <a:rPr lang="en-US" altLang="en-US" sz="1800">
                <a:solidFill>
                  <a:schemeClr val="accent6"/>
                </a:solidFill>
              </a:rPr>
              <a:t>   </a:t>
            </a:r>
            <a:r>
              <a:rPr lang="en-US" altLang="en-US" sz="1800"/>
              <a:t> cout &lt;&lt; "Enter the length of the rectangle: "; </a:t>
            </a:r>
            <a:r>
              <a:rPr lang="en-US" altLang="en-US" sz="1800">
                <a:solidFill>
                  <a:schemeClr val="accent6"/>
                </a:solidFill>
                <a:sym typeface="+mn-ea"/>
              </a:rPr>
              <a:t> // Prompt the user for input</a:t>
            </a:r>
            <a:endParaRPr lang="en-US" altLang="en-US" sz="1800">
              <a:solidFill>
                <a:schemeClr val="accent6"/>
              </a:solidFill>
            </a:endParaRPr>
          </a:p>
          <a:p>
            <a:pPr marL="0" indent="0">
              <a:buNone/>
            </a:pPr>
            <a:r>
              <a:rPr lang="en-US" altLang="en-US" sz="1800"/>
              <a:t>    cin &gt;&gt; rectLength;</a:t>
            </a:r>
            <a:endParaRPr lang="en-US" altLang="en-US" sz="1800"/>
          </a:p>
          <a:p>
            <a:pPr marL="0" indent="0">
              <a:buNone/>
            </a:pPr>
            <a:r>
              <a:rPr lang="en-US" altLang="en-US" sz="1800"/>
              <a:t>   cout &lt;&lt; "Enter the width of the rectangle: ";</a:t>
            </a:r>
            <a:endParaRPr lang="en-US" altLang="en-US" sz="1800"/>
          </a:p>
          <a:p>
            <a:pPr marL="0" indent="0">
              <a:buNone/>
            </a:pPr>
            <a:r>
              <a:rPr lang="en-US" altLang="en-US" sz="1800"/>
              <a:t>   cin &gt;&gt; rectWidth;</a:t>
            </a:r>
            <a:endParaRPr lang="en-US" altLang="en-US" sz="1800"/>
          </a:p>
          <a:p>
            <a:pPr marL="0" indent="0">
              <a:buNone/>
            </a:pPr>
            <a:r>
              <a:rPr lang="en-US" altLang="en-US" sz="1800"/>
              <a:t>       double area = </a:t>
            </a:r>
            <a:r>
              <a:rPr lang="en-US" altLang="en-US" sz="1800">
                <a:sym typeface="+mn-ea"/>
              </a:rPr>
              <a:t>AreaR</a:t>
            </a:r>
            <a:r>
              <a:rPr lang="en-US" altLang="en-US" sz="1800"/>
              <a:t>(rectLength, rectWidth);</a:t>
            </a:r>
            <a:r>
              <a:rPr lang="en-US" altLang="en-US" sz="1800">
                <a:sym typeface="+mn-ea"/>
              </a:rPr>
              <a:t> </a:t>
            </a:r>
            <a:r>
              <a:rPr lang="en-US" altLang="en-US" sz="1800">
                <a:solidFill>
                  <a:schemeClr val="accent6"/>
                </a:solidFill>
                <a:sym typeface="+mn-ea"/>
              </a:rPr>
              <a:t>// Call the function to calculate the area</a:t>
            </a:r>
            <a:endParaRPr lang="en-US" altLang="en-US" sz="1800">
              <a:solidFill>
                <a:schemeClr val="accent6"/>
              </a:solidFill>
            </a:endParaRPr>
          </a:p>
          <a:p>
            <a:pPr marL="0" indent="0">
              <a:buNone/>
            </a:pPr>
            <a:r>
              <a:rPr lang="en-US" altLang="en-US" sz="1800"/>
              <a:t>     cout &lt;&lt; "The area of the rectangle is: " &lt;&lt; area &lt;&lt; endl; </a:t>
            </a:r>
            <a:r>
              <a:rPr lang="en-US" altLang="en-US" sz="1800">
                <a:sym typeface="+mn-ea"/>
              </a:rPr>
              <a:t>  </a:t>
            </a:r>
            <a:r>
              <a:rPr lang="en-US" altLang="en-US" sz="1800">
                <a:solidFill>
                  <a:schemeClr val="accent6"/>
                </a:solidFill>
                <a:sym typeface="+mn-ea"/>
              </a:rPr>
              <a:t>// Display the result</a:t>
            </a:r>
            <a:endParaRPr lang="en-US" altLang="en-US" sz="1800"/>
          </a:p>
          <a:p>
            <a:pPr marL="0" indent="0">
              <a:buNone/>
            </a:pPr>
            <a:r>
              <a:rPr lang="en-US" altLang="en-US" sz="1800"/>
              <a:t>    return 0;</a:t>
            </a:r>
            <a:endParaRPr lang="en-US" altLang="en-US" sz="1800"/>
          </a:p>
          <a:p>
            <a:pPr marL="0" indent="0">
              <a:buNone/>
            </a:pPr>
            <a:r>
              <a:rPr lang="en-US" altLang="en-US" sz="1800"/>
              <a:t>}</a:t>
            </a:r>
            <a:endParaRPr lang="en-US" altLang="en-US" sz="1800"/>
          </a:p>
        </p:txBody>
      </p:sp>
      <p:sp>
        <p:nvSpPr>
          <p:cNvPr id="4" name="Date Placeholder 3"/>
          <p:cNvSpPr>
            <a:spLocks noGrp="1"/>
          </p:cNvSpPr>
          <p:nvPr>
            <p:ph type="dt" sz="half" idx="10"/>
          </p:nvPr>
        </p:nvSpPr>
        <p:spPr/>
        <p:txBody>
          <a:bodyPr/>
          <a:p>
            <a:fld id="{9BA6CA6F-5997-4083-B982-9DC6D9078DD8}" type="datetime1">
              <a:rPr lang="en-US" smtClean="0"/>
            </a:fld>
            <a:endParaRPr lang="en-US"/>
          </a:p>
        </p:txBody>
      </p:sp>
      <p:sp>
        <p:nvSpPr>
          <p:cNvPr id="5" name="Footer Placeholder 4"/>
          <p:cNvSpPr>
            <a:spLocks noGrp="1"/>
          </p:cNvSpPr>
          <p:nvPr>
            <p:ph type="ftr" sz="quarter" idx="11"/>
          </p:nvPr>
        </p:nvSpPr>
        <p:spPr/>
        <p:txBody>
          <a:bodyPr/>
          <a:p>
            <a:r>
              <a:rPr lang="en-US" smtClean="0"/>
              <a:t>Programming in C_Dr. Rupali Patil                                                        Source: Google images wherever required</a:t>
            </a: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575437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Creating </a:t>
            </a:r>
            <a:r>
              <a:rPr lang="en-US" sz="2800" b="1" dirty="0">
                <a:latin typeface="Times New Roman" panose="02020603050405020304" pitchFamily="18" charset="0"/>
                <a:cs typeface="Times New Roman" panose="02020603050405020304" pitchFamily="18" charset="0"/>
              </a:rPr>
              <a:t>a void user defined function that doesn’t return </a:t>
            </a:r>
            <a:r>
              <a:rPr lang="en-US" sz="2800" b="1" dirty="0" smtClean="0">
                <a:latin typeface="Times New Roman" panose="02020603050405020304" pitchFamily="18" charset="0"/>
                <a:cs typeface="Times New Roman" panose="02020603050405020304" pitchFamily="18" charset="0"/>
              </a:rPr>
              <a:t>anything</a:t>
            </a:r>
            <a:endParaRPr lang="en-US" sz="2800" b="1"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#include &lt;iostream&gt;  </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using namespace std;  </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Function with return type void and no parameters</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void introduction() {</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cout &lt;&lt; "Hi" &lt;&lt; endl;</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cout &lt;&lt; "My name is Programming" &lt;&lt; endl;</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cout &lt;&lt; "How are you?" &lt;&lt; endl;</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 No return statement since return type is void</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int main() {</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 Calling function</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introduction();</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return 0;</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72135" y="1348105"/>
            <a:ext cx="11331575" cy="439991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Few Points to Note regarding functions in C</a:t>
            </a:r>
            <a:r>
              <a:rPr lang="en-US" sz="2800" b="1" dirty="0" smtClean="0">
                <a:latin typeface="Times New Roman" panose="02020603050405020304" pitchFamily="18" charset="0"/>
                <a:cs typeface="Times New Roman" panose="02020603050405020304" pitchFamily="18" charset="0"/>
              </a:rPr>
              <a:t>:</a:t>
            </a:r>
            <a:endParaRPr lang="en-US" sz="2800" b="1" dirty="0" smtClean="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pPr marL="514350" indent="-514350">
              <a:buAutoNum type="arabicParenR"/>
            </a:pPr>
            <a:r>
              <a:rPr lang="en-US" sz="2800" dirty="0" smtClean="0">
                <a:latin typeface="Times New Roman" panose="02020603050405020304" pitchFamily="18" charset="0"/>
                <a:cs typeface="Times New Roman" panose="02020603050405020304" pitchFamily="18" charset="0"/>
              </a:rPr>
              <a:t>main</a:t>
            </a:r>
            <a:r>
              <a:rPr lang="en-US" sz="2800" dirty="0">
                <a:latin typeface="Times New Roman" panose="02020603050405020304" pitchFamily="18" charset="0"/>
                <a:cs typeface="Times New Roman" panose="02020603050405020304" pitchFamily="18" charset="0"/>
              </a:rPr>
              <a:t>() in C program is also a function</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2) Each C program must have at least one function, which is main</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3) There is no limit on number of functions; A C program can have any number of functions</a:t>
            </a:r>
            <a:r>
              <a:rPr lang="en-US" sz="2800" dirty="0" smtClean="0">
                <a:latin typeface="Times New Roman" panose="02020603050405020304" pitchFamily="18" charset="0"/>
                <a:cs typeface="Times New Roman" panose="02020603050405020304" pitchFamily="18" charset="0"/>
              </a:rPr>
              <a:t>.</a:t>
            </a:r>
            <a:endParaRPr lang="en-US" sz="2800" dirty="0" smtClean="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4) A function can call itself and it is known as “Recursion“.</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353943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C Functions Terminologies </a:t>
            </a:r>
            <a:r>
              <a:rPr lang="en-US" sz="2800" b="1" dirty="0" smtClean="0">
                <a:latin typeface="Times New Roman" panose="02020603050405020304" pitchFamily="18" charset="0"/>
                <a:cs typeface="Times New Roman" panose="02020603050405020304" pitchFamily="18" charset="0"/>
              </a:rPr>
              <a:t>that </a:t>
            </a:r>
            <a:r>
              <a:rPr lang="en-US" sz="2800" b="1" dirty="0">
                <a:latin typeface="Times New Roman" panose="02020603050405020304" pitchFamily="18" charset="0"/>
                <a:cs typeface="Times New Roman" panose="02020603050405020304" pitchFamily="18" charset="0"/>
              </a:rPr>
              <a:t>must </a:t>
            </a:r>
            <a:r>
              <a:rPr lang="en-US" sz="2800" b="1" dirty="0" smtClean="0">
                <a:latin typeface="Times New Roman" panose="02020603050405020304" pitchFamily="18" charset="0"/>
                <a:cs typeface="Times New Roman" panose="02020603050405020304" pitchFamily="18" charset="0"/>
              </a:rPr>
              <a:t>remembered</a:t>
            </a:r>
            <a:endParaRPr lang="en-US" sz="2800" b="1" dirty="0" smtClean="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return type: </a:t>
            </a:r>
            <a:r>
              <a:rPr lang="en-US" sz="2800" dirty="0">
                <a:latin typeface="Times New Roman" panose="02020603050405020304" pitchFamily="18" charset="0"/>
                <a:cs typeface="Times New Roman" panose="02020603050405020304" pitchFamily="18" charset="0"/>
              </a:rPr>
              <a:t>Data type of returned value. It can be void also, in such case function doesn’t return any value.</a:t>
            </a:r>
            <a:endParaRPr lang="en-US" sz="2800" dirty="0">
              <a:latin typeface="Times New Roman" panose="02020603050405020304" pitchFamily="18" charset="0"/>
              <a:cs typeface="Times New Roman" panose="02020603050405020304" pitchFamily="18" charset="0"/>
            </a:endParaRPr>
          </a:p>
          <a:p>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Note: for example, if function return type is char, then function should return a value of char type and while calling this function the main() function should have a variable of char data type to store the returned value.</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2677656"/>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Task</a:t>
            </a:r>
            <a:endParaRPr lang="en-US" sz="2800" b="1" dirty="0" smtClean="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smtClean="0">
                <a:latin typeface="Times New Roman" panose="02020603050405020304" pitchFamily="18" charset="0"/>
                <a:cs typeface="Times New Roman" panose="02020603050405020304" pitchFamily="18" charset="0"/>
              </a:rPr>
              <a:t>Write function for </a:t>
            </a:r>
            <a:endParaRPr lang="en-US" sz="2800" b="1" dirty="0" smtClean="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addition of two integers, </a:t>
            </a:r>
            <a:endParaRPr lang="en-US" sz="2800" b="1" dirty="0" smtClean="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multiplication of two float numbers and </a:t>
            </a:r>
            <a:endParaRPr lang="en-US" sz="2800" b="1" dirty="0" smtClean="0">
              <a:latin typeface="Times New Roman" panose="02020603050405020304" pitchFamily="18" charset="0"/>
              <a:cs typeface="Times New Roman" panose="02020603050405020304" pitchFamily="18" charset="0"/>
            </a:endParaRPr>
          </a:p>
          <a:p>
            <a:pPr marL="914400" lvl="1" indent="-457200">
              <a:buFont typeface="Arial" panose="020B0604020202020204" pitchFamily="34" charset="0"/>
              <a:buChar char="•"/>
            </a:pPr>
            <a:r>
              <a:rPr lang="en-US" sz="2800" b="1" dirty="0" smtClean="0">
                <a:latin typeface="Times New Roman" panose="02020603050405020304" pitchFamily="18" charset="0"/>
                <a:cs typeface="Times New Roman" panose="02020603050405020304" pitchFamily="18" charset="0"/>
              </a:rPr>
              <a:t>display of character </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440120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Function Calls, Passing Arguments to a Function by </a:t>
            </a:r>
            <a:r>
              <a:rPr lang="en-US" sz="2800" b="1" dirty="0" smtClean="0">
                <a:latin typeface="Times New Roman" panose="02020603050405020304" pitchFamily="18" charset="0"/>
                <a:cs typeface="Times New Roman" panose="02020603050405020304" pitchFamily="18" charset="0"/>
              </a:rPr>
              <a:t>Value</a:t>
            </a:r>
            <a:endParaRPr lang="en-US" sz="2800" b="1" dirty="0" smtClean="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smtClean="0">
                <a:solidFill>
                  <a:srgbClr val="FF0000"/>
                </a:solidFill>
                <a:latin typeface="Times New Roman" panose="02020603050405020304" pitchFamily="18" charset="0"/>
                <a:cs typeface="Times New Roman" panose="02020603050405020304" pitchFamily="18" charset="0"/>
              </a:rPr>
              <a:t>1</a:t>
            </a:r>
            <a:r>
              <a:rPr lang="en-US" sz="2800" b="1" dirty="0">
                <a:solidFill>
                  <a:srgbClr val="FF0000"/>
                </a:solidFill>
                <a:latin typeface="Times New Roman" panose="02020603050405020304" pitchFamily="18" charset="0"/>
                <a:cs typeface="Times New Roman" panose="02020603050405020304" pitchFamily="18" charset="0"/>
              </a:rPr>
              <a:t>) Function – Call by value method</a:t>
            </a:r>
            <a:r>
              <a:rPr lang="en-US" sz="2800" b="1" dirty="0">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rPr>
              <a:t>In the call by value method the actual arguments are copied to the formal arguments, hence any operation performed by function on arguments doesn’t affect actual parameters.</a:t>
            </a:r>
            <a:endParaRPr lang="en-US" sz="2800" dirty="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a:solidFill>
                  <a:srgbClr val="0000CC"/>
                </a:solidFill>
                <a:latin typeface="Times New Roman" panose="02020603050405020304" pitchFamily="18" charset="0"/>
                <a:cs typeface="Times New Roman" panose="02020603050405020304" pitchFamily="18" charset="0"/>
              </a:rPr>
              <a:t>2) Function – Call by reference method</a:t>
            </a:r>
            <a:r>
              <a:rPr lang="en-US" sz="2800" b="1" dirty="0">
                <a:latin typeface="Times New Roman" panose="02020603050405020304" pitchFamily="18" charset="0"/>
                <a:cs typeface="Times New Roman" panose="02020603050405020304" pitchFamily="18" charset="0"/>
              </a:rPr>
              <a:t> – </a:t>
            </a:r>
            <a:r>
              <a:rPr lang="en-US" sz="2800" dirty="0">
                <a:latin typeface="Times New Roman" panose="02020603050405020304" pitchFamily="18" charset="0"/>
                <a:cs typeface="Times New Roman" panose="02020603050405020304" pitchFamily="18" charset="0"/>
              </a:rPr>
              <a:t>Unlike call by value, in this method, address of actual arguments (or parameters) is passed to the formal parameters, which means any operation performed on formal parameters affects the value of actual parameters.</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sp>
        <p:nvSpPr>
          <p:cNvPr id="3" name="Footer Placeholder 2"/>
          <p:cNvSpPr>
            <a:spLocks noGrp="1"/>
          </p:cNvSpPr>
          <p:nvPr>
            <p:ph type="ftr" sz="quarter" idx="11"/>
          </p:nvPr>
        </p:nvSpPr>
        <p:spPr/>
        <p:txBody>
          <a:bodyPr/>
          <a:lstStyle/>
          <a:p>
            <a:r>
              <a:rPr lang="en-US" smtClean="0"/>
              <a:t>Programming in C_Dr. Rupali Patil                                                        Source: Google images wherever required</a:t>
            </a:r>
            <a:endParaRPr lang="en-US"/>
          </a:p>
        </p:txBody>
      </p:sp>
      <p:pic>
        <p:nvPicPr>
          <p:cNvPr id="1026" name="Picture 2" descr="call by value and call by reference in c"/>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65021" y="998537"/>
            <a:ext cx="5553075" cy="460057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2985433"/>
          </a:xfrm>
          <a:prstGeom prst="rect">
            <a:avLst/>
          </a:prstGeom>
          <a:noFill/>
        </p:spPr>
        <p:txBody>
          <a:bodyPr wrap="square" rtlCol="0">
            <a:spAutoFit/>
          </a:bodyPr>
          <a:lstStyle/>
          <a:p>
            <a:r>
              <a:rPr lang="en-US" sz="2800" b="1" dirty="0" smtClean="0">
                <a:solidFill>
                  <a:srgbClr val="FF0000"/>
                </a:solidFill>
                <a:latin typeface="Times New Roman" panose="02020603050405020304" pitchFamily="18" charset="0"/>
                <a:cs typeface="Times New Roman" panose="02020603050405020304" pitchFamily="18" charset="0"/>
              </a:rPr>
              <a:t>Function </a:t>
            </a:r>
            <a:r>
              <a:rPr lang="en-US" sz="2800" b="1" dirty="0">
                <a:solidFill>
                  <a:srgbClr val="FF0000"/>
                </a:solidFill>
                <a:latin typeface="Times New Roman" panose="02020603050405020304" pitchFamily="18" charset="0"/>
                <a:cs typeface="Times New Roman" panose="02020603050405020304" pitchFamily="18" charset="0"/>
              </a:rPr>
              <a:t>– Call by value </a:t>
            </a:r>
            <a:r>
              <a:rPr lang="en-US" sz="2800" b="1" dirty="0" smtClean="0">
                <a:solidFill>
                  <a:srgbClr val="FF0000"/>
                </a:solidFill>
                <a:latin typeface="Times New Roman" panose="02020603050405020304" pitchFamily="18" charset="0"/>
                <a:cs typeface="Times New Roman" panose="02020603050405020304" pitchFamily="18" charset="0"/>
              </a:rPr>
              <a:t>method</a:t>
            </a:r>
            <a:endParaRPr lang="en-US" sz="2800" b="1" dirty="0" smtClean="0">
              <a:solidFill>
                <a:srgbClr val="FF0000"/>
              </a:solidFill>
              <a:latin typeface="Times New Roman" panose="02020603050405020304" pitchFamily="18" charset="0"/>
              <a:cs typeface="Times New Roman" panose="02020603050405020304" pitchFamily="18" charset="0"/>
            </a:endParaRPr>
          </a:p>
          <a:p>
            <a:r>
              <a:rPr lang="en-US" sz="2800" dirty="0" smtClean="0">
                <a:latin typeface="Times New Roman" panose="02020603050405020304" pitchFamily="18" charset="0"/>
                <a:cs typeface="Times New Roman" panose="02020603050405020304" pitchFamily="18" charset="0"/>
              </a:rPr>
              <a:t>Actual </a:t>
            </a:r>
            <a:r>
              <a:rPr lang="en-US" sz="2800" dirty="0">
                <a:latin typeface="Times New Roman" panose="02020603050405020304" pitchFamily="18" charset="0"/>
                <a:cs typeface="Times New Roman" panose="02020603050405020304" pitchFamily="18" charset="0"/>
              </a:rPr>
              <a:t>parameters: The parameters that appear in function calls</a:t>
            </a: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(eg.var1, var2) (Arguments)</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Formal parameters: The parameters that appear in function declarations</a:t>
            </a: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(num1, num2) (parameters)</a:t>
            </a:r>
            <a:endParaRPr lang="en-US" sz="2800" dirty="0" smtClean="0">
              <a:latin typeface="Times New Roman" panose="02020603050405020304" pitchFamily="18" charset="0"/>
              <a:cs typeface="Times New Roman" panose="02020603050405020304" pitchFamily="18" charset="0"/>
            </a:endParaRPr>
          </a:p>
          <a:p>
            <a:endParaRPr lang="en-US" sz="2800" b="1" dirty="0">
              <a:solidFill>
                <a:srgbClr val="FF0000"/>
              </a:solidFill>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p:txBody>
      </p:sp>
      <p:pic>
        <p:nvPicPr>
          <p:cNvPr id="3074"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099528" y="3019425"/>
            <a:ext cx="7172325" cy="3381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1676187" cy="3477875"/>
          </a:xfrm>
          <a:prstGeom prst="rect">
            <a:avLst/>
          </a:prstGeom>
          <a:noFill/>
        </p:spPr>
        <p:txBody>
          <a:bodyPr wrap="square" rtlCol="0">
            <a:spAutoFit/>
          </a:bodyPr>
          <a:lstStyle/>
          <a:p>
            <a:r>
              <a:rPr lang="en-US" sz="2800" dirty="0" smtClean="0">
                <a:solidFill>
                  <a:srgbClr val="FF0000"/>
                </a:solidFill>
                <a:latin typeface="Times New Roman" panose="02020603050405020304" pitchFamily="18" charset="0"/>
                <a:cs typeface="Times New Roman" panose="02020603050405020304" pitchFamily="18" charset="0"/>
              </a:rPr>
              <a:t>What </a:t>
            </a:r>
            <a:r>
              <a:rPr lang="en-US" sz="2800" dirty="0">
                <a:solidFill>
                  <a:srgbClr val="FF0000"/>
                </a:solidFill>
                <a:latin typeface="Times New Roman" panose="02020603050405020304" pitchFamily="18" charset="0"/>
                <a:cs typeface="Times New Roman" panose="02020603050405020304" pitchFamily="18" charset="0"/>
              </a:rPr>
              <a:t>is Function Call By value?</a:t>
            </a:r>
            <a:endParaRPr lang="en-US" sz="2800" dirty="0">
              <a:solidFill>
                <a:srgbClr val="FF0000"/>
              </a:solidFill>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a:latin typeface="Times New Roman" panose="02020603050405020304" pitchFamily="18" charset="0"/>
                <a:cs typeface="Times New Roman" panose="02020603050405020304" pitchFamily="18" charset="0"/>
              </a:rPr>
              <a:t>When we pass the actual parameters while calling a function then this is known as function call by value. </a:t>
            </a:r>
            <a:endParaRPr lang="en-US" sz="24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In </a:t>
            </a:r>
            <a:r>
              <a:rPr lang="en-US" sz="2400" dirty="0">
                <a:latin typeface="Times New Roman" panose="02020603050405020304" pitchFamily="18" charset="0"/>
                <a:cs typeface="Times New Roman" panose="02020603050405020304" pitchFamily="18" charset="0"/>
              </a:rPr>
              <a:t>this case the values of actual parameters are copied to the formal parameters. </a:t>
            </a:r>
            <a:endParaRPr lang="en-US" sz="24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Thus </a:t>
            </a:r>
            <a:r>
              <a:rPr lang="en-US" sz="2400" dirty="0">
                <a:latin typeface="Times New Roman" panose="02020603050405020304" pitchFamily="18" charset="0"/>
                <a:cs typeface="Times New Roman" panose="02020603050405020304" pitchFamily="18" charset="0"/>
              </a:rPr>
              <a:t>operations performed on the formal parameters don’t reflect in the actual parameters</a:t>
            </a:r>
            <a:r>
              <a:rPr lang="en-US" sz="2400" dirty="0" smtClean="0">
                <a:latin typeface="Times New Roman" panose="02020603050405020304" pitchFamily="18" charset="0"/>
                <a:cs typeface="Times New Roman" panose="02020603050405020304" pitchFamily="18" charset="0"/>
              </a:rPr>
              <a:t>.</a:t>
            </a:r>
            <a:endParaRPr lang="en-US" sz="2400" dirty="0" smtClean="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400" dirty="0" smtClean="0">
                <a:latin typeface="Times New Roman" panose="02020603050405020304" pitchFamily="18" charset="0"/>
                <a:cs typeface="Times New Roman" panose="02020603050405020304" pitchFamily="18" charset="0"/>
              </a:rPr>
              <a:t>Example:</a:t>
            </a:r>
            <a:endParaRPr lang="en-US" sz="2400" dirty="0" smtClean="0">
              <a:latin typeface="Times New Roman" panose="02020603050405020304" pitchFamily="18" charset="0"/>
              <a:cs typeface="Times New Roman" panose="02020603050405020304" pitchFamily="18" charset="0"/>
            </a:endParaRPr>
          </a:p>
          <a:p>
            <a:endParaRPr lang="en-US" sz="2800" b="1" dirty="0">
              <a:solidFill>
                <a:srgbClr val="FF0000"/>
              </a:solidFill>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8162" y="3724346"/>
            <a:ext cx="2276475" cy="514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8162" y="5145678"/>
            <a:ext cx="1457325"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3965" y="3609955"/>
            <a:ext cx="2524125" cy="12858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50835" y="5052992"/>
            <a:ext cx="1447800" cy="838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52858" y="3664245"/>
            <a:ext cx="3609975"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3"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52859" y="4895830"/>
            <a:ext cx="272415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Box 5"/>
          <p:cNvSpPr txBox="1"/>
          <p:nvPr/>
        </p:nvSpPr>
        <p:spPr>
          <a:xfrm>
            <a:off x="633046" y="3240623"/>
            <a:ext cx="1654299" cy="369332"/>
          </a:xfrm>
          <a:prstGeom prst="rect">
            <a:avLst/>
          </a:prstGeom>
          <a:noFill/>
        </p:spPr>
        <p:txBody>
          <a:bodyPr wrap="none" rtlCol="0">
            <a:spAutoFit/>
          </a:bodyPr>
          <a:lstStyle/>
          <a:p>
            <a:r>
              <a:rPr lang="en-US" dirty="0" smtClean="0"/>
              <a:t>Function calling</a:t>
            </a:r>
            <a:endParaRPr lang="en-IN" dirty="0"/>
          </a:p>
        </p:txBody>
      </p:sp>
      <p:sp>
        <p:nvSpPr>
          <p:cNvPr id="7" name="TextBox 6"/>
          <p:cNvSpPr txBox="1"/>
          <p:nvPr/>
        </p:nvSpPr>
        <p:spPr>
          <a:xfrm>
            <a:off x="3409582" y="3103385"/>
            <a:ext cx="1965153" cy="369332"/>
          </a:xfrm>
          <a:prstGeom prst="rect">
            <a:avLst/>
          </a:prstGeom>
          <a:noFill/>
        </p:spPr>
        <p:txBody>
          <a:bodyPr wrap="none" rtlCol="0">
            <a:spAutoFit/>
          </a:bodyPr>
          <a:lstStyle/>
          <a:p>
            <a:r>
              <a:rPr lang="en-US" dirty="0" smtClean="0"/>
              <a:t>Function definition</a:t>
            </a:r>
            <a:endParaRPr lang="en-IN" dirty="0"/>
          </a:p>
        </p:txBody>
      </p:sp>
      <p:pic>
        <p:nvPicPr>
          <p:cNvPr id="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18702" y="5015238"/>
            <a:ext cx="1457325" cy="8763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4098"/>
                                        </p:tgtEl>
                                        <p:attrNameLst>
                                          <p:attrName>style.visibility</p:attrName>
                                        </p:attrNameLst>
                                      </p:cBhvr>
                                      <p:to>
                                        <p:strVal val="visible"/>
                                      </p:to>
                                    </p:set>
                                    <p:animEffect transition="in" filter="fade">
                                      <p:cBhvr>
                                        <p:cTn id="13" dur="1000"/>
                                        <p:tgtEl>
                                          <p:spTgt spid="4098"/>
                                        </p:tgtEl>
                                      </p:cBhvr>
                                    </p:animEffect>
                                    <p:anim calcmode="lin" valueType="num">
                                      <p:cBhvr>
                                        <p:cTn id="14" dur="1000" fill="hold"/>
                                        <p:tgtEl>
                                          <p:spTgt spid="4098"/>
                                        </p:tgtEl>
                                        <p:attrNameLst>
                                          <p:attrName>ppt_x</p:attrName>
                                        </p:attrNameLst>
                                      </p:cBhvr>
                                      <p:tavLst>
                                        <p:tav tm="0">
                                          <p:val>
                                            <p:strVal val="#ppt_x"/>
                                          </p:val>
                                        </p:tav>
                                        <p:tav tm="100000">
                                          <p:val>
                                            <p:strVal val="#ppt_x"/>
                                          </p:val>
                                        </p:tav>
                                      </p:tavLst>
                                    </p:anim>
                                    <p:anim calcmode="lin" valueType="num">
                                      <p:cBhvr>
                                        <p:cTn id="15" dur="1000" fill="hold"/>
                                        <p:tgtEl>
                                          <p:spTgt spid="4098"/>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4099"/>
                                        </p:tgtEl>
                                        <p:attrNameLst>
                                          <p:attrName>style.visibility</p:attrName>
                                        </p:attrNameLst>
                                      </p:cBhvr>
                                      <p:to>
                                        <p:strVal val="visible"/>
                                      </p:to>
                                    </p:set>
                                    <p:animEffect transition="in" filter="fade">
                                      <p:cBhvr>
                                        <p:cTn id="20" dur="1000"/>
                                        <p:tgtEl>
                                          <p:spTgt spid="4099"/>
                                        </p:tgtEl>
                                      </p:cBhvr>
                                    </p:animEffect>
                                    <p:anim calcmode="lin" valueType="num">
                                      <p:cBhvr>
                                        <p:cTn id="21" dur="1000" fill="hold"/>
                                        <p:tgtEl>
                                          <p:spTgt spid="4099"/>
                                        </p:tgtEl>
                                        <p:attrNameLst>
                                          <p:attrName>ppt_x</p:attrName>
                                        </p:attrNameLst>
                                      </p:cBhvr>
                                      <p:tavLst>
                                        <p:tav tm="0">
                                          <p:val>
                                            <p:strVal val="#ppt_x"/>
                                          </p:val>
                                        </p:tav>
                                        <p:tav tm="100000">
                                          <p:val>
                                            <p:strVal val="#ppt_x"/>
                                          </p:val>
                                        </p:tav>
                                      </p:tavLst>
                                    </p:anim>
                                    <p:anim calcmode="lin" valueType="num">
                                      <p:cBhvr>
                                        <p:cTn id="22" dur="1000" fill="hold"/>
                                        <p:tgtEl>
                                          <p:spTgt spid="4099"/>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42" presetClass="entr" presetSubtype="0" fill="hold" nodeType="clickEffect">
                                  <p:stCondLst>
                                    <p:cond delay="0"/>
                                  </p:stCondLst>
                                  <p:childTnLst>
                                    <p:set>
                                      <p:cBhvr>
                                        <p:cTn id="26" dur="1" fill="hold">
                                          <p:stCondLst>
                                            <p:cond delay="0"/>
                                          </p:stCondLst>
                                        </p:cTn>
                                        <p:tgtEl>
                                          <p:spTgt spid="4100"/>
                                        </p:tgtEl>
                                        <p:attrNameLst>
                                          <p:attrName>style.visibility</p:attrName>
                                        </p:attrNameLst>
                                      </p:cBhvr>
                                      <p:to>
                                        <p:strVal val="visible"/>
                                      </p:to>
                                    </p:set>
                                    <p:animEffect transition="in" filter="fade">
                                      <p:cBhvr>
                                        <p:cTn id="27" dur="1000"/>
                                        <p:tgtEl>
                                          <p:spTgt spid="4100"/>
                                        </p:tgtEl>
                                      </p:cBhvr>
                                    </p:animEffect>
                                    <p:anim calcmode="lin" valueType="num">
                                      <p:cBhvr>
                                        <p:cTn id="28" dur="1000" fill="hold"/>
                                        <p:tgtEl>
                                          <p:spTgt spid="4100"/>
                                        </p:tgtEl>
                                        <p:attrNameLst>
                                          <p:attrName>ppt_x</p:attrName>
                                        </p:attrNameLst>
                                      </p:cBhvr>
                                      <p:tavLst>
                                        <p:tav tm="0">
                                          <p:val>
                                            <p:strVal val="#ppt_x"/>
                                          </p:val>
                                        </p:tav>
                                        <p:tav tm="100000">
                                          <p:val>
                                            <p:strVal val="#ppt_x"/>
                                          </p:val>
                                        </p:tav>
                                      </p:tavLst>
                                    </p:anim>
                                    <p:anim calcmode="lin" valueType="num">
                                      <p:cBhvr>
                                        <p:cTn id="29" dur="1000" fill="hold"/>
                                        <p:tgtEl>
                                          <p:spTgt spid="410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42" presetClass="entr" presetSubtype="0" fill="hold" nodeType="clickEffect">
                                  <p:stCondLst>
                                    <p:cond delay="0"/>
                                  </p:stCondLst>
                                  <p:childTnLst>
                                    <p:set>
                                      <p:cBhvr>
                                        <p:cTn id="33" dur="1" fill="hold">
                                          <p:stCondLst>
                                            <p:cond delay="0"/>
                                          </p:stCondLst>
                                        </p:cTn>
                                        <p:tgtEl>
                                          <p:spTgt spid="4101"/>
                                        </p:tgtEl>
                                        <p:attrNameLst>
                                          <p:attrName>style.visibility</p:attrName>
                                        </p:attrNameLst>
                                      </p:cBhvr>
                                      <p:to>
                                        <p:strVal val="visible"/>
                                      </p:to>
                                    </p:set>
                                    <p:animEffect transition="in" filter="fade">
                                      <p:cBhvr>
                                        <p:cTn id="34" dur="1000"/>
                                        <p:tgtEl>
                                          <p:spTgt spid="4101"/>
                                        </p:tgtEl>
                                      </p:cBhvr>
                                    </p:animEffect>
                                    <p:anim calcmode="lin" valueType="num">
                                      <p:cBhvr>
                                        <p:cTn id="35" dur="1000" fill="hold"/>
                                        <p:tgtEl>
                                          <p:spTgt spid="4101"/>
                                        </p:tgtEl>
                                        <p:attrNameLst>
                                          <p:attrName>ppt_x</p:attrName>
                                        </p:attrNameLst>
                                      </p:cBhvr>
                                      <p:tavLst>
                                        <p:tav tm="0">
                                          <p:val>
                                            <p:strVal val="#ppt_x"/>
                                          </p:val>
                                        </p:tav>
                                        <p:tav tm="100000">
                                          <p:val>
                                            <p:strVal val="#ppt_x"/>
                                          </p:val>
                                        </p:tav>
                                      </p:tavLst>
                                    </p:anim>
                                    <p:anim calcmode="lin" valueType="num">
                                      <p:cBhvr>
                                        <p:cTn id="36" dur="1000" fill="hold"/>
                                        <p:tgtEl>
                                          <p:spTgt spid="4101"/>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42" presetClass="entr" presetSubtype="0" fill="hold" nodeType="clickEffect">
                                  <p:stCondLst>
                                    <p:cond delay="0"/>
                                  </p:stCondLst>
                                  <p:childTnLst>
                                    <p:set>
                                      <p:cBhvr>
                                        <p:cTn id="40" dur="1" fill="hold">
                                          <p:stCondLst>
                                            <p:cond delay="0"/>
                                          </p:stCondLst>
                                        </p:cTn>
                                        <p:tgtEl>
                                          <p:spTgt spid="4102"/>
                                        </p:tgtEl>
                                        <p:attrNameLst>
                                          <p:attrName>style.visibility</p:attrName>
                                        </p:attrNameLst>
                                      </p:cBhvr>
                                      <p:to>
                                        <p:strVal val="visible"/>
                                      </p:to>
                                    </p:set>
                                    <p:animEffect transition="in" filter="fade">
                                      <p:cBhvr>
                                        <p:cTn id="41" dur="1000"/>
                                        <p:tgtEl>
                                          <p:spTgt spid="4102"/>
                                        </p:tgtEl>
                                      </p:cBhvr>
                                    </p:animEffect>
                                    <p:anim calcmode="lin" valueType="num">
                                      <p:cBhvr>
                                        <p:cTn id="42" dur="1000" fill="hold"/>
                                        <p:tgtEl>
                                          <p:spTgt spid="4102"/>
                                        </p:tgtEl>
                                        <p:attrNameLst>
                                          <p:attrName>ppt_x</p:attrName>
                                        </p:attrNameLst>
                                      </p:cBhvr>
                                      <p:tavLst>
                                        <p:tav tm="0">
                                          <p:val>
                                            <p:strVal val="#ppt_x"/>
                                          </p:val>
                                        </p:tav>
                                        <p:tav tm="100000">
                                          <p:val>
                                            <p:strVal val="#ppt_x"/>
                                          </p:val>
                                        </p:tav>
                                      </p:tavLst>
                                    </p:anim>
                                    <p:anim calcmode="lin" valueType="num">
                                      <p:cBhvr>
                                        <p:cTn id="43" dur="1000" fill="hold"/>
                                        <p:tgtEl>
                                          <p:spTgt spid="4102"/>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nodeType="clickEffect">
                                  <p:stCondLst>
                                    <p:cond delay="0"/>
                                  </p:stCondLst>
                                  <p:childTnLst>
                                    <p:set>
                                      <p:cBhvr>
                                        <p:cTn id="47" dur="1" fill="hold">
                                          <p:stCondLst>
                                            <p:cond delay="0"/>
                                          </p:stCondLst>
                                        </p:cTn>
                                        <p:tgtEl>
                                          <p:spTgt spid="4103"/>
                                        </p:tgtEl>
                                        <p:attrNameLst>
                                          <p:attrName>style.visibility</p:attrName>
                                        </p:attrNameLst>
                                      </p:cBhvr>
                                      <p:to>
                                        <p:strVal val="visible"/>
                                      </p:to>
                                    </p:set>
                                    <p:animEffect transition="in" filter="fade">
                                      <p:cBhvr>
                                        <p:cTn id="48" dur="1000"/>
                                        <p:tgtEl>
                                          <p:spTgt spid="4103"/>
                                        </p:tgtEl>
                                      </p:cBhvr>
                                    </p:animEffect>
                                    <p:anim calcmode="lin" valueType="num">
                                      <p:cBhvr>
                                        <p:cTn id="49" dur="1000" fill="hold"/>
                                        <p:tgtEl>
                                          <p:spTgt spid="4103"/>
                                        </p:tgtEl>
                                        <p:attrNameLst>
                                          <p:attrName>ppt_x</p:attrName>
                                        </p:attrNameLst>
                                      </p:cBhvr>
                                      <p:tavLst>
                                        <p:tav tm="0">
                                          <p:val>
                                            <p:strVal val="#ppt_x"/>
                                          </p:val>
                                        </p:tav>
                                        <p:tav tm="100000">
                                          <p:val>
                                            <p:strVal val="#ppt_x"/>
                                          </p:val>
                                        </p:tav>
                                      </p:tavLst>
                                    </p:anim>
                                    <p:anim calcmode="lin" valueType="num">
                                      <p:cBhvr>
                                        <p:cTn id="50" dur="1000" fill="hold"/>
                                        <p:tgtEl>
                                          <p:spTgt spid="4103"/>
                                        </p:tgtEl>
                                        <p:attrNameLst>
                                          <p:attrName>ppt_y</p:attrName>
                                        </p:attrNameLst>
                                      </p:cBhvr>
                                      <p:tavLst>
                                        <p:tav tm="0">
                                          <p:val>
                                            <p:strVal val="#ppt_y+.1"/>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nodeType="clickEffect">
                                  <p:stCondLst>
                                    <p:cond delay="0"/>
                                  </p:stCondLst>
                                  <p:childTnLst>
                                    <p:set>
                                      <p:cBhvr>
                                        <p:cTn id="54" dur="1" fill="hold">
                                          <p:stCondLst>
                                            <p:cond delay="0"/>
                                          </p:stCondLst>
                                        </p:cTn>
                                        <p:tgtEl>
                                          <p:spTgt spid="16"/>
                                        </p:tgtEl>
                                        <p:attrNameLst>
                                          <p:attrName>style.visibility</p:attrName>
                                        </p:attrNameLst>
                                      </p:cBhvr>
                                      <p:to>
                                        <p:strVal val="visible"/>
                                      </p:to>
                                    </p:set>
                                    <p:animEffect transition="in" filter="fade">
                                      <p:cBhvr>
                                        <p:cTn id="55" dur="1000"/>
                                        <p:tgtEl>
                                          <p:spTgt spid="16"/>
                                        </p:tgtEl>
                                      </p:cBhvr>
                                    </p:animEffect>
                                    <p:anim calcmode="lin" valueType="num">
                                      <p:cBhvr>
                                        <p:cTn id="56" dur="1000" fill="hold"/>
                                        <p:tgtEl>
                                          <p:spTgt spid="16"/>
                                        </p:tgtEl>
                                        <p:attrNameLst>
                                          <p:attrName>ppt_x</p:attrName>
                                        </p:attrNameLst>
                                      </p:cBhvr>
                                      <p:tavLst>
                                        <p:tav tm="0">
                                          <p:val>
                                            <p:strVal val="#ppt_x"/>
                                          </p:val>
                                        </p:tav>
                                        <p:tav tm="100000">
                                          <p:val>
                                            <p:strVal val="#ppt_x"/>
                                          </p:val>
                                        </p:tav>
                                      </p:tavLst>
                                    </p:anim>
                                    <p:anim calcmode="lin" valueType="num">
                                      <p:cBhvr>
                                        <p:cTn id="5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sp>
        <p:nvSpPr>
          <p:cNvPr id="3" name="Footer Placeholder 2"/>
          <p:cNvSpPr>
            <a:spLocks noGrp="1"/>
          </p:cNvSpPr>
          <p:nvPr>
            <p:ph type="ftr" sz="quarter" idx="11"/>
          </p:nvPr>
        </p:nvSpPr>
        <p:spPr/>
        <p:txBody>
          <a:bodyPr/>
          <a:lstStyle/>
          <a:p>
            <a:r>
              <a:rPr lang="en-US" smtClean="0"/>
              <a:t>Programming in C_Dr. Rupali Patil                                                        Source: Google images wherever required</a:t>
            </a:r>
            <a:endParaRPr lang="en-US"/>
          </a:p>
        </p:txBody>
      </p:sp>
      <p:pic>
        <p:nvPicPr>
          <p:cNvPr id="4098"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965938" y="284211"/>
            <a:ext cx="4632448" cy="610486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extBox 3"/>
          <p:cNvSpPr txBox="1"/>
          <p:nvPr/>
        </p:nvSpPr>
        <p:spPr>
          <a:xfrm>
            <a:off x="668215" y="855785"/>
            <a:ext cx="1039708" cy="369332"/>
          </a:xfrm>
          <a:prstGeom prst="rect">
            <a:avLst/>
          </a:prstGeom>
          <a:noFill/>
        </p:spPr>
        <p:txBody>
          <a:bodyPr wrap="none" rtlCol="0">
            <a:spAutoFit/>
          </a:bodyPr>
          <a:lstStyle/>
          <a:p>
            <a:r>
              <a:rPr lang="en-US" dirty="0" smtClean="0"/>
              <a:t>Example:</a:t>
            </a:r>
            <a:endParaRPr lang="en-IN"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541655" y="535305"/>
            <a:ext cx="7611745" cy="6062345"/>
          </a:xfrm>
          <a:prstGeom prst="rect">
            <a:avLst/>
          </a:prstGeom>
          <a:noFill/>
        </p:spPr>
        <p:txBody>
          <a:bodyPr wrap="square" rtlCol="0">
            <a:spAutoFit/>
          </a:bodyPr>
          <a:lstStyle/>
          <a:p>
            <a:r>
              <a:rPr lang="en-US" sz="2800" b="1" dirty="0" smtClean="0">
                <a:solidFill>
                  <a:srgbClr val="FF0000"/>
                </a:solidFill>
                <a:latin typeface="Times New Roman" panose="02020603050405020304" pitchFamily="18" charset="0"/>
                <a:cs typeface="Times New Roman" panose="02020603050405020304" pitchFamily="18" charset="0"/>
              </a:rPr>
              <a:t>Function </a:t>
            </a:r>
            <a:r>
              <a:rPr lang="en-US" sz="2800" b="1" dirty="0">
                <a:solidFill>
                  <a:srgbClr val="FF0000"/>
                </a:solidFill>
                <a:latin typeface="Times New Roman" panose="02020603050405020304" pitchFamily="18" charset="0"/>
                <a:cs typeface="Times New Roman" panose="02020603050405020304" pitchFamily="18" charset="0"/>
              </a:rPr>
              <a:t>– Call by value </a:t>
            </a:r>
            <a:r>
              <a:rPr lang="en-US" sz="2800" b="1" dirty="0" smtClean="0">
                <a:solidFill>
                  <a:srgbClr val="FF0000"/>
                </a:solidFill>
                <a:latin typeface="Times New Roman" panose="02020603050405020304" pitchFamily="18" charset="0"/>
                <a:cs typeface="Times New Roman" panose="02020603050405020304" pitchFamily="18" charset="0"/>
              </a:rPr>
              <a:t>method</a:t>
            </a:r>
            <a:endParaRPr lang="en-US" sz="2800" b="1" dirty="0">
              <a:solidFill>
                <a:srgbClr val="FF0000"/>
              </a:solidFill>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#include &lt;iostream&gt;</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using namespace std;</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int increment(int var) {</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var = var + 1;</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return var;</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int main() {</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int num1 = 20;</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int num2 = increment(num1);</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cout &lt;&lt; "num1 value is: " &lt;&lt; num1 &lt;&lt; endl;</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cout &lt;&lt; "num2 value is: " &lt;&lt; num2 &lt;&lt; endl;</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    return 0;</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rPr>
              <a:t>}</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p:txBody>
      </p:sp>
      <p:sp>
        <p:nvSpPr>
          <p:cNvPr id="6" name="TextBox 5"/>
          <p:cNvSpPr txBox="1"/>
          <p:nvPr/>
        </p:nvSpPr>
        <p:spPr>
          <a:xfrm>
            <a:off x="7550330" y="1384663"/>
            <a:ext cx="2717075"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Output: ?</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6" name="TextBox 5"/>
          <p:cNvSpPr txBox="1"/>
          <p:nvPr/>
        </p:nvSpPr>
        <p:spPr>
          <a:xfrm>
            <a:off x="7550330" y="1384663"/>
            <a:ext cx="2717075" cy="1015663"/>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Output:</a:t>
            </a:r>
            <a:endParaRPr lang="en-US" sz="2000" dirty="0" smtClean="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num1 </a:t>
            </a:r>
            <a:r>
              <a:rPr lang="en-US" sz="2000" dirty="0">
                <a:latin typeface="Times New Roman" panose="02020603050405020304" pitchFamily="18" charset="0"/>
                <a:cs typeface="Times New Roman" panose="02020603050405020304" pitchFamily="18" charset="0"/>
              </a:rPr>
              <a:t>value is: 20</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num2 value is: 21</a:t>
            </a:r>
            <a:endParaRPr lang="en-US" sz="2000" dirty="0">
              <a:latin typeface="Times New Roman" panose="02020603050405020304" pitchFamily="18" charset="0"/>
              <a:cs typeface="Times New Roman" panose="02020603050405020304" pitchFamily="18" charset="0"/>
            </a:endParaRPr>
          </a:p>
        </p:txBody>
      </p:sp>
      <p:sp>
        <p:nvSpPr>
          <p:cNvPr id="7" name="Text Box 6"/>
          <p:cNvSpPr txBox="1"/>
          <p:nvPr/>
        </p:nvSpPr>
        <p:spPr>
          <a:xfrm>
            <a:off x="466090" y="659130"/>
            <a:ext cx="6096000" cy="6062345"/>
          </a:xfrm>
          <a:prstGeom prst="rect">
            <a:avLst/>
          </a:prstGeom>
          <a:noFill/>
        </p:spPr>
        <p:txBody>
          <a:bodyPr wrap="square" rtlCol="0" anchor="t">
            <a:spAutoFit/>
          </a:bodyPr>
          <a:p>
            <a:r>
              <a:rPr lang="en-US" sz="2800" b="1" dirty="0" smtClean="0">
                <a:solidFill>
                  <a:srgbClr val="FF0000"/>
                </a:solidFill>
                <a:latin typeface="Times New Roman" panose="02020603050405020304" pitchFamily="18" charset="0"/>
                <a:cs typeface="Times New Roman" panose="02020603050405020304" pitchFamily="18" charset="0"/>
                <a:sym typeface="+mn-ea"/>
              </a:rPr>
              <a:t>Function </a:t>
            </a:r>
            <a:r>
              <a:rPr lang="en-US" sz="2800" b="1" dirty="0">
                <a:solidFill>
                  <a:srgbClr val="FF0000"/>
                </a:solidFill>
                <a:latin typeface="Times New Roman" panose="02020603050405020304" pitchFamily="18" charset="0"/>
                <a:cs typeface="Times New Roman" panose="02020603050405020304" pitchFamily="18" charset="0"/>
                <a:sym typeface="+mn-ea"/>
              </a:rPr>
              <a:t>– Call by value </a:t>
            </a:r>
            <a:r>
              <a:rPr lang="en-US" sz="2800" b="1" dirty="0" smtClean="0">
                <a:solidFill>
                  <a:srgbClr val="FF0000"/>
                </a:solidFill>
                <a:latin typeface="Times New Roman" panose="02020603050405020304" pitchFamily="18" charset="0"/>
                <a:cs typeface="Times New Roman" panose="02020603050405020304" pitchFamily="18" charset="0"/>
                <a:sym typeface="+mn-ea"/>
              </a:rPr>
              <a:t>method</a:t>
            </a:r>
            <a:endParaRPr lang="en-US" sz="2800" b="1" dirty="0">
              <a:solidFill>
                <a:srgbClr val="FF0000"/>
              </a:solidFill>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#include &lt;iostream&gt;</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using namespace std;</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int increment(int var) {</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    var = var + 1;</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    return var;</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int main() {</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    int num1 = 20;</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    int num2 = increment(num1);</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    cout &lt;&lt; "num1 value is: " &lt;&lt; num1 &lt;&lt; endl;</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    cout &lt;&lt; "num2 value is: " &lt;&lt; num2 &lt;&lt; endl;</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    return 0;</a:t>
            </a:r>
            <a:endParaRPr lang="en-US" altLang="en-US" sz="2000" dirty="0" smtClean="0">
              <a:latin typeface="Times New Roman" panose="02020603050405020304" pitchFamily="18" charset="0"/>
              <a:cs typeface="Times New Roman" panose="02020603050405020304" pitchFamily="18" charset="0"/>
            </a:endParaRPr>
          </a:p>
          <a:p>
            <a:r>
              <a:rPr lang="en-US" altLang="en-US" sz="2000" dirty="0" smtClean="0">
                <a:latin typeface="Times New Roman" panose="02020603050405020304" pitchFamily="18" charset="0"/>
                <a:cs typeface="Times New Roman" panose="02020603050405020304" pitchFamily="18" charset="0"/>
                <a:sym typeface="+mn-ea"/>
              </a:rPr>
              <a:t>}</a:t>
            </a:r>
            <a:endParaRPr lang="en-US" altLang="en-US" sz="2000" dirty="0" smtClean="0">
              <a:latin typeface="Times New Roman" panose="02020603050405020304" pitchFamily="18" charset="0"/>
              <a:cs typeface="Times New Roman" panose="02020603050405020304" pitchFamily="18" charset="0"/>
            </a:endParaRPr>
          </a:p>
          <a:p>
            <a:endParaRPr lang="en-US" alt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668655" y="430530"/>
            <a:ext cx="7090410" cy="5908040"/>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sym typeface="+mn-ea"/>
              </a:rPr>
              <a:t>Swapping numbers using Function Call by </a:t>
            </a:r>
            <a:r>
              <a:rPr lang="en-US" b="1" dirty="0" smtClean="0">
                <a:solidFill>
                  <a:srgbClr val="FF0000"/>
                </a:solidFill>
                <a:latin typeface="Times New Roman" panose="02020603050405020304" pitchFamily="18" charset="0"/>
                <a:cs typeface="Times New Roman" panose="02020603050405020304" pitchFamily="18" charset="0"/>
                <a:sym typeface="+mn-ea"/>
              </a:rPr>
              <a:t>Value</a:t>
            </a:r>
            <a:endParaRPr lang="en-US" b="1" dirty="0" smtClean="0">
              <a:solidFill>
                <a:srgbClr val="FF0000"/>
              </a:solidFill>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#include &lt;iostream&gt;</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using namespace std;</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void swapnum(int var1, int var2)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int tempnum;</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tempnum = var1;</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var1 = var2;</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var2 = tempnum;</a:t>
            </a:r>
            <a:endParaRPr lang="en-US" altLang="en-US" dirty="0" smtClean="0">
              <a:latin typeface="Times New Roman" panose="02020603050405020304" pitchFamily="18" charset="0"/>
              <a:cs typeface="Times New Roman" panose="02020603050405020304" pitchFamily="18" charset="0"/>
            </a:endParaRPr>
          </a:p>
          <a:p>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 Changes happen only inside this function (local copy),</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 not reflected in main() because it's call by value.</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int main()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int num1 = 35, num2 = 45;</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cout &lt;&lt; "Before swapping: " &lt;&lt; num1 &lt;&lt; ", " &lt;&lt; num2 &lt;&lt; endl;</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 calling swap function</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swapnum(num1, num2);</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cout &lt;&lt; "After swapping: " &lt;&lt; num1 &lt;&lt; ", " &lt;&lt; num2 &lt;&lt; endl;</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    return 0;</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rPr>
              <a:t>}</a:t>
            </a:r>
            <a:endParaRPr lang="en-US" altLang="en-US" dirty="0" smtClean="0">
              <a:latin typeface="Times New Roman" panose="02020603050405020304" pitchFamily="18" charset="0"/>
              <a:cs typeface="Times New Roman" panose="02020603050405020304" pitchFamily="18" charset="0"/>
            </a:endParaRPr>
          </a:p>
          <a:p>
            <a:endParaRPr lang="en-US" altLang="en-US" dirty="0" smtClean="0">
              <a:latin typeface="Times New Roman" panose="02020603050405020304" pitchFamily="18" charset="0"/>
              <a:cs typeface="Times New Roman" panose="02020603050405020304" pitchFamily="18" charset="0"/>
            </a:endParaRPr>
          </a:p>
        </p:txBody>
      </p:sp>
      <p:sp>
        <p:nvSpPr>
          <p:cNvPr id="6" name="TextBox 5"/>
          <p:cNvSpPr txBox="1"/>
          <p:nvPr/>
        </p:nvSpPr>
        <p:spPr>
          <a:xfrm>
            <a:off x="7550330" y="1384663"/>
            <a:ext cx="2717075"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Output:?</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0" y="430661"/>
            <a:ext cx="7759338" cy="6185535"/>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sym typeface="+mn-ea"/>
              </a:rPr>
              <a:t>Swapping numbers using Function Call by </a:t>
            </a:r>
            <a:r>
              <a:rPr lang="en-US" b="1" dirty="0" smtClean="0">
                <a:solidFill>
                  <a:srgbClr val="FF0000"/>
                </a:solidFill>
                <a:latin typeface="Times New Roman" panose="02020603050405020304" pitchFamily="18" charset="0"/>
                <a:cs typeface="Times New Roman" panose="02020603050405020304" pitchFamily="18" charset="0"/>
                <a:sym typeface="+mn-ea"/>
              </a:rPr>
              <a:t>Value</a:t>
            </a:r>
            <a:endParaRPr lang="en-US" b="1" dirty="0" smtClean="0">
              <a:solidFill>
                <a:srgbClr val="FF0000"/>
              </a:solidFill>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#include &lt;iostream&gt;</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using namespace std;</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void swapnum(int var1, int var2)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int tempnum;</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tempnum = var1;</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var1 = var2;</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var2 = tempnum;</a:t>
            </a:r>
            <a:endParaRPr lang="en-US" altLang="en-US" dirty="0" smtClean="0">
              <a:latin typeface="Times New Roman" panose="02020603050405020304" pitchFamily="18" charset="0"/>
              <a:cs typeface="Times New Roman" panose="02020603050405020304" pitchFamily="18" charset="0"/>
            </a:endParaRPr>
          </a:p>
          <a:p>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 Changes happen only inside this function (local copy),</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 not reflected in main() because it's call by value.</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int main()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int num1 = 35, num2 = 45;</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"Before swapping: " &lt;&lt; num1 &lt;&lt; ", " &lt;&lt; num2 &lt;&lt; endl;</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 calling swap function</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swapnum(num1, num2);</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"After swapping: " &lt;&lt; num1 &lt;&lt; ", " &lt;&lt; num2 &lt;&lt; endl;</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return 0;</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a:t>
            </a:r>
            <a:endParaRPr lang="en-US" altLang="en-US" dirty="0" smtClean="0">
              <a:latin typeface="Times New Roman" panose="02020603050405020304" pitchFamily="18" charset="0"/>
              <a:cs typeface="Times New Roman" panose="02020603050405020304" pitchFamily="18" charset="0"/>
            </a:endParaRPr>
          </a:p>
          <a:p>
            <a:endParaRPr lang="en-US" altLang="en-US" dirty="0" smtClean="0">
              <a:latin typeface="Times New Roman" panose="02020603050405020304" pitchFamily="18" charset="0"/>
              <a:cs typeface="Times New Roman" panose="02020603050405020304" pitchFamily="18" charset="0"/>
            </a:endParaRPr>
          </a:p>
          <a:p>
            <a:endParaRPr lang="en-US" dirty="0" smtClean="0">
              <a:latin typeface="Times New Roman" panose="02020603050405020304" pitchFamily="18" charset="0"/>
              <a:cs typeface="Times New Roman" panose="02020603050405020304" pitchFamily="18" charset="0"/>
            </a:endParaRPr>
          </a:p>
        </p:txBody>
      </p:sp>
      <p:sp>
        <p:nvSpPr>
          <p:cNvPr id="6" name="TextBox 5"/>
          <p:cNvSpPr txBox="1"/>
          <p:nvPr/>
        </p:nvSpPr>
        <p:spPr>
          <a:xfrm>
            <a:off x="7550330" y="1384663"/>
            <a:ext cx="4641670" cy="3170099"/>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Output: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Before swapping: 35, 45</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After swapping: 35, </a:t>
            </a:r>
            <a:r>
              <a:rPr lang="en-US" sz="2000" dirty="0" smtClean="0">
                <a:latin typeface="Times New Roman" panose="02020603050405020304" pitchFamily="18" charset="0"/>
                <a:cs typeface="Times New Roman" panose="02020603050405020304" pitchFamily="18" charset="0"/>
              </a:rPr>
              <a:t>45</a:t>
            </a:r>
            <a:endParaRPr lang="en-US" sz="2000" dirty="0" smtClean="0">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smtClean="0">
                <a:solidFill>
                  <a:srgbClr val="FF0000"/>
                </a:solidFill>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reason </a:t>
            </a:r>
            <a:r>
              <a:rPr lang="en-US" sz="2000" dirty="0" smtClean="0">
                <a:solidFill>
                  <a:srgbClr val="FF0000"/>
                </a:solidFill>
                <a:latin typeface="Times New Roman" panose="02020603050405020304" pitchFamily="18" charset="0"/>
                <a:cs typeface="Times New Roman" panose="02020603050405020304" pitchFamily="18" charset="0"/>
              </a:rPr>
              <a:t>is </a:t>
            </a:r>
            <a:r>
              <a:rPr lang="en-US" sz="2000" dirty="0">
                <a:solidFill>
                  <a:srgbClr val="FF0000"/>
                </a:solidFill>
                <a:latin typeface="Times New Roman" panose="02020603050405020304" pitchFamily="18" charset="0"/>
                <a:cs typeface="Times New Roman" panose="02020603050405020304" pitchFamily="18" charset="0"/>
              </a:rPr>
              <a:t>– function is called by value for num1 &amp; num2. So actually var1 and var2 gets swapped (not num1 &amp; num2). As in call by value actual parameters are just copied into the formal parameters.</a:t>
            </a:r>
            <a:endParaRPr lang="en-US" sz="2000" dirty="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716915" y="503555"/>
            <a:ext cx="11011535" cy="5408295"/>
          </a:xfrm>
          <a:prstGeom prst="rect">
            <a:avLst/>
          </a:prstGeom>
          <a:noFill/>
        </p:spPr>
        <p:txBody>
          <a:bodyPr wrap="square" rtlCol="0">
            <a:noAutofit/>
          </a:bodyPr>
          <a:lstStyle/>
          <a:p>
            <a:r>
              <a:rPr lang="en-US" sz="2800" b="1" dirty="0" smtClean="0">
                <a:solidFill>
                  <a:srgbClr val="FF0000"/>
                </a:solidFill>
                <a:latin typeface="Times New Roman" panose="02020603050405020304" pitchFamily="18" charset="0"/>
                <a:cs typeface="Times New Roman" panose="02020603050405020304" pitchFamily="18" charset="0"/>
              </a:rPr>
              <a:t>Function </a:t>
            </a:r>
            <a:r>
              <a:rPr lang="en-US" sz="2800" b="1" dirty="0">
                <a:solidFill>
                  <a:srgbClr val="FF0000"/>
                </a:solidFill>
                <a:latin typeface="Times New Roman" panose="02020603050405020304" pitchFamily="18" charset="0"/>
                <a:cs typeface="Times New Roman" panose="02020603050405020304" pitchFamily="18" charset="0"/>
              </a:rPr>
              <a:t>– Call by </a:t>
            </a:r>
            <a:r>
              <a:rPr lang="en-US" sz="2800" b="1" dirty="0" smtClean="0">
                <a:solidFill>
                  <a:srgbClr val="FF0000"/>
                </a:solidFill>
                <a:latin typeface="Times New Roman" panose="02020603050405020304" pitchFamily="18" charset="0"/>
                <a:cs typeface="Times New Roman" panose="02020603050405020304" pitchFamily="18" charset="0"/>
              </a:rPr>
              <a:t>reference method</a:t>
            </a:r>
            <a:endParaRPr lang="en-US" sz="2800" b="1" dirty="0" smtClean="0">
              <a:solidFill>
                <a:srgbClr val="FF0000"/>
              </a:solidFill>
              <a:latin typeface="Times New Roman" panose="02020603050405020304" pitchFamily="18" charset="0"/>
              <a:cs typeface="Times New Roman" panose="02020603050405020304" pitchFamily="18" charset="0"/>
            </a:endParaRPr>
          </a:p>
          <a:p>
            <a:endParaRPr lang="en-US" sz="2800" b="1" dirty="0">
              <a:solidFill>
                <a:srgbClr val="FF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Actual parameters: The parameters that appear in function calls</a:t>
            </a: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(eg.var1, var2)</a:t>
            </a:r>
            <a:endParaRPr lang="en-US" sz="2800" dirty="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Formal parameters: The parameters that appear in function declarations</a:t>
            </a:r>
            <a:r>
              <a:rPr lang="en-US" sz="2800" dirty="0" smtClean="0">
                <a:latin typeface="Times New Roman" panose="02020603050405020304" pitchFamily="18" charset="0"/>
                <a:cs typeface="Times New Roman" panose="02020603050405020304" pitchFamily="18" charset="0"/>
              </a:rPr>
              <a:t>. </a:t>
            </a:r>
            <a:endParaRPr lang="en-US" sz="2800" dirty="0" smtClean="0">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 </a:t>
            </a:r>
            <a:r>
              <a:rPr lang="en-US" sz="2800" dirty="0" smtClean="0">
                <a:latin typeface="Times New Roman" panose="02020603050405020304" pitchFamily="18" charset="0"/>
                <a:cs typeface="Times New Roman" panose="02020603050405020304" pitchFamily="18" charset="0"/>
              </a:rPr>
              <a:t>                                (num1, num2)</a:t>
            </a:r>
            <a:endParaRPr lang="en-US" sz="2800" dirty="0" smtClean="0">
              <a:latin typeface="Times New Roman" panose="02020603050405020304" pitchFamily="18" charset="0"/>
              <a:cs typeface="Times New Roman" panose="02020603050405020304" pitchFamily="18" charset="0"/>
            </a:endParaRPr>
          </a:p>
          <a:p>
            <a:r>
              <a:rPr lang="en-US" sz="2800" dirty="0">
                <a:solidFill>
                  <a:srgbClr val="FF0000"/>
                </a:solidFill>
                <a:latin typeface="Times New Roman" panose="02020603050405020304" pitchFamily="18" charset="0"/>
                <a:cs typeface="Times New Roman" panose="02020603050405020304" pitchFamily="18" charset="0"/>
              </a:rPr>
              <a:t>What is Function Call By </a:t>
            </a:r>
            <a:r>
              <a:rPr lang="en-US" sz="2800" dirty="0" smtClean="0">
                <a:solidFill>
                  <a:srgbClr val="FF0000"/>
                </a:solidFill>
                <a:latin typeface="Times New Roman" panose="02020603050405020304" pitchFamily="18" charset="0"/>
                <a:cs typeface="Times New Roman" panose="02020603050405020304" pitchFamily="18" charset="0"/>
              </a:rPr>
              <a:t>reference?</a:t>
            </a:r>
            <a:endParaRPr lang="en-US" sz="2800" dirty="0">
              <a:solidFill>
                <a:srgbClr val="FF0000"/>
              </a:solidFill>
              <a:latin typeface="Times New Roman" panose="02020603050405020304" pitchFamily="18" charset="0"/>
              <a:cs typeface="Times New Roman" panose="02020603050405020304" pitchFamily="18" charset="0"/>
            </a:endParaRPr>
          </a:p>
          <a:p>
            <a:r>
              <a:rPr lang="en-US" sz="2800" dirty="0">
                <a:latin typeface="Times New Roman" panose="02020603050405020304" pitchFamily="18" charset="0"/>
                <a:cs typeface="Times New Roman" panose="02020603050405020304" pitchFamily="18" charset="0"/>
              </a:rPr>
              <a:t>Unlike call by value, in this method, address of actual arguments (or parameters) is passed to the formal parameters, which means any operation performed on formal parameters affects the value of actual parameters.</a:t>
            </a:r>
            <a:endParaRPr lang="en-US" sz="2800" b="1" dirty="0">
              <a:solidFill>
                <a:srgbClr val="FF0000"/>
              </a:solidFill>
              <a:latin typeface="Times New Roman" panose="02020603050405020304" pitchFamily="18" charset="0"/>
              <a:cs typeface="Times New Roman" panose="02020603050405020304" pitchFamily="18" charset="0"/>
            </a:endParaRPr>
          </a:p>
          <a:p>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Example:</a:t>
            </a:r>
            <a:endParaRPr lang="en-IN" dirty="0"/>
          </a:p>
        </p:txBody>
      </p:sp>
      <p:sp>
        <p:nvSpPr>
          <p:cNvPr id="5" name="Content Placeholder 4"/>
          <p:cNvSpPr>
            <a:spLocks noGrp="1"/>
          </p:cNvSpPr>
          <p:nvPr>
            <p:ph idx="1"/>
          </p:nvPr>
        </p:nvSpPr>
        <p:spPr/>
        <p:txBody>
          <a:bodyPr/>
          <a:lstStyle/>
          <a:p>
            <a:endParaRPr lang="en-IN" dirty="0"/>
          </a:p>
        </p:txBody>
      </p:sp>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sp>
        <p:nvSpPr>
          <p:cNvPr id="3" name="Footer Placeholder 2"/>
          <p:cNvSpPr>
            <a:spLocks noGrp="1"/>
          </p:cNvSpPr>
          <p:nvPr>
            <p:ph type="ftr" sz="quarter" idx="11"/>
          </p:nvPr>
        </p:nvSpPr>
        <p:spPr/>
        <p:txBody>
          <a:bodyPr/>
          <a:lstStyle/>
          <a:p>
            <a:r>
              <a:rPr lang="en-US" smtClean="0"/>
              <a:t>Programming in C_Dr. Rupali Patil                                                        Source: Google images wherever required</a:t>
            </a:r>
            <a:endParaRPr lang="en-US"/>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20262" y="1895475"/>
            <a:ext cx="4051817" cy="10532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3"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6953" y="582490"/>
            <a:ext cx="3997569" cy="15652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5"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62999" y="4621381"/>
            <a:ext cx="2907322" cy="12696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6" name="Picture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1861" y="3243263"/>
            <a:ext cx="1304925" cy="9906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7" name="Picture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548512" y="2948732"/>
            <a:ext cx="2876882" cy="12200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8"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70830" y="4713110"/>
            <a:ext cx="2743200" cy="333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9" name="Picture 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0830" y="5256184"/>
            <a:ext cx="1457325" cy="9620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6" name="Picture 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28185" y="2938871"/>
            <a:ext cx="2899996" cy="1248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567894" y="4527223"/>
            <a:ext cx="2857500" cy="1381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fade">
                                      <p:cBhvr>
                                        <p:cTn id="7" dur="1000"/>
                                        <p:tgtEl>
                                          <p:spTgt spid="5122"/>
                                        </p:tgtEl>
                                      </p:cBhvr>
                                    </p:animEffect>
                                    <p:anim calcmode="lin" valueType="num">
                                      <p:cBhvr>
                                        <p:cTn id="8" dur="1000" fill="hold"/>
                                        <p:tgtEl>
                                          <p:spTgt spid="5122"/>
                                        </p:tgtEl>
                                        <p:attrNameLst>
                                          <p:attrName>ppt_x</p:attrName>
                                        </p:attrNameLst>
                                      </p:cBhvr>
                                      <p:tavLst>
                                        <p:tav tm="0">
                                          <p:val>
                                            <p:strVal val="#ppt_x"/>
                                          </p:val>
                                        </p:tav>
                                        <p:tav tm="100000">
                                          <p:val>
                                            <p:strVal val="#ppt_x"/>
                                          </p:val>
                                        </p:tav>
                                      </p:tavLst>
                                    </p:anim>
                                    <p:anim calcmode="lin" valueType="num">
                                      <p:cBhvr>
                                        <p:cTn id="9" dur="1000" fill="hold"/>
                                        <p:tgtEl>
                                          <p:spTgt spid="512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126"/>
                                        </p:tgtEl>
                                        <p:attrNameLst>
                                          <p:attrName>style.visibility</p:attrName>
                                        </p:attrNameLst>
                                      </p:cBhvr>
                                      <p:to>
                                        <p:strVal val="visible"/>
                                      </p:to>
                                    </p:set>
                                    <p:animEffect transition="in" filter="fade">
                                      <p:cBhvr>
                                        <p:cTn id="14" dur="1000"/>
                                        <p:tgtEl>
                                          <p:spTgt spid="5126"/>
                                        </p:tgtEl>
                                      </p:cBhvr>
                                    </p:animEffect>
                                    <p:anim calcmode="lin" valueType="num">
                                      <p:cBhvr>
                                        <p:cTn id="15" dur="1000" fill="hold"/>
                                        <p:tgtEl>
                                          <p:spTgt spid="5126"/>
                                        </p:tgtEl>
                                        <p:attrNameLst>
                                          <p:attrName>ppt_x</p:attrName>
                                        </p:attrNameLst>
                                      </p:cBhvr>
                                      <p:tavLst>
                                        <p:tav tm="0">
                                          <p:val>
                                            <p:strVal val="#ppt_x"/>
                                          </p:val>
                                        </p:tav>
                                        <p:tav tm="100000">
                                          <p:val>
                                            <p:strVal val="#ppt_x"/>
                                          </p:val>
                                        </p:tav>
                                      </p:tavLst>
                                    </p:anim>
                                    <p:anim calcmode="lin" valueType="num">
                                      <p:cBhvr>
                                        <p:cTn id="16" dur="1000" fill="hold"/>
                                        <p:tgtEl>
                                          <p:spTgt spid="512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128"/>
                                        </p:tgtEl>
                                        <p:attrNameLst>
                                          <p:attrName>style.visibility</p:attrName>
                                        </p:attrNameLst>
                                      </p:cBhvr>
                                      <p:to>
                                        <p:strVal val="visible"/>
                                      </p:to>
                                    </p:set>
                                    <p:animEffect transition="in" filter="fade">
                                      <p:cBhvr>
                                        <p:cTn id="21" dur="1000"/>
                                        <p:tgtEl>
                                          <p:spTgt spid="5128"/>
                                        </p:tgtEl>
                                      </p:cBhvr>
                                    </p:animEffect>
                                    <p:anim calcmode="lin" valueType="num">
                                      <p:cBhvr>
                                        <p:cTn id="22" dur="1000" fill="hold"/>
                                        <p:tgtEl>
                                          <p:spTgt spid="5128"/>
                                        </p:tgtEl>
                                        <p:attrNameLst>
                                          <p:attrName>ppt_x</p:attrName>
                                        </p:attrNameLst>
                                      </p:cBhvr>
                                      <p:tavLst>
                                        <p:tav tm="0">
                                          <p:val>
                                            <p:strVal val="#ppt_x"/>
                                          </p:val>
                                        </p:tav>
                                        <p:tav tm="100000">
                                          <p:val>
                                            <p:strVal val="#ppt_x"/>
                                          </p:val>
                                        </p:tav>
                                      </p:tavLst>
                                    </p:anim>
                                    <p:anim calcmode="lin" valueType="num">
                                      <p:cBhvr>
                                        <p:cTn id="23" dur="1000" fill="hold"/>
                                        <p:tgtEl>
                                          <p:spTgt spid="512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129"/>
                                        </p:tgtEl>
                                        <p:attrNameLst>
                                          <p:attrName>style.visibility</p:attrName>
                                        </p:attrNameLst>
                                      </p:cBhvr>
                                      <p:to>
                                        <p:strVal val="visible"/>
                                      </p:to>
                                    </p:set>
                                    <p:animEffect transition="in" filter="fade">
                                      <p:cBhvr>
                                        <p:cTn id="28" dur="1000"/>
                                        <p:tgtEl>
                                          <p:spTgt spid="5129"/>
                                        </p:tgtEl>
                                      </p:cBhvr>
                                    </p:animEffect>
                                    <p:anim calcmode="lin" valueType="num">
                                      <p:cBhvr>
                                        <p:cTn id="29" dur="1000" fill="hold"/>
                                        <p:tgtEl>
                                          <p:spTgt spid="5129"/>
                                        </p:tgtEl>
                                        <p:attrNameLst>
                                          <p:attrName>ppt_x</p:attrName>
                                        </p:attrNameLst>
                                      </p:cBhvr>
                                      <p:tavLst>
                                        <p:tav tm="0">
                                          <p:val>
                                            <p:strVal val="#ppt_x"/>
                                          </p:val>
                                        </p:tav>
                                        <p:tav tm="100000">
                                          <p:val>
                                            <p:strVal val="#ppt_x"/>
                                          </p:val>
                                        </p:tav>
                                      </p:tavLst>
                                    </p:anim>
                                    <p:anim calcmode="lin" valueType="num">
                                      <p:cBhvr>
                                        <p:cTn id="30" dur="1000" fill="hold"/>
                                        <p:tgtEl>
                                          <p:spTgt spid="512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5123"/>
                                        </p:tgtEl>
                                        <p:attrNameLst>
                                          <p:attrName>style.visibility</p:attrName>
                                        </p:attrNameLst>
                                      </p:cBhvr>
                                      <p:to>
                                        <p:strVal val="visible"/>
                                      </p:to>
                                    </p:set>
                                    <p:animEffect transition="in" filter="fade">
                                      <p:cBhvr>
                                        <p:cTn id="35" dur="1000"/>
                                        <p:tgtEl>
                                          <p:spTgt spid="5123"/>
                                        </p:tgtEl>
                                      </p:cBhvr>
                                    </p:animEffect>
                                    <p:anim calcmode="lin" valueType="num">
                                      <p:cBhvr>
                                        <p:cTn id="36" dur="1000" fill="hold"/>
                                        <p:tgtEl>
                                          <p:spTgt spid="5123"/>
                                        </p:tgtEl>
                                        <p:attrNameLst>
                                          <p:attrName>ppt_x</p:attrName>
                                        </p:attrNameLst>
                                      </p:cBhvr>
                                      <p:tavLst>
                                        <p:tav tm="0">
                                          <p:val>
                                            <p:strVal val="#ppt_x"/>
                                          </p:val>
                                        </p:tav>
                                        <p:tav tm="100000">
                                          <p:val>
                                            <p:strVal val="#ppt_x"/>
                                          </p:val>
                                        </p:tav>
                                      </p:tavLst>
                                    </p:anim>
                                    <p:anim calcmode="lin" valueType="num">
                                      <p:cBhvr>
                                        <p:cTn id="37" dur="1000" fill="hold"/>
                                        <p:tgtEl>
                                          <p:spTgt spid="5123"/>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5127"/>
                                        </p:tgtEl>
                                        <p:attrNameLst>
                                          <p:attrName>style.visibility</p:attrName>
                                        </p:attrNameLst>
                                      </p:cBhvr>
                                      <p:to>
                                        <p:strVal val="visible"/>
                                      </p:to>
                                    </p:set>
                                    <p:animEffect transition="in" filter="fade">
                                      <p:cBhvr>
                                        <p:cTn id="42" dur="1000"/>
                                        <p:tgtEl>
                                          <p:spTgt spid="5127"/>
                                        </p:tgtEl>
                                      </p:cBhvr>
                                    </p:animEffect>
                                    <p:anim calcmode="lin" valueType="num">
                                      <p:cBhvr>
                                        <p:cTn id="43" dur="1000" fill="hold"/>
                                        <p:tgtEl>
                                          <p:spTgt spid="5127"/>
                                        </p:tgtEl>
                                        <p:attrNameLst>
                                          <p:attrName>ppt_x</p:attrName>
                                        </p:attrNameLst>
                                      </p:cBhvr>
                                      <p:tavLst>
                                        <p:tav tm="0">
                                          <p:val>
                                            <p:strVal val="#ppt_x"/>
                                          </p:val>
                                        </p:tav>
                                        <p:tav tm="100000">
                                          <p:val>
                                            <p:strVal val="#ppt_x"/>
                                          </p:val>
                                        </p:tav>
                                      </p:tavLst>
                                    </p:anim>
                                    <p:anim calcmode="lin" valueType="num">
                                      <p:cBhvr>
                                        <p:cTn id="44" dur="1000" fill="hold"/>
                                        <p:tgtEl>
                                          <p:spTgt spid="5127"/>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026"/>
                                        </p:tgtEl>
                                        <p:attrNameLst>
                                          <p:attrName>style.visibility</p:attrName>
                                        </p:attrNameLst>
                                      </p:cBhvr>
                                      <p:to>
                                        <p:strVal val="visible"/>
                                      </p:to>
                                    </p:set>
                                    <p:animEffect transition="in" filter="fade">
                                      <p:cBhvr>
                                        <p:cTn id="49" dur="1000"/>
                                        <p:tgtEl>
                                          <p:spTgt spid="1026"/>
                                        </p:tgtEl>
                                      </p:cBhvr>
                                    </p:animEffect>
                                    <p:anim calcmode="lin" valueType="num">
                                      <p:cBhvr>
                                        <p:cTn id="50" dur="1000" fill="hold"/>
                                        <p:tgtEl>
                                          <p:spTgt spid="1026"/>
                                        </p:tgtEl>
                                        <p:attrNameLst>
                                          <p:attrName>ppt_x</p:attrName>
                                        </p:attrNameLst>
                                      </p:cBhvr>
                                      <p:tavLst>
                                        <p:tav tm="0">
                                          <p:val>
                                            <p:strVal val="#ppt_x"/>
                                          </p:val>
                                        </p:tav>
                                        <p:tav tm="100000">
                                          <p:val>
                                            <p:strVal val="#ppt_x"/>
                                          </p:val>
                                        </p:tav>
                                      </p:tavLst>
                                    </p:anim>
                                    <p:anim calcmode="lin" valueType="num">
                                      <p:cBhvr>
                                        <p:cTn id="51" dur="1000" fill="hold"/>
                                        <p:tgtEl>
                                          <p:spTgt spid="1026"/>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16" presetClass="entr" presetSubtype="21" fill="hold" nodeType="clickEffect">
                                  <p:stCondLst>
                                    <p:cond delay="0"/>
                                  </p:stCondLst>
                                  <p:childTnLst>
                                    <p:set>
                                      <p:cBhvr>
                                        <p:cTn id="55" dur="1" fill="hold">
                                          <p:stCondLst>
                                            <p:cond delay="0"/>
                                          </p:stCondLst>
                                        </p:cTn>
                                        <p:tgtEl>
                                          <p:spTgt spid="5125"/>
                                        </p:tgtEl>
                                        <p:attrNameLst>
                                          <p:attrName>style.visibility</p:attrName>
                                        </p:attrNameLst>
                                      </p:cBhvr>
                                      <p:to>
                                        <p:strVal val="visible"/>
                                      </p:to>
                                    </p:set>
                                    <p:animEffect transition="in" filter="barn(inVertical)">
                                      <p:cBhvr>
                                        <p:cTn id="56" dur="500"/>
                                        <p:tgtEl>
                                          <p:spTgt spid="51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381000" y="430530"/>
            <a:ext cx="7953375" cy="6123940"/>
          </a:xfrm>
          <a:prstGeom prst="rect">
            <a:avLst/>
          </a:prstGeom>
          <a:noFill/>
        </p:spPr>
        <p:txBody>
          <a:bodyPr wrap="squar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Swapping numbers using Function Call by </a:t>
            </a:r>
            <a:r>
              <a:rPr lang="en-US" sz="2800" b="1" dirty="0" smtClean="0">
                <a:solidFill>
                  <a:srgbClr val="FF0000"/>
                </a:solidFill>
                <a:latin typeface="Times New Roman" panose="02020603050405020304" pitchFamily="18" charset="0"/>
                <a:cs typeface="Times New Roman" panose="02020603050405020304" pitchFamily="18" charset="0"/>
              </a:rPr>
              <a:t>reference</a:t>
            </a:r>
            <a:endParaRPr lang="en-US" sz="2800" b="1" dirty="0" smtClean="0">
              <a:solidFill>
                <a:srgbClr val="FF0000"/>
              </a:solidFill>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#include &lt;iostream&gt;</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using namespace std;</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solidFill>
                  <a:schemeClr val="accent6"/>
                </a:solidFill>
                <a:latin typeface="Times New Roman" panose="02020603050405020304" pitchFamily="18" charset="0"/>
                <a:cs typeface="Times New Roman" panose="02020603050405020304" pitchFamily="18" charset="0"/>
              </a:rPr>
              <a:t>// Call by reference using reference variables</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void swapnum(int &amp;var1, int &amp;var2) {</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int tempnum;</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tempnum = var1;</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var1 = var2;</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var2 = tempnum;</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int main() {</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int num1 = 35, num2 = 45;</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cout &lt;&lt; "Before swapping:";</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cout &lt;&lt; "\nnum1 value is " &lt;&lt; num1;</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cout &lt;&lt; "\nnum2 value is " &lt;&lt; num2 &lt;&lt; endl;</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swapnum(num1, num2);               </a:t>
            </a:r>
            <a:r>
              <a:rPr lang="en-US" altLang="en-US" sz="1600" dirty="0" smtClean="0">
                <a:latin typeface="Times New Roman" panose="02020603050405020304" pitchFamily="18" charset="0"/>
                <a:cs typeface="Times New Roman" panose="02020603050405020304" pitchFamily="18" charset="0"/>
                <a:sym typeface="+mn-ea"/>
              </a:rPr>
              <a:t>    </a:t>
            </a:r>
            <a:r>
              <a:rPr lang="en-US" altLang="en-US" sz="1600" dirty="0" smtClean="0">
                <a:solidFill>
                  <a:schemeClr val="accent6"/>
                </a:solidFill>
                <a:latin typeface="Times New Roman" panose="02020603050405020304" pitchFamily="18" charset="0"/>
                <a:cs typeface="Times New Roman" panose="02020603050405020304" pitchFamily="18" charset="0"/>
                <a:sym typeface="+mn-ea"/>
              </a:rPr>
              <a:t>// calling swap function</a:t>
            </a:r>
            <a:endParaRPr lang="en-US" altLang="en-US" sz="1600" dirty="0" smtClean="0">
              <a:solidFill>
                <a:schemeClr val="accent6"/>
              </a:solidFill>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cout &lt;&lt; "\nAfter swapping:";</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cout &lt;&lt; "\nnum1 value is " &lt;&lt; num1;</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cout &lt;&lt; "\nnum2 value is " &lt;&lt; num2 &lt;&lt; endl;</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    return 0;</a:t>
            </a:r>
            <a:endParaRPr lang="en-US" altLang="en-US" sz="1600" dirty="0" smtClean="0">
              <a:latin typeface="Times New Roman" panose="02020603050405020304" pitchFamily="18" charset="0"/>
              <a:cs typeface="Times New Roman" panose="02020603050405020304" pitchFamily="18" charset="0"/>
            </a:endParaRPr>
          </a:p>
          <a:p>
            <a:r>
              <a:rPr lang="en-US" altLang="en-US" sz="1600" dirty="0" smtClean="0">
                <a:latin typeface="Times New Roman" panose="02020603050405020304" pitchFamily="18" charset="0"/>
                <a:cs typeface="Times New Roman" panose="02020603050405020304" pitchFamily="18" charset="0"/>
              </a:rPr>
              <a:t>}</a:t>
            </a:r>
            <a:endParaRPr lang="en-US" altLang="en-US" sz="1600" dirty="0" smtClean="0">
              <a:latin typeface="Times New Roman" panose="02020603050405020304" pitchFamily="18" charset="0"/>
              <a:cs typeface="Times New Roman" panose="02020603050405020304" pitchFamily="18" charset="0"/>
            </a:endParaRPr>
          </a:p>
          <a:p>
            <a:endParaRPr lang="en-US" altLang="en-US" sz="1600" dirty="0" smtClean="0">
              <a:latin typeface="Times New Roman" panose="02020603050405020304" pitchFamily="18" charset="0"/>
              <a:cs typeface="Times New Roman" panose="02020603050405020304" pitchFamily="18" charset="0"/>
            </a:endParaRPr>
          </a:p>
        </p:txBody>
      </p:sp>
      <p:sp>
        <p:nvSpPr>
          <p:cNvPr id="6" name="TextBox 5"/>
          <p:cNvSpPr txBox="1"/>
          <p:nvPr/>
        </p:nvSpPr>
        <p:spPr>
          <a:xfrm>
            <a:off x="7550330" y="1384663"/>
            <a:ext cx="2717075" cy="400110"/>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Output:?</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461645" y="430530"/>
            <a:ext cx="7872730" cy="6185535"/>
          </a:xfrm>
          <a:prstGeom prst="rect">
            <a:avLst/>
          </a:prstGeom>
          <a:noFill/>
        </p:spPr>
        <p:txBody>
          <a:bodyPr wrap="square" rtlCol="0">
            <a:spAutoFit/>
          </a:bodyPr>
          <a:lstStyle/>
          <a:p>
            <a:r>
              <a:rPr lang="en-US" b="1" dirty="0">
                <a:solidFill>
                  <a:srgbClr val="FF0000"/>
                </a:solidFill>
                <a:latin typeface="Times New Roman" panose="02020603050405020304" pitchFamily="18" charset="0"/>
                <a:cs typeface="Times New Roman" panose="02020603050405020304" pitchFamily="18" charset="0"/>
                <a:sym typeface="+mn-ea"/>
              </a:rPr>
              <a:t>Swapping numbers using Function Call by </a:t>
            </a:r>
            <a:r>
              <a:rPr lang="en-US" b="1" dirty="0" smtClean="0">
                <a:solidFill>
                  <a:srgbClr val="FF0000"/>
                </a:solidFill>
                <a:latin typeface="Times New Roman" panose="02020603050405020304" pitchFamily="18" charset="0"/>
                <a:cs typeface="Times New Roman" panose="02020603050405020304" pitchFamily="18" charset="0"/>
                <a:sym typeface="+mn-ea"/>
              </a:rPr>
              <a:t>reference</a:t>
            </a:r>
            <a:endParaRPr lang="en-US" b="1" dirty="0" smtClean="0">
              <a:solidFill>
                <a:srgbClr val="FF0000"/>
              </a:solidFill>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#include &lt;iostream&gt;</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using namespace std;</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solidFill>
                  <a:schemeClr val="accent6"/>
                </a:solidFill>
                <a:latin typeface="Times New Roman" panose="02020603050405020304" pitchFamily="18" charset="0"/>
                <a:cs typeface="Times New Roman" panose="02020603050405020304" pitchFamily="18" charset="0"/>
                <a:sym typeface="+mn-ea"/>
              </a:rPr>
              <a:t>// Call by reference using reference variables</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void swapnum(int &amp;var1, int &amp;var2)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int tempnum;</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tempnum = var1;</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var1 = var2;</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var2 = tempnum;</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int main() {</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int num1 = 35, num2 = 45;</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"Before swapping:";</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"\nnum1 value is " &lt;&lt; num1;</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"\nnum2 value is " &lt;&lt; num2 &lt;&lt; endl;</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swapnum(num1, num2);               </a:t>
            </a:r>
            <a:r>
              <a:rPr lang="en-US" altLang="en-US" dirty="0" smtClean="0">
                <a:latin typeface="Times New Roman" panose="02020603050405020304" pitchFamily="18" charset="0"/>
                <a:cs typeface="Times New Roman" panose="02020603050405020304" pitchFamily="18" charset="0"/>
                <a:sym typeface="+mn-ea"/>
              </a:rPr>
              <a:t>    </a:t>
            </a:r>
            <a:r>
              <a:rPr lang="en-US" altLang="en-US" dirty="0" smtClean="0">
                <a:solidFill>
                  <a:schemeClr val="accent6"/>
                </a:solidFill>
                <a:latin typeface="Times New Roman" panose="02020603050405020304" pitchFamily="18" charset="0"/>
                <a:cs typeface="Times New Roman" panose="02020603050405020304" pitchFamily="18" charset="0"/>
                <a:sym typeface="+mn-ea"/>
              </a:rPr>
              <a:t>// calling swap function</a:t>
            </a:r>
            <a:endParaRPr lang="en-US" altLang="en-US" dirty="0" smtClean="0">
              <a:solidFill>
                <a:schemeClr val="accent6"/>
              </a:solidFill>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"\nAfter swapping:";</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"\nnum1 value is " &lt;&lt; num1;</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cout &lt;&lt; "\nnum2 value is " &lt;&lt; num2 &lt;&lt; endl;</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    return 0;</a:t>
            </a:r>
            <a:endParaRPr lang="en-US" altLang="en-US" dirty="0" smtClean="0">
              <a:latin typeface="Times New Roman" panose="02020603050405020304" pitchFamily="18" charset="0"/>
              <a:cs typeface="Times New Roman" panose="02020603050405020304" pitchFamily="18" charset="0"/>
            </a:endParaRPr>
          </a:p>
          <a:p>
            <a:r>
              <a:rPr lang="en-US" altLang="en-US" dirty="0" smtClean="0">
                <a:latin typeface="Times New Roman" panose="02020603050405020304" pitchFamily="18" charset="0"/>
                <a:cs typeface="Times New Roman" panose="02020603050405020304" pitchFamily="18" charset="0"/>
                <a:sym typeface="+mn-ea"/>
              </a:rPr>
              <a:t>}</a:t>
            </a:r>
            <a:endParaRPr lang="en-US" altLang="en-US" dirty="0" smtClean="0">
              <a:latin typeface="Times New Roman" panose="02020603050405020304" pitchFamily="18" charset="0"/>
              <a:cs typeface="Times New Roman" panose="02020603050405020304" pitchFamily="18" charset="0"/>
            </a:endParaRPr>
          </a:p>
          <a:p>
            <a:endParaRPr lang="en-US" altLang="en-US" dirty="0" smtClean="0">
              <a:latin typeface="Times New Roman" panose="02020603050405020304" pitchFamily="18" charset="0"/>
              <a:cs typeface="Times New Roman" panose="02020603050405020304" pitchFamily="18" charset="0"/>
            </a:endParaRPr>
          </a:p>
        </p:txBody>
      </p:sp>
      <p:sp>
        <p:nvSpPr>
          <p:cNvPr id="6" name="TextBox 5"/>
          <p:cNvSpPr txBox="1"/>
          <p:nvPr/>
        </p:nvSpPr>
        <p:spPr>
          <a:xfrm>
            <a:off x="7550330" y="1384663"/>
            <a:ext cx="4641670" cy="3785652"/>
          </a:xfrm>
          <a:prstGeom prst="rect">
            <a:avLst/>
          </a:prstGeom>
          <a:noFill/>
        </p:spPr>
        <p:txBody>
          <a:bodyPr wrap="square" rtlCol="0">
            <a:spAutoFit/>
          </a:bodyPr>
          <a:lstStyle/>
          <a:p>
            <a:r>
              <a:rPr lang="en-US" sz="2000" dirty="0" smtClean="0">
                <a:latin typeface="Times New Roman" panose="02020603050405020304" pitchFamily="18" charset="0"/>
                <a:cs typeface="Times New Roman" panose="02020603050405020304" pitchFamily="18" charset="0"/>
              </a:rPr>
              <a:t>Output:</a:t>
            </a: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Before swapping:</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num1 value is 35</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num2 value is 45</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After swapping:</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num1 value is 45</a:t>
            </a:r>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num2 value is </a:t>
            </a:r>
            <a:r>
              <a:rPr lang="en-US" sz="2000" dirty="0" smtClean="0">
                <a:latin typeface="Times New Roman" panose="02020603050405020304" pitchFamily="18" charset="0"/>
                <a:cs typeface="Times New Roman" panose="02020603050405020304" pitchFamily="18" charset="0"/>
              </a:rPr>
              <a:t>35</a:t>
            </a:r>
            <a:endParaRPr lang="en-US" sz="2000" dirty="0" smtClean="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smtClean="0">
                <a:solidFill>
                  <a:srgbClr val="FF0000"/>
                </a:solidFill>
                <a:latin typeface="Times New Roman" panose="02020603050405020304" pitchFamily="18" charset="0"/>
                <a:cs typeface="Times New Roman" panose="02020603050405020304" pitchFamily="18" charset="0"/>
              </a:rPr>
              <a:t>The </a:t>
            </a:r>
            <a:r>
              <a:rPr lang="en-US" sz="2000" dirty="0">
                <a:solidFill>
                  <a:srgbClr val="FF0000"/>
                </a:solidFill>
                <a:latin typeface="Times New Roman" panose="02020603050405020304" pitchFamily="18" charset="0"/>
                <a:cs typeface="Times New Roman" panose="02020603050405020304" pitchFamily="18" charset="0"/>
              </a:rPr>
              <a:t>values of the variables have been changed after calling the </a:t>
            </a:r>
            <a:r>
              <a:rPr lang="en-US" sz="2000" dirty="0" err="1">
                <a:solidFill>
                  <a:srgbClr val="FF0000"/>
                </a:solidFill>
                <a:latin typeface="Times New Roman" panose="02020603050405020304" pitchFamily="18" charset="0"/>
                <a:cs typeface="Times New Roman" panose="02020603050405020304" pitchFamily="18" charset="0"/>
              </a:rPr>
              <a:t>swapnum</a:t>
            </a:r>
            <a:r>
              <a:rPr lang="en-US" sz="2000" dirty="0">
                <a:solidFill>
                  <a:srgbClr val="FF0000"/>
                </a:solidFill>
                <a:latin typeface="Times New Roman" panose="02020603050405020304" pitchFamily="18" charset="0"/>
                <a:cs typeface="Times New Roman" panose="02020603050405020304" pitchFamily="18" charset="0"/>
              </a:rPr>
              <a:t>() function because the swap happened on the addresses of the variables num1 and num2.</a:t>
            </a:r>
            <a:endParaRPr lang="en-US" sz="2000" dirty="0" smtClean="0">
              <a:solidFill>
                <a:srgbClr val="FF0000"/>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ltLang="en-IN"/>
              <a:t>Exercise</a:t>
            </a:r>
            <a:endParaRPr lang="en-US" altLang="en-IN"/>
          </a:p>
        </p:txBody>
      </p:sp>
      <p:sp>
        <p:nvSpPr>
          <p:cNvPr id="5" name="Content Placeholder 4"/>
          <p:cNvSpPr>
            <a:spLocks noGrp="1"/>
          </p:cNvSpPr>
          <p:nvPr>
            <p:ph idx="1"/>
          </p:nvPr>
        </p:nvSpPr>
        <p:spPr/>
        <p:txBody>
          <a:bodyPr/>
          <a:lstStyle/>
          <a:p>
            <a:r>
              <a:rPr lang="en-US" dirty="0" smtClean="0"/>
              <a:t>Write a program to check whether given number is </a:t>
            </a:r>
            <a:r>
              <a:rPr lang="en-US" dirty="0" err="1" smtClean="0"/>
              <a:t>pallindrome</a:t>
            </a:r>
            <a:r>
              <a:rPr lang="en-US" dirty="0" smtClean="0"/>
              <a:t> or not. (Read number as user input).</a:t>
            </a:r>
            <a:endParaRPr lang="en-US" dirty="0" smtClean="0"/>
          </a:p>
          <a:p>
            <a:r>
              <a:rPr lang="en-US" dirty="0" smtClean="0"/>
              <a:t>Expected op:</a:t>
            </a:r>
            <a:endParaRPr lang="en-US" dirty="0" smtClean="0"/>
          </a:p>
          <a:p>
            <a:pPr lvl="1"/>
            <a:r>
              <a:rPr lang="en-US" dirty="0" smtClean="0"/>
              <a:t>Enter the number: 123</a:t>
            </a:r>
            <a:endParaRPr lang="en-US" dirty="0" smtClean="0"/>
          </a:p>
          <a:p>
            <a:pPr lvl="1"/>
            <a:r>
              <a:rPr lang="en-US" dirty="0" smtClean="0"/>
              <a:t>Given number is not palindrome</a:t>
            </a:r>
            <a:endParaRPr lang="en-US" dirty="0" smtClean="0"/>
          </a:p>
          <a:p>
            <a:pPr lvl="1"/>
            <a:r>
              <a:rPr lang="en-US" dirty="0"/>
              <a:t>Enter the number: </a:t>
            </a:r>
            <a:r>
              <a:rPr lang="en-US" dirty="0" smtClean="0"/>
              <a:t>121</a:t>
            </a:r>
            <a:endParaRPr lang="en-US" dirty="0"/>
          </a:p>
          <a:p>
            <a:pPr lvl="1"/>
            <a:r>
              <a:rPr lang="en-US" dirty="0"/>
              <a:t>Given number is </a:t>
            </a:r>
            <a:r>
              <a:rPr lang="en-US" dirty="0" smtClean="0"/>
              <a:t>palindrome</a:t>
            </a:r>
            <a:endParaRPr lang="en-US" dirty="0"/>
          </a:p>
          <a:p>
            <a:pPr lvl="1"/>
            <a:endParaRPr lang="en-US" dirty="0"/>
          </a:p>
          <a:p>
            <a:endParaRPr lang="en-IN" dirty="0"/>
          </a:p>
        </p:txBody>
      </p:sp>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sp>
        <p:nvSpPr>
          <p:cNvPr id="3" name="Footer Placeholder 2"/>
          <p:cNvSpPr>
            <a:spLocks noGrp="1"/>
          </p:cNvSpPr>
          <p:nvPr>
            <p:ph type="ftr" sz="quarter" idx="11"/>
          </p:nvPr>
        </p:nvSpPr>
        <p:spPr/>
        <p:txBody>
          <a:bodyPr/>
          <a:lstStyle/>
          <a:p>
            <a:r>
              <a:rPr lang="en-US" smtClean="0"/>
              <a:t>Programming in C_Dr. Rupali Patil                                                        Source: Google images wherever required</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1815882"/>
          </a:xfrm>
          <a:prstGeom prst="rect">
            <a:avLst/>
          </a:prstGeom>
          <a:noFill/>
        </p:spPr>
        <p:txBody>
          <a:bodyPr wrap="square" rtlCol="0">
            <a:spAutoFit/>
          </a:bodyPr>
          <a:lstStyle/>
          <a:p>
            <a:r>
              <a:rPr lang="en-US" sz="2800" b="1" dirty="0" smtClean="0">
                <a:solidFill>
                  <a:srgbClr val="FF0000"/>
                </a:solidFill>
                <a:latin typeface="Times New Roman" panose="02020603050405020304" pitchFamily="18" charset="0"/>
                <a:cs typeface="Times New Roman" panose="02020603050405020304" pitchFamily="18" charset="0"/>
              </a:rPr>
              <a:t>Function </a:t>
            </a:r>
            <a:r>
              <a:rPr lang="en-US" sz="2800" b="1" dirty="0">
                <a:solidFill>
                  <a:srgbClr val="FF0000"/>
                </a:solidFill>
                <a:latin typeface="Times New Roman" panose="02020603050405020304" pitchFamily="18" charset="0"/>
                <a:cs typeface="Times New Roman" panose="02020603050405020304" pitchFamily="18" charset="0"/>
              </a:rPr>
              <a:t>– </a:t>
            </a:r>
            <a:r>
              <a:rPr lang="en-US" sz="2800" b="1" dirty="0" smtClean="0">
                <a:solidFill>
                  <a:srgbClr val="FF0000"/>
                </a:solidFill>
                <a:latin typeface="Times New Roman" panose="02020603050405020304" pitchFamily="18" charset="0"/>
                <a:cs typeface="Times New Roman" panose="02020603050405020304" pitchFamily="18" charset="0"/>
              </a:rPr>
              <a:t>Recursion.</a:t>
            </a:r>
            <a:endParaRPr lang="en-US" sz="2800" b="1" dirty="0" smtClean="0">
              <a:solidFill>
                <a:srgbClr val="FF0000"/>
              </a:solidFill>
              <a:latin typeface="Times New Roman" panose="02020603050405020304" pitchFamily="18" charset="0"/>
              <a:cs typeface="Times New Roman" panose="02020603050405020304" pitchFamily="18" charset="0"/>
            </a:endParaRPr>
          </a:p>
          <a:p>
            <a:endParaRPr lang="en-US" sz="2800" b="1" dirty="0">
              <a:solidFill>
                <a:srgbClr val="FF0000"/>
              </a:solidFill>
              <a:latin typeface="Times New Roman" panose="02020603050405020304" pitchFamily="18" charset="0"/>
              <a:cs typeface="Times New Roman" panose="02020603050405020304" pitchFamily="18" charset="0"/>
            </a:endParaRPr>
          </a:p>
          <a:p>
            <a:r>
              <a:rPr lang="en-US" sz="2800" dirty="0">
                <a:solidFill>
                  <a:srgbClr val="0000CC"/>
                </a:solidFill>
                <a:latin typeface="Times New Roman" panose="02020603050405020304" pitchFamily="18" charset="0"/>
                <a:cs typeface="Times New Roman" panose="02020603050405020304" pitchFamily="18" charset="0"/>
              </a:rPr>
              <a:t>A function that calls itself is known as a recursive function.</a:t>
            </a:r>
            <a:r>
              <a:rPr lang="en-US" sz="2800" dirty="0">
                <a:latin typeface="Times New Roman" panose="02020603050405020304" pitchFamily="18" charset="0"/>
                <a:cs typeface="Times New Roman" panose="02020603050405020304" pitchFamily="18" charset="0"/>
              </a:rPr>
              <a:t> And, this technique is known as recursion.</a:t>
            </a:r>
            <a:endParaRPr lang="en-US" sz="2000" dirty="0" smtClean="0">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3492545" y="1878603"/>
            <a:ext cx="4867275" cy="4143375"/>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endParaRPr lang="en-IN"/>
          </a:p>
        </p:txBody>
      </p:sp>
      <p:sp>
        <p:nvSpPr>
          <p:cNvPr id="5" name="Content Placeholder 4"/>
          <p:cNvSpPr>
            <a:spLocks noGrp="1"/>
          </p:cNvSpPr>
          <p:nvPr>
            <p:ph sz="half" idx="1"/>
          </p:nvPr>
        </p:nvSpPr>
        <p:spPr/>
        <p:txBody>
          <a:bodyPr>
            <a:normAutofit/>
          </a:bodyPr>
          <a:lstStyle/>
          <a:p>
            <a:r>
              <a:rPr lang="en-US" dirty="0" smtClean="0"/>
              <a:t>Step 1: divide the problem</a:t>
            </a:r>
            <a:endParaRPr lang="en-US" dirty="0" smtClean="0"/>
          </a:p>
          <a:p>
            <a:pPr lvl="1"/>
            <a:r>
              <a:rPr lang="en-US" dirty="0" smtClean="0"/>
              <a:t>Fact(1)=1</a:t>
            </a:r>
            <a:endParaRPr lang="en-US" dirty="0" smtClean="0"/>
          </a:p>
          <a:p>
            <a:pPr lvl="1"/>
            <a:r>
              <a:rPr lang="en-US" dirty="0" smtClean="0"/>
              <a:t>Fact(2)=2*1   </a:t>
            </a:r>
            <a:endParaRPr lang="en-US" dirty="0" smtClean="0"/>
          </a:p>
          <a:p>
            <a:pPr lvl="1"/>
            <a:r>
              <a:rPr lang="en-US" dirty="0" smtClean="0"/>
              <a:t>Fact(2)= 2* fact(1)</a:t>
            </a:r>
            <a:endParaRPr lang="en-US" dirty="0" smtClean="0"/>
          </a:p>
          <a:p>
            <a:pPr lvl="1"/>
            <a:r>
              <a:rPr lang="en-US" dirty="0" smtClean="0"/>
              <a:t>Fact(3)=3*2*1</a:t>
            </a:r>
            <a:endParaRPr lang="en-US" dirty="0" smtClean="0"/>
          </a:p>
          <a:p>
            <a:pPr lvl="1"/>
            <a:r>
              <a:rPr lang="en-US" smtClean="0"/>
              <a:t>Fact(3)= </a:t>
            </a:r>
            <a:r>
              <a:rPr lang="en-US" dirty="0" smtClean="0"/>
              <a:t>3* </a:t>
            </a:r>
            <a:r>
              <a:rPr lang="en-US" dirty="0"/>
              <a:t>fact(2)</a:t>
            </a:r>
            <a:endParaRPr lang="en-US" dirty="0"/>
          </a:p>
          <a:p>
            <a:pPr lvl="1"/>
            <a:r>
              <a:rPr lang="en-US" dirty="0" smtClean="0"/>
              <a:t>Fact(2)=4*3*2*1</a:t>
            </a:r>
            <a:endParaRPr lang="en-US" dirty="0"/>
          </a:p>
          <a:p>
            <a:pPr lvl="1"/>
            <a:r>
              <a:rPr lang="en-US" dirty="0" smtClean="0"/>
              <a:t>Fact(4)= 4* fact(3)</a:t>
            </a:r>
            <a:endParaRPr lang="en-US" dirty="0" smtClean="0"/>
          </a:p>
          <a:p>
            <a:pPr lvl="1"/>
            <a:r>
              <a:rPr lang="en-US" dirty="0" smtClean="0"/>
              <a:t>...</a:t>
            </a:r>
            <a:endParaRPr lang="en-US" dirty="0" smtClean="0"/>
          </a:p>
          <a:p>
            <a:pPr lvl="1"/>
            <a:r>
              <a:rPr lang="en-US" dirty="0" smtClean="0"/>
              <a:t>Fact(n)= n* fact(n-1)</a:t>
            </a:r>
            <a:endParaRPr lang="en-US" dirty="0"/>
          </a:p>
          <a:p>
            <a:endParaRPr lang="en-US" dirty="0" smtClean="0"/>
          </a:p>
          <a:p>
            <a:endParaRPr lang="en-US" dirty="0"/>
          </a:p>
          <a:p>
            <a:endParaRPr lang="en-US" dirty="0" smtClean="0"/>
          </a:p>
          <a:p>
            <a:endParaRPr lang="en-IN" dirty="0"/>
          </a:p>
        </p:txBody>
      </p:sp>
      <p:sp>
        <p:nvSpPr>
          <p:cNvPr id="6" name="Content Placeholder 5"/>
          <p:cNvSpPr>
            <a:spLocks noGrp="1"/>
          </p:cNvSpPr>
          <p:nvPr>
            <p:ph sz="half" idx="2"/>
          </p:nvPr>
        </p:nvSpPr>
        <p:spPr/>
        <p:txBody>
          <a:bodyPr>
            <a:normAutofit/>
          </a:bodyPr>
          <a:lstStyle/>
          <a:p>
            <a:endParaRPr lang="en-US" dirty="0" smtClean="0"/>
          </a:p>
          <a:p>
            <a:endParaRPr lang="en-US" dirty="0"/>
          </a:p>
          <a:p>
            <a:r>
              <a:rPr lang="en-US" dirty="0" smtClean="0"/>
              <a:t>Step2: base condition</a:t>
            </a:r>
            <a:endParaRPr lang="en-US" dirty="0" smtClean="0"/>
          </a:p>
          <a:p>
            <a:r>
              <a:rPr lang="en-US" dirty="0" smtClean="0"/>
              <a:t>Fact(1)=1</a:t>
            </a:r>
            <a:endParaRPr lang="en-US" dirty="0" smtClean="0"/>
          </a:p>
          <a:p>
            <a:endParaRPr lang="en-IN" dirty="0"/>
          </a:p>
        </p:txBody>
      </p:sp>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sp>
        <p:nvSpPr>
          <p:cNvPr id="3" name="Footer Placeholder 2"/>
          <p:cNvSpPr>
            <a:spLocks noGrp="1"/>
          </p:cNvSpPr>
          <p:nvPr>
            <p:ph type="ftr" sz="quarter" idx="11"/>
          </p:nvPr>
        </p:nvSpPr>
        <p:spPr/>
        <p:txBody>
          <a:bodyPr/>
          <a:lstStyle/>
          <a:p>
            <a:r>
              <a:rPr lang="en-US" smtClean="0"/>
              <a:t>Programming in C_Dr. Rupali Patil                                                        Source: Google images wherever required</a:t>
            </a:r>
            <a:endParaRPr lang="en-US"/>
          </a:p>
        </p:txBody>
      </p:sp>
      <p:pic>
        <p:nvPicPr>
          <p:cNvPr id="614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892419" y="716940"/>
            <a:ext cx="6819900" cy="1133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25187" y="515815"/>
            <a:ext cx="3398194" cy="24215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14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29753" y="3863179"/>
            <a:ext cx="2360735" cy="253762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4" name="Footer Placeholder 3"/>
          <p:cNvSpPr>
            <a:spLocks noGrp="1"/>
          </p:cNvSpPr>
          <p:nvPr>
            <p:ph type="ftr" sz="quarter" idx="11"/>
          </p:nvPr>
        </p:nvSpPr>
        <p:spPr/>
        <p:txBody>
          <a:bodyPr/>
          <a:lstStyle/>
          <a:p>
            <a:r>
              <a:rPr lang="en-US" smtClean="0"/>
              <a:t>Programming in C_Dr. Rupali Patil                                                        Source: Google images wherever required</a:t>
            </a:r>
            <a:endParaRPr lang="en-US"/>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523220"/>
          </a:xfrm>
          <a:prstGeom prst="rect">
            <a:avLst/>
          </a:prstGeom>
          <a:noFill/>
        </p:spPr>
        <p:txBody>
          <a:bodyPr wrap="square" rtlCol="0">
            <a:spAutoFit/>
          </a:bodyPr>
          <a:lstStyle/>
          <a:p>
            <a:r>
              <a:rPr lang="en-US" sz="2800" b="1" dirty="0" smtClean="0">
                <a:solidFill>
                  <a:srgbClr val="FF0000"/>
                </a:solidFill>
                <a:latin typeface="Times New Roman" panose="02020603050405020304" pitchFamily="18" charset="0"/>
                <a:cs typeface="Times New Roman" panose="02020603050405020304" pitchFamily="18" charset="0"/>
              </a:rPr>
              <a:t>Function </a:t>
            </a:r>
            <a:r>
              <a:rPr lang="en-US" sz="2800" b="1" dirty="0">
                <a:solidFill>
                  <a:srgbClr val="FF0000"/>
                </a:solidFill>
                <a:latin typeface="Times New Roman" panose="02020603050405020304" pitchFamily="18" charset="0"/>
                <a:cs typeface="Times New Roman" panose="02020603050405020304" pitchFamily="18" charset="0"/>
              </a:rPr>
              <a:t>– Recursion---Example: Sum of Natural Numbers Using </a:t>
            </a:r>
            <a:r>
              <a:rPr lang="en-US" sz="2800" b="1" dirty="0" smtClean="0">
                <a:solidFill>
                  <a:srgbClr val="FF0000"/>
                </a:solidFill>
                <a:latin typeface="Times New Roman" panose="02020603050405020304" pitchFamily="18" charset="0"/>
                <a:cs typeface="Times New Roman" panose="02020603050405020304" pitchFamily="18" charset="0"/>
              </a:rPr>
              <a:t>Recursion</a:t>
            </a:r>
            <a:endParaRPr lang="en-US" sz="2800" b="1" dirty="0">
              <a:solidFill>
                <a:srgbClr val="FF0000"/>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313509" y="1397726"/>
            <a:ext cx="5212080" cy="5077460"/>
          </a:xfrm>
          <a:prstGeom prst="rect">
            <a:avLst/>
          </a:prstGeom>
          <a:noFill/>
        </p:spPr>
        <p:txBody>
          <a:bodyPr wrap="square" rtlCol="0">
            <a:spAutoFit/>
          </a:bodyPr>
          <a:lstStyle/>
          <a:p>
            <a:r>
              <a:rPr lang="en-US" altLang="en-US" dirty="0">
                <a:latin typeface="Times New Roman" panose="02020603050405020304" pitchFamily="18" charset="0"/>
                <a:cs typeface="Times New Roman" panose="02020603050405020304" pitchFamily="18" charset="0"/>
              </a:rPr>
              <a:t>#include &lt;iostream&gt;</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using namespace std;</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Function Declaration</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int sum(int n) {</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if (n != 0)</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return n + sum(n - 1);  // Recursive call</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else</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return 0;</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int main() {</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int number, result;</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cout &lt;&lt; "Enter a positive integer: ";</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cin &gt;&gt; number;</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result = sum(number);</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cout &lt;&lt; "Sum = " &lt;&lt; result &lt;&lt; endl;</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    return 0;</a:t>
            </a:r>
            <a:endParaRPr lang="en-US" altLang="en-US" dirty="0">
              <a:latin typeface="Times New Roman" panose="02020603050405020304" pitchFamily="18" charset="0"/>
              <a:cs typeface="Times New Roman" panose="02020603050405020304" pitchFamily="18" charset="0"/>
            </a:endParaRPr>
          </a:p>
          <a:p>
            <a:r>
              <a:rPr lang="en-US" altLang="en-US" dirty="0">
                <a:latin typeface="Times New Roman" panose="02020603050405020304" pitchFamily="18" charset="0"/>
                <a:cs typeface="Times New Roman" panose="02020603050405020304" pitchFamily="18" charset="0"/>
              </a:rPr>
              <a:t>}</a:t>
            </a:r>
            <a:endParaRPr lang="en-US" altLang="en-US" dirty="0">
              <a:latin typeface="Times New Roman" panose="02020603050405020304" pitchFamily="18" charset="0"/>
              <a:cs typeface="Times New Roman" panose="02020603050405020304" pitchFamily="18" charset="0"/>
            </a:endParaRPr>
          </a:p>
          <a:p>
            <a:endParaRPr lang="en-US" altLang="en-US" dirty="0">
              <a:latin typeface="Times New Roman" panose="02020603050405020304" pitchFamily="18" charset="0"/>
              <a:cs typeface="Times New Roman" panose="02020603050405020304" pitchFamily="18" charset="0"/>
            </a:endParaRPr>
          </a:p>
        </p:txBody>
      </p:sp>
      <p:sp>
        <p:nvSpPr>
          <p:cNvPr id="9" name="TextBox 8"/>
          <p:cNvSpPr txBox="1"/>
          <p:nvPr/>
        </p:nvSpPr>
        <p:spPr>
          <a:xfrm>
            <a:off x="6858000" y="2066925"/>
            <a:ext cx="3769995" cy="3010535"/>
          </a:xfrm>
          <a:prstGeom prst="rect">
            <a:avLst/>
          </a:prstGeom>
          <a:noFill/>
        </p:spPr>
        <p:txBody>
          <a:bodyPr wrap="square" rtlCol="0">
            <a:noAutofit/>
          </a:bodyPr>
          <a:lstStyle/>
          <a:p>
            <a:r>
              <a:rPr lang="en-US" altLang="en-US" sz="2000" dirty="0"/>
              <a:t>int sum(int n) {</a:t>
            </a:r>
            <a:endParaRPr lang="en-US" altLang="en-US" sz="2000" dirty="0"/>
          </a:p>
          <a:p>
            <a:r>
              <a:rPr lang="en-US" altLang="en-US" sz="2000" dirty="0"/>
              <a:t>    if (n != 0)</a:t>
            </a:r>
            <a:endParaRPr lang="en-US" altLang="en-US" sz="2000" dirty="0"/>
          </a:p>
          <a:p>
            <a:r>
              <a:rPr lang="en-US" altLang="en-US" sz="2000" dirty="0"/>
              <a:t>        return n + sum(n - 1);  // Recursive call</a:t>
            </a:r>
            <a:endParaRPr lang="en-US" altLang="en-US" sz="2000" dirty="0"/>
          </a:p>
          <a:p>
            <a:r>
              <a:rPr lang="en-US" altLang="en-US" sz="2000" dirty="0"/>
              <a:t>    else</a:t>
            </a:r>
            <a:endParaRPr lang="en-US" altLang="en-US" sz="2000" dirty="0"/>
          </a:p>
          <a:p>
            <a:r>
              <a:rPr lang="en-US" altLang="en-US" sz="2000" dirty="0"/>
              <a:t>        return 0;</a:t>
            </a:r>
            <a:endParaRPr lang="en-US" altLang="en-US" sz="2000" dirty="0"/>
          </a:p>
          <a:p>
            <a:r>
              <a:rPr lang="en-US" altLang="en-US" sz="2000" dirty="0"/>
              <a:t>}</a:t>
            </a:r>
            <a:endParaRPr lang="en-US" altLang="en-US" sz="2000" dirty="0"/>
          </a:p>
        </p:txBody>
      </p:sp>
      <p:cxnSp>
        <p:nvCxnSpPr>
          <p:cNvPr id="11" name="Elbow Connector 10"/>
          <p:cNvCxnSpPr/>
          <p:nvPr/>
        </p:nvCxnSpPr>
        <p:spPr>
          <a:xfrm flipV="1">
            <a:off x="2831919" y="2339703"/>
            <a:ext cx="3820884" cy="2835264"/>
          </a:xfrm>
          <a:prstGeom prst="bentConnector3">
            <a:avLst/>
          </a:prstGeom>
          <a:ln w="38100">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1"/>
          <a:stretch>
            <a:fillRect/>
          </a:stretch>
        </p:blipFill>
        <p:spPr>
          <a:xfrm>
            <a:off x="-1" y="6021978"/>
            <a:ext cx="12192001" cy="888274"/>
          </a:xfrm>
          <a:prstGeom prst="rect">
            <a:avLst/>
          </a:prstGeom>
        </p:spPr>
      </p:pic>
      <p:sp>
        <p:nvSpPr>
          <p:cNvPr id="3" name="Date Placeholder 2"/>
          <p:cNvSpPr>
            <a:spLocks noGrp="1"/>
          </p:cNvSpPr>
          <p:nvPr>
            <p:ph type="dt" sz="half" idx="10"/>
          </p:nvPr>
        </p:nvSpPr>
        <p:spPr>
          <a:xfrm>
            <a:off x="10060577" y="6356349"/>
            <a:ext cx="873034" cy="365125"/>
          </a:xfrm>
        </p:spPr>
        <p:txBody>
          <a:bodyPr/>
          <a:lstStyle/>
          <a:p>
            <a:fld id="{C710F9D3-5BD5-44E7-9353-013F5277B205}" type="datetime1">
              <a:rPr lang="en-US" smtClean="0"/>
            </a:fld>
            <a:endParaRPr lang="en-US" dirty="0"/>
          </a:p>
        </p:txBody>
      </p:sp>
      <p:sp>
        <p:nvSpPr>
          <p:cNvPr id="5" name="TextBox 4"/>
          <p:cNvSpPr txBox="1"/>
          <p:nvPr/>
        </p:nvSpPr>
        <p:spPr>
          <a:xfrm>
            <a:off x="-1" y="13061"/>
            <a:ext cx="12192001" cy="523220"/>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Functions</a:t>
            </a:r>
            <a:endParaRPr lang="en-US" sz="2800" b="1" dirty="0">
              <a:latin typeface="Times New Roman" panose="02020603050405020304" pitchFamily="18" charset="0"/>
              <a:cs typeface="Times New Roman" panose="02020603050405020304" pitchFamily="18" charset="0"/>
            </a:endParaRPr>
          </a:p>
        </p:txBody>
      </p:sp>
      <p:sp>
        <p:nvSpPr>
          <p:cNvPr id="8" name="TextBox 7"/>
          <p:cNvSpPr txBox="1"/>
          <p:nvPr/>
        </p:nvSpPr>
        <p:spPr>
          <a:xfrm>
            <a:off x="-2" y="503646"/>
            <a:ext cx="12318275" cy="1384995"/>
          </a:xfrm>
          <a:prstGeom prst="rect">
            <a:avLst/>
          </a:prstGeom>
          <a:noFill/>
        </p:spPr>
        <p:txBody>
          <a:bodyPr wrap="square" rtlCol="0">
            <a:spAutoFit/>
          </a:bodyPr>
          <a:lstStyle/>
          <a:p>
            <a:r>
              <a:rPr lang="en-US" sz="2800" b="1" dirty="0" smtClean="0">
                <a:latin typeface="Times New Roman" panose="02020603050405020304" pitchFamily="18" charset="0"/>
                <a:cs typeface="Times New Roman" panose="02020603050405020304" pitchFamily="18" charset="0"/>
              </a:rPr>
              <a:t>Task</a:t>
            </a:r>
            <a:endParaRPr lang="en-US" sz="2800" b="1" dirty="0" smtClean="0">
              <a:latin typeface="Times New Roman" panose="02020603050405020304" pitchFamily="18" charset="0"/>
              <a:cs typeface="Times New Roman" panose="02020603050405020304" pitchFamily="18" charset="0"/>
            </a:endParaRPr>
          </a:p>
          <a:p>
            <a:endParaRPr lang="en-US" sz="2800" b="1" dirty="0">
              <a:latin typeface="Times New Roman" panose="02020603050405020304" pitchFamily="18" charset="0"/>
              <a:cs typeface="Times New Roman" panose="02020603050405020304" pitchFamily="18" charset="0"/>
            </a:endParaRPr>
          </a:p>
          <a:p>
            <a:r>
              <a:rPr lang="en-US" sz="2800" b="1" dirty="0" smtClean="0">
                <a:latin typeface="Times New Roman" panose="02020603050405020304" pitchFamily="18" charset="0"/>
                <a:cs typeface="Times New Roman" panose="02020603050405020304" pitchFamily="18" charset="0"/>
              </a:rPr>
              <a:t>Find factorial of a number using recursion</a:t>
            </a:r>
            <a:endParaRPr lang="en-US" sz="2000" dirty="0" smtClean="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Calclulate</a:t>
            </a:r>
            <a:r>
              <a:rPr lang="en-US" dirty="0" smtClean="0"/>
              <a:t> GCD of two numbers</a:t>
            </a:r>
            <a:endParaRPr lang="en-IN" dirty="0"/>
          </a:p>
        </p:txBody>
      </p:sp>
      <p:sp>
        <p:nvSpPr>
          <p:cNvPr id="5" name="Content Placeholder 4"/>
          <p:cNvSpPr>
            <a:spLocks noGrp="1"/>
          </p:cNvSpPr>
          <p:nvPr>
            <p:ph idx="1"/>
          </p:nvPr>
        </p:nvSpPr>
        <p:spPr>
          <a:xfrm>
            <a:off x="5474970" y="1181100"/>
            <a:ext cx="5780405" cy="4965700"/>
          </a:xfrm>
        </p:spPr>
        <p:txBody>
          <a:bodyPr>
            <a:noAutofit/>
          </a:bodyPr>
          <a:lstStyle/>
          <a:p>
            <a:pPr marL="0" indent="0">
              <a:buNone/>
            </a:pPr>
            <a:r>
              <a:rPr lang="en-US" sz="1600" b="1" dirty="0"/>
              <a:t>GCD of two </a:t>
            </a:r>
            <a:r>
              <a:rPr lang="en-US" sz="1600" b="1" dirty="0" smtClean="0"/>
              <a:t>numbers using function</a:t>
            </a:r>
            <a:endParaRPr lang="en-IN" sz="1600" b="1" dirty="0" smtClean="0"/>
          </a:p>
          <a:p>
            <a:pPr marL="0" indent="0">
              <a:buNone/>
            </a:pPr>
            <a:r>
              <a:rPr lang="en-US" altLang="en-US" sz="1600" dirty="0"/>
              <a:t>int gcd_num(int x, int y) {             </a:t>
            </a:r>
            <a:r>
              <a:rPr lang="en-US" altLang="en-US" sz="1600" dirty="0">
                <a:sym typeface="+mn-ea"/>
              </a:rPr>
              <a:t>// Function to calculate GCD</a:t>
            </a:r>
            <a:endParaRPr lang="en-US" altLang="en-US" sz="1600" dirty="0"/>
          </a:p>
          <a:p>
            <a:pPr marL="0" indent="0">
              <a:buNone/>
            </a:pPr>
            <a:r>
              <a:rPr lang="en-US" altLang="en-US" sz="1600" dirty="0"/>
              <a:t>    int rem;</a:t>
            </a:r>
            <a:endParaRPr lang="en-US" altLang="en-US" sz="1600" dirty="0"/>
          </a:p>
          <a:p>
            <a:pPr marL="0" indent="0">
              <a:buNone/>
            </a:pPr>
            <a:r>
              <a:rPr lang="en-US" altLang="en-US" sz="1600" dirty="0"/>
              <a:t>    while (y != 0) {</a:t>
            </a:r>
            <a:endParaRPr lang="en-US" altLang="en-US" sz="1600" dirty="0"/>
          </a:p>
          <a:p>
            <a:pPr marL="0" indent="0">
              <a:buNone/>
            </a:pPr>
            <a:r>
              <a:rPr lang="en-US" altLang="en-US" sz="1600" dirty="0"/>
              <a:t>        rem = x % y;</a:t>
            </a:r>
            <a:endParaRPr lang="en-US" altLang="en-US" sz="1600" dirty="0"/>
          </a:p>
          <a:p>
            <a:pPr marL="0" indent="0">
              <a:buNone/>
            </a:pPr>
            <a:r>
              <a:rPr lang="en-US" altLang="en-US" sz="1600" dirty="0"/>
              <a:t>        x = y;</a:t>
            </a:r>
            <a:endParaRPr lang="en-US" altLang="en-US" sz="1600" dirty="0"/>
          </a:p>
          <a:p>
            <a:pPr marL="0" indent="0">
              <a:buNone/>
            </a:pPr>
            <a:r>
              <a:rPr lang="en-US" altLang="en-US" sz="1600" dirty="0"/>
              <a:t>        y = rem;</a:t>
            </a:r>
            <a:endParaRPr lang="en-US" altLang="en-US" sz="1600" dirty="0"/>
          </a:p>
          <a:p>
            <a:pPr marL="0" indent="0">
              <a:buNone/>
            </a:pPr>
            <a:r>
              <a:rPr lang="en-US" altLang="en-US" sz="1600" dirty="0"/>
              <a:t>    }    return x;</a:t>
            </a:r>
            <a:endParaRPr lang="en-US" altLang="en-US" sz="1600" dirty="0"/>
          </a:p>
          <a:p>
            <a:pPr marL="0" indent="0">
              <a:buNone/>
            </a:pPr>
            <a:r>
              <a:rPr lang="en-US" altLang="en-US" sz="1600" dirty="0"/>
              <a:t>}</a:t>
            </a:r>
            <a:endParaRPr lang="en-US" altLang="en-US" sz="1600" dirty="0"/>
          </a:p>
          <a:p>
            <a:pPr marL="0" indent="0">
              <a:buNone/>
            </a:pPr>
            <a:r>
              <a:rPr lang="en-US" altLang="en-US" sz="1600" dirty="0"/>
              <a:t>int main() {</a:t>
            </a:r>
            <a:endParaRPr lang="en-US" altLang="en-US" sz="1600" dirty="0"/>
          </a:p>
          <a:p>
            <a:pPr marL="0" indent="0">
              <a:buNone/>
            </a:pPr>
            <a:r>
              <a:rPr lang="en-US" altLang="en-US" sz="1600" dirty="0"/>
              <a:t>    int a, b, res;</a:t>
            </a:r>
            <a:endParaRPr lang="en-US" altLang="en-US" sz="1600" dirty="0"/>
          </a:p>
          <a:p>
            <a:pPr marL="0" indent="0">
              <a:buNone/>
            </a:pPr>
            <a:r>
              <a:rPr lang="en-US" altLang="en-US" sz="1600" dirty="0"/>
              <a:t>    cout &lt;&lt; "Enter two numbers: ";</a:t>
            </a:r>
            <a:endParaRPr lang="en-US" altLang="en-US" sz="1600" dirty="0"/>
          </a:p>
          <a:p>
            <a:pPr marL="0" indent="0">
              <a:buNone/>
            </a:pPr>
            <a:r>
              <a:rPr lang="en-US" altLang="en-US" sz="1600" dirty="0"/>
              <a:t>    cin &gt;&gt; a &gt;&gt; b;</a:t>
            </a:r>
            <a:endParaRPr lang="en-US" altLang="en-US" sz="1600" dirty="0"/>
          </a:p>
          <a:p>
            <a:pPr marL="0" indent="0">
              <a:buNone/>
            </a:pPr>
            <a:r>
              <a:rPr lang="en-US" altLang="en-US" sz="1600" dirty="0"/>
              <a:t>    res = gcd_num(a, b);</a:t>
            </a:r>
            <a:endParaRPr lang="en-US" altLang="en-US" sz="1600" dirty="0"/>
          </a:p>
          <a:p>
            <a:pPr marL="0" indent="0">
              <a:buNone/>
            </a:pPr>
            <a:r>
              <a:rPr lang="en-US" altLang="en-US" sz="1600" dirty="0"/>
              <a:t>    cout &lt;&lt; "GCD of " &lt;&lt; a &lt;&lt; " and " &lt;&lt; b &lt;&lt; " is " &lt;&lt; res &lt;&lt; endl;</a:t>
            </a:r>
            <a:endParaRPr lang="en-US" altLang="en-US" sz="1600" dirty="0"/>
          </a:p>
          <a:p>
            <a:pPr marL="0" indent="0">
              <a:buNone/>
            </a:pPr>
            <a:r>
              <a:rPr lang="en-US" altLang="en-US" sz="1600" dirty="0"/>
              <a:t>    return 0;   }</a:t>
            </a:r>
            <a:endParaRPr lang="en-US" altLang="en-US" sz="1600" dirty="0"/>
          </a:p>
          <a:p>
            <a:pPr marL="0" indent="0">
              <a:buNone/>
            </a:pPr>
            <a:endParaRPr lang="en-US" altLang="en-US" sz="1600" dirty="0"/>
          </a:p>
        </p:txBody>
      </p:sp>
      <p:sp>
        <p:nvSpPr>
          <p:cNvPr id="2" name="Date Placeholder 1"/>
          <p:cNvSpPr>
            <a:spLocks noGrp="1"/>
          </p:cNvSpPr>
          <p:nvPr>
            <p:ph type="dt" sz="half" idx="10"/>
          </p:nvPr>
        </p:nvSpPr>
        <p:spPr/>
        <p:txBody>
          <a:bodyPr/>
          <a:lstStyle/>
          <a:p>
            <a:fld id="{8665FFD7-5D87-4D45-94DF-A6B3BA204C02}" type="datetime1">
              <a:rPr lang="en-US" smtClean="0"/>
            </a:fld>
            <a:endParaRPr lang="en-US"/>
          </a:p>
        </p:txBody>
      </p:sp>
      <p:sp>
        <p:nvSpPr>
          <p:cNvPr id="6" name="Content Placeholder 4"/>
          <p:cNvSpPr txBox="1"/>
          <p:nvPr/>
        </p:nvSpPr>
        <p:spPr>
          <a:xfrm>
            <a:off x="802640" y="1388110"/>
            <a:ext cx="4001135" cy="5220970"/>
          </a:xfrm>
          <a:prstGeom prst="rect">
            <a:avLst/>
          </a:prstGeom>
        </p:spPr>
        <p:txBody>
          <a:bodyPr vert="horz" lIns="91440" tIns="45720" rIns="91440" bIns="45720" rtlCol="0">
            <a:normAutofit fontScale="6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sym typeface="+mn-ea"/>
              </a:rPr>
              <a:t>GCD of two </a:t>
            </a:r>
            <a:r>
              <a:rPr lang="en-US" b="1" dirty="0" smtClean="0">
                <a:sym typeface="+mn-ea"/>
              </a:rPr>
              <a:t>numbers </a:t>
            </a:r>
            <a:endParaRPr lang="en-US" altLang="en-US" dirty="0"/>
          </a:p>
          <a:p>
            <a:pPr marL="0" indent="0">
              <a:buNone/>
            </a:pPr>
            <a:r>
              <a:rPr lang="en-US" altLang="en-US" dirty="0"/>
              <a:t>#include &lt;iostream&gt;</a:t>
            </a:r>
            <a:endParaRPr lang="en-US" altLang="en-US" dirty="0"/>
          </a:p>
          <a:p>
            <a:pPr marL="0" indent="0">
              <a:buNone/>
            </a:pPr>
            <a:r>
              <a:rPr lang="en-US" altLang="en-US" dirty="0"/>
              <a:t>using namespace std;</a:t>
            </a:r>
            <a:endParaRPr lang="en-US" altLang="en-US" dirty="0"/>
          </a:p>
          <a:p>
            <a:pPr marL="0" indent="0">
              <a:buNone/>
            </a:pPr>
            <a:r>
              <a:rPr lang="en-US" altLang="en-US" dirty="0"/>
              <a:t>int main() {</a:t>
            </a:r>
            <a:endParaRPr lang="en-US" altLang="en-US" dirty="0"/>
          </a:p>
          <a:p>
            <a:pPr marL="0" indent="0">
              <a:buNone/>
            </a:pPr>
            <a:r>
              <a:rPr lang="en-US" altLang="en-US" dirty="0"/>
              <a:t>    int a, b, r = 0;</a:t>
            </a:r>
            <a:endParaRPr lang="en-US" altLang="en-US" dirty="0"/>
          </a:p>
          <a:p>
            <a:pPr marL="0" indent="0">
              <a:buNone/>
            </a:pPr>
            <a:r>
              <a:rPr lang="en-US" altLang="en-US" dirty="0"/>
              <a:t>    cout &lt;&lt; "Enter two numbers: ";</a:t>
            </a:r>
            <a:endParaRPr lang="en-US" altLang="en-US" dirty="0"/>
          </a:p>
          <a:p>
            <a:pPr marL="0" indent="0">
              <a:buNone/>
            </a:pPr>
            <a:r>
              <a:rPr lang="en-US" altLang="en-US" dirty="0"/>
              <a:t>    cin &gt;&gt; a &gt;&gt; b;</a:t>
            </a:r>
            <a:endParaRPr lang="en-US" altLang="en-US" dirty="0"/>
          </a:p>
          <a:p>
            <a:pPr marL="0" indent="0">
              <a:buNone/>
            </a:pPr>
            <a:r>
              <a:rPr lang="en-US" altLang="en-US" dirty="0"/>
              <a:t>    while (b != 0) {</a:t>
            </a:r>
            <a:endParaRPr lang="en-US" altLang="en-US" dirty="0"/>
          </a:p>
          <a:p>
            <a:pPr marL="0" indent="0">
              <a:buNone/>
            </a:pPr>
            <a:r>
              <a:rPr lang="en-US" altLang="en-US" dirty="0"/>
              <a:t>        r = a % b;</a:t>
            </a:r>
            <a:endParaRPr lang="en-US" altLang="en-US" dirty="0"/>
          </a:p>
          <a:p>
            <a:pPr marL="0" indent="0">
              <a:buNone/>
            </a:pPr>
            <a:r>
              <a:rPr lang="en-US" altLang="en-US" dirty="0"/>
              <a:t>        a = b;</a:t>
            </a:r>
            <a:endParaRPr lang="en-US" altLang="en-US" dirty="0"/>
          </a:p>
          <a:p>
            <a:pPr marL="0" indent="0">
              <a:buNone/>
            </a:pPr>
            <a:r>
              <a:rPr lang="en-US" altLang="en-US" dirty="0"/>
              <a:t>        b = r;</a:t>
            </a:r>
            <a:endParaRPr lang="en-US" altLang="en-US" dirty="0"/>
          </a:p>
          <a:p>
            <a:pPr marL="0" indent="0">
              <a:buNone/>
            </a:pPr>
            <a:r>
              <a:rPr lang="en-US" altLang="en-US" dirty="0"/>
              <a:t>    }</a:t>
            </a:r>
            <a:endParaRPr lang="en-US" altLang="en-US" dirty="0"/>
          </a:p>
          <a:p>
            <a:pPr marL="0" indent="0">
              <a:buNone/>
            </a:pPr>
            <a:r>
              <a:rPr lang="en-US" altLang="en-US" dirty="0"/>
              <a:t>    cout &lt;&lt; "GCD is: " &lt;&lt; a &lt;&lt; endl;</a:t>
            </a:r>
            <a:endParaRPr lang="en-US" altLang="en-US" dirty="0"/>
          </a:p>
          <a:p>
            <a:pPr marL="0" indent="0">
              <a:buNone/>
            </a:pPr>
            <a:r>
              <a:rPr lang="en-US" altLang="en-US" dirty="0"/>
              <a:t>    return 0;</a:t>
            </a:r>
            <a:endParaRPr lang="en-US" altLang="en-US" dirty="0"/>
          </a:p>
          <a:p>
            <a:pPr marL="0" indent="0">
              <a:buNone/>
            </a:pPr>
            <a:endParaRPr lang="en-US" alt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LCD of two numbers</a:t>
            </a:r>
            <a:endParaRPr lang="en-IN" dirty="0"/>
          </a:p>
        </p:txBody>
      </p:sp>
      <p:sp>
        <p:nvSpPr>
          <p:cNvPr id="3" name="Content Placeholder 2"/>
          <p:cNvSpPr>
            <a:spLocks noGrp="1"/>
          </p:cNvSpPr>
          <p:nvPr>
            <p:ph idx="1"/>
          </p:nvPr>
        </p:nvSpPr>
        <p:spPr/>
        <p:txBody>
          <a:bodyPr/>
          <a:lstStyle/>
          <a:p>
            <a:r>
              <a:rPr lang="en-US" dirty="0"/>
              <a:t>The formula to find the LCM of two </a:t>
            </a:r>
            <a:r>
              <a:rPr lang="en-US" dirty="0" smtClean="0"/>
              <a:t>numbers:</a:t>
            </a:r>
            <a:endParaRPr lang="en-IN" dirty="0"/>
          </a:p>
        </p:txBody>
      </p:sp>
      <p:sp>
        <p:nvSpPr>
          <p:cNvPr id="4" name="Date Placeholder 3"/>
          <p:cNvSpPr>
            <a:spLocks noGrp="1"/>
          </p:cNvSpPr>
          <p:nvPr>
            <p:ph type="dt" sz="half" idx="10"/>
          </p:nvPr>
        </p:nvSpPr>
        <p:spPr/>
        <p:txBody>
          <a:bodyPr/>
          <a:lstStyle/>
          <a:p>
            <a:fld id="{9BA6CA6F-5997-4083-B982-9DC6D9078DD8}"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963857" y="2737706"/>
            <a:ext cx="5425319" cy="169361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2338" y="365125"/>
            <a:ext cx="10521462" cy="619613"/>
          </a:xfrm>
        </p:spPr>
        <p:txBody>
          <a:bodyPr/>
          <a:lstStyle/>
          <a:p>
            <a:r>
              <a:rPr lang="en-IN" sz="2800" b="1" dirty="0" smtClean="0"/>
              <a:t>C</a:t>
            </a:r>
            <a:r>
              <a:rPr lang="en-US" altLang="en-IN" sz="2800" b="1" dirty="0" smtClean="0"/>
              <a:t>++</a:t>
            </a:r>
            <a:r>
              <a:rPr lang="en-IN" sz="2800" b="1" dirty="0" smtClean="0"/>
              <a:t> </a:t>
            </a:r>
            <a:r>
              <a:rPr lang="en-IN" sz="2800" b="1" dirty="0"/>
              <a:t>Program to print the string using a function</a:t>
            </a:r>
            <a:endParaRPr lang="en-IN" dirty="0"/>
          </a:p>
        </p:txBody>
      </p:sp>
      <p:sp>
        <p:nvSpPr>
          <p:cNvPr id="3" name="Content Placeholder 2"/>
          <p:cNvSpPr>
            <a:spLocks noGrp="1"/>
          </p:cNvSpPr>
          <p:nvPr>
            <p:ph idx="1"/>
          </p:nvPr>
        </p:nvSpPr>
        <p:spPr>
          <a:xfrm>
            <a:off x="1694180" y="1085850"/>
            <a:ext cx="11045825" cy="5168900"/>
          </a:xfrm>
        </p:spPr>
        <p:txBody>
          <a:bodyPr>
            <a:noAutofit/>
          </a:bodyPr>
          <a:lstStyle/>
          <a:p>
            <a:pPr marL="0" indent="0">
              <a:buNone/>
            </a:pPr>
            <a:r>
              <a:rPr lang="en-US" altLang="en-US" sz="1600" dirty="0"/>
              <a:t>#include &lt;iostream&gt;</a:t>
            </a:r>
            <a:endParaRPr lang="en-US" altLang="en-US" sz="1600" dirty="0"/>
          </a:p>
          <a:p>
            <a:pPr marL="0" indent="0">
              <a:buNone/>
            </a:pPr>
            <a:r>
              <a:rPr lang="en-US" altLang="en-US" sz="1600" dirty="0"/>
              <a:t>using namespace std;</a:t>
            </a:r>
            <a:endParaRPr lang="en-US" altLang="en-US" sz="1600" dirty="0"/>
          </a:p>
          <a:p>
            <a:pPr marL="0" indent="0">
              <a:buNone/>
            </a:pPr>
            <a:r>
              <a:rPr lang="en-US" altLang="en-US" sz="1600" dirty="0"/>
              <a:t>void printString(char* str) {               </a:t>
            </a:r>
            <a:r>
              <a:rPr lang="en-US" altLang="en-US" sz="1600" dirty="0">
                <a:sym typeface="+mn-ea"/>
              </a:rPr>
              <a:t>// Function to print the string</a:t>
            </a:r>
            <a:endParaRPr lang="en-US" altLang="en-US" sz="1600" dirty="0"/>
          </a:p>
          <a:p>
            <a:pPr marL="0" indent="0">
              <a:buNone/>
            </a:pPr>
            <a:r>
              <a:rPr lang="en-US" altLang="en-US" sz="1600" dirty="0"/>
              <a:t>    cout &lt;&lt; "Array of Characters: ";</a:t>
            </a:r>
            <a:endParaRPr lang="en-US" altLang="en-US" sz="1600" dirty="0"/>
          </a:p>
          <a:p>
            <a:pPr marL="0" indent="0">
              <a:buNone/>
            </a:pPr>
            <a:r>
              <a:rPr lang="en-US" altLang="en-US" sz="1600" dirty="0"/>
              <a:t>    int i = 0;</a:t>
            </a:r>
            <a:endParaRPr lang="en-US" altLang="en-US" sz="1600" dirty="0"/>
          </a:p>
          <a:p>
            <a:pPr marL="0" indent="0">
              <a:buNone/>
            </a:pPr>
            <a:r>
              <a:rPr lang="en-US" altLang="en-US" sz="1600" dirty="0"/>
              <a:t>    while (str[i] != '\0') {</a:t>
            </a:r>
            <a:endParaRPr lang="en-US" altLang="en-US" sz="1600" dirty="0"/>
          </a:p>
          <a:p>
            <a:pPr marL="0" indent="0">
              <a:buNone/>
            </a:pPr>
            <a:r>
              <a:rPr lang="en-US" altLang="en-US" sz="1600" dirty="0"/>
              <a:t>        cout &lt;&lt; str[i] &lt;&lt; " ";</a:t>
            </a:r>
            <a:endParaRPr lang="en-US" altLang="en-US" sz="1600" dirty="0"/>
          </a:p>
          <a:p>
            <a:pPr marL="0" indent="0">
              <a:buNone/>
            </a:pPr>
            <a:r>
              <a:rPr lang="en-US" altLang="en-US" sz="1600" dirty="0"/>
              <a:t>        i++;</a:t>
            </a:r>
            <a:endParaRPr lang="en-US" altLang="en-US" sz="1600" dirty="0"/>
          </a:p>
          <a:p>
            <a:pPr marL="0" indent="0">
              <a:buNone/>
            </a:pPr>
            <a:r>
              <a:rPr lang="en-US" altLang="en-US" sz="1600" dirty="0"/>
              <a:t>    }</a:t>
            </a:r>
            <a:endParaRPr lang="en-US" altLang="en-US" sz="1600" dirty="0"/>
          </a:p>
          <a:p>
            <a:pPr marL="0" indent="0">
              <a:buNone/>
            </a:pPr>
            <a:r>
              <a:rPr lang="en-US" altLang="en-US" sz="1600" dirty="0"/>
              <a:t>    cout &lt;&lt; endl;</a:t>
            </a:r>
            <a:endParaRPr lang="en-US" altLang="en-US" sz="1600" dirty="0"/>
          </a:p>
          <a:p>
            <a:pPr marL="0" indent="0">
              <a:buNone/>
            </a:pPr>
            <a:r>
              <a:rPr lang="en-US" altLang="en-US" sz="1600" dirty="0"/>
              <a:t>}</a:t>
            </a:r>
            <a:endParaRPr lang="en-US" altLang="en-US" sz="1600" dirty="0"/>
          </a:p>
          <a:p>
            <a:pPr marL="0" indent="0">
              <a:buNone/>
            </a:pPr>
            <a:r>
              <a:rPr lang="en-US" altLang="en-US" sz="1600" dirty="0"/>
              <a:t>int main() {</a:t>
            </a:r>
            <a:endParaRPr lang="en-US" altLang="en-US" sz="1600" dirty="0"/>
          </a:p>
          <a:p>
            <a:pPr marL="0" indent="0">
              <a:buNone/>
            </a:pPr>
            <a:r>
              <a:rPr lang="en-US" altLang="en-US" sz="1600" dirty="0"/>
              <a:t>    char arr[] = "String";</a:t>
            </a:r>
            <a:endParaRPr lang="en-US" altLang="en-US" sz="1600" dirty="0"/>
          </a:p>
          <a:p>
            <a:pPr marL="0" indent="0">
              <a:buNone/>
            </a:pPr>
            <a:r>
              <a:rPr lang="en-US" altLang="en-US" sz="1600" dirty="0"/>
              <a:t>    printString(arr);</a:t>
            </a:r>
            <a:endParaRPr lang="en-US" altLang="en-US" sz="1600" dirty="0"/>
          </a:p>
          <a:p>
            <a:pPr marL="0" indent="0">
              <a:buNone/>
            </a:pPr>
            <a:r>
              <a:rPr lang="en-US" altLang="en-US" sz="1600" dirty="0"/>
              <a:t>    return 0;</a:t>
            </a:r>
            <a:endParaRPr lang="en-US" altLang="en-US" sz="1600" dirty="0"/>
          </a:p>
          <a:p>
            <a:pPr marL="0" indent="0">
              <a:buNone/>
            </a:pPr>
            <a:r>
              <a:rPr lang="en-US" altLang="en-US" sz="1600" dirty="0"/>
              <a:t>}</a:t>
            </a:r>
            <a:endParaRPr lang="en-US" altLang="en-US" sz="1600" dirty="0"/>
          </a:p>
          <a:p>
            <a:pPr marL="0" indent="0">
              <a:buNone/>
            </a:pPr>
            <a:endParaRPr lang="en-US" altLang="en-US" sz="1600" dirty="0"/>
          </a:p>
        </p:txBody>
      </p:sp>
      <p:sp>
        <p:nvSpPr>
          <p:cNvPr id="4" name="Date Placeholder 3"/>
          <p:cNvSpPr>
            <a:spLocks noGrp="1"/>
          </p:cNvSpPr>
          <p:nvPr>
            <p:ph type="dt" sz="half" idx="10"/>
          </p:nvPr>
        </p:nvSpPr>
        <p:spPr/>
        <p:txBody>
          <a:bodyPr/>
          <a:lstStyle/>
          <a:p>
            <a:fld id="{9BA6CA6F-5997-4083-B982-9DC6D9078DD8}" type="datetime1">
              <a:rPr lang="en-US" smtClean="0"/>
            </a:fld>
            <a:endParaRPr lang="en-US"/>
          </a:p>
        </p:txBody>
      </p:sp>
      <p:sp>
        <p:nvSpPr>
          <p:cNvPr id="5" name="Footer Placeholder 4"/>
          <p:cNvSpPr>
            <a:spLocks noGrp="1"/>
          </p:cNvSpPr>
          <p:nvPr>
            <p:ph type="ftr" sz="quarter" idx="11"/>
          </p:nvPr>
        </p:nvSpPr>
        <p:spPr/>
        <p:txBody>
          <a:bodyPr/>
          <a:lstStyle/>
          <a:p>
            <a:r>
              <a:rPr lang="en-US" smtClean="0"/>
              <a:t>Programming in C_Dr. Rupali Patil                                                        Source: Google images wherever required</a:t>
            </a:r>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15519</Words>
  <Application>WPS Presentation</Application>
  <PresentationFormat>Custom</PresentationFormat>
  <Paragraphs>611</Paragraphs>
  <Slides>38</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38</vt:i4>
      </vt:variant>
    </vt:vector>
  </HeadingPairs>
  <TitlesOfParts>
    <vt:vector size="47" baseType="lpstr">
      <vt:lpstr>Arial</vt:lpstr>
      <vt:lpstr>SimSun</vt:lpstr>
      <vt:lpstr>Wingdings</vt:lpstr>
      <vt:lpstr>Times New Roman</vt:lpstr>
      <vt:lpstr>Microsoft YaHei</vt:lpstr>
      <vt:lpstr>Arial Unicode MS</vt:lpstr>
      <vt:lpstr>Calibri Light</vt:lpstr>
      <vt:lpstr>Calibri</vt:lpstr>
      <vt:lpstr>Office Theme</vt:lpstr>
      <vt:lpstr>Stuctured Programming Methodology</vt:lpstr>
      <vt:lpstr>PowerPoint 演示文稿</vt:lpstr>
      <vt:lpstr>PowerPoint 演示文稿</vt:lpstr>
      <vt:lpstr>PowerPoint 演示文稿</vt:lpstr>
      <vt:lpstr>PowerPoint 演示文稿</vt:lpstr>
      <vt:lpstr>PowerPoint 演示文稿</vt:lpstr>
      <vt:lpstr>PowerPoint 演示文稿</vt:lpstr>
      <vt:lpstr>Example </vt:lpstr>
      <vt:lpstr>Function Declaration and Definition</vt:lpstr>
      <vt:lpstr>How function works in c++</vt:lpstr>
      <vt:lpstr>PowerPoint 演示文稿</vt:lpstr>
      <vt:lpstr>Example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Example:</vt:lpstr>
      <vt:lpstr>PowerPoint 演示文稿</vt:lpstr>
      <vt:lpstr>PowerPoint 演示文稿</vt:lpstr>
      <vt:lpstr>Exercise</vt:lpstr>
      <vt:lpstr>PowerPoint 演示文稿</vt:lpstr>
      <vt:lpstr>PowerPoint 演示文稿</vt:lpstr>
      <vt:lpstr>PowerPoint 演示文稿</vt:lpstr>
      <vt:lpstr>PowerPoint 演示文稿</vt:lpstr>
      <vt:lpstr>Calclulate GCD of two numbers</vt:lpstr>
      <vt:lpstr>LCD of two numbers</vt:lpstr>
      <vt:lpstr>C++ Program to print the string using a function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EXTC</dc:creator>
  <cp:lastModifiedBy>VEENA BADGUJAR</cp:lastModifiedBy>
  <cp:revision>301</cp:revision>
  <dcterms:created xsi:type="dcterms:W3CDTF">2020-09-07T06:43:00Z</dcterms:created>
  <dcterms:modified xsi:type="dcterms:W3CDTF">2025-10-16T05:11:42Z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1EC0B258213E46F08045281DD8F741DE_13</vt:lpwstr>
  </property>
  <property fmtid="{D5CDD505-2E9C-101B-9397-08002B2CF9AE}" pid="3" name="KSOProductBuildVer">
    <vt:lpwstr>1033-12.2.0.22549</vt:lpwstr>
  </property>
</Properties>
</file>
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65"/>
  </p:notesMasterIdLst>
  <p:sldIdLst>
    <p:sldId id="256" r:id="rId2"/>
    <p:sldId id="292" r:id="rId3"/>
    <p:sldId id="355" r:id="rId4"/>
    <p:sldId id="257" r:id="rId5"/>
    <p:sldId id="295" r:id="rId6"/>
    <p:sldId id="296" r:id="rId7"/>
    <p:sldId id="297" r:id="rId8"/>
    <p:sldId id="298" r:id="rId9"/>
    <p:sldId id="305" r:id="rId10"/>
    <p:sldId id="299" r:id="rId11"/>
    <p:sldId id="300" r:id="rId12"/>
    <p:sldId id="301" r:id="rId13"/>
    <p:sldId id="302" r:id="rId14"/>
    <p:sldId id="303" r:id="rId15"/>
    <p:sldId id="306" r:id="rId16"/>
    <p:sldId id="307" r:id="rId17"/>
    <p:sldId id="308" r:id="rId18"/>
    <p:sldId id="309" r:id="rId19"/>
    <p:sldId id="315" r:id="rId20"/>
    <p:sldId id="318" r:id="rId21"/>
    <p:sldId id="319" r:id="rId22"/>
    <p:sldId id="314" r:id="rId23"/>
    <p:sldId id="330" r:id="rId24"/>
    <p:sldId id="316" r:id="rId25"/>
    <p:sldId id="317" r:id="rId26"/>
    <p:sldId id="320" r:id="rId27"/>
    <p:sldId id="321" r:id="rId28"/>
    <p:sldId id="322" r:id="rId29"/>
    <p:sldId id="323" r:id="rId30"/>
    <p:sldId id="324" r:id="rId31"/>
    <p:sldId id="325" r:id="rId32"/>
    <p:sldId id="310" r:id="rId33"/>
    <p:sldId id="335" r:id="rId34"/>
    <p:sldId id="336" r:id="rId35"/>
    <p:sldId id="327" r:id="rId36"/>
    <p:sldId id="328" r:id="rId37"/>
    <p:sldId id="331" r:id="rId38"/>
    <p:sldId id="332" r:id="rId39"/>
    <p:sldId id="333" r:id="rId40"/>
    <p:sldId id="334" r:id="rId41"/>
    <p:sldId id="329" r:id="rId42"/>
    <p:sldId id="326" r:id="rId43"/>
    <p:sldId id="313" r:id="rId44"/>
    <p:sldId id="311" r:id="rId45"/>
    <p:sldId id="304" r:id="rId46"/>
    <p:sldId id="337" r:id="rId47"/>
    <p:sldId id="354" r:id="rId48"/>
    <p:sldId id="338" r:id="rId49"/>
    <p:sldId id="339" r:id="rId50"/>
    <p:sldId id="340" r:id="rId51"/>
    <p:sldId id="341" r:id="rId52"/>
    <p:sldId id="352" r:id="rId53"/>
    <p:sldId id="348" r:id="rId54"/>
    <p:sldId id="349" r:id="rId55"/>
    <p:sldId id="350" r:id="rId56"/>
    <p:sldId id="351" r:id="rId57"/>
    <p:sldId id="343" r:id="rId58"/>
    <p:sldId id="345" r:id="rId59"/>
    <p:sldId id="347" r:id="rId60"/>
    <p:sldId id="346" r:id="rId61"/>
    <p:sldId id="353" r:id="rId62"/>
    <p:sldId id="344" r:id="rId63"/>
    <p:sldId id="293" r:id="rId6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70" d="100"/>
          <a:sy n="70" d="100"/>
        </p:scale>
        <p:origin x="-1156" y="180"/>
      </p:cViewPr>
      <p:guideLst>
        <p:guide orient="horz" pos="2160"/>
        <p:guide pos="2880"/>
      </p:guideLst>
    </p:cSldViewPr>
  </p:slideViewPr>
  <p:notesTextViewPr>
    <p:cViewPr>
      <p:scale>
        <a:sx n="1" d="1"/>
        <a:sy n="1" d="1"/>
      </p:scale>
      <p:origin x="0" y="0"/>
    </p:cViewPr>
  </p:notesTextViewPr>
  <p:sorterViewPr>
    <p:cViewPr>
      <p:scale>
        <a:sx n="100" d="100"/>
        <a:sy n="100" d="100"/>
      </p:scale>
      <p:origin x="0" y="9932"/>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A55FC4C-137F-48B5-9EAE-678439AADE18}" type="datetimeFigureOut">
              <a:rPr lang="en-IN" smtClean="0"/>
              <a:t>30-10-2025</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60266FF-0E8B-486A-8EB0-225CFE989BB5}" type="slidenum">
              <a:rPr lang="en-IN" smtClean="0"/>
              <a:t>‹#›</a:t>
            </a:fld>
            <a:endParaRPr lang="en-IN"/>
          </a:p>
        </p:txBody>
      </p:sp>
    </p:spTree>
    <p:extLst>
      <p:ext uri="{BB962C8B-B14F-4D97-AF65-F5344CB8AC3E}">
        <p14:creationId xmlns:p14="http://schemas.microsoft.com/office/powerpoint/2010/main" val="3920765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err="1" smtClean="0">
                <a:solidFill>
                  <a:schemeClr val="tx1"/>
                </a:solidFill>
                <a:latin typeface="+mn-lt"/>
                <a:ea typeface="+mn-ea"/>
                <a:cs typeface="+mn-cs"/>
              </a:rPr>
              <a:t>ften</a:t>
            </a:r>
            <a:r>
              <a:rPr lang="en-US" sz="1200" b="0" i="0" u="none" strike="noStrike" kern="1200" baseline="0" dirty="0" smtClean="0">
                <a:solidFill>
                  <a:schemeClr val="tx1"/>
                </a:solidFill>
                <a:latin typeface="+mn-lt"/>
                <a:ea typeface="+mn-ea"/>
                <a:cs typeface="+mn-cs"/>
              </a:rPr>
              <a:t> it is not enough to just display the data on the screen. This is</a:t>
            </a:r>
          </a:p>
          <a:p>
            <a:r>
              <a:rPr lang="en-US" sz="1200" b="0" i="0" u="none" strike="noStrike" kern="1200" baseline="0" dirty="0" smtClean="0">
                <a:solidFill>
                  <a:schemeClr val="tx1"/>
                </a:solidFill>
                <a:latin typeface="+mn-lt"/>
                <a:ea typeface="+mn-ea"/>
                <a:cs typeface="+mn-cs"/>
              </a:rPr>
              <a:t>because if the data is large, only a limited amount of it can be</a:t>
            </a:r>
          </a:p>
          <a:p>
            <a:r>
              <a:rPr lang="en-US" sz="1200" b="0" i="0" u="none" strike="noStrike" kern="1200" baseline="0" dirty="0" smtClean="0">
                <a:solidFill>
                  <a:schemeClr val="tx1"/>
                </a:solidFill>
                <a:latin typeface="+mn-lt"/>
                <a:ea typeface="+mn-ea"/>
                <a:cs typeface="+mn-cs"/>
              </a:rPr>
              <a:t>stored in memory and only a limited amount of it can be displayed on</a:t>
            </a:r>
          </a:p>
          <a:p>
            <a:r>
              <a:rPr lang="en-US" sz="1200" b="0" i="0" u="none" strike="noStrike" kern="1200" baseline="0" dirty="0" smtClean="0">
                <a:solidFill>
                  <a:schemeClr val="tx1"/>
                </a:solidFill>
                <a:latin typeface="+mn-lt"/>
                <a:ea typeface="+mn-ea"/>
                <a:cs typeface="+mn-cs"/>
              </a:rPr>
              <a:t>the screen. It would be inappropriate to store this data in memory for</a:t>
            </a:r>
          </a:p>
          <a:p>
            <a:r>
              <a:rPr lang="en-US" sz="1200" b="0" i="0" u="none" strike="noStrike" kern="1200" baseline="0" dirty="0" smtClean="0">
                <a:solidFill>
                  <a:schemeClr val="tx1"/>
                </a:solidFill>
                <a:latin typeface="+mn-lt"/>
                <a:ea typeface="+mn-ea"/>
                <a:cs typeface="+mn-cs"/>
              </a:rPr>
              <a:t>one more reason. Memory is volatile and its contents would be lost once</a:t>
            </a:r>
          </a:p>
          <a:p>
            <a:r>
              <a:rPr lang="en-US" sz="1200" b="0" i="0" u="none" strike="noStrike" kern="1200" baseline="0" dirty="0" smtClean="0">
                <a:solidFill>
                  <a:schemeClr val="tx1"/>
                </a:solidFill>
                <a:latin typeface="+mn-lt"/>
                <a:ea typeface="+mn-ea"/>
                <a:cs typeface="+mn-cs"/>
              </a:rPr>
              <a:t>the program is terminated. So if we need the same data again it would</a:t>
            </a:r>
          </a:p>
          <a:p>
            <a:r>
              <a:rPr lang="en-US" sz="1200" b="0" i="0" u="none" strike="noStrike" kern="1200" baseline="0" dirty="0" smtClean="0">
                <a:solidFill>
                  <a:schemeClr val="tx1"/>
                </a:solidFill>
                <a:latin typeface="+mn-lt"/>
                <a:ea typeface="+mn-ea"/>
                <a:cs typeface="+mn-cs"/>
              </a:rPr>
              <a:t>have to be either entered through the keyboard again or would have to</a:t>
            </a:r>
          </a:p>
          <a:p>
            <a:r>
              <a:rPr lang="en-US" sz="1200" b="0" i="0" u="none" strike="noStrike" kern="1200" baseline="0" dirty="0" smtClean="0">
                <a:solidFill>
                  <a:schemeClr val="tx1"/>
                </a:solidFill>
                <a:latin typeface="+mn-lt"/>
                <a:ea typeface="+mn-ea"/>
                <a:cs typeface="+mn-cs"/>
              </a:rPr>
              <a:t>be regenerated programmatically. Obviously both these operations</a:t>
            </a:r>
          </a:p>
          <a:p>
            <a:r>
              <a:rPr lang="en-US" sz="1200" b="0" i="0" u="none" strike="noStrike" kern="1200" baseline="0" dirty="0" smtClean="0">
                <a:solidFill>
                  <a:schemeClr val="tx1"/>
                </a:solidFill>
                <a:latin typeface="+mn-lt"/>
                <a:ea typeface="+mn-ea"/>
                <a:cs typeface="+mn-cs"/>
              </a:rPr>
              <a:t>would be tedious. At such times it becomes necessary to store the data</a:t>
            </a:r>
          </a:p>
          <a:p>
            <a:r>
              <a:rPr lang="en-US" sz="1200" b="0" i="0" u="none" strike="noStrike" kern="1200" baseline="0" dirty="0" smtClean="0">
                <a:solidFill>
                  <a:schemeClr val="tx1"/>
                </a:solidFill>
                <a:latin typeface="+mn-lt"/>
                <a:ea typeface="+mn-ea"/>
                <a:cs typeface="+mn-cs"/>
              </a:rPr>
              <a:t>in a manner that can be later retrieved and displayed either in part or in</a:t>
            </a:r>
          </a:p>
          <a:p>
            <a:r>
              <a:rPr lang="en-US" sz="1200" b="0" i="0" u="none" strike="noStrike" kern="1200" baseline="0" dirty="0" smtClean="0">
                <a:solidFill>
                  <a:schemeClr val="tx1"/>
                </a:solidFill>
                <a:latin typeface="+mn-lt"/>
                <a:ea typeface="+mn-ea"/>
                <a:cs typeface="+mn-cs"/>
              </a:rPr>
              <a:t>whole. This medium is usually a ‘file’ on the disk.</a:t>
            </a:r>
            <a:endParaRPr lang="en-IN" dirty="0"/>
          </a:p>
        </p:txBody>
      </p:sp>
      <p:sp>
        <p:nvSpPr>
          <p:cNvPr id="4" name="Slide Number Placeholder 3"/>
          <p:cNvSpPr>
            <a:spLocks noGrp="1"/>
          </p:cNvSpPr>
          <p:nvPr>
            <p:ph type="sldNum" sz="quarter" idx="10"/>
          </p:nvPr>
        </p:nvSpPr>
        <p:spPr/>
        <p:txBody>
          <a:bodyPr/>
          <a:lstStyle/>
          <a:p>
            <a:fld id="{860266FF-0E8B-486A-8EB0-225CFE989BB5}" type="slidenum">
              <a:rPr lang="en-IN" smtClean="0"/>
              <a:t>47</a:t>
            </a:fld>
            <a:endParaRPr lang="en-IN"/>
          </a:p>
        </p:txBody>
      </p:sp>
    </p:spTree>
    <p:extLst>
      <p:ext uri="{BB962C8B-B14F-4D97-AF65-F5344CB8AC3E}">
        <p14:creationId xmlns:p14="http://schemas.microsoft.com/office/powerpoint/2010/main" val="41109033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860266FF-0E8B-486A-8EB0-225CFE989BB5}" type="slidenum">
              <a:rPr lang="en-IN" smtClean="0"/>
              <a:t>49</a:t>
            </a:fld>
            <a:endParaRPr lang="en-IN"/>
          </a:p>
        </p:txBody>
      </p:sp>
    </p:spTree>
    <p:extLst>
      <p:ext uri="{BB962C8B-B14F-4D97-AF65-F5344CB8AC3E}">
        <p14:creationId xmlns:p14="http://schemas.microsoft.com/office/powerpoint/2010/main" val="32629861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smtClean="0">
                <a:solidFill>
                  <a:schemeClr val="tx1"/>
                </a:solidFill>
                <a:latin typeface="+mn-lt"/>
                <a:ea typeface="+mn-ea"/>
                <a:cs typeface="+mn-cs"/>
              </a:rPr>
              <a:t>In fact </a:t>
            </a:r>
            <a:r>
              <a:rPr lang="en-US" sz="1200" b="1" i="0" u="none" strike="noStrike" kern="1200" baseline="0" dirty="0" err="1" smtClean="0">
                <a:solidFill>
                  <a:schemeClr val="tx1"/>
                </a:solidFill>
                <a:latin typeface="+mn-lt"/>
                <a:ea typeface="+mn-ea"/>
                <a:cs typeface="+mn-cs"/>
              </a:rPr>
              <a:t>fopen</a:t>
            </a:r>
            <a:r>
              <a:rPr lang="en-US" sz="1200" b="1" i="0" u="none" strike="noStrike" kern="1200" baseline="0" dirty="0" smtClean="0">
                <a:solidFill>
                  <a:schemeClr val="tx1"/>
                </a:solidFill>
                <a:latin typeface="+mn-lt"/>
                <a:ea typeface="+mn-ea"/>
                <a:cs typeface="+mn-cs"/>
              </a:rPr>
              <a:t>( ) </a:t>
            </a:r>
            <a:r>
              <a:rPr lang="en-US" sz="1200" b="0" i="0" u="none" strike="noStrike" kern="1200" baseline="0" dirty="0" smtClean="0">
                <a:solidFill>
                  <a:schemeClr val="tx1"/>
                </a:solidFill>
                <a:latin typeface="+mn-lt"/>
                <a:ea typeface="+mn-ea"/>
                <a:cs typeface="+mn-cs"/>
              </a:rPr>
              <a:t>performs three important tasks when you open the file in “</a:t>
            </a:r>
            <a:r>
              <a:rPr lang="en-US" sz="1200" b="1" i="0" u="none" strike="noStrike" kern="1200" baseline="0" dirty="0" smtClean="0">
                <a:solidFill>
                  <a:schemeClr val="tx1"/>
                </a:solidFill>
                <a:latin typeface="+mn-lt"/>
                <a:ea typeface="+mn-ea"/>
                <a:cs typeface="+mn-cs"/>
              </a:rPr>
              <a:t>r</a:t>
            </a:r>
            <a:r>
              <a:rPr lang="en-US" sz="1200" b="0" i="0" u="none" strike="noStrike" kern="1200" baseline="0" dirty="0" smtClean="0">
                <a:solidFill>
                  <a:schemeClr val="tx1"/>
                </a:solidFill>
                <a:latin typeface="+mn-lt"/>
                <a:ea typeface="+mn-ea"/>
                <a:cs typeface="+mn-cs"/>
              </a:rPr>
              <a:t>” mode:</a:t>
            </a:r>
          </a:p>
          <a:p>
            <a:r>
              <a:rPr lang="en-US" sz="1200" b="0" i="0" u="none" strike="noStrike" kern="1200" baseline="0" dirty="0" smtClean="0">
                <a:solidFill>
                  <a:schemeClr val="tx1"/>
                </a:solidFill>
                <a:latin typeface="+mn-lt"/>
                <a:ea typeface="+mn-ea"/>
                <a:cs typeface="+mn-cs"/>
              </a:rPr>
              <a:t>(a) Firstly it searches on the disk the file to be opened.</a:t>
            </a:r>
          </a:p>
          <a:p>
            <a:r>
              <a:rPr lang="en-US" sz="1200" b="0" i="0" u="none" strike="noStrike" kern="1200" baseline="0" dirty="0" smtClean="0">
                <a:solidFill>
                  <a:schemeClr val="tx1"/>
                </a:solidFill>
                <a:latin typeface="+mn-lt"/>
                <a:ea typeface="+mn-ea"/>
                <a:cs typeface="+mn-cs"/>
              </a:rPr>
              <a:t>(b) Then it loads the file from the disk into a place in memory called</a:t>
            </a:r>
          </a:p>
          <a:p>
            <a:r>
              <a:rPr lang="en-IN" sz="1200" b="0" i="0" u="none" strike="noStrike" kern="1200" baseline="0" dirty="0" smtClean="0">
                <a:solidFill>
                  <a:schemeClr val="tx1"/>
                </a:solidFill>
                <a:latin typeface="+mn-lt"/>
                <a:ea typeface="+mn-ea"/>
                <a:cs typeface="+mn-cs"/>
              </a:rPr>
              <a:t>buffer.</a:t>
            </a:r>
          </a:p>
          <a:p>
            <a:r>
              <a:rPr lang="en-US" sz="1200" b="0" i="0" u="none" strike="noStrike" kern="1200" baseline="0" dirty="0" smtClean="0">
                <a:solidFill>
                  <a:schemeClr val="tx1"/>
                </a:solidFill>
                <a:latin typeface="+mn-lt"/>
                <a:ea typeface="+mn-ea"/>
                <a:cs typeface="+mn-cs"/>
              </a:rPr>
              <a:t>(c) It sets up a character pointer that points to the first character of the</a:t>
            </a:r>
          </a:p>
          <a:p>
            <a:r>
              <a:rPr lang="en-IN" sz="1200" b="0" i="0" u="none" strike="noStrike" kern="1200" baseline="0" dirty="0" smtClean="0">
                <a:solidFill>
                  <a:schemeClr val="tx1"/>
                </a:solidFill>
                <a:latin typeface="+mn-lt"/>
                <a:ea typeface="+mn-ea"/>
                <a:cs typeface="+mn-cs"/>
              </a:rPr>
              <a:t>buffer.</a:t>
            </a:r>
            <a:endParaRPr lang="en-IN" dirty="0"/>
          </a:p>
        </p:txBody>
      </p:sp>
      <p:sp>
        <p:nvSpPr>
          <p:cNvPr id="4" name="Slide Number Placeholder 3"/>
          <p:cNvSpPr>
            <a:spLocks noGrp="1"/>
          </p:cNvSpPr>
          <p:nvPr>
            <p:ph type="sldNum" sz="quarter" idx="10"/>
          </p:nvPr>
        </p:nvSpPr>
        <p:spPr/>
        <p:txBody>
          <a:bodyPr/>
          <a:lstStyle/>
          <a:p>
            <a:fld id="{860266FF-0E8B-486A-8EB0-225CFE989BB5}" type="slidenum">
              <a:rPr lang="en-IN" smtClean="0"/>
              <a:t>51</a:t>
            </a:fld>
            <a:endParaRPr lang="en-IN"/>
          </a:p>
        </p:txBody>
      </p:sp>
    </p:spTree>
    <p:extLst>
      <p:ext uri="{BB962C8B-B14F-4D97-AF65-F5344CB8AC3E}">
        <p14:creationId xmlns:p14="http://schemas.microsoft.com/office/powerpoint/2010/main" val="40783091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371600"/>
            <a:ext cx="7848600" cy="1927225"/>
          </a:xfrm>
        </p:spPr>
        <p:txBody>
          <a:bodyPr anchor="b">
            <a:noAutofit/>
          </a:bodyPr>
          <a:lstStyle>
            <a:lvl1pPr>
              <a:defRPr sz="5400" cap="all" baseline="0"/>
            </a:lvl1pPr>
          </a:lstStyle>
          <a:p>
            <a:r>
              <a:rPr lang="en-US" smtClean="0"/>
              <a:t>Click to edit Master title style</a:t>
            </a:r>
            <a:endParaRPr lang="en-US" dirty="0"/>
          </a:p>
        </p:txBody>
      </p:sp>
      <p:sp>
        <p:nvSpPr>
          <p:cNvPr id="3" name="Subtitle 2"/>
          <p:cNvSpPr>
            <a:spLocks noGrp="1"/>
          </p:cNvSpPr>
          <p:nvPr>
            <p:ph type="subTitle" idx="1"/>
          </p:nvPr>
        </p:nvSpPr>
        <p:spPr>
          <a:xfrm>
            <a:off x="685800" y="3505200"/>
            <a:ext cx="6400800" cy="1752600"/>
          </a:xfrm>
        </p:spPr>
        <p:txBody>
          <a:bodyPr/>
          <a:lstStyle>
            <a:lvl1pPr marL="0" indent="0" algn="l">
              <a:buNone/>
              <a:defRPr>
                <a:solidFill>
                  <a:schemeClr val="tx1">
                    <a:lumMod val="75000"/>
                    <a:lumOff val="2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4DCE733A-63D8-43AD-BC34-4AE76CDA5A57}" type="datetimeFigureOut">
              <a:rPr lang="en-IN" smtClean="0"/>
              <a:t>30-10-2025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C42C212-866E-4FD2-B01A-A2E518D0952B}" type="slidenum">
              <a:rPr lang="en-IN" smtClean="0"/>
              <a:t>‹#›</a:t>
            </a:fld>
            <a:endParaRPr lang="en-IN"/>
          </a:p>
        </p:txBody>
      </p:sp>
      <p:cxnSp>
        <p:nvCxnSpPr>
          <p:cNvPr id="8" name="Straight Connector 7"/>
          <p:cNvCxnSpPr/>
          <p:nvPr/>
        </p:nvCxnSpPr>
        <p:spPr>
          <a:xfrm>
            <a:off x="685800" y="3398520"/>
            <a:ext cx="78486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DCE733A-63D8-43AD-BC34-4AE76CDA5A57}" type="datetimeFigureOut">
              <a:rPr lang="en-IN" smtClean="0"/>
              <a:t>30-10-2025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C42C212-866E-4FD2-B01A-A2E518D0952B}"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13" y="2362200"/>
            <a:ext cx="7772400" cy="2200275"/>
          </a:xfrm>
        </p:spPr>
        <p:txBody>
          <a:bodyPr anchor="b">
            <a:normAutofit/>
          </a:bodyPr>
          <a:lstStyle>
            <a:lvl1pPr algn="l">
              <a:defRPr sz="4800" b="0" cap="all"/>
            </a:lvl1pPr>
          </a:lstStyle>
          <a:p>
            <a:r>
              <a:rPr lang="en-US" smtClean="0"/>
              <a:t>Click to edit Master title style</a:t>
            </a:r>
            <a:endParaRPr lang="en-US" dirty="0"/>
          </a:p>
        </p:txBody>
      </p:sp>
      <p:sp>
        <p:nvSpPr>
          <p:cNvPr id="3" name="Text Placeholder 2"/>
          <p:cNvSpPr>
            <a:spLocks noGrp="1"/>
          </p:cNvSpPr>
          <p:nvPr>
            <p:ph type="body" idx="1"/>
          </p:nvPr>
        </p:nvSpPr>
        <p:spPr>
          <a:xfrm>
            <a:off x="722313" y="4626864"/>
            <a:ext cx="7772400" cy="1500187"/>
          </a:xfrm>
        </p:spPr>
        <p:txBody>
          <a:bodyPr anchor="t">
            <a:normAutofit/>
          </a:bodyPr>
          <a:lstStyle>
            <a:lvl1pPr marL="0" indent="0">
              <a:buNone/>
              <a:defRPr sz="24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DCE733A-63D8-43AD-BC34-4AE76CDA5A57}" type="datetimeFigureOut">
              <a:rPr lang="en-IN" smtClean="0"/>
              <a:t>30-10-2025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C42C212-866E-4FD2-B01A-A2E518D0952B}" type="slidenum">
              <a:rPr lang="en-IN" smtClean="0"/>
              <a:t>‹#›</a:t>
            </a:fld>
            <a:endParaRPr lang="en-IN"/>
          </a:p>
        </p:txBody>
      </p:sp>
      <p:cxnSp>
        <p:nvCxnSpPr>
          <p:cNvPr id="7" name="Straight Connector 6"/>
          <p:cNvCxnSpPr/>
          <p:nvPr/>
        </p:nvCxnSpPr>
        <p:spPr>
          <a:xfrm>
            <a:off x="731520" y="4599432"/>
            <a:ext cx="78486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48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4DCE733A-63D8-43AD-BC34-4AE76CDA5A57}" type="datetimeFigureOut">
              <a:rPr lang="en-IN" smtClean="0"/>
              <a:t>30-10-2025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C42C212-866E-4FD2-B01A-A2E518D0952B}"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45720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75488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lang="en-US" sz="2000" b="0" kern="1200" dirty="0" smtClean="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75488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4DCE733A-63D8-43AD-BC34-4AE76CDA5A57}" type="datetimeFigureOut">
              <a:rPr lang="en-IN" smtClean="0"/>
              <a:t>30-10-2025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4C42C212-866E-4FD2-B01A-A2E518D0952B}" type="slidenum">
              <a:rPr lang="en-IN" smtClean="0"/>
              <a:t>‹#›</a:t>
            </a:fld>
            <a:endParaRPr lang="en-IN"/>
          </a:p>
        </p:txBody>
      </p:sp>
      <p:cxnSp>
        <p:nvCxnSpPr>
          <p:cNvPr id="11" name="Straight Connector 10"/>
          <p:cNvCxnSpPr/>
          <p:nvPr/>
        </p:nvCxnSpPr>
        <p:spPr>
          <a:xfrm rot="5400000">
            <a:off x="2217817" y="4045823"/>
            <a:ext cx="4709160" cy="794"/>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4DCE733A-63D8-43AD-BC34-4AE76CDA5A57}" type="datetimeFigureOut">
              <a:rPr lang="en-IN" smtClean="0"/>
              <a:t>30-10-2025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4C42C212-866E-4FD2-B01A-A2E518D0952B}"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DCE733A-63D8-43AD-BC34-4AE76CDA5A57}" type="datetimeFigureOut">
              <a:rPr lang="en-IN" smtClean="0"/>
              <a:t>30-10-2025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4C42C212-866E-4FD2-B01A-A2E518D0952B}"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792080"/>
            <a:ext cx="2139696" cy="1261872"/>
          </a:xfrm>
        </p:spPr>
        <p:txBody>
          <a:bodyPr anchor="b">
            <a:noAutofit/>
          </a:bodyPr>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2971800" y="792080"/>
            <a:ext cx="5715000" cy="55778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1" y="2130552"/>
            <a:ext cx="2139696" cy="424361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DCE733A-63D8-43AD-BC34-4AE76CDA5A57}" type="datetimeFigureOut">
              <a:rPr lang="en-IN" smtClean="0"/>
              <a:t>30-10-2025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C42C212-866E-4FD2-B01A-A2E518D0952B}" type="slidenum">
              <a:rPr lang="en-IN" smtClean="0"/>
              <a:t>‹#›</a:t>
            </a:fld>
            <a:endParaRPr lang="en-IN"/>
          </a:p>
        </p:txBody>
      </p:sp>
      <p:cxnSp>
        <p:nvCxnSpPr>
          <p:cNvPr id="9" name="Straight Connector 8"/>
          <p:cNvCxnSpPr/>
          <p:nvPr/>
        </p:nvCxnSpPr>
        <p:spPr>
          <a:xfrm rot="5400000">
            <a:off x="-13116" y="3580206"/>
            <a:ext cx="557784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792480"/>
            <a:ext cx="2142680" cy="1264920"/>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p:cNvSpPr>
          <p:nvPr>
            <p:ph type="pic" idx="1"/>
          </p:nvPr>
        </p:nvSpPr>
        <p:spPr>
          <a:xfrm>
            <a:off x="2858610" y="838201"/>
            <a:ext cx="5904390" cy="5500456"/>
          </a:xfrm>
          <a:solidFill>
            <a:schemeClr val="bg2"/>
          </a:solidFill>
          <a:ln w="76200">
            <a:solidFill>
              <a:srgbClr val="FFFFFF"/>
            </a:solidFill>
            <a:miter lim="800000"/>
          </a:ln>
          <a:effectLst>
            <a:outerShdw blurRad="50800" dist="12700" dir="5400000" algn="t" rotWithShape="0">
              <a:prstClr val="black">
                <a:alpha val="59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457200" y="2133600"/>
            <a:ext cx="2139696" cy="424281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DCE733A-63D8-43AD-BC34-4AE76CDA5A57}" type="datetimeFigureOut">
              <a:rPr lang="en-IN" smtClean="0"/>
              <a:t>30-10-2025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C42C212-866E-4FD2-B01A-A2E518D0952B}"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DCE733A-63D8-43AD-BC34-4AE76CDA5A57}" type="datetimeFigureOut">
              <a:rPr lang="en-IN" smtClean="0"/>
              <a:t>30-10-2025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C42C212-866E-4FD2-B01A-A2E518D0952B}"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609600"/>
            <a:ext cx="2057400" cy="5867400"/>
          </a:xfrm>
        </p:spPr>
        <p:txBody>
          <a:bodyPr vert="eaVert" anchor="b"/>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7200" y="609600"/>
            <a:ext cx="6019800" cy="58674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DCE733A-63D8-43AD-BC34-4AE76CDA5A57}" type="datetimeFigureOut">
              <a:rPr lang="en-IN" smtClean="0"/>
              <a:t>30-10-2025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C42C212-866E-4FD2-B01A-A2E518D0952B}"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a:xfrm>
            <a:off x="0" y="220786"/>
            <a:ext cx="9144000" cy="2286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457200" y="533400"/>
            <a:ext cx="8229600" cy="990600"/>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457200" y="1600200"/>
            <a:ext cx="8229600" cy="4876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Rectangle 6"/>
          <p:cNvSpPr/>
          <p:nvPr/>
        </p:nvSpPr>
        <p:spPr>
          <a:xfrm>
            <a:off x="0" y="0"/>
            <a:ext cx="9144000" cy="3657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2"/>
          </p:nvPr>
        </p:nvSpPr>
        <p:spPr>
          <a:xfrm>
            <a:off x="457200" y="18288"/>
            <a:ext cx="2895600" cy="329184"/>
          </a:xfrm>
          <a:prstGeom prst="rect">
            <a:avLst/>
          </a:prstGeom>
        </p:spPr>
        <p:txBody>
          <a:bodyPr vert="horz" lIns="91440" tIns="45720" rIns="91440" bIns="45720" rtlCol="0" anchor="ctr"/>
          <a:lstStyle>
            <a:lvl1pPr algn="l">
              <a:defRPr sz="1200">
                <a:solidFill>
                  <a:srgbClr val="FFFFFF"/>
                </a:solidFill>
              </a:defRPr>
            </a:lvl1pPr>
          </a:lstStyle>
          <a:p>
            <a:fld id="{4DCE733A-63D8-43AD-BC34-4AE76CDA5A57}" type="datetimeFigureOut">
              <a:rPr lang="en-IN" smtClean="0"/>
              <a:t>30-10-2025</a:t>
            </a:fld>
            <a:endParaRPr lang="en-IN"/>
          </a:p>
        </p:txBody>
      </p:sp>
      <p:sp>
        <p:nvSpPr>
          <p:cNvPr id="5" name="Footer Placeholder 4"/>
          <p:cNvSpPr>
            <a:spLocks noGrp="1"/>
          </p:cNvSpPr>
          <p:nvPr>
            <p:ph type="ftr" sz="quarter" idx="3"/>
          </p:nvPr>
        </p:nvSpPr>
        <p:spPr>
          <a:xfrm>
            <a:off x="3429000" y="18288"/>
            <a:ext cx="4114800" cy="329184"/>
          </a:xfrm>
          <a:prstGeom prst="rect">
            <a:avLst/>
          </a:prstGeom>
        </p:spPr>
        <p:txBody>
          <a:bodyPr vert="horz" lIns="91440" tIns="45720" rIns="91440" bIns="45720" rtlCol="0" anchor="ctr"/>
          <a:lstStyle>
            <a:lvl1pPr algn="ctr">
              <a:defRPr sz="1200">
                <a:solidFill>
                  <a:srgbClr val="FFFFFF"/>
                </a:solidFill>
              </a:defRPr>
            </a:lvl1pPr>
          </a:lstStyle>
          <a:p>
            <a:endParaRPr lang="en-IN"/>
          </a:p>
        </p:txBody>
      </p:sp>
      <p:sp>
        <p:nvSpPr>
          <p:cNvPr id="6" name="Slide Number Placeholder 5"/>
          <p:cNvSpPr>
            <a:spLocks noGrp="1"/>
          </p:cNvSpPr>
          <p:nvPr>
            <p:ph type="sldNum" sz="quarter" idx="4"/>
          </p:nvPr>
        </p:nvSpPr>
        <p:spPr>
          <a:xfrm>
            <a:off x="7620000" y="18288"/>
            <a:ext cx="1066800" cy="329184"/>
          </a:xfrm>
          <a:prstGeom prst="rect">
            <a:avLst/>
          </a:prstGeom>
        </p:spPr>
        <p:txBody>
          <a:bodyPr vert="horz" lIns="91440" tIns="45720" rIns="91440" bIns="45720" rtlCol="0" anchor="ctr"/>
          <a:lstStyle>
            <a:lvl1pPr algn="l">
              <a:defRPr sz="1400" b="1">
                <a:solidFill>
                  <a:srgbClr val="FFFFFF"/>
                </a:solidFill>
              </a:defRPr>
            </a:lvl1pPr>
          </a:lstStyle>
          <a:p>
            <a:fld id="{4C42C212-866E-4FD2-B01A-A2E518D0952B}"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spcBef>
          <a:spcPct val="0"/>
        </a:spcBef>
        <a:buNone/>
        <a:defRPr sz="4000" kern="1200" spc="-100" baseline="0">
          <a:solidFill>
            <a:schemeClr val="tx2"/>
          </a:solidFill>
          <a:latin typeface="+mj-lt"/>
          <a:ea typeface="+mj-ea"/>
          <a:cs typeface="+mj-cs"/>
        </a:defRPr>
      </a:lvl1pPr>
    </p:titleStyle>
    <p:body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060848"/>
            <a:ext cx="7848600" cy="1927225"/>
          </a:xfrm>
        </p:spPr>
        <p:txBody>
          <a:bodyPr anchor="ctr">
            <a:normAutofit fontScale="90000"/>
          </a:bodyPr>
          <a:lstStyle/>
          <a:p>
            <a:pPr algn="ctr"/>
            <a:r>
              <a:rPr lang="en-US" sz="6600" b="1" dirty="0" smtClean="0">
                <a:latin typeface="Times New Roman" pitchFamily="18" charset="0"/>
                <a:cs typeface="Times New Roman" pitchFamily="18" charset="0"/>
              </a:rPr>
              <a:t>PROGRAMMING IN C</a:t>
            </a:r>
            <a:endParaRPr lang="en-IN" sz="6600" b="1" dirty="0">
              <a:latin typeface="Times New Roman" pitchFamily="18" charset="0"/>
              <a:cs typeface="Times New Roman" pitchFamily="18" charset="0"/>
            </a:endParaRPr>
          </a:p>
        </p:txBody>
      </p:sp>
      <p:pic>
        <p:nvPicPr>
          <p:cNvPr id="1026" name="Picture 2" descr="File:C Programming Language.svg - Wikimedia Commons"/>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372200" y="3954039"/>
            <a:ext cx="2592288" cy="2866486"/>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4447607" y="3244334"/>
            <a:ext cx="248786" cy="369332"/>
          </a:xfrm>
          <a:prstGeom prst="rect">
            <a:avLst/>
          </a:prstGeom>
        </p:spPr>
        <p:txBody>
          <a:bodyPr wrap="none">
            <a:spAutoFit/>
          </a:bodyPr>
          <a:lstStyle/>
          <a:p>
            <a:r>
              <a:rPr lang="en-IN" dirty="0"/>
              <a:t> </a:t>
            </a:r>
          </a:p>
        </p:txBody>
      </p:sp>
      <p:sp>
        <p:nvSpPr>
          <p:cNvPr id="4" name="Rectangle 3"/>
          <p:cNvSpPr/>
          <p:nvPr/>
        </p:nvSpPr>
        <p:spPr>
          <a:xfrm>
            <a:off x="4447607" y="3244334"/>
            <a:ext cx="248786" cy="369332"/>
          </a:xfrm>
          <a:prstGeom prst="rect">
            <a:avLst/>
          </a:prstGeom>
        </p:spPr>
        <p:txBody>
          <a:bodyPr wrap="none">
            <a:spAutoFit/>
          </a:bodyPr>
          <a:lstStyle/>
          <a:p>
            <a:r>
              <a:rPr lang="en-IN" dirty="0"/>
              <a:t> </a:t>
            </a:r>
          </a:p>
        </p:txBody>
      </p:sp>
      <p:sp>
        <p:nvSpPr>
          <p:cNvPr id="5" name="Rectangle 4"/>
          <p:cNvSpPr/>
          <p:nvPr/>
        </p:nvSpPr>
        <p:spPr>
          <a:xfrm>
            <a:off x="4447607" y="3244334"/>
            <a:ext cx="248786" cy="369332"/>
          </a:xfrm>
          <a:prstGeom prst="rect">
            <a:avLst/>
          </a:prstGeom>
        </p:spPr>
        <p:txBody>
          <a:bodyPr wrap="none">
            <a:spAutoFit/>
          </a:bodyPr>
          <a:lstStyle/>
          <a:p>
            <a:r>
              <a:rPr lang="en-IN" dirty="0"/>
              <a:t> </a:t>
            </a:r>
          </a:p>
        </p:txBody>
      </p:sp>
    </p:spTree>
    <p:extLst>
      <p:ext uri="{BB962C8B-B14F-4D97-AF65-F5344CB8AC3E}">
        <p14:creationId xmlns:p14="http://schemas.microsoft.com/office/powerpoint/2010/main" val="424974153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a:t>Pointers and dynamic memory allocation and C pre-processor</a:t>
            </a:r>
            <a:endParaRPr lang="en-IN" dirty="0"/>
          </a:p>
        </p:txBody>
      </p:sp>
      <p:sp>
        <p:nvSpPr>
          <p:cNvPr id="3" name="Content Placeholder 2"/>
          <p:cNvSpPr>
            <a:spLocks noGrp="1"/>
          </p:cNvSpPr>
          <p:nvPr>
            <p:ph idx="1"/>
          </p:nvPr>
        </p:nvSpPr>
        <p:spPr/>
        <p:txBody>
          <a:bodyPr/>
          <a:lstStyle/>
          <a:p>
            <a:r>
              <a:rPr lang="en-US" dirty="0">
                <a:solidFill>
                  <a:srgbClr val="000000"/>
                </a:solidFill>
                <a:latin typeface="Times New Roman"/>
              </a:rPr>
              <a:t>	</a:t>
            </a:r>
          </a:p>
          <a:p>
            <a:r>
              <a:rPr lang="en-US" b="1" dirty="0">
                <a:solidFill>
                  <a:srgbClr val="000000"/>
                </a:solidFill>
                <a:latin typeface="Times New Roman"/>
              </a:rPr>
              <a:t>5.1 </a:t>
            </a:r>
            <a:r>
              <a:rPr lang="en-US" dirty="0">
                <a:solidFill>
                  <a:srgbClr val="000000"/>
                </a:solidFill>
                <a:latin typeface="Times New Roman"/>
              </a:rPr>
              <a:t>	Introduction to pointers: Pointer declaration and initialization, Pointer addition and subtraction, Evaluating pointer expressions Pointers and Functions: Pass by Reference, Returning pointers from functions, File Handling 	</a:t>
            </a:r>
          </a:p>
          <a:p>
            <a:r>
              <a:rPr lang="en-US" b="1" dirty="0">
                <a:solidFill>
                  <a:srgbClr val="000000"/>
                </a:solidFill>
                <a:latin typeface="Times New Roman"/>
              </a:rPr>
              <a:t>5.2 </a:t>
            </a:r>
            <a:r>
              <a:rPr lang="en-US" dirty="0">
                <a:solidFill>
                  <a:srgbClr val="000000"/>
                </a:solidFill>
                <a:latin typeface="Times New Roman"/>
              </a:rPr>
              <a:t>	Dynamic Memory Allocation using Pointers: Dynamic memory </a:t>
            </a:r>
            <a:r>
              <a:rPr lang="en-US" dirty="0"/>
              <a:t>allocation using </a:t>
            </a:r>
            <a:r>
              <a:rPr lang="en-US" dirty="0" err="1"/>
              <a:t>malloc</a:t>
            </a:r>
            <a:r>
              <a:rPr lang="en-US" dirty="0"/>
              <a:t>(), </a:t>
            </a:r>
            <a:r>
              <a:rPr lang="en-US" dirty="0" err="1"/>
              <a:t>calloc</a:t>
            </a:r>
            <a:r>
              <a:rPr lang="en-US" dirty="0"/>
              <a:t>() and </a:t>
            </a:r>
            <a:r>
              <a:rPr lang="en-US" dirty="0" err="1"/>
              <a:t>realloc</a:t>
            </a:r>
            <a:r>
              <a:rPr lang="en-US" dirty="0"/>
              <a:t>() and </a:t>
            </a:r>
            <a:r>
              <a:rPr lang="en-US" dirty="0" err="1"/>
              <a:t>deallocation</a:t>
            </a:r>
            <a:r>
              <a:rPr lang="en-US" dirty="0"/>
              <a:t> of memory using free() 	</a:t>
            </a:r>
          </a:p>
          <a:p>
            <a:r>
              <a:rPr lang="pt-BR" b="1" dirty="0"/>
              <a:t>5.3 </a:t>
            </a:r>
            <a:r>
              <a:rPr lang="pt-BR" dirty="0"/>
              <a:t>	C Pre-processor, Directives, Macros 	</a:t>
            </a:r>
          </a:p>
          <a:p>
            <a:pPr marL="0" indent="0">
              <a:buNone/>
            </a:pPr>
            <a:r>
              <a:rPr lang="en-US" dirty="0">
                <a:solidFill>
                  <a:srgbClr val="000000"/>
                </a:solidFill>
                <a:latin typeface="Times New Roman"/>
              </a:rPr>
              <a:t>	</a:t>
            </a:r>
          </a:p>
          <a:p>
            <a:endParaRPr lang="en-IN" dirty="0"/>
          </a:p>
        </p:txBody>
      </p:sp>
    </p:spTree>
    <p:extLst>
      <p:ext uri="{BB962C8B-B14F-4D97-AF65-F5344CB8AC3E}">
        <p14:creationId xmlns:p14="http://schemas.microsoft.com/office/powerpoint/2010/main" val="109590643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2821" y="1484784"/>
            <a:ext cx="8977843" cy="42484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9508705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ctr"/>
            <a:r>
              <a:rPr lang="en-US" sz="4800" b="1" dirty="0" smtClean="0"/>
              <a:t>Introduction</a:t>
            </a:r>
            <a:endParaRPr lang="en-IN" sz="4800" dirty="0"/>
          </a:p>
        </p:txBody>
      </p:sp>
      <p:sp>
        <p:nvSpPr>
          <p:cNvPr id="3" name="Content Placeholder 2"/>
          <p:cNvSpPr>
            <a:spLocks noGrp="1"/>
          </p:cNvSpPr>
          <p:nvPr>
            <p:ph idx="1"/>
          </p:nvPr>
        </p:nvSpPr>
        <p:spPr/>
        <p:txBody>
          <a:bodyPr anchor="t"/>
          <a:lstStyle/>
          <a:p>
            <a:pPr marL="0" indent="0">
              <a:buNone/>
            </a:pPr>
            <a:r>
              <a:rPr lang="en-IN" dirty="0"/>
              <a:t>Consider the declaration,</a:t>
            </a:r>
          </a:p>
          <a:p>
            <a:pPr marL="0" indent="0">
              <a:buNone/>
            </a:pPr>
            <a:r>
              <a:rPr lang="en-IN" dirty="0" err="1"/>
              <a:t>int</a:t>
            </a:r>
            <a:r>
              <a:rPr lang="en-IN" dirty="0"/>
              <a:t> i = 3 ;</a:t>
            </a:r>
          </a:p>
          <a:p>
            <a:pPr marL="0" indent="0">
              <a:buNone/>
            </a:pPr>
            <a:r>
              <a:rPr lang="en-US" dirty="0"/>
              <a:t>This declaration tells the C compiler to:</a:t>
            </a:r>
          </a:p>
          <a:p>
            <a:pPr marL="0" indent="0">
              <a:buNone/>
            </a:pPr>
            <a:r>
              <a:rPr lang="en-US" dirty="0"/>
              <a:t>(a) Reserve space in memory to hold the integer value.</a:t>
            </a:r>
          </a:p>
          <a:p>
            <a:pPr marL="0" indent="0">
              <a:buNone/>
            </a:pPr>
            <a:r>
              <a:rPr lang="en-US" dirty="0"/>
              <a:t>(b) Associate the name </a:t>
            </a:r>
            <a:r>
              <a:rPr lang="en-US" b="1" dirty="0"/>
              <a:t>i </a:t>
            </a:r>
            <a:r>
              <a:rPr lang="en-US" dirty="0"/>
              <a:t>with this memory location.</a:t>
            </a:r>
          </a:p>
          <a:p>
            <a:pPr marL="0" indent="0">
              <a:buNone/>
            </a:pPr>
            <a:r>
              <a:rPr lang="en-US" dirty="0"/>
              <a:t>(c) Store the value 3 at this location.</a:t>
            </a:r>
          </a:p>
          <a:p>
            <a:pPr marL="0" indent="0">
              <a:buNone/>
            </a:pPr>
            <a:endParaRPr lang="en-IN" dirty="0"/>
          </a:p>
        </p:txBody>
      </p:sp>
      <p:sp>
        <p:nvSpPr>
          <p:cNvPr id="4" name="Rectangle 3"/>
          <p:cNvSpPr/>
          <p:nvPr/>
        </p:nvSpPr>
        <p:spPr>
          <a:xfrm>
            <a:off x="4447607" y="3244334"/>
            <a:ext cx="248786" cy="369332"/>
          </a:xfrm>
          <a:prstGeom prst="rect">
            <a:avLst/>
          </a:prstGeom>
        </p:spPr>
        <p:txBody>
          <a:bodyPr wrap="none">
            <a:spAutoFit/>
          </a:bodyPr>
          <a:lstStyle/>
          <a:p>
            <a:r>
              <a:rPr lang="en-IN" dirty="0"/>
              <a:t> </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528" y="4284683"/>
            <a:ext cx="8064896" cy="22123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3956986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b="1" dirty="0" smtClean="0">
                <a:solidFill>
                  <a:srgbClr val="C00000"/>
                </a:solidFill>
              </a:rPr>
              <a:t>What is pointer?</a:t>
            </a:r>
            <a:endParaRPr lang="en-IN" b="1" dirty="0">
              <a:solidFill>
                <a:srgbClr val="C00000"/>
              </a:solidFill>
            </a:endParaRPr>
          </a:p>
        </p:txBody>
      </p:sp>
      <p:sp>
        <p:nvSpPr>
          <p:cNvPr id="3" name="Content Placeholder 2"/>
          <p:cNvSpPr>
            <a:spLocks noGrp="1"/>
          </p:cNvSpPr>
          <p:nvPr>
            <p:ph idx="1"/>
          </p:nvPr>
        </p:nvSpPr>
        <p:spPr/>
        <p:txBody>
          <a:bodyPr/>
          <a:lstStyle/>
          <a:p>
            <a:pPr algn="just"/>
            <a:r>
              <a:rPr lang="en-IN" dirty="0" smtClean="0"/>
              <a:t>Pointers are nothing but memory address</a:t>
            </a:r>
          </a:p>
          <a:p>
            <a:pPr algn="just"/>
            <a:r>
              <a:rPr lang="en-IN" dirty="0" smtClean="0"/>
              <a:t>Pointer is a variable that represents the location of data item</a:t>
            </a:r>
          </a:p>
          <a:p>
            <a:pPr algn="just"/>
            <a:r>
              <a:rPr lang="en-IN" dirty="0" smtClean="0"/>
              <a:t>Pointers can be used for variety of applications such as to create complex data structures, trees , linked lists, linked stacks, linked queues, and graphs</a:t>
            </a:r>
          </a:p>
          <a:p>
            <a:pPr algn="just"/>
            <a:r>
              <a:rPr lang="en-IN" dirty="0" smtClean="0"/>
              <a:t>For dynamic allocation of memory</a:t>
            </a:r>
            <a:endParaRPr lang="en-IN" dirty="0"/>
          </a:p>
        </p:txBody>
      </p:sp>
    </p:spTree>
    <p:extLst>
      <p:ext uri="{BB962C8B-B14F-4D97-AF65-F5344CB8AC3E}">
        <p14:creationId xmlns:p14="http://schemas.microsoft.com/office/powerpoint/2010/main" val="112031678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IN" b="1" dirty="0" smtClean="0">
                <a:solidFill>
                  <a:srgbClr val="FF0000"/>
                </a:solidFill>
              </a:rPr>
              <a:t>How to use pointers?</a:t>
            </a:r>
            <a:endParaRPr lang="en-IN" b="1" dirty="0">
              <a:solidFill>
                <a:srgbClr val="FF0000"/>
              </a:solidFill>
            </a:endParaRPr>
          </a:p>
        </p:txBody>
      </p:sp>
      <p:sp>
        <p:nvSpPr>
          <p:cNvPr id="6" name="Content Placeholder 5"/>
          <p:cNvSpPr>
            <a:spLocks noGrp="1"/>
          </p:cNvSpPr>
          <p:nvPr>
            <p:ph idx="1"/>
          </p:nvPr>
        </p:nvSpPr>
        <p:spPr/>
        <p:txBody>
          <a:bodyPr/>
          <a:lstStyle/>
          <a:p>
            <a:pPr>
              <a:buFont typeface="Wingdings" panose="05000000000000000000" pitchFamily="2" charset="2"/>
              <a:buChar char="ü"/>
            </a:pPr>
            <a:r>
              <a:rPr lang="en-IN" dirty="0" smtClean="0"/>
              <a:t>Pointer declaration</a:t>
            </a:r>
          </a:p>
          <a:p>
            <a:pPr>
              <a:buFont typeface="Wingdings" panose="05000000000000000000" pitchFamily="2" charset="2"/>
              <a:buChar char="ü"/>
            </a:pPr>
            <a:r>
              <a:rPr lang="en-IN" dirty="0" smtClean="0"/>
              <a:t>Pointer initialization</a:t>
            </a:r>
          </a:p>
          <a:p>
            <a:pPr>
              <a:buFont typeface="Wingdings" panose="05000000000000000000" pitchFamily="2" charset="2"/>
              <a:buChar char="ü"/>
            </a:pPr>
            <a:r>
              <a:rPr lang="en-IN" dirty="0" smtClean="0"/>
              <a:t>Pointer </a:t>
            </a:r>
            <a:r>
              <a:rPr lang="en-IN" dirty="0"/>
              <a:t>Dereferencing</a:t>
            </a:r>
            <a:endParaRPr lang="en-IN" dirty="0" smtClean="0"/>
          </a:p>
          <a:p>
            <a:endParaRPr lang="en-IN" dirty="0"/>
          </a:p>
        </p:txBody>
      </p:sp>
    </p:spTree>
    <p:extLst>
      <p:ext uri="{BB962C8B-B14F-4D97-AF65-F5344CB8AC3E}">
        <p14:creationId xmlns:p14="http://schemas.microsoft.com/office/powerpoint/2010/main" val="106367364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sz="4000" b="1" dirty="0">
                <a:solidFill>
                  <a:srgbClr val="C00000"/>
                </a:solidFill>
              </a:rPr>
              <a:t>Pointer </a:t>
            </a:r>
            <a:r>
              <a:rPr lang="en-IN" sz="4000" b="1" dirty="0" smtClean="0">
                <a:solidFill>
                  <a:srgbClr val="C00000"/>
                </a:solidFill>
              </a:rPr>
              <a:t>Declaration &amp; initialization</a:t>
            </a:r>
            <a:r>
              <a:rPr lang="en-IN" b="1" dirty="0"/>
              <a:t/>
            </a:r>
            <a:br>
              <a:rPr lang="en-IN" b="1" dirty="0"/>
            </a:br>
            <a:endParaRPr lang="en-IN" dirty="0"/>
          </a:p>
        </p:txBody>
      </p:sp>
      <p:sp>
        <p:nvSpPr>
          <p:cNvPr id="3" name="Content Placeholder 2"/>
          <p:cNvSpPr>
            <a:spLocks noGrp="1"/>
          </p:cNvSpPr>
          <p:nvPr>
            <p:ph sz="half" idx="1"/>
          </p:nvPr>
        </p:nvSpPr>
        <p:spPr>
          <a:xfrm>
            <a:off x="228600" y="1295400"/>
            <a:ext cx="4286250" cy="4881563"/>
          </a:xfrm>
        </p:spPr>
        <p:txBody>
          <a:bodyPr>
            <a:normAutofit lnSpcReduction="10000"/>
          </a:bodyPr>
          <a:lstStyle/>
          <a:p>
            <a:pPr algn="just"/>
            <a:r>
              <a:rPr lang="en-US" dirty="0" smtClean="0"/>
              <a:t>In </a:t>
            </a:r>
            <a:r>
              <a:rPr lang="en-US" dirty="0"/>
              <a:t>pointer declaration, we only declare the pointer but do not initialize it. </a:t>
            </a:r>
            <a:endParaRPr lang="en-US" dirty="0" smtClean="0"/>
          </a:p>
          <a:p>
            <a:r>
              <a:rPr lang="en-US" dirty="0" smtClean="0"/>
              <a:t>To </a:t>
            </a:r>
            <a:r>
              <a:rPr lang="en-US" dirty="0"/>
              <a:t>declare a pointer, we use the </a:t>
            </a:r>
            <a:r>
              <a:rPr lang="en-US" b="1" dirty="0"/>
              <a:t>( * ) dereference operator </a:t>
            </a:r>
            <a:r>
              <a:rPr lang="en-US" dirty="0"/>
              <a:t>before its name</a:t>
            </a:r>
            <a:r>
              <a:rPr lang="en-US" dirty="0" smtClean="0"/>
              <a:t>.</a:t>
            </a:r>
          </a:p>
          <a:p>
            <a:r>
              <a:rPr lang="en-IN" dirty="0" err="1">
                <a:solidFill>
                  <a:srgbClr val="C00000"/>
                </a:solidFill>
              </a:rPr>
              <a:t>int</a:t>
            </a:r>
            <a:r>
              <a:rPr lang="en-IN" dirty="0">
                <a:solidFill>
                  <a:srgbClr val="C00000"/>
                </a:solidFill>
              </a:rPr>
              <a:t> *</a:t>
            </a:r>
            <a:r>
              <a:rPr lang="en-IN" b="1" dirty="0" err="1">
                <a:solidFill>
                  <a:srgbClr val="C00000"/>
                </a:solidFill>
              </a:rPr>
              <a:t>ptr</a:t>
            </a:r>
            <a:r>
              <a:rPr lang="en-IN" dirty="0" smtClean="0">
                <a:solidFill>
                  <a:srgbClr val="C00000"/>
                </a:solidFill>
              </a:rPr>
              <a:t>;</a:t>
            </a:r>
          </a:p>
          <a:p>
            <a:endParaRPr lang="en-IN" dirty="0"/>
          </a:p>
        </p:txBody>
      </p:sp>
      <p:sp>
        <p:nvSpPr>
          <p:cNvPr id="4" name="Content Placeholder 3"/>
          <p:cNvSpPr>
            <a:spLocks noGrp="1"/>
          </p:cNvSpPr>
          <p:nvPr>
            <p:ph sz="half" idx="2"/>
          </p:nvPr>
        </p:nvSpPr>
        <p:spPr>
          <a:xfrm>
            <a:off x="4629150" y="1066800"/>
            <a:ext cx="4667250" cy="5110163"/>
          </a:xfrm>
        </p:spPr>
        <p:txBody>
          <a:bodyPr>
            <a:normAutofit lnSpcReduction="10000"/>
          </a:bodyPr>
          <a:lstStyle/>
          <a:p>
            <a:r>
              <a:rPr lang="en-US" dirty="0"/>
              <a:t>Pointer initialization is the process where we assign some initial value to the pointer variable. </a:t>
            </a:r>
            <a:endParaRPr lang="en-US" dirty="0" smtClean="0"/>
          </a:p>
          <a:p>
            <a:r>
              <a:rPr lang="en-US" dirty="0" smtClean="0"/>
              <a:t>We </a:t>
            </a:r>
            <a:r>
              <a:rPr lang="en-US" dirty="0"/>
              <a:t>generally use the </a:t>
            </a:r>
            <a:r>
              <a:rPr lang="en-US" b="1" dirty="0"/>
              <a:t>( &amp; ) </a:t>
            </a:r>
            <a:r>
              <a:rPr lang="en-US" b="1" dirty="0" smtClean="0"/>
              <a:t>address of </a:t>
            </a:r>
            <a:r>
              <a:rPr lang="en-US" b="1" dirty="0"/>
              <a:t>operator</a:t>
            </a:r>
            <a:r>
              <a:rPr lang="en-US" dirty="0"/>
              <a:t> to get the memory address of a variable and then store it in the pointer variable</a:t>
            </a:r>
            <a:r>
              <a:rPr lang="en-US" dirty="0" smtClean="0"/>
              <a:t>.</a:t>
            </a:r>
          </a:p>
          <a:p>
            <a:r>
              <a:rPr lang="en-IN" dirty="0" err="1">
                <a:solidFill>
                  <a:srgbClr val="C00000"/>
                </a:solidFill>
              </a:rPr>
              <a:t>int</a:t>
            </a:r>
            <a:r>
              <a:rPr lang="en-IN" dirty="0">
                <a:solidFill>
                  <a:srgbClr val="C00000"/>
                </a:solidFill>
              </a:rPr>
              <a:t> x</a:t>
            </a:r>
            <a:r>
              <a:rPr lang="en-IN" dirty="0" smtClean="0">
                <a:solidFill>
                  <a:srgbClr val="C00000"/>
                </a:solidFill>
              </a:rPr>
              <a:t> </a:t>
            </a:r>
            <a:r>
              <a:rPr lang="en-IN" dirty="0">
                <a:solidFill>
                  <a:srgbClr val="C00000"/>
                </a:solidFill>
              </a:rPr>
              <a:t>= </a:t>
            </a:r>
            <a:r>
              <a:rPr lang="en-IN" dirty="0" smtClean="0">
                <a:solidFill>
                  <a:srgbClr val="C00000"/>
                </a:solidFill>
              </a:rPr>
              <a:t>100;</a:t>
            </a:r>
            <a:r>
              <a:rPr lang="en-IN" dirty="0">
                <a:solidFill>
                  <a:srgbClr val="C00000"/>
                </a:solidFill>
              </a:rPr>
              <a:t/>
            </a:r>
            <a:br>
              <a:rPr lang="en-IN" dirty="0">
                <a:solidFill>
                  <a:srgbClr val="C00000"/>
                </a:solidFill>
              </a:rPr>
            </a:br>
            <a:r>
              <a:rPr lang="en-IN" dirty="0" err="1">
                <a:solidFill>
                  <a:srgbClr val="C00000"/>
                </a:solidFill>
              </a:rPr>
              <a:t>int</a:t>
            </a:r>
            <a:r>
              <a:rPr lang="en-IN" dirty="0">
                <a:solidFill>
                  <a:srgbClr val="C00000"/>
                </a:solidFill>
              </a:rPr>
              <a:t> * </a:t>
            </a:r>
            <a:r>
              <a:rPr lang="en-IN" b="1" dirty="0" err="1">
                <a:solidFill>
                  <a:srgbClr val="C00000"/>
                </a:solidFill>
              </a:rPr>
              <a:t>ptr</a:t>
            </a:r>
            <a:r>
              <a:rPr lang="en-IN" dirty="0">
                <a:solidFill>
                  <a:srgbClr val="C00000"/>
                </a:solidFill>
              </a:rPr>
              <a:t>;</a:t>
            </a:r>
            <a:br>
              <a:rPr lang="en-IN" dirty="0">
                <a:solidFill>
                  <a:srgbClr val="C00000"/>
                </a:solidFill>
              </a:rPr>
            </a:br>
            <a:r>
              <a:rPr lang="en-IN" dirty="0" err="1">
                <a:solidFill>
                  <a:srgbClr val="C00000"/>
                </a:solidFill>
              </a:rPr>
              <a:t>ptr</a:t>
            </a:r>
            <a:r>
              <a:rPr lang="en-IN" dirty="0">
                <a:solidFill>
                  <a:srgbClr val="C00000"/>
                </a:solidFill>
              </a:rPr>
              <a:t> = </a:t>
            </a:r>
            <a:r>
              <a:rPr lang="en-IN" b="1" dirty="0" smtClean="0">
                <a:solidFill>
                  <a:srgbClr val="C00000"/>
                </a:solidFill>
              </a:rPr>
              <a:t>&amp;</a:t>
            </a:r>
            <a:r>
              <a:rPr lang="en-IN" dirty="0">
                <a:solidFill>
                  <a:srgbClr val="C00000"/>
                </a:solidFill>
              </a:rPr>
              <a:t>x</a:t>
            </a:r>
            <a:r>
              <a:rPr lang="en-IN" dirty="0" smtClean="0">
                <a:solidFill>
                  <a:srgbClr val="C00000"/>
                </a:solidFill>
              </a:rPr>
              <a:t>;</a:t>
            </a:r>
            <a:endParaRPr lang="en-IN" dirty="0">
              <a:solidFill>
                <a:srgbClr val="C00000"/>
              </a:solidFill>
            </a:endParaRPr>
          </a:p>
        </p:txBody>
      </p:sp>
    </p:spTree>
    <p:extLst>
      <p:ext uri="{BB962C8B-B14F-4D97-AF65-F5344CB8AC3E}">
        <p14:creationId xmlns:p14="http://schemas.microsoft.com/office/powerpoint/2010/main" val="141335834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solidFill>
                  <a:srgbClr val="C00000"/>
                </a:solidFill>
              </a:rPr>
              <a:t>Pointer Dereferencing</a:t>
            </a:r>
            <a:r>
              <a:rPr lang="en-IN" b="1" dirty="0"/>
              <a:t/>
            </a:r>
            <a:br>
              <a:rPr lang="en-IN" b="1" dirty="0"/>
            </a:br>
            <a:endParaRPr lang="en-IN" dirty="0"/>
          </a:p>
        </p:txBody>
      </p:sp>
      <p:sp>
        <p:nvSpPr>
          <p:cNvPr id="5" name="Content Placeholder 4"/>
          <p:cNvSpPr>
            <a:spLocks noGrp="1"/>
          </p:cNvSpPr>
          <p:nvPr>
            <p:ph idx="1"/>
          </p:nvPr>
        </p:nvSpPr>
        <p:spPr>
          <a:xfrm>
            <a:off x="628650" y="1219200"/>
            <a:ext cx="7886700" cy="4957763"/>
          </a:xfrm>
        </p:spPr>
        <p:txBody>
          <a:bodyPr/>
          <a:lstStyle/>
          <a:p>
            <a:r>
              <a:rPr lang="en-US" dirty="0"/>
              <a:t>Dereferencing a pointer is the process of accessing the value stored in the memory address specified in the pointer. We use the same </a:t>
            </a:r>
            <a:r>
              <a:rPr lang="en-US" b="1" dirty="0"/>
              <a:t>( * ) dereferencing operator</a:t>
            </a:r>
            <a:r>
              <a:rPr lang="en-US" dirty="0"/>
              <a:t> that we used in the pointer declaration</a:t>
            </a:r>
            <a:r>
              <a:rPr lang="en-US" dirty="0" smtClean="0"/>
              <a:t>.</a:t>
            </a:r>
          </a:p>
          <a:p>
            <a:endParaRPr lang="en-IN"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2971800"/>
            <a:ext cx="4533900" cy="2438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5983896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a:t>Recap of Pointer Terms</a:t>
            </a:r>
          </a:p>
        </p:txBody>
      </p:sp>
      <p:graphicFrame>
        <p:nvGraphicFramePr>
          <p:cNvPr id="8" name="Content Placeholder 7"/>
          <p:cNvGraphicFramePr>
            <a:graphicFrameLocks noGrp="1"/>
          </p:cNvGraphicFramePr>
          <p:nvPr>
            <p:ph idx="1"/>
            <p:extLst>
              <p:ext uri="{D42A27DB-BD31-4B8C-83A1-F6EECF244321}">
                <p14:modId xmlns:p14="http://schemas.microsoft.com/office/powerpoint/2010/main" val="3247485000"/>
              </p:ext>
            </p:extLst>
          </p:nvPr>
        </p:nvGraphicFramePr>
        <p:xfrm>
          <a:off x="1547664" y="1600200"/>
          <a:ext cx="6192688" cy="3340968"/>
        </p:xfrm>
        <a:graphic>
          <a:graphicData uri="http://schemas.openxmlformats.org/drawingml/2006/table">
            <a:tbl>
              <a:tblPr firstRow="1" bandRow="1">
                <a:tableStyleId>{5C22544A-7EE6-4342-B048-85BDC9FD1C3A}</a:tableStyleId>
              </a:tblPr>
              <a:tblGrid>
                <a:gridCol w="2941527"/>
                <a:gridCol w="3251161"/>
              </a:tblGrid>
              <a:tr h="835242">
                <a:tc>
                  <a:txBody>
                    <a:bodyPr/>
                    <a:lstStyle/>
                    <a:p>
                      <a:pPr algn="ctr"/>
                      <a:r>
                        <a:rPr lang="en-IN" dirty="0"/>
                        <a:t>Term</a:t>
                      </a:r>
                    </a:p>
                  </a:txBody>
                  <a:tcPr anchor="ctr"/>
                </a:tc>
                <a:tc>
                  <a:txBody>
                    <a:bodyPr/>
                    <a:lstStyle/>
                    <a:p>
                      <a:pPr algn="ctr"/>
                      <a:r>
                        <a:rPr lang="en-IN" dirty="0"/>
                        <a:t>Meaning</a:t>
                      </a:r>
                    </a:p>
                  </a:txBody>
                  <a:tcPr anchor="ctr"/>
                </a:tc>
              </a:tr>
              <a:tr h="835242">
                <a:tc>
                  <a:txBody>
                    <a:bodyPr/>
                    <a:lstStyle/>
                    <a:p>
                      <a:pPr algn="ctr"/>
                      <a:r>
                        <a:rPr lang="en-IN" dirty="0" err="1"/>
                        <a:t>ptr</a:t>
                      </a:r>
                      <a:endParaRPr lang="en-IN" dirty="0"/>
                    </a:p>
                  </a:txBody>
                  <a:tcPr anchor="ctr"/>
                </a:tc>
                <a:tc>
                  <a:txBody>
                    <a:bodyPr/>
                    <a:lstStyle/>
                    <a:p>
                      <a:pPr algn="ctr"/>
                      <a:r>
                        <a:rPr lang="en-IN" dirty="0"/>
                        <a:t>pointer (holds address)</a:t>
                      </a:r>
                    </a:p>
                  </a:txBody>
                  <a:tcPr anchor="ctr"/>
                </a:tc>
              </a:tr>
              <a:tr h="835242">
                <a:tc>
                  <a:txBody>
                    <a:bodyPr/>
                    <a:lstStyle/>
                    <a:p>
                      <a:pPr algn="ctr"/>
                      <a:r>
                        <a:rPr lang="en-IN" dirty="0"/>
                        <a:t>&amp;</a:t>
                      </a:r>
                      <a:r>
                        <a:rPr lang="en-IN" dirty="0" err="1"/>
                        <a:t>num</a:t>
                      </a:r>
                      <a:endParaRPr lang="en-IN" dirty="0"/>
                    </a:p>
                  </a:txBody>
                  <a:tcPr anchor="ctr"/>
                </a:tc>
                <a:tc>
                  <a:txBody>
                    <a:bodyPr/>
                    <a:lstStyle/>
                    <a:p>
                      <a:pPr algn="ctr"/>
                      <a:r>
                        <a:rPr lang="en-IN" dirty="0" smtClean="0"/>
                        <a:t>address of </a:t>
                      </a:r>
                      <a:r>
                        <a:rPr lang="en-IN" dirty="0" err="1" smtClean="0"/>
                        <a:t>num</a:t>
                      </a:r>
                      <a:endParaRPr lang="en-IN" dirty="0"/>
                    </a:p>
                  </a:txBody>
                  <a:tcPr anchor="ctr"/>
                </a:tc>
              </a:tr>
              <a:tr h="835242">
                <a:tc>
                  <a:txBody>
                    <a:bodyPr/>
                    <a:lstStyle/>
                    <a:p>
                      <a:pPr algn="ctr"/>
                      <a:r>
                        <a:rPr lang="en-IN" dirty="0"/>
                        <a:t>*</a:t>
                      </a:r>
                      <a:r>
                        <a:rPr lang="en-IN" dirty="0" err="1"/>
                        <a:t>ptr</a:t>
                      </a:r>
                      <a:endParaRPr lang="en-IN" dirty="0"/>
                    </a:p>
                  </a:txBody>
                  <a:tcPr anchor="ctr"/>
                </a:tc>
                <a:tc>
                  <a:txBody>
                    <a:bodyPr/>
                    <a:lstStyle/>
                    <a:p>
                      <a:pPr algn="ctr"/>
                      <a:r>
                        <a:rPr lang="en-IN" dirty="0" smtClean="0"/>
                        <a:t>Value</a:t>
                      </a:r>
                      <a:r>
                        <a:rPr lang="en-IN" baseline="0" dirty="0" smtClean="0"/>
                        <a:t> at that address</a:t>
                      </a:r>
                      <a:endParaRPr lang="en-IN" dirty="0"/>
                    </a:p>
                  </a:txBody>
                  <a:tcPr anchor="ctr"/>
                </a:tc>
              </a:tr>
            </a:tbl>
          </a:graphicData>
        </a:graphic>
      </p:graphicFrame>
    </p:spTree>
    <p:extLst>
      <p:ext uri="{BB962C8B-B14F-4D97-AF65-F5344CB8AC3E}">
        <p14:creationId xmlns:p14="http://schemas.microsoft.com/office/powerpoint/2010/main" val="160565042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9"/>
            <a:ext cx="7886700" cy="320671"/>
          </a:xfrm>
        </p:spPr>
        <p:txBody>
          <a:bodyPr>
            <a:normAutofit fontScale="90000"/>
          </a:bodyPr>
          <a:lstStyle/>
          <a:p>
            <a:pPr algn="ctr"/>
            <a:r>
              <a:rPr lang="en-IN" sz="3600" dirty="0" smtClean="0">
                <a:solidFill>
                  <a:srgbClr val="C00000"/>
                </a:solidFill>
              </a:rPr>
              <a:t>Example:1</a:t>
            </a:r>
            <a:endParaRPr lang="en-IN" sz="3600" dirty="0">
              <a:solidFill>
                <a:srgbClr val="C00000"/>
              </a:solidFill>
            </a:endParaRPr>
          </a:p>
        </p:txBody>
      </p:sp>
      <p:pic>
        <p:nvPicPr>
          <p:cNvPr id="409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79512" y="1066800"/>
            <a:ext cx="7848872" cy="5674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9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76995" y="1066800"/>
            <a:ext cx="4333875" cy="923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5835896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b="1" dirty="0" smtClean="0">
                <a:solidFill>
                  <a:srgbClr val="C00000"/>
                </a:solidFill>
              </a:rPr>
              <a:t>Pointer arithmetic</a:t>
            </a:r>
            <a:endParaRPr lang="en-IN" b="1" dirty="0">
              <a:solidFill>
                <a:srgbClr val="C00000"/>
              </a:solidFill>
            </a:endParaRPr>
          </a:p>
        </p:txBody>
      </p:sp>
      <p:sp>
        <p:nvSpPr>
          <p:cNvPr id="3" name="Content Placeholder 2"/>
          <p:cNvSpPr>
            <a:spLocks noGrp="1"/>
          </p:cNvSpPr>
          <p:nvPr>
            <p:ph idx="1"/>
          </p:nvPr>
        </p:nvSpPr>
        <p:spPr/>
        <p:txBody>
          <a:bodyPr/>
          <a:lstStyle/>
          <a:p>
            <a:pPr fontAlgn="base"/>
            <a:r>
              <a:rPr lang="en-US" dirty="0" smtClean="0"/>
              <a:t>increment/Decrement </a:t>
            </a:r>
            <a:r>
              <a:rPr lang="en-US" dirty="0"/>
              <a:t>of a Pointer</a:t>
            </a:r>
          </a:p>
          <a:p>
            <a:pPr fontAlgn="base"/>
            <a:r>
              <a:rPr lang="en-US" dirty="0"/>
              <a:t>Addition of integer to a pointer</a:t>
            </a:r>
          </a:p>
          <a:p>
            <a:pPr fontAlgn="base"/>
            <a:r>
              <a:rPr lang="en-US" dirty="0"/>
              <a:t>Subtraction of integer to a pointer</a:t>
            </a:r>
          </a:p>
          <a:p>
            <a:pPr fontAlgn="base"/>
            <a:r>
              <a:rPr lang="en-US" dirty="0"/>
              <a:t>Subtracting two pointers of the same type</a:t>
            </a:r>
          </a:p>
          <a:p>
            <a:pPr fontAlgn="base"/>
            <a:r>
              <a:rPr lang="en-US" dirty="0"/>
              <a:t>Comparison of pointers</a:t>
            </a:r>
          </a:p>
          <a:p>
            <a:endParaRPr lang="en-IN" dirty="0"/>
          </a:p>
        </p:txBody>
      </p:sp>
    </p:spTree>
    <p:extLst>
      <p:ext uri="{BB962C8B-B14F-4D97-AF65-F5344CB8AC3E}">
        <p14:creationId xmlns:p14="http://schemas.microsoft.com/office/powerpoint/2010/main" val="146654850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srgbClr val="C00000"/>
                </a:solidFill>
              </a:rPr>
              <a:t>Addition of Integer to Pointer</a:t>
            </a:r>
            <a:br>
              <a:rPr lang="en-US" b="1" dirty="0">
                <a:solidFill>
                  <a:srgbClr val="C00000"/>
                </a:solidFill>
              </a:rPr>
            </a:br>
            <a:endParaRPr lang="en-IN" dirty="0">
              <a:solidFill>
                <a:srgbClr val="C00000"/>
              </a:solidFill>
            </a:endParaRPr>
          </a:p>
        </p:txBody>
      </p:sp>
      <p:sp>
        <p:nvSpPr>
          <p:cNvPr id="3" name="Content Placeholder 2"/>
          <p:cNvSpPr>
            <a:spLocks noGrp="1"/>
          </p:cNvSpPr>
          <p:nvPr>
            <p:ph idx="1"/>
          </p:nvPr>
        </p:nvSpPr>
        <p:spPr>
          <a:xfrm>
            <a:off x="628650" y="1825625"/>
            <a:ext cx="8286750" cy="4351338"/>
          </a:xfrm>
        </p:spPr>
        <p:txBody>
          <a:bodyPr/>
          <a:lstStyle/>
          <a:p>
            <a:r>
              <a:rPr lang="en-US" dirty="0"/>
              <a:t>When a pointer is added with an integer value, the value is first multiplied by the size of the data type and then added to the pointer</a:t>
            </a:r>
            <a:r>
              <a:rPr lang="en-US" dirty="0" smtClean="0"/>
              <a:t>.</a:t>
            </a:r>
          </a:p>
          <a:p>
            <a:r>
              <a:rPr lang="en-US" dirty="0" smtClean="0">
                <a:solidFill>
                  <a:srgbClr val="C00000"/>
                </a:solidFill>
              </a:rPr>
              <a:t>Example:</a:t>
            </a:r>
          </a:p>
          <a:p>
            <a:r>
              <a:rPr lang="en-US" dirty="0" smtClean="0"/>
              <a:t>Consider </a:t>
            </a:r>
            <a:r>
              <a:rPr lang="en-US" dirty="0"/>
              <a:t>the same example as above where the </a:t>
            </a:r>
            <a:r>
              <a:rPr lang="en-US" b="1" dirty="0" err="1"/>
              <a:t>ptr</a:t>
            </a:r>
            <a:r>
              <a:rPr lang="en-US" b="1" dirty="0"/>
              <a:t> </a:t>
            </a:r>
            <a:r>
              <a:rPr lang="en-US" dirty="0"/>
              <a:t>is an </a:t>
            </a:r>
            <a:r>
              <a:rPr lang="en-US" b="1" dirty="0"/>
              <a:t>integer pointer </a:t>
            </a:r>
            <a:r>
              <a:rPr lang="en-US" dirty="0"/>
              <a:t>that stores </a:t>
            </a:r>
            <a:r>
              <a:rPr lang="en-US" b="1" dirty="0"/>
              <a:t>1000 </a:t>
            </a:r>
            <a:r>
              <a:rPr lang="en-US" dirty="0"/>
              <a:t>as an address. If we add integer 5 to it using the expression, </a:t>
            </a:r>
            <a:r>
              <a:rPr lang="en-US" b="1" dirty="0" err="1"/>
              <a:t>ptr</a:t>
            </a:r>
            <a:r>
              <a:rPr lang="en-US" b="1" dirty="0"/>
              <a:t> = </a:t>
            </a:r>
            <a:r>
              <a:rPr lang="en-US" b="1" dirty="0" err="1"/>
              <a:t>ptr</a:t>
            </a:r>
            <a:r>
              <a:rPr lang="en-US" b="1" dirty="0"/>
              <a:t> + 5,</a:t>
            </a:r>
            <a:r>
              <a:rPr lang="en-US" dirty="0"/>
              <a:t> then, the final address stored in the </a:t>
            </a:r>
            <a:r>
              <a:rPr lang="en-US" dirty="0" err="1"/>
              <a:t>ptr</a:t>
            </a:r>
            <a:r>
              <a:rPr lang="en-US" dirty="0"/>
              <a:t> will be </a:t>
            </a:r>
            <a:r>
              <a:rPr lang="en-US" b="1" dirty="0" err="1"/>
              <a:t>ptr</a:t>
            </a:r>
            <a:r>
              <a:rPr lang="en-US" b="1" dirty="0"/>
              <a:t> = 1000 + </a:t>
            </a:r>
            <a:r>
              <a:rPr lang="en-US" b="1" dirty="0" err="1"/>
              <a:t>sizeof</a:t>
            </a:r>
            <a:r>
              <a:rPr lang="en-US" b="1" dirty="0"/>
              <a:t>(</a:t>
            </a:r>
            <a:r>
              <a:rPr lang="en-US" b="1" dirty="0" err="1"/>
              <a:t>int</a:t>
            </a:r>
            <a:r>
              <a:rPr lang="en-US" b="1" dirty="0"/>
              <a:t>) * 5 = 1020.</a:t>
            </a:r>
            <a:endParaRPr lang="en-IN" dirty="0"/>
          </a:p>
        </p:txBody>
      </p:sp>
    </p:spTree>
    <p:extLst>
      <p:ext uri="{BB962C8B-B14F-4D97-AF65-F5344CB8AC3E}">
        <p14:creationId xmlns:p14="http://schemas.microsoft.com/office/powerpoint/2010/main" val="87997208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srgbClr val="C00000"/>
                </a:solidFill>
              </a:rPr>
              <a:t>Subtraction  of Integer to Pointer</a:t>
            </a:r>
            <a:r>
              <a:rPr lang="en-US" b="1" dirty="0"/>
              <a:t/>
            </a:r>
            <a:br>
              <a:rPr lang="en-US" b="1" dirty="0"/>
            </a:br>
            <a:endParaRPr lang="en-IN" dirty="0"/>
          </a:p>
        </p:txBody>
      </p:sp>
      <p:sp>
        <p:nvSpPr>
          <p:cNvPr id="3" name="Content Placeholder 2"/>
          <p:cNvSpPr>
            <a:spLocks noGrp="1"/>
          </p:cNvSpPr>
          <p:nvPr>
            <p:ph idx="1"/>
          </p:nvPr>
        </p:nvSpPr>
        <p:spPr/>
        <p:txBody>
          <a:bodyPr/>
          <a:lstStyle/>
          <a:p>
            <a:r>
              <a:rPr lang="en-US" dirty="0"/>
              <a:t>When a pointer is subtracted with an integer value, the value is first multiplied by the size of the data type and then subtracted from the pointer similar to addition.</a:t>
            </a:r>
            <a:endParaRPr lang="en-IN" dirty="0"/>
          </a:p>
        </p:txBody>
      </p:sp>
    </p:spTree>
    <p:extLst>
      <p:ext uri="{BB962C8B-B14F-4D97-AF65-F5344CB8AC3E}">
        <p14:creationId xmlns:p14="http://schemas.microsoft.com/office/powerpoint/2010/main" val="112680734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559" y="3388552"/>
            <a:ext cx="8215795" cy="29927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title"/>
          </p:nvPr>
        </p:nvSpPr>
        <p:spPr/>
        <p:txBody>
          <a:bodyPr>
            <a:noAutofit/>
          </a:bodyPr>
          <a:lstStyle/>
          <a:p>
            <a:pPr algn="ctr"/>
            <a:r>
              <a:rPr lang="en-IN" sz="3200" b="1" dirty="0" smtClean="0">
                <a:solidFill>
                  <a:srgbClr val="C00000"/>
                </a:solidFill>
              </a:rPr>
              <a:t>Example</a:t>
            </a:r>
            <a:endParaRPr lang="en-IN" sz="3200" b="1" dirty="0">
              <a:solidFill>
                <a:srgbClr val="C00000"/>
              </a:solidFill>
            </a:endParaRPr>
          </a:p>
        </p:txBody>
      </p:sp>
      <p:sp>
        <p:nvSpPr>
          <p:cNvPr id="3" name="Content Placeholder 2"/>
          <p:cNvSpPr>
            <a:spLocks noGrp="1"/>
          </p:cNvSpPr>
          <p:nvPr>
            <p:ph idx="1"/>
          </p:nvPr>
        </p:nvSpPr>
        <p:spPr>
          <a:xfrm>
            <a:off x="457200" y="1648544"/>
            <a:ext cx="8229600" cy="4876800"/>
          </a:xfrm>
        </p:spPr>
        <p:txBody>
          <a:bodyPr/>
          <a:lstStyle/>
          <a:p>
            <a:r>
              <a:rPr lang="en-US" b="1" dirty="0"/>
              <a:t>Write a program </a:t>
            </a:r>
            <a:r>
              <a:rPr lang="en-US" b="1" dirty="0" smtClean="0"/>
              <a:t>in C using pointer which </a:t>
            </a:r>
            <a:r>
              <a:rPr lang="en-US" b="1" dirty="0"/>
              <a:t>takes an input from the user and then checks whether it is a number or a character. If it is a character, determine whether it is in upper case or lower case</a:t>
            </a:r>
            <a:r>
              <a:rPr lang="en-US" b="1" dirty="0" smtClean="0"/>
              <a:t>.</a:t>
            </a:r>
          </a:p>
          <a:p>
            <a:r>
              <a:rPr lang="en-US" b="1" dirty="0"/>
              <a:t>#include &lt;</a:t>
            </a:r>
            <a:r>
              <a:rPr lang="en-US" b="1" dirty="0" err="1"/>
              <a:t>ctype.h</a:t>
            </a:r>
            <a:r>
              <a:rPr lang="en-US" b="1" dirty="0"/>
              <a:t>&gt;</a:t>
            </a:r>
            <a:endParaRPr lang="en-US" b="1" dirty="0" smtClean="0"/>
          </a:p>
          <a:p>
            <a:endParaRPr lang="en-IN" dirty="0"/>
          </a:p>
        </p:txBody>
      </p:sp>
    </p:spTree>
    <p:extLst>
      <p:ext uri="{BB962C8B-B14F-4D97-AF65-F5344CB8AC3E}">
        <p14:creationId xmlns:p14="http://schemas.microsoft.com/office/powerpoint/2010/main" val="174344417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a:t>Changing Value Using Pointer</a:t>
            </a:r>
          </a:p>
        </p:txBody>
      </p:sp>
      <p:sp>
        <p:nvSpPr>
          <p:cNvPr id="3" name="Content Placeholder 2"/>
          <p:cNvSpPr>
            <a:spLocks noGrp="1"/>
          </p:cNvSpPr>
          <p:nvPr>
            <p:ph idx="1"/>
          </p:nvPr>
        </p:nvSpPr>
        <p:spPr>
          <a:xfrm>
            <a:off x="395536" y="1484784"/>
            <a:ext cx="8229600" cy="4876800"/>
          </a:xfrm>
        </p:spPr>
        <p:txBody>
          <a:bodyPr>
            <a:normAutofit fontScale="85000" lnSpcReduction="20000"/>
          </a:bodyPr>
          <a:lstStyle/>
          <a:p>
            <a:pPr marL="0" indent="0">
              <a:buNone/>
            </a:pPr>
            <a:r>
              <a:rPr lang="en-IN" dirty="0"/>
              <a:t>#include &lt;</a:t>
            </a:r>
            <a:r>
              <a:rPr lang="en-IN" dirty="0" err="1"/>
              <a:t>stdio.h</a:t>
            </a:r>
            <a:r>
              <a:rPr lang="en-IN" dirty="0"/>
              <a:t>&gt;</a:t>
            </a:r>
          </a:p>
          <a:p>
            <a:pPr marL="0" indent="0">
              <a:buNone/>
            </a:pPr>
            <a:endParaRPr lang="en-IN" dirty="0"/>
          </a:p>
          <a:p>
            <a:pPr marL="0" indent="0">
              <a:buNone/>
            </a:pPr>
            <a:r>
              <a:rPr lang="en-IN" dirty="0" err="1"/>
              <a:t>int</a:t>
            </a:r>
            <a:r>
              <a:rPr lang="en-IN" dirty="0"/>
              <a:t> main() {</a:t>
            </a:r>
          </a:p>
          <a:p>
            <a:pPr marL="0" indent="0">
              <a:buNone/>
            </a:pPr>
            <a:r>
              <a:rPr lang="en-IN" dirty="0"/>
              <a:t>    </a:t>
            </a:r>
            <a:r>
              <a:rPr lang="en-IN" dirty="0" err="1"/>
              <a:t>int</a:t>
            </a:r>
            <a:r>
              <a:rPr lang="en-IN" dirty="0"/>
              <a:t> </a:t>
            </a:r>
            <a:r>
              <a:rPr lang="en-IN" dirty="0" err="1"/>
              <a:t>num</a:t>
            </a:r>
            <a:r>
              <a:rPr lang="en-IN" dirty="0"/>
              <a:t> = 50</a:t>
            </a:r>
            <a:r>
              <a:rPr lang="en-IN" dirty="0" smtClean="0"/>
              <a:t>;</a:t>
            </a:r>
          </a:p>
          <a:p>
            <a:pPr marL="0" indent="0">
              <a:buNone/>
            </a:pPr>
            <a:r>
              <a:rPr lang="en-IN" dirty="0" err="1" smtClean="0"/>
              <a:t>Int</a:t>
            </a:r>
            <a:r>
              <a:rPr lang="en-IN" dirty="0" smtClean="0"/>
              <a:t> *</a:t>
            </a:r>
            <a:r>
              <a:rPr lang="en-IN" dirty="0" err="1" smtClean="0"/>
              <a:t>ptr</a:t>
            </a:r>
            <a:r>
              <a:rPr lang="en-IN" dirty="0" smtClean="0"/>
              <a:t>;</a:t>
            </a:r>
            <a:endParaRPr lang="en-IN" dirty="0"/>
          </a:p>
          <a:p>
            <a:pPr marL="0" indent="0">
              <a:buNone/>
            </a:pPr>
            <a:r>
              <a:rPr lang="en-IN" dirty="0"/>
              <a:t>    </a:t>
            </a:r>
            <a:r>
              <a:rPr lang="en-IN" dirty="0" err="1" smtClean="0"/>
              <a:t>ptr</a:t>
            </a:r>
            <a:r>
              <a:rPr lang="en-IN" dirty="0" smtClean="0"/>
              <a:t> </a:t>
            </a:r>
            <a:r>
              <a:rPr lang="en-IN" dirty="0"/>
              <a:t>= &amp;</a:t>
            </a:r>
            <a:r>
              <a:rPr lang="en-IN" dirty="0" err="1"/>
              <a:t>num</a:t>
            </a:r>
            <a:r>
              <a:rPr lang="en-IN" dirty="0"/>
              <a:t>;</a:t>
            </a:r>
          </a:p>
          <a:p>
            <a:pPr marL="0" indent="0">
              <a:buNone/>
            </a:pPr>
            <a:endParaRPr lang="en-IN" dirty="0"/>
          </a:p>
          <a:p>
            <a:pPr marL="0" indent="0">
              <a:buNone/>
            </a:pPr>
            <a:r>
              <a:rPr lang="en-IN" dirty="0"/>
              <a:t>    </a:t>
            </a:r>
            <a:r>
              <a:rPr lang="en-IN" dirty="0" err="1"/>
              <a:t>printf</a:t>
            </a:r>
            <a:r>
              <a:rPr lang="en-IN" dirty="0"/>
              <a:t>("Before: </a:t>
            </a:r>
            <a:r>
              <a:rPr lang="en-IN" dirty="0" err="1"/>
              <a:t>num</a:t>
            </a:r>
            <a:r>
              <a:rPr lang="en-IN" dirty="0"/>
              <a:t> = %d\n", </a:t>
            </a:r>
            <a:r>
              <a:rPr lang="en-IN" dirty="0" err="1"/>
              <a:t>num</a:t>
            </a:r>
            <a:r>
              <a:rPr lang="en-IN" dirty="0"/>
              <a:t>);</a:t>
            </a:r>
          </a:p>
          <a:p>
            <a:pPr marL="0" indent="0">
              <a:buNone/>
            </a:pPr>
            <a:endParaRPr lang="en-IN" dirty="0"/>
          </a:p>
          <a:p>
            <a:pPr marL="0" indent="0">
              <a:buNone/>
            </a:pPr>
            <a:r>
              <a:rPr lang="en-IN" dirty="0"/>
              <a:t>    *</a:t>
            </a:r>
            <a:r>
              <a:rPr lang="en-IN" dirty="0" err="1"/>
              <a:t>ptr</a:t>
            </a:r>
            <a:r>
              <a:rPr lang="en-IN" dirty="0"/>
              <a:t> = 100;  // Change value using pointer!</a:t>
            </a:r>
          </a:p>
          <a:p>
            <a:pPr marL="0" indent="0">
              <a:buNone/>
            </a:pPr>
            <a:endParaRPr lang="en-IN" dirty="0"/>
          </a:p>
          <a:p>
            <a:pPr marL="0" indent="0">
              <a:buNone/>
            </a:pPr>
            <a:r>
              <a:rPr lang="en-IN" dirty="0"/>
              <a:t>    </a:t>
            </a:r>
            <a:r>
              <a:rPr lang="en-IN" dirty="0" err="1"/>
              <a:t>printf</a:t>
            </a:r>
            <a:r>
              <a:rPr lang="en-IN" dirty="0"/>
              <a:t>("After: </a:t>
            </a:r>
            <a:r>
              <a:rPr lang="en-IN" dirty="0" err="1"/>
              <a:t>num</a:t>
            </a:r>
            <a:r>
              <a:rPr lang="en-IN" dirty="0"/>
              <a:t> = %d\n", </a:t>
            </a:r>
            <a:r>
              <a:rPr lang="en-IN" dirty="0" err="1"/>
              <a:t>num</a:t>
            </a:r>
            <a:r>
              <a:rPr lang="en-IN" dirty="0"/>
              <a:t>);</a:t>
            </a:r>
          </a:p>
          <a:p>
            <a:pPr marL="0" indent="0">
              <a:buNone/>
            </a:pPr>
            <a:endParaRPr lang="en-IN" dirty="0"/>
          </a:p>
          <a:p>
            <a:pPr marL="0" indent="0">
              <a:buNone/>
            </a:pPr>
            <a:r>
              <a:rPr lang="en-IN" dirty="0"/>
              <a:t>    return 0;</a:t>
            </a:r>
          </a:p>
          <a:p>
            <a:pPr marL="0" indent="0">
              <a:buNone/>
            </a:pPr>
            <a:r>
              <a:rPr lang="en-IN" dirty="0"/>
              <a:t>}</a:t>
            </a:r>
          </a:p>
          <a:p>
            <a:pPr marL="0" indent="0">
              <a:buNone/>
            </a:pPr>
            <a:endParaRPr lang="en-IN" dirty="0"/>
          </a:p>
        </p:txBody>
      </p:sp>
    </p:spTree>
    <p:extLst>
      <p:ext uri="{BB962C8B-B14F-4D97-AF65-F5344CB8AC3E}">
        <p14:creationId xmlns:p14="http://schemas.microsoft.com/office/powerpoint/2010/main" val="365218620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dirty="0"/>
              <a:t> Swapping Two Numbers (Using Pointers)</a:t>
            </a:r>
            <a:endParaRPr lang="en-IN" dirty="0"/>
          </a:p>
        </p:txBody>
      </p:sp>
      <p:sp>
        <p:nvSpPr>
          <p:cNvPr id="3" name="Content Placeholder 2"/>
          <p:cNvSpPr>
            <a:spLocks noGrp="1"/>
          </p:cNvSpPr>
          <p:nvPr>
            <p:ph idx="1"/>
          </p:nvPr>
        </p:nvSpPr>
        <p:spPr/>
        <p:txBody>
          <a:bodyPr>
            <a:normAutofit fontScale="62500" lnSpcReduction="20000"/>
          </a:bodyPr>
          <a:lstStyle/>
          <a:p>
            <a:pPr marL="0" indent="0">
              <a:buNone/>
            </a:pPr>
            <a:r>
              <a:rPr lang="en-IN" dirty="0"/>
              <a:t>#include &lt;</a:t>
            </a:r>
            <a:r>
              <a:rPr lang="en-IN" dirty="0" err="1"/>
              <a:t>stdio.h</a:t>
            </a:r>
            <a:r>
              <a:rPr lang="en-IN" dirty="0"/>
              <a:t>&gt;</a:t>
            </a:r>
          </a:p>
          <a:p>
            <a:pPr marL="0" indent="0">
              <a:buNone/>
            </a:pPr>
            <a:endParaRPr lang="en-IN" dirty="0"/>
          </a:p>
          <a:p>
            <a:pPr marL="0" indent="0">
              <a:buNone/>
            </a:pPr>
            <a:r>
              <a:rPr lang="en-IN" dirty="0"/>
              <a:t>void swap(</a:t>
            </a:r>
            <a:r>
              <a:rPr lang="en-IN" dirty="0" err="1"/>
              <a:t>int</a:t>
            </a:r>
            <a:r>
              <a:rPr lang="en-IN" dirty="0"/>
              <a:t> *x, </a:t>
            </a:r>
            <a:r>
              <a:rPr lang="en-IN" dirty="0" err="1"/>
              <a:t>int</a:t>
            </a:r>
            <a:r>
              <a:rPr lang="en-IN" dirty="0"/>
              <a:t> *y) {</a:t>
            </a:r>
          </a:p>
          <a:p>
            <a:pPr marL="0" indent="0">
              <a:buNone/>
            </a:pPr>
            <a:r>
              <a:rPr lang="en-IN" dirty="0"/>
              <a:t>    </a:t>
            </a:r>
            <a:r>
              <a:rPr lang="en-IN" dirty="0" err="1"/>
              <a:t>int</a:t>
            </a:r>
            <a:r>
              <a:rPr lang="en-IN" dirty="0"/>
              <a:t> temp = *x;  // save x's value</a:t>
            </a:r>
          </a:p>
          <a:p>
            <a:pPr marL="0" indent="0">
              <a:buNone/>
            </a:pPr>
            <a:r>
              <a:rPr lang="en-IN" dirty="0"/>
              <a:t>    *x = *y;        // put y in x</a:t>
            </a:r>
          </a:p>
          <a:p>
            <a:pPr marL="0" indent="0">
              <a:buNone/>
            </a:pPr>
            <a:r>
              <a:rPr lang="en-IN" dirty="0"/>
              <a:t>    *y = temp;      // put temp in y</a:t>
            </a:r>
          </a:p>
          <a:p>
            <a:pPr marL="0" indent="0">
              <a:buNone/>
            </a:pPr>
            <a:r>
              <a:rPr lang="en-IN" dirty="0"/>
              <a:t>}</a:t>
            </a:r>
          </a:p>
          <a:p>
            <a:pPr marL="0" indent="0">
              <a:buNone/>
            </a:pPr>
            <a:endParaRPr lang="en-IN" dirty="0"/>
          </a:p>
          <a:p>
            <a:pPr marL="0" indent="0">
              <a:buNone/>
            </a:pPr>
            <a:r>
              <a:rPr lang="en-IN" dirty="0" err="1"/>
              <a:t>int</a:t>
            </a:r>
            <a:r>
              <a:rPr lang="en-IN" dirty="0"/>
              <a:t> main() {</a:t>
            </a:r>
          </a:p>
          <a:p>
            <a:pPr marL="0" indent="0">
              <a:buNone/>
            </a:pPr>
            <a:r>
              <a:rPr lang="en-IN" dirty="0"/>
              <a:t>    </a:t>
            </a:r>
            <a:r>
              <a:rPr lang="en-IN" dirty="0" err="1"/>
              <a:t>int</a:t>
            </a:r>
            <a:r>
              <a:rPr lang="en-IN" dirty="0"/>
              <a:t> a = 5, b = 10;</a:t>
            </a:r>
          </a:p>
          <a:p>
            <a:pPr marL="0" indent="0">
              <a:buNone/>
            </a:pPr>
            <a:endParaRPr lang="en-IN" dirty="0"/>
          </a:p>
          <a:p>
            <a:pPr marL="0" indent="0">
              <a:buNone/>
            </a:pPr>
            <a:r>
              <a:rPr lang="en-IN" dirty="0"/>
              <a:t>    </a:t>
            </a:r>
            <a:r>
              <a:rPr lang="en-IN" dirty="0" err="1"/>
              <a:t>printf</a:t>
            </a:r>
            <a:r>
              <a:rPr lang="en-IN" dirty="0"/>
              <a:t>("Before Swap: a = %d, b = %d\n", a, b);</a:t>
            </a:r>
          </a:p>
          <a:p>
            <a:pPr marL="0" indent="0">
              <a:buNone/>
            </a:pPr>
            <a:endParaRPr lang="en-IN" dirty="0"/>
          </a:p>
          <a:p>
            <a:pPr marL="0" indent="0">
              <a:buNone/>
            </a:pPr>
            <a:r>
              <a:rPr lang="en-IN" dirty="0"/>
              <a:t>    swap(&amp;a, &amp;b);  // send addresses!</a:t>
            </a:r>
          </a:p>
          <a:p>
            <a:pPr marL="0" indent="0">
              <a:buNone/>
            </a:pPr>
            <a:endParaRPr lang="en-IN" dirty="0"/>
          </a:p>
          <a:p>
            <a:pPr marL="0" indent="0">
              <a:buNone/>
            </a:pPr>
            <a:r>
              <a:rPr lang="en-IN" dirty="0"/>
              <a:t>    </a:t>
            </a:r>
            <a:r>
              <a:rPr lang="en-IN" dirty="0" err="1"/>
              <a:t>printf</a:t>
            </a:r>
            <a:r>
              <a:rPr lang="en-IN" dirty="0"/>
              <a:t>("After Swap: a = %d, b = %d\n", a, b);</a:t>
            </a:r>
          </a:p>
          <a:p>
            <a:pPr marL="0" indent="0">
              <a:buNone/>
            </a:pPr>
            <a:endParaRPr lang="en-IN" dirty="0"/>
          </a:p>
          <a:p>
            <a:pPr marL="0" indent="0">
              <a:buNone/>
            </a:pPr>
            <a:r>
              <a:rPr lang="en-IN" dirty="0"/>
              <a:t>    return 0;</a:t>
            </a:r>
          </a:p>
          <a:p>
            <a:pPr marL="0" indent="0">
              <a:buNone/>
            </a:pPr>
            <a:r>
              <a:rPr lang="en-IN" dirty="0"/>
              <a:t>}</a:t>
            </a:r>
          </a:p>
          <a:p>
            <a:endParaRPr lang="en-IN" dirty="0"/>
          </a:p>
        </p:txBody>
      </p:sp>
    </p:spTree>
    <p:extLst>
      <p:ext uri="{BB962C8B-B14F-4D97-AF65-F5344CB8AC3E}">
        <p14:creationId xmlns:p14="http://schemas.microsoft.com/office/powerpoint/2010/main" val="356386241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smtClean="0"/>
              <a:t>Pointer with array</a:t>
            </a:r>
            <a:endParaRPr lang="en-IN" dirty="0"/>
          </a:p>
        </p:txBody>
      </p:sp>
      <p:sp>
        <p:nvSpPr>
          <p:cNvPr id="3" name="Content Placeholder 2"/>
          <p:cNvSpPr>
            <a:spLocks noGrp="1"/>
          </p:cNvSpPr>
          <p:nvPr>
            <p:ph idx="1"/>
          </p:nvPr>
        </p:nvSpPr>
        <p:spPr/>
        <p:txBody>
          <a:bodyPr>
            <a:normAutofit lnSpcReduction="10000"/>
          </a:bodyPr>
          <a:lstStyle/>
          <a:p>
            <a:pPr marL="0" indent="0">
              <a:buNone/>
            </a:pPr>
            <a:r>
              <a:rPr lang="en-IN" dirty="0"/>
              <a:t>#include &lt;</a:t>
            </a:r>
            <a:r>
              <a:rPr lang="en-IN" dirty="0" err="1"/>
              <a:t>stdio.h</a:t>
            </a:r>
            <a:r>
              <a:rPr lang="en-IN" dirty="0"/>
              <a:t>&gt;</a:t>
            </a:r>
          </a:p>
          <a:p>
            <a:pPr marL="0" indent="0">
              <a:buNone/>
            </a:pPr>
            <a:endParaRPr lang="en-IN" dirty="0"/>
          </a:p>
          <a:p>
            <a:pPr marL="0" indent="0">
              <a:buNone/>
            </a:pPr>
            <a:r>
              <a:rPr lang="en-IN" dirty="0" err="1"/>
              <a:t>int</a:t>
            </a:r>
            <a:r>
              <a:rPr lang="en-IN" dirty="0"/>
              <a:t> main() {</a:t>
            </a:r>
          </a:p>
          <a:p>
            <a:pPr marL="0" indent="0">
              <a:buNone/>
            </a:pPr>
            <a:r>
              <a:rPr lang="en-IN" dirty="0"/>
              <a:t>    </a:t>
            </a:r>
            <a:r>
              <a:rPr lang="en-IN" dirty="0" err="1"/>
              <a:t>int</a:t>
            </a:r>
            <a:r>
              <a:rPr lang="en-IN" dirty="0"/>
              <a:t> </a:t>
            </a:r>
            <a:r>
              <a:rPr lang="en-IN" dirty="0" err="1"/>
              <a:t>arr</a:t>
            </a:r>
            <a:r>
              <a:rPr lang="en-IN" dirty="0"/>
              <a:t>[5] = {10, 20, 30, 40, 50};</a:t>
            </a:r>
          </a:p>
          <a:p>
            <a:pPr marL="0" indent="0">
              <a:buNone/>
            </a:pPr>
            <a:r>
              <a:rPr lang="en-IN" dirty="0"/>
              <a:t>    </a:t>
            </a:r>
            <a:r>
              <a:rPr lang="en-IN" dirty="0" err="1"/>
              <a:t>int</a:t>
            </a:r>
            <a:r>
              <a:rPr lang="en-IN" dirty="0"/>
              <a:t> *</a:t>
            </a:r>
            <a:r>
              <a:rPr lang="en-IN" dirty="0" err="1"/>
              <a:t>ptr</a:t>
            </a:r>
            <a:r>
              <a:rPr lang="en-IN" dirty="0"/>
              <a:t> = </a:t>
            </a:r>
            <a:r>
              <a:rPr lang="en-IN" dirty="0" err="1"/>
              <a:t>arr</a:t>
            </a:r>
            <a:r>
              <a:rPr lang="en-IN" dirty="0"/>
              <a:t>;  // points to </a:t>
            </a:r>
            <a:r>
              <a:rPr lang="en-IN" dirty="0" err="1"/>
              <a:t>arr</a:t>
            </a:r>
            <a:r>
              <a:rPr lang="en-IN" dirty="0"/>
              <a:t>[0]</a:t>
            </a:r>
          </a:p>
          <a:p>
            <a:pPr marL="0" indent="0">
              <a:buNone/>
            </a:pPr>
            <a:endParaRPr lang="en-IN" dirty="0"/>
          </a:p>
          <a:p>
            <a:pPr marL="0" indent="0">
              <a:buNone/>
            </a:pPr>
            <a:r>
              <a:rPr lang="en-IN" dirty="0"/>
              <a:t>    for (</a:t>
            </a:r>
            <a:r>
              <a:rPr lang="en-IN" dirty="0" err="1"/>
              <a:t>int</a:t>
            </a:r>
            <a:r>
              <a:rPr lang="en-IN" dirty="0"/>
              <a:t> i = 0; i &lt; 5; i++) {</a:t>
            </a:r>
          </a:p>
          <a:p>
            <a:pPr marL="0" indent="0">
              <a:buNone/>
            </a:pPr>
            <a:r>
              <a:rPr lang="en-IN" dirty="0"/>
              <a:t>        </a:t>
            </a:r>
            <a:r>
              <a:rPr lang="en-IN" dirty="0" err="1"/>
              <a:t>printf</a:t>
            </a:r>
            <a:r>
              <a:rPr lang="en-IN" dirty="0"/>
              <a:t>("</a:t>
            </a:r>
            <a:r>
              <a:rPr lang="en-IN" dirty="0" err="1"/>
              <a:t>arr</a:t>
            </a:r>
            <a:r>
              <a:rPr lang="en-IN" dirty="0"/>
              <a:t>[%d] = %d\n", i, *(</a:t>
            </a:r>
            <a:r>
              <a:rPr lang="en-IN" dirty="0" err="1"/>
              <a:t>ptr</a:t>
            </a:r>
            <a:r>
              <a:rPr lang="en-IN" dirty="0"/>
              <a:t> + i));</a:t>
            </a:r>
          </a:p>
          <a:p>
            <a:pPr marL="0" indent="0">
              <a:buNone/>
            </a:pPr>
            <a:r>
              <a:rPr lang="en-IN" dirty="0"/>
              <a:t>    }</a:t>
            </a:r>
          </a:p>
          <a:p>
            <a:pPr marL="0" indent="0">
              <a:buNone/>
            </a:pPr>
            <a:endParaRPr lang="en-IN" dirty="0"/>
          </a:p>
          <a:p>
            <a:pPr marL="0" indent="0">
              <a:buNone/>
            </a:pPr>
            <a:r>
              <a:rPr lang="en-IN" dirty="0"/>
              <a:t>    return 0;</a:t>
            </a:r>
          </a:p>
          <a:p>
            <a:pPr marL="0" indent="0">
              <a:buNone/>
            </a:pPr>
            <a:r>
              <a:rPr lang="en-IN" dirty="0"/>
              <a:t>}</a:t>
            </a:r>
          </a:p>
          <a:p>
            <a:pPr marL="0" indent="0">
              <a:buNone/>
            </a:pPr>
            <a:endParaRPr lang="en-IN" dirty="0"/>
          </a:p>
        </p:txBody>
      </p:sp>
    </p:spTree>
    <p:extLst>
      <p:ext uri="{BB962C8B-B14F-4D97-AF65-F5344CB8AC3E}">
        <p14:creationId xmlns:p14="http://schemas.microsoft.com/office/powerpoint/2010/main" val="331914093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smtClean="0"/>
              <a:t>Pointer to pointer</a:t>
            </a:r>
            <a:endParaRPr lang="en-IN" dirty="0"/>
          </a:p>
        </p:txBody>
      </p:sp>
      <p:sp>
        <p:nvSpPr>
          <p:cNvPr id="3" name="Content Placeholder 2"/>
          <p:cNvSpPr>
            <a:spLocks noGrp="1"/>
          </p:cNvSpPr>
          <p:nvPr>
            <p:ph idx="1"/>
          </p:nvPr>
        </p:nvSpPr>
        <p:spPr/>
        <p:txBody>
          <a:bodyPr>
            <a:normAutofit lnSpcReduction="10000"/>
          </a:bodyPr>
          <a:lstStyle/>
          <a:p>
            <a:r>
              <a:rPr lang="en-US" sz="3600" dirty="0"/>
              <a:t>A </a:t>
            </a:r>
            <a:r>
              <a:rPr lang="en-US" sz="3600" b="1" dirty="0"/>
              <a:t>pointer to a pointer</a:t>
            </a:r>
            <a:r>
              <a:rPr lang="en-US" sz="3600" dirty="0"/>
              <a:t> in C is exactly what it sounds like: it’s a pointer that stores the address of another pointer!</a:t>
            </a:r>
          </a:p>
          <a:p>
            <a:r>
              <a:rPr lang="en-US" sz="3600" b="1" dirty="0"/>
              <a:t>Let's break it down:</a:t>
            </a:r>
          </a:p>
          <a:p>
            <a:pPr lvl="1"/>
            <a:r>
              <a:rPr lang="en-US" sz="3200" dirty="0" smtClean="0"/>
              <a:t> </a:t>
            </a:r>
            <a:r>
              <a:rPr lang="en-US" sz="3200" dirty="0"/>
              <a:t>A </a:t>
            </a:r>
            <a:r>
              <a:rPr lang="en-US" sz="3200" b="1" dirty="0"/>
              <a:t>pointer</a:t>
            </a:r>
            <a:r>
              <a:rPr lang="en-US" sz="3200" dirty="0"/>
              <a:t> is a variable that holds the </a:t>
            </a:r>
            <a:r>
              <a:rPr lang="en-US" sz="3200" b="1" dirty="0"/>
              <a:t>address</a:t>
            </a:r>
            <a:r>
              <a:rPr lang="en-US" sz="3200" dirty="0"/>
              <a:t> of another variable</a:t>
            </a:r>
            <a:r>
              <a:rPr lang="en-US" sz="3200" dirty="0" smtClean="0"/>
              <a:t>.</a:t>
            </a:r>
          </a:p>
          <a:p>
            <a:pPr lvl="1"/>
            <a:r>
              <a:rPr lang="en-US" sz="3200" dirty="0"/>
              <a:t> </a:t>
            </a:r>
            <a:r>
              <a:rPr lang="en-US" sz="3200" dirty="0" smtClean="0"/>
              <a:t>A </a:t>
            </a:r>
            <a:r>
              <a:rPr lang="en-US" sz="3200" b="1" dirty="0"/>
              <a:t>pointer to a pointer</a:t>
            </a:r>
            <a:r>
              <a:rPr lang="en-US" sz="3200" dirty="0"/>
              <a:t> holds the </a:t>
            </a:r>
            <a:r>
              <a:rPr lang="en-US" sz="3200" b="1" dirty="0"/>
              <a:t>address of another pointer</a:t>
            </a:r>
            <a:r>
              <a:rPr lang="en-US" sz="3200" dirty="0"/>
              <a:t>, which in turn holds the address of a variable.</a:t>
            </a:r>
          </a:p>
          <a:p>
            <a:pPr marL="0" indent="0">
              <a:buNone/>
            </a:pPr>
            <a:endParaRPr lang="en-IN" dirty="0"/>
          </a:p>
        </p:txBody>
      </p:sp>
    </p:spTree>
    <p:extLst>
      <p:ext uri="{BB962C8B-B14F-4D97-AF65-F5344CB8AC3E}">
        <p14:creationId xmlns:p14="http://schemas.microsoft.com/office/powerpoint/2010/main" val="376155975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smtClean="0"/>
              <a:t>Pointer to pointer</a:t>
            </a:r>
            <a:endParaRPr lang="en-IN" dirty="0"/>
          </a:p>
        </p:txBody>
      </p:sp>
      <p:sp>
        <p:nvSpPr>
          <p:cNvPr id="3" name="Content Placeholder 2"/>
          <p:cNvSpPr>
            <a:spLocks noGrp="1"/>
          </p:cNvSpPr>
          <p:nvPr>
            <p:ph idx="1"/>
          </p:nvPr>
        </p:nvSpPr>
        <p:spPr/>
        <p:txBody>
          <a:bodyPr>
            <a:normAutofit fontScale="92500" lnSpcReduction="10000"/>
          </a:bodyPr>
          <a:lstStyle/>
          <a:p>
            <a:pPr marL="0" indent="0">
              <a:buNone/>
            </a:pPr>
            <a:r>
              <a:rPr lang="en-IN" dirty="0"/>
              <a:t>#include &lt;</a:t>
            </a:r>
            <a:r>
              <a:rPr lang="en-IN" dirty="0" err="1"/>
              <a:t>stdio.h</a:t>
            </a:r>
            <a:r>
              <a:rPr lang="en-IN" dirty="0"/>
              <a:t>&gt;</a:t>
            </a:r>
          </a:p>
          <a:p>
            <a:pPr marL="0" indent="0">
              <a:buNone/>
            </a:pPr>
            <a:endParaRPr lang="en-IN" dirty="0"/>
          </a:p>
          <a:p>
            <a:pPr marL="0" indent="0">
              <a:buNone/>
            </a:pPr>
            <a:r>
              <a:rPr lang="en-IN" dirty="0" err="1"/>
              <a:t>int</a:t>
            </a:r>
            <a:r>
              <a:rPr lang="en-IN" dirty="0"/>
              <a:t> main() {</a:t>
            </a:r>
          </a:p>
          <a:p>
            <a:pPr marL="0" indent="0">
              <a:buNone/>
            </a:pPr>
            <a:r>
              <a:rPr lang="en-IN" dirty="0"/>
              <a:t>    </a:t>
            </a:r>
            <a:r>
              <a:rPr lang="en-IN" dirty="0" err="1"/>
              <a:t>int</a:t>
            </a:r>
            <a:r>
              <a:rPr lang="en-IN" dirty="0"/>
              <a:t> </a:t>
            </a:r>
            <a:r>
              <a:rPr lang="en-IN" dirty="0" err="1"/>
              <a:t>num</a:t>
            </a:r>
            <a:r>
              <a:rPr lang="en-IN" dirty="0"/>
              <a:t> = 25;</a:t>
            </a:r>
          </a:p>
          <a:p>
            <a:pPr marL="0" indent="0">
              <a:buNone/>
            </a:pPr>
            <a:r>
              <a:rPr lang="en-IN" dirty="0"/>
              <a:t>    </a:t>
            </a:r>
            <a:r>
              <a:rPr lang="en-IN" dirty="0" err="1"/>
              <a:t>int</a:t>
            </a:r>
            <a:r>
              <a:rPr lang="en-IN" dirty="0"/>
              <a:t> *</a:t>
            </a:r>
            <a:r>
              <a:rPr lang="en-IN" dirty="0" err="1"/>
              <a:t>ptr</a:t>
            </a:r>
            <a:r>
              <a:rPr lang="en-IN" dirty="0"/>
              <a:t> = &amp;</a:t>
            </a:r>
            <a:r>
              <a:rPr lang="en-IN" dirty="0" err="1"/>
              <a:t>num</a:t>
            </a:r>
            <a:r>
              <a:rPr lang="en-IN" dirty="0"/>
              <a:t>;</a:t>
            </a:r>
          </a:p>
          <a:p>
            <a:pPr marL="0" indent="0">
              <a:buNone/>
            </a:pPr>
            <a:r>
              <a:rPr lang="en-IN" dirty="0"/>
              <a:t>    </a:t>
            </a:r>
            <a:r>
              <a:rPr lang="en-IN" dirty="0" err="1"/>
              <a:t>int</a:t>
            </a:r>
            <a:r>
              <a:rPr lang="en-IN" dirty="0"/>
              <a:t> **</a:t>
            </a:r>
            <a:r>
              <a:rPr lang="en-IN" dirty="0" err="1"/>
              <a:t>pptr</a:t>
            </a:r>
            <a:r>
              <a:rPr lang="en-IN" dirty="0"/>
              <a:t> = &amp;</a:t>
            </a:r>
            <a:r>
              <a:rPr lang="en-IN" dirty="0" err="1"/>
              <a:t>ptr</a:t>
            </a:r>
            <a:r>
              <a:rPr lang="en-IN" dirty="0"/>
              <a:t>;  // pointer to pointer!</a:t>
            </a:r>
          </a:p>
          <a:p>
            <a:pPr marL="0" indent="0">
              <a:buNone/>
            </a:pPr>
            <a:endParaRPr lang="en-IN" dirty="0"/>
          </a:p>
          <a:p>
            <a:pPr marL="0" indent="0">
              <a:buNone/>
            </a:pPr>
            <a:r>
              <a:rPr lang="en-IN" dirty="0"/>
              <a:t>    </a:t>
            </a:r>
            <a:r>
              <a:rPr lang="en-IN" dirty="0" err="1"/>
              <a:t>printf</a:t>
            </a:r>
            <a:r>
              <a:rPr lang="en-IN" dirty="0"/>
              <a:t>("</a:t>
            </a:r>
            <a:r>
              <a:rPr lang="en-IN" dirty="0" err="1"/>
              <a:t>num</a:t>
            </a:r>
            <a:r>
              <a:rPr lang="en-IN" dirty="0"/>
              <a:t> = %d\n", </a:t>
            </a:r>
            <a:r>
              <a:rPr lang="en-IN" dirty="0" err="1"/>
              <a:t>num</a:t>
            </a:r>
            <a:r>
              <a:rPr lang="en-IN" dirty="0"/>
              <a:t>);</a:t>
            </a:r>
          </a:p>
          <a:p>
            <a:pPr marL="0" indent="0">
              <a:buNone/>
            </a:pPr>
            <a:r>
              <a:rPr lang="en-IN" dirty="0"/>
              <a:t>    </a:t>
            </a:r>
            <a:r>
              <a:rPr lang="en-IN" dirty="0" err="1"/>
              <a:t>printf</a:t>
            </a:r>
            <a:r>
              <a:rPr lang="en-IN" dirty="0"/>
              <a:t>("*</a:t>
            </a:r>
            <a:r>
              <a:rPr lang="en-IN" dirty="0" err="1"/>
              <a:t>ptr</a:t>
            </a:r>
            <a:r>
              <a:rPr lang="en-IN" dirty="0"/>
              <a:t> = %d\n", *</a:t>
            </a:r>
            <a:r>
              <a:rPr lang="en-IN" dirty="0" err="1"/>
              <a:t>ptr</a:t>
            </a:r>
            <a:r>
              <a:rPr lang="en-IN" dirty="0"/>
              <a:t>);</a:t>
            </a:r>
          </a:p>
          <a:p>
            <a:pPr marL="0" indent="0">
              <a:buNone/>
            </a:pPr>
            <a:r>
              <a:rPr lang="en-IN" dirty="0"/>
              <a:t>    </a:t>
            </a:r>
            <a:r>
              <a:rPr lang="en-IN" dirty="0" err="1"/>
              <a:t>printf</a:t>
            </a:r>
            <a:r>
              <a:rPr lang="en-IN" dirty="0"/>
              <a:t>("**</a:t>
            </a:r>
            <a:r>
              <a:rPr lang="en-IN" dirty="0" err="1"/>
              <a:t>pptr</a:t>
            </a:r>
            <a:r>
              <a:rPr lang="en-IN" dirty="0"/>
              <a:t> = %d\n", **</a:t>
            </a:r>
            <a:r>
              <a:rPr lang="en-IN" dirty="0" err="1"/>
              <a:t>pptr</a:t>
            </a:r>
            <a:r>
              <a:rPr lang="en-IN" dirty="0"/>
              <a:t>);</a:t>
            </a:r>
          </a:p>
          <a:p>
            <a:pPr marL="0" indent="0">
              <a:buNone/>
            </a:pPr>
            <a:endParaRPr lang="en-IN" dirty="0"/>
          </a:p>
          <a:p>
            <a:pPr marL="0" indent="0">
              <a:buNone/>
            </a:pPr>
            <a:r>
              <a:rPr lang="en-IN" dirty="0"/>
              <a:t>    return 0;</a:t>
            </a:r>
          </a:p>
          <a:p>
            <a:pPr marL="0" indent="0">
              <a:buNone/>
            </a:pPr>
            <a:r>
              <a:rPr lang="en-IN" dirty="0"/>
              <a:t>}</a:t>
            </a:r>
          </a:p>
          <a:p>
            <a:pPr marL="0" indent="0">
              <a:buNone/>
            </a:pPr>
            <a:endParaRPr lang="en-IN" dirty="0"/>
          </a:p>
        </p:txBody>
      </p:sp>
    </p:spTree>
    <p:extLst>
      <p:ext uri="{BB962C8B-B14F-4D97-AF65-F5344CB8AC3E}">
        <p14:creationId xmlns:p14="http://schemas.microsoft.com/office/powerpoint/2010/main" val="428718364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b="1" dirty="0"/>
              <a:t>Function Calls</a:t>
            </a:r>
            <a:endParaRPr lang="en-IN" dirty="0"/>
          </a:p>
        </p:txBody>
      </p:sp>
      <p:sp>
        <p:nvSpPr>
          <p:cNvPr id="3" name="Content Placeholder 2"/>
          <p:cNvSpPr>
            <a:spLocks noGrp="1"/>
          </p:cNvSpPr>
          <p:nvPr>
            <p:ph idx="1"/>
          </p:nvPr>
        </p:nvSpPr>
        <p:spPr/>
        <p:txBody>
          <a:bodyPr>
            <a:normAutofit/>
          </a:bodyPr>
          <a:lstStyle/>
          <a:p>
            <a:pPr marL="0" indent="0">
              <a:buNone/>
            </a:pPr>
            <a:r>
              <a:rPr lang="en-US" dirty="0" smtClean="0"/>
              <a:t>The </a:t>
            </a:r>
            <a:r>
              <a:rPr lang="en-US" dirty="0"/>
              <a:t>two types of function calls—call </a:t>
            </a:r>
            <a:r>
              <a:rPr lang="en-US" dirty="0" smtClean="0"/>
              <a:t>by value </a:t>
            </a:r>
            <a:r>
              <a:rPr lang="en-US" dirty="0"/>
              <a:t>and call by reference. </a:t>
            </a:r>
            <a:endParaRPr lang="en-US" dirty="0" smtClean="0"/>
          </a:p>
          <a:p>
            <a:pPr marL="0" indent="0">
              <a:buNone/>
            </a:pPr>
            <a:r>
              <a:rPr lang="en-US" dirty="0" smtClean="0"/>
              <a:t>Arguments </a:t>
            </a:r>
            <a:r>
              <a:rPr lang="en-US" dirty="0"/>
              <a:t>can generally be passed </a:t>
            </a:r>
            <a:r>
              <a:rPr lang="en-US" dirty="0" smtClean="0"/>
              <a:t>to functions </a:t>
            </a:r>
            <a:r>
              <a:rPr lang="en-US" dirty="0"/>
              <a:t>in one of the two ways:</a:t>
            </a:r>
          </a:p>
          <a:p>
            <a:pPr marL="0" indent="0">
              <a:buNone/>
            </a:pPr>
            <a:r>
              <a:rPr lang="en-US" dirty="0"/>
              <a:t>(a) sending the values of the </a:t>
            </a:r>
            <a:r>
              <a:rPr lang="en-US" dirty="0" smtClean="0"/>
              <a:t>arguments :  </a:t>
            </a:r>
            <a:r>
              <a:rPr lang="en-US" dirty="0"/>
              <a:t>‘value’ of each of the actual arguments in </a:t>
            </a:r>
            <a:r>
              <a:rPr lang="en-US" dirty="0" smtClean="0"/>
              <a:t>the calling </a:t>
            </a:r>
            <a:r>
              <a:rPr lang="en-US" dirty="0"/>
              <a:t>function is copied into corresponding formal arguments of </a:t>
            </a:r>
            <a:r>
              <a:rPr lang="en-US" dirty="0" smtClean="0"/>
              <a:t>the </a:t>
            </a:r>
            <a:r>
              <a:rPr lang="en-IN" dirty="0"/>
              <a:t>called function</a:t>
            </a:r>
            <a:r>
              <a:rPr lang="en-IN" dirty="0" smtClean="0"/>
              <a:t>. </a:t>
            </a:r>
            <a:r>
              <a:rPr lang="en-US" dirty="0"/>
              <a:t>With this method, the changes made to the </a:t>
            </a:r>
            <a:r>
              <a:rPr lang="en-US" dirty="0" smtClean="0"/>
              <a:t>formal arguments </a:t>
            </a:r>
            <a:r>
              <a:rPr lang="en-US" dirty="0"/>
              <a:t>in the called function have no effect on the values of </a:t>
            </a:r>
            <a:r>
              <a:rPr lang="en-US" dirty="0" smtClean="0"/>
              <a:t>actual arguments </a:t>
            </a:r>
            <a:r>
              <a:rPr lang="en-US" dirty="0"/>
              <a:t>in the calling function.</a:t>
            </a:r>
          </a:p>
          <a:p>
            <a:pPr marL="0" indent="0">
              <a:buNone/>
            </a:pPr>
            <a:r>
              <a:rPr lang="en-US" dirty="0"/>
              <a:t>(b) sending the addresses of the arguments</a:t>
            </a:r>
            <a:endParaRPr lang="en-IN" dirty="0"/>
          </a:p>
        </p:txBody>
      </p:sp>
    </p:spTree>
    <p:extLst>
      <p:ext uri="{BB962C8B-B14F-4D97-AF65-F5344CB8AC3E}">
        <p14:creationId xmlns:p14="http://schemas.microsoft.com/office/powerpoint/2010/main" val="22158174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IN" b="1" dirty="0"/>
              <a:t>Function </a:t>
            </a:r>
            <a:r>
              <a:rPr lang="en-IN" b="1" dirty="0" smtClean="0"/>
              <a:t>Calls: </a:t>
            </a:r>
            <a:r>
              <a:rPr lang="en-US" sz="2700" dirty="0" smtClean="0"/>
              <a:t>Sending </a:t>
            </a:r>
            <a:r>
              <a:rPr lang="en-US" sz="2700" dirty="0"/>
              <a:t>the values of the arguments </a:t>
            </a:r>
            <a:endParaRPr lang="en-IN" sz="2700" dirty="0"/>
          </a:p>
        </p:txBody>
      </p:sp>
      <p:sp>
        <p:nvSpPr>
          <p:cNvPr id="3" name="Content Placeholder 2"/>
          <p:cNvSpPr>
            <a:spLocks noGrp="1"/>
          </p:cNvSpPr>
          <p:nvPr>
            <p:ph idx="1"/>
          </p:nvPr>
        </p:nvSpPr>
        <p:spPr>
          <a:xfrm>
            <a:off x="457200" y="1600200"/>
            <a:ext cx="4330824" cy="4876800"/>
          </a:xfrm>
        </p:spPr>
        <p:txBody>
          <a:bodyPr>
            <a:normAutofit fontScale="70000" lnSpcReduction="20000"/>
          </a:bodyPr>
          <a:lstStyle/>
          <a:p>
            <a:pPr marL="0" indent="0">
              <a:buNone/>
            </a:pPr>
            <a:r>
              <a:rPr lang="en-IN" dirty="0"/>
              <a:t># include &lt;</a:t>
            </a:r>
            <a:r>
              <a:rPr lang="en-IN" dirty="0" err="1"/>
              <a:t>stdio.h</a:t>
            </a:r>
            <a:r>
              <a:rPr lang="en-IN" dirty="0"/>
              <a:t>&gt;</a:t>
            </a:r>
          </a:p>
          <a:p>
            <a:pPr marL="0" indent="0">
              <a:buNone/>
            </a:pPr>
            <a:r>
              <a:rPr lang="fr-FR" dirty="0" err="1"/>
              <a:t>void</a:t>
            </a:r>
            <a:r>
              <a:rPr lang="fr-FR" dirty="0"/>
              <a:t> </a:t>
            </a:r>
            <a:r>
              <a:rPr lang="fr-FR" dirty="0" err="1"/>
              <a:t>swapv</a:t>
            </a:r>
            <a:r>
              <a:rPr lang="fr-FR" dirty="0"/>
              <a:t> ( </a:t>
            </a:r>
            <a:r>
              <a:rPr lang="fr-FR" dirty="0" err="1"/>
              <a:t>int</a:t>
            </a:r>
            <a:r>
              <a:rPr lang="fr-FR" dirty="0"/>
              <a:t> x, </a:t>
            </a:r>
            <a:r>
              <a:rPr lang="fr-FR" dirty="0" err="1"/>
              <a:t>int</a:t>
            </a:r>
            <a:r>
              <a:rPr lang="fr-FR" dirty="0"/>
              <a:t> y ) ;</a:t>
            </a:r>
          </a:p>
          <a:p>
            <a:pPr marL="0" indent="0">
              <a:buNone/>
            </a:pPr>
            <a:r>
              <a:rPr lang="en-IN" dirty="0" err="1"/>
              <a:t>int</a:t>
            </a:r>
            <a:r>
              <a:rPr lang="en-IN" dirty="0"/>
              <a:t> main( )</a:t>
            </a:r>
          </a:p>
          <a:p>
            <a:pPr marL="0" indent="0">
              <a:buNone/>
            </a:pPr>
            <a:r>
              <a:rPr lang="en-IN" dirty="0"/>
              <a:t>{</a:t>
            </a:r>
          </a:p>
          <a:p>
            <a:pPr marL="0" indent="0">
              <a:buNone/>
            </a:pPr>
            <a:r>
              <a:rPr lang="en-US" dirty="0" err="1"/>
              <a:t>int</a:t>
            </a:r>
            <a:r>
              <a:rPr lang="en-US" dirty="0"/>
              <a:t> a = 10, b = 20 ;</a:t>
            </a:r>
          </a:p>
          <a:p>
            <a:pPr marL="0" indent="0">
              <a:buNone/>
            </a:pPr>
            <a:r>
              <a:rPr lang="en-IN" dirty="0" err="1"/>
              <a:t>swapv</a:t>
            </a:r>
            <a:r>
              <a:rPr lang="en-IN" dirty="0"/>
              <a:t> ( a, b ) ;</a:t>
            </a:r>
          </a:p>
          <a:p>
            <a:pPr marL="0" indent="0">
              <a:buNone/>
            </a:pPr>
            <a:r>
              <a:rPr lang="pt-BR" dirty="0"/>
              <a:t>printf ( "a = %d b = %d\n", a, b ) ;</a:t>
            </a:r>
          </a:p>
          <a:p>
            <a:pPr marL="0" indent="0">
              <a:buNone/>
            </a:pPr>
            <a:r>
              <a:rPr lang="en-IN" dirty="0"/>
              <a:t>return 0 ;</a:t>
            </a:r>
          </a:p>
          <a:p>
            <a:pPr marL="0" indent="0">
              <a:buNone/>
            </a:pPr>
            <a:r>
              <a:rPr lang="en-IN" dirty="0"/>
              <a:t>}</a:t>
            </a:r>
          </a:p>
          <a:p>
            <a:pPr marL="0" indent="0">
              <a:buNone/>
            </a:pPr>
            <a:r>
              <a:rPr lang="fr-FR" dirty="0" err="1"/>
              <a:t>void</a:t>
            </a:r>
            <a:r>
              <a:rPr lang="fr-FR" dirty="0"/>
              <a:t> </a:t>
            </a:r>
            <a:r>
              <a:rPr lang="fr-FR" dirty="0" err="1"/>
              <a:t>swapv</a:t>
            </a:r>
            <a:r>
              <a:rPr lang="fr-FR" dirty="0"/>
              <a:t> ( </a:t>
            </a:r>
            <a:r>
              <a:rPr lang="fr-FR" dirty="0" err="1"/>
              <a:t>int</a:t>
            </a:r>
            <a:r>
              <a:rPr lang="fr-FR" dirty="0"/>
              <a:t> x, </a:t>
            </a:r>
            <a:r>
              <a:rPr lang="fr-FR" dirty="0" err="1"/>
              <a:t>int</a:t>
            </a:r>
            <a:r>
              <a:rPr lang="fr-FR" dirty="0"/>
              <a:t> y )</a:t>
            </a:r>
          </a:p>
          <a:p>
            <a:pPr marL="0" indent="0">
              <a:buNone/>
            </a:pPr>
            <a:r>
              <a:rPr lang="en-IN" dirty="0"/>
              <a:t>{</a:t>
            </a:r>
          </a:p>
          <a:p>
            <a:pPr marL="0" indent="0">
              <a:buNone/>
            </a:pPr>
            <a:r>
              <a:rPr lang="en-IN" dirty="0" err="1"/>
              <a:t>int</a:t>
            </a:r>
            <a:r>
              <a:rPr lang="en-IN" dirty="0"/>
              <a:t> t ;</a:t>
            </a:r>
          </a:p>
          <a:p>
            <a:pPr marL="0" indent="0">
              <a:buNone/>
            </a:pPr>
            <a:r>
              <a:rPr lang="en-IN" dirty="0"/>
              <a:t>t = x ;</a:t>
            </a:r>
          </a:p>
          <a:p>
            <a:pPr marL="0" indent="0">
              <a:buNone/>
            </a:pPr>
            <a:r>
              <a:rPr lang="en-IN" dirty="0"/>
              <a:t>x = y ;</a:t>
            </a:r>
          </a:p>
          <a:p>
            <a:pPr marL="0" indent="0">
              <a:buNone/>
            </a:pPr>
            <a:r>
              <a:rPr lang="en-IN" dirty="0"/>
              <a:t>y = t ;</a:t>
            </a:r>
          </a:p>
          <a:p>
            <a:pPr marL="0" indent="0">
              <a:buNone/>
            </a:pPr>
            <a:r>
              <a:rPr lang="es-ES" dirty="0" err="1"/>
              <a:t>printf</a:t>
            </a:r>
            <a:r>
              <a:rPr lang="es-ES" dirty="0"/>
              <a:t> ( "x = %d y = %d\n", x, y ) ;</a:t>
            </a:r>
          </a:p>
          <a:p>
            <a:pPr marL="0" indent="0">
              <a:buNone/>
            </a:pPr>
            <a:r>
              <a:rPr lang="en-IN" dirty="0"/>
              <a:t>}</a:t>
            </a:r>
          </a:p>
        </p:txBody>
      </p:sp>
      <p:sp>
        <p:nvSpPr>
          <p:cNvPr id="4" name="TextBox 3"/>
          <p:cNvSpPr txBox="1"/>
          <p:nvPr/>
        </p:nvSpPr>
        <p:spPr>
          <a:xfrm>
            <a:off x="5220072" y="1772816"/>
            <a:ext cx="3888432" cy="923330"/>
          </a:xfrm>
          <a:prstGeom prst="rect">
            <a:avLst/>
          </a:prstGeom>
          <a:noFill/>
        </p:spPr>
        <p:txBody>
          <a:bodyPr wrap="square" rtlCol="0">
            <a:spAutoFit/>
          </a:bodyPr>
          <a:lstStyle/>
          <a:p>
            <a:r>
              <a:rPr lang="en-US" dirty="0" smtClean="0">
                <a:solidFill>
                  <a:srgbClr val="FF0000"/>
                </a:solidFill>
              </a:rPr>
              <a:t>Output </a:t>
            </a:r>
            <a:endParaRPr lang="en-US" dirty="0">
              <a:solidFill>
                <a:srgbClr val="FF0000"/>
              </a:solidFill>
            </a:endParaRPr>
          </a:p>
          <a:p>
            <a:r>
              <a:rPr lang="en-IN" dirty="0">
                <a:solidFill>
                  <a:srgbClr val="FF0000"/>
                </a:solidFill>
              </a:rPr>
              <a:t>x = 20 y = 10</a:t>
            </a:r>
          </a:p>
          <a:p>
            <a:r>
              <a:rPr lang="en-IN" dirty="0">
                <a:solidFill>
                  <a:srgbClr val="FF0000"/>
                </a:solidFill>
              </a:rPr>
              <a:t>a = 10 b = 20</a:t>
            </a:r>
          </a:p>
        </p:txBody>
      </p:sp>
    </p:spTree>
    <p:extLst>
      <p:ext uri="{BB962C8B-B14F-4D97-AF65-F5344CB8AC3E}">
        <p14:creationId xmlns:p14="http://schemas.microsoft.com/office/powerpoint/2010/main" val="395538061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Pointer with function</a:t>
            </a:r>
            <a:endParaRPr lang="en-IN" dirty="0"/>
          </a:p>
        </p:txBody>
      </p:sp>
      <p:sp>
        <p:nvSpPr>
          <p:cNvPr id="3" name="Content Placeholder 2"/>
          <p:cNvSpPr>
            <a:spLocks noGrp="1"/>
          </p:cNvSpPr>
          <p:nvPr>
            <p:ph idx="1"/>
          </p:nvPr>
        </p:nvSpPr>
        <p:spPr/>
        <p:txBody>
          <a:bodyPr>
            <a:normAutofit fontScale="85000" lnSpcReduction="20000"/>
          </a:bodyPr>
          <a:lstStyle/>
          <a:p>
            <a:pPr marL="0" indent="0">
              <a:buNone/>
            </a:pPr>
            <a:r>
              <a:rPr lang="en-IN" dirty="0"/>
              <a:t>#include &lt;</a:t>
            </a:r>
            <a:r>
              <a:rPr lang="en-IN" dirty="0" err="1"/>
              <a:t>stdio.h</a:t>
            </a:r>
            <a:r>
              <a:rPr lang="en-IN" dirty="0"/>
              <a:t>&gt;</a:t>
            </a:r>
          </a:p>
          <a:p>
            <a:pPr marL="0" indent="0">
              <a:buNone/>
            </a:pPr>
            <a:endParaRPr lang="en-IN" dirty="0"/>
          </a:p>
          <a:p>
            <a:pPr marL="0" indent="0">
              <a:buNone/>
            </a:pPr>
            <a:r>
              <a:rPr lang="en-IN" dirty="0"/>
              <a:t>void </a:t>
            </a:r>
            <a:r>
              <a:rPr lang="en-IN" dirty="0" err="1"/>
              <a:t>changeValue</a:t>
            </a:r>
            <a:r>
              <a:rPr lang="en-IN" dirty="0"/>
              <a:t>(</a:t>
            </a:r>
            <a:r>
              <a:rPr lang="en-IN" dirty="0" err="1"/>
              <a:t>int</a:t>
            </a:r>
            <a:r>
              <a:rPr lang="en-IN" dirty="0"/>
              <a:t> *</a:t>
            </a:r>
            <a:r>
              <a:rPr lang="en-IN" dirty="0" err="1"/>
              <a:t>ptr</a:t>
            </a:r>
            <a:r>
              <a:rPr lang="en-IN" dirty="0"/>
              <a:t>) {</a:t>
            </a:r>
          </a:p>
          <a:p>
            <a:pPr marL="0" indent="0">
              <a:buNone/>
            </a:pPr>
            <a:r>
              <a:rPr lang="en-IN" dirty="0"/>
              <a:t>    *</a:t>
            </a:r>
            <a:r>
              <a:rPr lang="en-IN" dirty="0" err="1"/>
              <a:t>ptr</a:t>
            </a:r>
            <a:r>
              <a:rPr lang="en-IN" dirty="0"/>
              <a:t> = 20; // Changing the value at the address</a:t>
            </a:r>
          </a:p>
          <a:p>
            <a:pPr marL="0" indent="0">
              <a:buNone/>
            </a:pPr>
            <a:r>
              <a:rPr lang="en-IN" dirty="0"/>
              <a:t>}</a:t>
            </a:r>
          </a:p>
          <a:p>
            <a:pPr marL="0" indent="0">
              <a:buNone/>
            </a:pPr>
            <a:endParaRPr lang="en-IN" dirty="0"/>
          </a:p>
          <a:p>
            <a:pPr marL="0" indent="0">
              <a:buNone/>
            </a:pPr>
            <a:r>
              <a:rPr lang="en-IN" dirty="0" err="1"/>
              <a:t>int</a:t>
            </a:r>
            <a:r>
              <a:rPr lang="en-IN" dirty="0"/>
              <a:t> main() {</a:t>
            </a:r>
          </a:p>
          <a:p>
            <a:pPr marL="0" indent="0">
              <a:buNone/>
            </a:pPr>
            <a:r>
              <a:rPr lang="en-IN" dirty="0"/>
              <a:t>    </a:t>
            </a:r>
            <a:r>
              <a:rPr lang="en-IN" dirty="0" err="1"/>
              <a:t>int</a:t>
            </a:r>
            <a:r>
              <a:rPr lang="en-IN" dirty="0"/>
              <a:t> </a:t>
            </a:r>
            <a:r>
              <a:rPr lang="en-IN" dirty="0" err="1"/>
              <a:t>num</a:t>
            </a:r>
            <a:r>
              <a:rPr lang="en-IN" dirty="0"/>
              <a:t> = 10;</a:t>
            </a:r>
          </a:p>
          <a:p>
            <a:pPr marL="0" indent="0">
              <a:buNone/>
            </a:pPr>
            <a:r>
              <a:rPr lang="en-IN" dirty="0"/>
              <a:t>    </a:t>
            </a:r>
            <a:r>
              <a:rPr lang="en-IN" dirty="0" err="1"/>
              <a:t>printf</a:t>
            </a:r>
            <a:r>
              <a:rPr lang="en-IN" dirty="0"/>
              <a:t>("Before: %d\n", </a:t>
            </a:r>
            <a:r>
              <a:rPr lang="en-IN" dirty="0" err="1"/>
              <a:t>num</a:t>
            </a:r>
            <a:r>
              <a:rPr lang="en-IN" dirty="0"/>
              <a:t>);</a:t>
            </a:r>
          </a:p>
          <a:p>
            <a:pPr marL="0" indent="0">
              <a:buNone/>
            </a:pPr>
            <a:r>
              <a:rPr lang="en-IN" dirty="0"/>
              <a:t>    </a:t>
            </a:r>
          </a:p>
          <a:p>
            <a:pPr marL="0" indent="0">
              <a:buNone/>
            </a:pPr>
            <a:r>
              <a:rPr lang="en-IN" dirty="0"/>
              <a:t>    </a:t>
            </a:r>
            <a:r>
              <a:rPr lang="en-IN" dirty="0" err="1"/>
              <a:t>changeValue</a:t>
            </a:r>
            <a:r>
              <a:rPr lang="en-IN" dirty="0"/>
              <a:t>(&amp;</a:t>
            </a:r>
            <a:r>
              <a:rPr lang="en-IN" dirty="0" err="1"/>
              <a:t>num</a:t>
            </a:r>
            <a:r>
              <a:rPr lang="en-IN" dirty="0"/>
              <a:t>); // Passing address of </a:t>
            </a:r>
            <a:r>
              <a:rPr lang="en-IN" dirty="0" err="1"/>
              <a:t>num</a:t>
            </a:r>
            <a:endParaRPr lang="en-IN" dirty="0"/>
          </a:p>
          <a:p>
            <a:pPr marL="0" indent="0">
              <a:buNone/>
            </a:pPr>
            <a:r>
              <a:rPr lang="en-IN" dirty="0"/>
              <a:t>    </a:t>
            </a:r>
          </a:p>
          <a:p>
            <a:pPr marL="0" indent="0">
              <a:buNone/>
            </a:pPr>
            <a:r>
              <a:rPr lang="en-IN" dirty="0"/>
              <a:t>    </a:t>
            </a:r>
            <a:r>
              <a:rPr lang="en-IN" dirty="0" err="1"/>
              <a:t>printf</a:t>
            </a:r>
            <a:r>
              <a:rPr lang="en-IN" dirty="0"/>
              <a:t>("After: %d\n", </a:t>
            </a:r>
            <a:r>
              <a:rPr lang="en-IN" dirty="0" err="1"/>
              <a:t>num</a:t>
            </a:r>
            <a:r>
              <a:rPr lang="en-IN" dirty="0"/>
              <a:t>);</a:t>
            </a:r>
          </a:p>
          <a:p>
            <a:pPr marL="0" indent="0">
              <a:buNone/>
            </a:pPr>
            <a:r>
              <a:rPr lang="en-IN" dirty="0"/>
              <a:t>    return 0;</a:t>
            </a:r>
          </a:p>
          <a:p>
            <a:pPr marL="0" indent="0">
              <a:buNone/>
            </a:pPr>
            <a:r>
              <a:rPr lang="en-IN" dirty="0"/>
              <a:t>}</a:t>
            </a:r>
          </a:p>
          <a:p>
            <a:pPr marL="0" indent="0">
              <a:buNone/>
            </a:pPr>
            <a:endParaRPr lang="en-IN" dirty="0"/>
          </a:p>
        </p:txBody>
      </p:sp>
    </p:spTree>
    <p:extLst>
      <p:ext uri="{BB962C8B-B14F-4D97-AF65-F5344CB8AC3E}">
        <p14:creationId xmlns:p14="http://schemas.microsoft.com/office/powerpoint/2010/main" val="353010224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smtClean="0"/>
              <a:t>Pointer with Strings</a:t>
            </a:r>
            <a:endParaRPr lang="en-IN" dirty="0"/>
          </a:p>
        </p:txBody>
      </p:sp>
      <p:sp>
        <p:nvSpPr>
          <p:cNvPr id="3" name="Content Placeholder 2"/>
          <p:cNvSpPr>
            <a:spLocks noGrp="1"/>
          </p:cNvSpPr>
          <p:nvPr>
            <p:ph idx="1"/>
          </p:nvPr>
        </p:nvSpPr>
        <p:spPr/>
        <p:txBody>
          <a:bodyPr/>
          <a:lstStyle/>
          <a:p>
            <a:pPr marL="0" indent="0">
              <a:buNone/>
            </a:pPr>
            <a:r>
              <a:rPr lang="en-US" dirty="0"/>
              <a:t>#include &lt;</a:t>
            </a:r>
            <a:r>
              <a:rPr lang="en-US" dirty="0" err="1"/>
              <a:t>stdio.h</a:t>
            </a:r>
            <a:r>
              <a:rPr lang="en-US" dirty="0"/>
              <a:t>&gt;</a:t>
            </a:r>
          </a:p>
          <a:p>
            <a:pPr marL="0" indent="0">
              <a:buNone/>
            </a:pPr>
            <a:endParaRPr lang="en-US" dirty="0"/>
          </a:p>
          <a:p>
            <a:pPr marL="0" indent="0">
              <a:buNone/>
            </a:pPr>
            <a:r>
              <a:rPr lang="en-US" dirty="0" err="1"/>
              <a:t>int</a:t>
            </a:r>
            <a:r>
              <a:rPr lang="en-US" dirty="0"/>
              <a:t> main() {</a:t>
            </a:r>
          </a:p>
          <a:p>
            <a:pPr marL="0" indent="0">
              <a:buNone/>
            </a:pPr>
            <a:r>
              <a:rPr lang="en-US" dirty="0"/>
              <a:t>    char *</a:t>
            </a:r>
            <a:r>
              <a:rPr lang="en-US" dirty="0" err="1"/>
              <a:t>str</a:t>
            </a:r>
            <a:r>
              <a:rPr lang="en-US" dirty="0"/>
              <a:t> = "Hello, World!";</a:t>
            </a:r>
          </a:p>
          <a:p>
            <a:pPr marL="0" indent="0">
              <a:buNone/>
            </a:pPr>
            <a:endParaRPr lang="en-US" dirty="0"/>
          </a:p>
          <a:p>
            <a:pPr marL="0" indent="0">
              <a:buNone/>
            </a:pPr>
            <a:r>
              <a:rPr lang="en-US" dirty="0"/>
              <a:t>    </a:t>
            </a:r>
            <a:r>
              <a:rPr lang="en-US" dirty="0" err="1"/>
              <a:t>printf</a:t>
            </a:r>
            <a:r>
              <a:rPr lang="en-US" dirty="0"/>
              <a:t>("%s\n", </a:t>
            </a:r>
            <a:r>
              <a:rPr lang="en-US" dirty="0" err="1"/>
              <a:t>str</a:t>
            </a:r>
            <a:r>
              <a:rPr lang="en-US" dirty="0"/>
              <a:t>);</a:t>
            </a:r>
          </a:p>
          <a:p>
            <a:pPr marL="0" indent="0">
              <a:buNone/>
            </a:pPr>
            <a:endParaRPr lang="en-US" dirty="0"/>
          </a:p>
          <a:p>
            <a:pPr marL="0" indent="0">
              <a:buNone/>
            </a:pPr>
            <a:r>
              <a:rPr lang="en-US" dirty="0"/>
              <a:t>    // Print each character using pointer</a:t>
            </a:r>
          </a:p>
          <a:p>
            <a:pPr marL="0" indent="0">
              <a:buNone/>
            </a:pPr>
            <a:r>
              <a:rPr lang="en-US" dirty="0"/>
              <a:t> </a:t>
            </a:r>
            <a:endParaRPr lang="en-IN" dirty="0"/>
          </a:p>
        </p:txBody>
      </p:sp>
    </p:spTree>
    <p:extLst>
      <p:ext uri="{BB962C8B-B14F-4D97-AF65-F5344CB8AC3E}">
        <p14:creationId xmlns:p14="http://schemas.microsoft.com/office/powerpoint/2010/main" val="90990948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smtClean="0"/>
              <a:t>Call </a:t>
            </a:r>
            <a:r>
              <a:rPr lang="en-IN" dirty="0"/>
              <a:t>by reference</a:t>
            </a:r>
          </a:p>
        </p:txBody>
      </p:sp>
      <p:sp>
        <p:nvSpPr>
          <p:cNvPr id="3" name="Content Placeholder 2"/>
          <p:cNvSpPr>
            <a:spLocks noGrp="1"/>
          </p:cNvSpPr>
          <p:nvPr>
            <p:ph idx="1"/>
          </p:nvPr>
        </p:nvSpPr>
        <p:spPr/>
        <p:txBody>
          <a:bodyPr>
            <a:normAutofit/>
          </a:bodyPr>
          <a:lstStyle/>
          <a:p>
            <a:pPr marL="0" indent="0">
              <a:buNone/>
            </a:pPr>
            <a:r>
              <a:rPr lang="en-IN" sz="3200" dirty="0"/>
              <a:t>T</a:t>
            </a:r>
            <a:r>
              <a:rPr lang="en-IN" sz="3200" dirty="0" smtClean="0"/>
              <a:t>he </a:t>
            </a:r>
            <a:r>
              <a:rPr lang="en-IN" sz="3200" dirty="0"/>
              <a:t>addresses of </a:t>
            </a:r>
            <a:r>
              <a:rPr lang="en-IN" sz="3200" dirty="0" smtClean="0"/>
              <a:t>actual </a:t>
            </a:r>
            <a:r>
              <a:rPr lang="en-US" sz="3200" dirty="0" smtClean="0"/>
              <a:t>arguments </a:t>
            </a:r>
            <a:r>
              <a:rPr lang="en-US" sz="3200" dirty="0"/>
              <a:t>in the calling function are copied into the formal </a:t>
            </a:r>
            <a:r>
              <a:rPr lang="en-US" sz="3200" dirty="0" smtClean="0"/>
              <a:t>arguments of </a:t>
            </a:r>
            <a:r>
              <a:rPr lang="en-US" sz="3200" dirty="0"/>
              <a:t>the called function. </a:t>
            </a:r>
            <a:endParaRPr lang="en-US" sz="3200" dirty="0" smtClean="0"/>
          </a:p>
          <a:p>
            <a:pPr marL="0" indent="0">
              <a:buNone/>
            </a:pPr>
            <a:r>
              <a:rPr lang="en-US" sz="3200" dirty="0" smtClean="0"/>
              <a:t>This </a:t>
            </a:r>
            <a:r>
              <a:rPr lang="en-US" sz="3200" dirty="0"/>
              <a:t>means that, using these addresses, we </a:t>
            </a:r>
            <a:r>
              <a:rPr lang="en-US" sz="3200" dirty="0" smtClean="0"/>
              <a:t>would have </a:t>
            </a:r>
            <a:r>
              <a:rPr lang="en-US" sz="3200" dirty="0"/>
              <a:t>an access to the actual arguments and hence we would be able </a:t>
            </a:r>
            <a:r>
              <a:rPr lang="en-US" sz="3200" dirty="0" smtClean="0"/>
              <a:t>to </a:t>
            </a:r>
            <a:r>
              <a:rPr lang="en-IN" sz="3200" dirty="0" smtClean="0"/>
              <a:t>manipulate </a:t>
            </a:r>
            <a:r>
              <a:rPr lang="en-IN" sz="3200" dirty="0"/>
              <a:t>them.</a:t>
            </a:r>
          </a:p>
        </p:txBody>
      </p:sp>
    </p:spTree>
    <p:extLst>
      <p:ext uri="{BB962C8B-B14F-4D97-AF65-F5344CB8AC3E}">
        <p14:creationId xmlns:p14="http://schemas.microsoft.com/office/powerpoint/2010/main" val="20622015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smtClean="0"/>
              <a:t>Call </a:t>
            </a:r>
            <a:r>
              <a:rPr lang="en-IN" dirty="0"/>
              <a:t>by reference</a:t>
            </a:r>
          </a:p>
        </p:txBody>
      </p:sp>
      <p:sp>
        <p:nvSpPr>
          <p:cNvPr id="3" name="Content Placeholder 2"/>
          <p:cNvSpPr>
            <a:spLocks noGrp="1"/>
          </p:cNvSpPr>
          <p:nvPr>
            <p:ph idx="1"/>
          </p:nvPr>
        </p:nvSpPr>
        <p:spPr>
          <a:xfrm>
            <a:off x="457200" y="1124744"/>
            <a:ext cx="5194920" cy="5352256"/>
          </a:xfrm>
        </p:spPr>
        <p:txBody>
          <a:bodyPr>
            <a:noAutofit/>
          </a:bodyPr>
          <a:lstStyle/>
          <a:p>
            <a:pPr marL="0" indent="0">
              <a:buNone/>
            </a:pPr>
            <a:r>
              <a:rPr lang="en-IN" sz="2000" dirty="0"/>
              <a:t># include &lt;</a:t>
            </a:r>
            <a:r>
              <a:rPr lang="en-IN" sz="2000" dirty="0" err="1"/>
              <a:t>stdio.h</a:t>
            </a:r>
            <a:r>
              <a:rPr lang="en-IN" sz="2000" dirty="0"/>
              <a:t>&gt;</a:t>
            </a:r>
          </a:p>
          <a:p>
            <a:pPr marL="0" indent="0">
              <a:buNone/>
            </a:pPr>
            <a:r>
              <a:rPr lang="en-IN" dirty="0"/>
              <a:t>void </a:t>
            </a:r>
            <a:r>
              <a:rPr lang="en-IN" dirty="0" err="1"/>
              <a:t>swapr</a:t>
            </a:r>
            <a:r>
              <a:rPr lang="en-IN" dirty="0"/>
              <a:t> ( </a:t>
            </a:r>
            <a:r>
              <a:rPr lang="en-IN" dirty="0" err="1"/>
              <a:t>int</a:t>
            </a:r>
            <a:r>
              <a:rPr lang="en-IN" dirty="0"/>
              <a:t> *, </a:t>
            </a:r>
            <a:r>
              <a:rPr lang="en-IN" dirty="0" err="1"/>
              <a:t>int</a:t>
            </a:r>
            <a:r>
              <a:rPr lang="en-IN" dirty="0"/>
              <a:t> * ) </a:t>
            </a:r>
            <a:r>
              <a:rPr lang="en-IN" dirty="0" smtClean="0"/>
              <a:t>;</a:t>
            </a:r>
          </a:p>
          <a:p>
            <a:pPr marL="0" indent="0">
              <a:buNone/>
            </a:pPr>
            <a:r>
              <a:rPr lang="fr-FR" sz="2000" dirty="0" err="1"/>
              <a:t>void</a:t>
            </a:r>
            <a:r>
              <a:rPr lang="fr-FR" sz="2000" dirty="0"/>
              <a:t> </a:t>
            </a:r>
            <a:r>
              <a:rPr lang="fr-FR" sz="2000" dirty="0" err="1"/>
              <a:t>swapr</a:t>
            </a:r>
            <a:r>
              <a:rPr lang="fr-FR" sz="2000" dirty="0"/>
              <a:t> ( </a:t>
            </a:r>
            <a:r>
              <a:rPr lang="fr-FR" sz="2000" dirty="0" err="1"/>
              <a:t>int</a:t>
            </a:r>
            <a:r>
              <a:rPr lang="fr-FR" sz="2000" dirty="0"/>
              <a:t> *x, </a:t>
            </a:r>
            <a:r>
              <a:rPr lang="fr-FR" sz="2000" dirty="0" err="1"/>
              <a:t>int</a:t>
            </a:r>
            <a:r>
              <a:rPr lang="fr-FR" sz="2000" dirty="0"/>
              <a:t> *y )</a:t>
            </a:r>
          </a:p>
          <a:p>
            <a:pPr marL="0" indent="0">
              <a:buNone/>
            </a:pPr>
            <a:r>
              <a:rPr lang="en-IN" dirty="0"/>
              <a:t>{ </a:t>
            </a:r>
            <a:r>
              <a:rPr lang="en-IN" dirty="0" err="1"/>
              <a:t>int</a:t>
            </a:r>
            <a:r>
              <a:rPr lang="en-IN" dirty="0"/>
              <a:t> t ;</a:t>
            </a:r>
          </a:p>
          <a:p>
            <a:pPr marL="0" indent="0">
              <a:buNone/>
            </a:pPr>
            <a:r>
              <a:rPr lang="en-IN" dirty="0"/>
              <a:t>  t = *x ;</a:t>
            </a:r>
          </a:p>
          <a:p>
            <a:pPr marL="0" indent="0">
              <a:buNone/>
            </a:pPr>
            <a:r>
              <a:rPr lang="en-IN" dirty="0"/>
              <a:t> *x = *y ;</a:t>
            </a:r>
          </a:p>
          <a:p>
            <a:pPr marL="0" indent="0">
              <a:buNone/>
            </a:pPr>
            <a:r>
              <a:rPr lang="en-IN" dirty="0"/>
              <a:t> *y = t ;</a:t>
            </a:r>
          </a:p>
          <a:p>
            <a:pPr marL="0" indent="0">
              <a:buNone/>
            </a:pPr>
            <a:r>
              <a:rPr lang="en-IN" dirty="0"/>
              <a:t>}</a:t>
            </a:r>
          </a:p>
          <a:p>
            <a:pPr marL="0" indent="0">
              <a:buNone/>
            </a:pPr>
            <a:endParaRPr lang="en-IN" dirty="0"/>
          </a:p>
          <a:p>
            <a:pPr marL="0" indent="0">
              <a:buNone/>
            </a:pPr>
            <a:r>
              <a:rPr lang="en-IN" dirty="0" err="1"/>
              <a:t>int</a:t>
            </a:r>
            <a:r>
              <a:rPr lang="en-IN" dirty="0"/>
              <a:t> main( )</a:t>
            </a:r>
          </a:p>
          <a:p>
            <a:pPr marL="0" indent="0">
              <a:buNone/>
            </a:pPr>
            <a:r>
              <a:rPr lang="en-IN" dirty="0" smtClean="0"/>
              <a:t>{  </a:t>
            </a:r>
            <a:r>
              <a:rPr lang="en-US" dirty="0" err="1" smtClean="0"/>
              <a:t>int</a:t>
            </a:r>
            <a:r>
              <a:rPr lang="en-US" dirty="0" smtClean="0"/>
              <a:t> </a:t>
            </a:r>
            <a:r>
              <a:rPr lang="en-US" dirty="0"/>
              <a:t>a = 10, b = 20 ;</a:t>
            </a:r>
          </a:p>
          <a:p>
            <a:pPr marL="0" indent="0">
              <a:buNone/>
            </a:pPr>
            <a:r>
              <a:rPr lang="en-IN" dirty="0" smtClean="0"/>
              <a:t>   </a:t>
            </a:r>
            <a:r>
              <a:rPr lang="en-IN" dirty="0" err="1" smtClean="0"/>
              <a:t>swapr</a:t>
            </a:r>
            <a:r>
              <a:rPr lang="en-IN" dirty="0" smtClean="0"/>
              <a:t> </a:t>
            </a:r>
            <a:r>
              <a:rPr lang="en-IN" dirty="0"/>
              <a:t>( &amp;a, &amp;b ) </a:t>
            </a:r>
            <a:r>
              <a:rPr lang="en-IN" dirty="0" smtClean="0"/>
              <a:t>;</a:t>
            </a:r>
          </a:p>
          <a:p>
            <a:pPr marL="0" indent="0">
              <a:buNone/>
            </a:pPr>
            <a:r>
              <a:rPr lang="pt-BR" dirty="0" smtClean="0"/>
              <a:t>    printf </a:t>
            </a:r>
            <a:r>
              <a:rPr lang="pt-BR" dirty="0"/>
              <a:t>( "a = %d b = %d\n", a, b ) ;</a:t>
            </a:r>
          </a:p>
          <a:p>
            <a:pPr marL="0" indent="0">
              <a:buNone/>
            </a:pPr>
            <a:r>
              <a:rPr lang="en-IN" dirty="0" smtClean="0"/>
              <a:t>   return </a:t>
            </a:r>
            <a:r>
              <a:rPr lang="en-IN" dirty="0"/>
              <a:t>0 ;</a:t>
            </a:r>
          </a:p>
          <a:p>
            <a:pPr marL="0" indent="0">
              <a:buNone/>
            </a:pPr>
            <a:r>
              <a:rPr lang="en-IN" dirty="0" smtClean="0"/>
              <a:t>}</a:t>
            </a:r>
            <a:endParaRPr lang="en-IN" dirty="0"/>
          </a:p>
        </p:txBody>
      </p:sp>
      <p:sp>
        <p:nvSpPr>
          <p:cNvPr id="4" name="TextBox 3"/>
          <p:cNvSpPr txBox="1"/>
          <p:nvPr/>
        </p:nvSpPr>
        <p:spPr>
          <a:xfrm>
            <a:off x="5724128" y="1484784"/>
            <a:ext cx="3240360" cy="954107"/>
          </a:xfrm>
          <a:prstGeom prst="rect">
            <a:avLst/>
          </a:prstGeom>
          <a:noFill/>
        </p:spPr>
        <p:txBody>
          <a:bodyPr wrap="square" rtlCol="0">
            <a:spAutoFit/>
          </a:bodyPr>
          <a:lstStyle/>
          <a:p>
            <a:r>
              <a:rPr lang="en-IN" sz="2800" dirty="0" smtClean="0">
                <a:solidFill>
                  <a:srgbClr val="FF0000"/>
                </a:solidFill>
              </a:rPr>
              <a:t>Output</a:t>
            </a:r>
          </a:p>
          <a:p>
            <a:r>
              <a:rPr lang="en-IN" sz="2800" dirty="0" smtClean="0">
                <a:solidFill>
                  <a:srgbClr val="FF0000"/>
                </a:solidFill>
              </a:rPr>
              <a:t>a </a:t>
            </a:r>
            <a:r>
              <a:rPr lang="en-IN" sz="2800" dirty="0">
                <a:solidFill>
                  <a:srgbClr val="FF0000"/>
                </a:solidFill>
              </a:rPr>
              <a:t>= 20 b = 10</a:t>
            </a:r>
          </a:p>
        </p:txBody>
      </p:sp>
    </p:spTree>
    <p:extLst>
      <p:ext uri="{BB962C8B-B14F-4D97-AF65-F5344CB8AC3E}">
        <p14:creationId xmlns:p14="http://schemas.microsoft.com/office/powerpoint/2010/main" val="92719325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smtClean="0"/>
              <a:t>Call </a:t>
            </a:r>
            <a:r>
              <a:rPr lang="en-IN" dirty="0"/>
              <a:t>by reference</a:t>
            </a:r>
          </a:p>
        </p:txBody>
      </p:sp>
      <p:sp>
        <p:nvSpPr>
          <p:cNvPr id="3" name="Content Placeholder 2"/>
          <p:cNvSpPr>
            <a:spLocks noGrp="1"/>
          </p:cNvSpPr>
          <p:nvPr>
            <p:ph idx="1"/>
          </p:nvPr>
        </p:nvSpPr>
        <p:spPr>
          <a:xfrm>
            <a:off x="467544" y="1556792"/>
            <a:ext cx="7931224" cy="4968552"/>
          </a:xfrm>
        </p:spPr>
        <p:txBody>
          <a:bodyPr>
            <a:noAutofit/>
          </a:bodyPr>
          <a:lstStyle/>
          <a:p>
            <a:r>
              <a:rPr lang="en-US" sz="3200" dirty="0"/>
              <a:t>Using a call by reference intelligently, we can make a function </a:t>
            </a:r>
            <a:r>
              <a:rPr lang="en-US" sz="3200" dirty="0" smtClean="0"/>
              <a:t>return more </a:t>
            </a:r>
            <a:r>
              <a:rPr lang="en-US" sz="3200" dirty="0"/>
              <a:t>than one value at a time, which is not possible </a:t>
            </a:r>
            <a:r>
              <a:rPr lang="en-US" sz="3200" dirty="0" smtClean="0"/>
              <a:t>ordinarily.</a:t>
            </a:r>
            <a:endParaRPr lang="en-IN" sz="3600" dirty="0"/>
          </a:p>
        </p:txBody>
      </p:sp>
    </p:spTree>
    <p:extLst>
      <p:ext uri="{BB962C8B-B14F-4D97-AF65-F5344CB8AC3E}">
        <p14:creationId xmlns:p14="http://schemas.microsoft.com/office/powerpoint/2010/main" val="649431067"/>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smtClean="0"/>
              <a:t>Call </a:t>
            </a:r>
            <a:r>
              <a:rPr lang="en-IN" dirty="0"/>
              <a:t>by reference</a:t>
            </a:r>
          </a:p>
        </p:txBody>
      </p:sp>
      <p:sp>
        <p:nvSpPr>
          <p:cNvPr id="3" name="Content Placeholder 2"/>
          <p:cNvSpPr>
            <a:spLocks noGrp="1"/>
          </p:cNvSpPr>
          <p:nvPr>
            <p:ph idx="1"/>
          </p:nvPr>
        </p:nvSpPr>
        <p:spPr>
          <a:xfrm>
            <a:off x="467544" y="1556792"/>
            <a:ext cx="7931224" cy="4968552"/>
          </a:xfrm>
        </p:spPr>
        <p:txBody>
          <a:bodyPr>
            <a:noAutofit/>
          </a:bodyPr>
          <a:lstStyle/>
          <a:p>
            <a:pPr marL="0" indent="0">
              <a:buNone/>
            </a:pPr>
            <a:r>
              <a:rPr lang="en-IN" sz="2000" dirty="0"/>
              <a:t># include &lt;</a:t>
            </a:r>
            <a:r>
              <a:rPr lang="en-IN" sz="2000" dirty="0" err="1"/>
              <a:t>stdio.h</a:t>
            </a:r>
            <a:r>
              <a:rPr lang="en-IN" sz="2000" dirty="0"/>
              <a:t>&gt;</a:t>
            </a:r>
          </a:p>
          <a:p>
            <a:pPr marL="0" indent="0">
              <a:buNone/>
            </a:pPr>
            <a:r>
              <a:rPr lang="en-IN" sz="2000" dirty="0"/>
              <a:t>void </a:t>
            </a:r>
            <a:r>
              <a:rPr lang="en-IN" sz="2000" dirty="0" err="1"/>
              <a:t>areaperi</a:t>
            </a:r>
            <a:r>
              <a:rPr lang="en-IN" sz="2000" dirty="0"/>
              <a:t> ( </a:t>
            </a:r>
            <a:r>
              <a:rPr lang="en-IN" sz="2000" dirty="0" err="1"/>
              <a:t>int</a:t>
            </a:r>
            <a:r>
              <a:rPr lang="en-IN" sz="2000" dirty="0"/>
              <a:t>, float *, float * ) ;</a:t>
            </a:r>
          </a:p>
          <a:p>
            <a:pPr marL="0" indent="0">
              <a:buNone/>
            </a:pPr>
            <a:r>
              <a:rPr lang="en-IN" sz="2000" dirty="0" err="1"/>
              <a:t>int</a:t>
            </a:r>
            <a:r>
              <a:rPr lang="en-IN" sz="2000" dirty="0"/>
              <a:t> main( )</a:t>
            </a:r>
          </a:p>
          <a:p>
            <a:pPr marL="0" indent="0">
              <a:buNone/>
            </a:pPr>
            <a:r>
              <a:rPr lang="en-IN" sz="2000" dirty="0"/>
              <a:t>{</a:t>
            </a:r>
          </a:p>
          <a:p>
            <a:pPr marL="0" indent="0">
              <a:buNone/>
            </a:pPr>
            <a:r>
              <a:rPr lang="en-IN" sz="2000" dirty="0" err="1"/>
              <a:t>int</a:t>
            </a:r>
            <a:r>
              <a:rPr lang="en-IN" sz="2000" dirty="0"/>
              <a:t> radius ;</a:t>
            </a:r>
          </a:p>
          <a:p>
            <a:pPr marL="0" indent="0">
              <a:buNone/>
            </a:pPr>
            <a:r>
              <a:rPr lang="en-IN" sz="2000" dirty="0"/>
              <a:t>float area, perimeter ;</a:t>
            </a:r>
          </a:p>
          <a:p>
            <a:pPr marL="0" indent="0">
              <a:buNone/>
            </a:pPr>
            <a:r>
              <a:rPr lang="en-US" sz="2000" dirty="0" err="1"/>
              <a:t>printf</a:t>
            </a:r>
            <a:r>
              <a:rPr lang="en-US" sz="2000" dirty="0"/>
              <a:t> ( "Enter radius of a circle " ) ;</a:t>
            </a:r>
          </a:p>
          <a:p>
            <a:pPr marL="0" indent="0">
              <a:buNone/>
            </a:pPr>
            <a:r>
              <a:rPr lang="en-IN" sz="2000" dirty="0" err="1"/>
              <a:t>scanf</a:t>
            </a:r>
            <a:r>
              <a:rPr lang="en-IN" sz="2000" dirty="0"/>
              <a:t> ( "%d", &amp;radius ) ;</a:t>
            </a:r>
          </a:p>
          <a:p>
            <a:pPr marL="0" indent="0">
              <a:buNone/>
            </a:pPr>
            <a:r>
              <a:rPr lang="en-IN" sz="2000" dirty="0" err="1"/>
              <a:t>areaperi</a:t>
            </a:r>
            <a:r>
              <a:rPr lang="en-IN" sz="2000" dirty="0"/>
              <a:t> ( radius, &amp;area, &amp;perimeter ) ;</a:t>
            </a:r>
          </a:p>
          <a:p>
            <a:pPr marL="0" indent="0">
              <a:buNone/>
            </a:pPr>
            <a:r>
              <a:rPr lang="en-IN" sz="2000" dirty="0" err="1"/>
              <a:t>printf</a:t>
            </a:r>
            <a:r>
              <a:rPr lang="en-IN" sz="2000" dirty="0"/>
              <a:t> ( "Area = %f\n", area ) ;</a:t>
            </a:r>
          </a:p>
          <a:p>
            <a:pPr marL="0" indent="0">
              <a:buNone/>
            </a:pPr>
            <a:r>
              <a:rPr lang="en-IN" sz="2000" dirty="0" err="1"/>
              <a:t>printf</a:t>
            </a:r>
            <a:r>
              <a:rPr lang="en-IN" sz="2000" dirty="0"/>
              <a:t> ( "Perimeter = %f\n", perimeter ) ;</a:t>
            </a:r>
          </a:p>
          <a:p>
            <a:pPr marL="0" indent="0">
              <a:buNone/>
            </a:pPr>
            <a:r>
              <a:rPr lang="en-IN" sz="2000" dirty="0"/>
              <a:t>return 0 ;</a:t>
            </a:r>
          </a:p>
          <a:p>
            <a:pPr marL="0" indent="0">
              <a:buNone/>
            </a:pPr>
            <a:r>
              <a:rPr lang="en-IN" sz="2000" dirty="0"/>
              <a:t>}</a:t>
            </a:r>
          </a:p>
        </p:txBody>
      </p:sp>
    </p:spTree>
    <p:extLst>
      <p:ext uri="{BB962C8B-B14F-4D97-AF65-F5344CB8AC3E}">
        <p14:creationId xmlns:p14="http://schemas.microsoft.com/office/powerpoint/2010/main" val="2299100838"/>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smtClean="0"/>
              <a:t>Call </a:t>
            </a:r>
            <a:r>
              <a:rPr lang="en-IN" dirty="0"/>
              <a:t>by reference</a:t>
            </a:r>
          </a:p>
        </p:txBody>
      </p:sp>
      <p:sp>
        <p:nvSpPr>
          <p:cNvPr id="3" name="Content Placeholder 2"/>
          <p:cNvSpPr>
            <a:spLocks noGrp="1"/>
          </p:cNvSpPr>
          <p:nvPr>
            <p:ph idx="1"/>
          </p:nvPr>
        </p:nvSpPr>
        <p:spPr>
          <a:xfrm>
            <a:off x="467544" y="1196752"/>
            <a:ext cx="4680520" cy="5544616"/>
          </a:xfrm>
        </p:spPr>
        <p:txBody>
          <a:bodyPr>
            <a:noAutofit/>
          </a:bodyPr>
          <a:lstStyle/>
          <a:p>
            <a:pPr marL="0" indent="0">
              <a:buNone/>
            </a:pPr>
            <a:r>
              <a:rPr lang="en-IN" sz="1800" dirty="0" smtClean="0"/>
              <a:t>void </a:t>
            </a:r>
            <a:r>
              <a:rPr lang="en-IN" sz="1800" dirty="0" err="1"/>
              <a:t>areaperi</a:t>
            </a:r>
            <a:r>
              <a:rPr lang="en-IN" sz="1800" dirty="0"/>
              <a:t>(</a:t>
            </a:r>
            <a:r>
              <a:rPr lang="en-IN" sz="1800" dirty="0" err="1"/>
              <a:t>int</a:t>
            </a:r>
            <a:r>
              <a:rPr lang="en-IN" sz="1800" dirty="0"/>
              <a:t>, float *, float *);</a:t>
            </a:r>
          </a:p>
          <a:p>
            <a:pPr marL="0" indent="0">
              <a:buNone/>
            </a:pPr>
            <a:r>
              <a:rPr lang="en-IN" sz="1800" dirty="0" err="1" smtClean="0"/>
              <a:t>int</a:t>
            </a:r>
            <a:r>
              <a:rPr lang="en-IN" sz="1800" dirty="0" smtClean="0"/>
              <a:t> </a:t>
            </a:r>
            <a:r>
              <a:rPr lang="en-IN" sz="1800" dirty="0"/>
              <a:t>main()</a:t>
            </a:r>
          </a:p>
          <a:p>
            <a:pPr marL="0" indent="0">
              <a:buNone/>
            </a:pPr>
            <a:r>
              <a:rPr lang="en-IN" sz="1800" dirty="0"/>
              <a:t>{</a:t>
            </a:r>
          </a:p>
          <a:p>
            <a:pPr marL="0" indent="0">
              <a:buNone/>
            </a:pPr>
            <a:r>
              <a:rPr lang="en-IN" sz="1800" dirty="0"/>
              <a:t>    </a:t>
            </a:r>
            <a:r>
              <a:rPr lang="en-IN" sz="1800" dirty="0" err="1"/>
              <a:t>int</a:t>
            </a:r>
            <a:r>
              <a:rPr lang="en-IN" sz="1800" dirty="0"/>
              <a:t> radius;</a:t>
            </a:r>
          </a:p>
          <a:p>
            <a:pPr marL="0" indent="0">
              <a:buNone/>
            </a:pPr>
            <a:r>
              <a:rPr lang="en-IN" sz="1800" dirty="0"/>
              <a:t>    float area, perimeter;</a:t>
            </a:r>
          </a:p>
          <a:p>
            <a:pPr marL="0" indent="0">
              <a:buNone/>
            </a:pPr>
            <a:r>
              <a:rPr lang="en-IN" sz="1800" dirty="0" smtClean="0"/>
              <a:t>    </a:t>
            </a:r>
            <a:r>
              <a:rPr lang="en-IN" sz="1800" dirty="0" err="1"/>
              <a:t>printf</a:t>
            </a:r>
            <a:r>
              <a:rPr lang="en-IN" sz="1800" dirty="0"/>
              <a:t>("Enter radius of a circle: ");</a:t>
            </a:r>
          </a:p>
          <a:p>
            <a:pPr marL="0" indent="0">
              <a:buNone/>
            </a:pPr>
            <a:r>
              <a:rPr lang="en-IN" sz="1800" dirty="0"/>
              <a:t>    </a:t>
            </a:r>
            <a:r>
              <a:rPr lang="en-IN" sz="1800" dirty="0" err="1"/>
              <a:t>scanf</a:t>
            </a:r>
            <a:r>
              <a:rPr lang="en-IN" sz="1800" dirty="0"/>
              <a:t>("%d", &amp;radius);</a:t>
            </a:r>
          </a:p>
          <a:p>
            <a:pPr marL="0" indent="0">
              <a:buNone/>
            </a:pPr>
            <a:r>
              <a:rPr lang="en-IN" sz="1800" dirty="0" err="1" smtClean="0"/>
              <a:t>areaperi</a:t>
            </a:r>
            <a:r>
              <a:rPr lang="en-IN" sz="1800" dirty="0" smtClean="0"/>
              <a:t>(radius</a:t>
            </a:r>
            <a:r>
              <a:rPr lang="en-IN" sz="1800" dirty="0"/>
              <a:t>, &amp;area, &amp;perimeter);</a:t>
            </a:r>
          </a:p>
          <a:p>
            <a:pPr marL="0" indent="0">
              <a:buNone/>
            </a:pPr>
            <a:r>
              <a:rPr lang="en-IN" sz="1800" dirty="0" smtClean="0"/>
              <a:t>    </a:t>
            </a:r>
            <a:r>
              <a:rPr lang="en-IN" sz="1800" dirty="0" err="1"/>
              <a:t>printf</a:t>
            </a:r>
            <a:r>
              <a:rPr lang="en-IN" sz="1800" dirty="0"/>
              <a:t>("Area = %.2f\n", area);</a:t>
            </a:r>
          </a:p>
          <a:p>
            <a:pPr marL="0" indent="0">
              <a:buNone/>
            </a:pPr>
            <a:r>
              <a:rPr lang="en-IN" sz="1800" dirty="0"/>
              <a:t>    </a:t>
            </a:r>
            <a:r>
              <a:rPr lang="en-IN" sz="1800" dirty="0" err="1"/>
              <a:t>printf</a:t>
            </a:r>
            <a:r>
              <a:rPr lang="en-IN" sz="1800" dirty="0"/>
              <a:t>("Perimeter = %.2f\n", perimeter);</a:t>
            </a:r>
          </a:p>
          <a:p>
            <a:pPr marL="0" indent="0">
              <a:buNone/>
            </a:pPr>
            <a:r>
              <a:rPr lang="en-IN" sz="1800" dirty="0" smtClean="0"/>
              <a:t>    </a:t>
            </a:r>
            <a:r>
              <a:rPr lang="en-IN" sz="1800" dirty="0"/>
              <a:t>return 0;</a:t>
            </a:r>
          </a:p>
          <a:p>
            <a:pPr marL="0" indent="0">
              <a:buNone/>
            </a:pPr>
            <a:r>
              <a:rPr lang="en-IN" sz="1800" dirty="0"/>
              <a:t>}</a:t>
            </a:r>
          </a:p>
          <a:p>
            <a:pPr marL="0" indent="0">
              <a:buNone/>
            </a:pPr>
            <a:r>
              <a:rPr lang="en-IN" sz="1800" dirty="0" smtClean="0"/>
              <a:t>void </a:t>
            </a:r>
            <a:r>
              <a:rPr lang="en-IN" sz="1800" dirty="0" err="1"/>
              <a:t>areaperi</a:t>
            </a:r>
            <a:r>
              <a:rPr lang="en-IN" sz="1800" dirty="0"/>
              <a:t>(</a:t>
            </a:r>
            <a:r>
              <a:rPr lang="en-IN" sz="1800" dirty="0" err="1"/>
              <a:t>int</a:t>
            </a:r>
            <a:r>
              <a:rPr lang="en-IN" sz="1800" dirty="0"/>
              <a:t> r, float *a, float *p)</a:t>
            </a:r>
          </a:p>
          <a:p>
            <a:pPr marL="0" indent="0">
              <a:buNone/>
            </a:pPr>
            <a:r>
              <a:rPr lang="en-IN" sz="1800" dirty="0"/>
              <a:t>{</a:t>
            </a:r>
          </a:p>
          <a:p>
            <a:pPr marL="0" indent="0">
              <a:buNone/>
            </a:pPr>
            <a:r>
              <a:rPr lang="en-IN" sz="1800" dirty="0"/>
              <a:t>    *a = 3.14f * r * r;</a:t>
            </a:r>
          </a:p>
          <a:p>
            <a:pPr marL="0" indent="0">
              <a:buNone/>
            </a:pPr>
            <a:r>
              <a:rPr lang="en-IN" sz="1800" dirty="0"/>
              <a:t>    *p = 2 * 3.14f * r;</a:t>
            </a:r>
          </a:p>
          <a:p>
            <a:pPr marL="0" indent="0">
              <a:buNone/>
            </a:pPr>
            <a:r>
              <a:rPr lang="en-IN" sz="1800" dirty="0"/>
              <a:t>}</a:t>
            </a:r>
          </a:p>
        </p:txBody>
      </p:sp>
      <p:sp>
        <p:nvSpPr>
          <p:cNvPr id="4" name="TextBox 3"/>
          <p:cNvSpPr txBox="1"/>
          <p:nvPr/>
        </p:nvSpPr>
        <p:spPr>
          <a:xfrm>
            <a:off x="4788024" y="1844824"/>
            <a:ext cx="4032448" cy="1569660"/>
          </a:xfrm>
          <a:prstGeom prst="rect">
            <a:avLst/>
          </a:prstGeom>
          <a:noFill/>
        </p:spPr>
        <p:txBody>
          <a:bodyPr wrap="square" rtlCol="0">
            <a:spAutoFit/>
          </a:bodyPr>
          <a:lstStyle/>
          <a:p>
            <a:r>
              <a:rPr lang="en-IN" sz="2400" dirty="0" smtClean="0">
                <a:solidFill>
                  <a:srgbClr val="FF0000"/>
                </a:solidFill>
              </a:rPr>
              <a:t>Output:</a:t>
            </a:r>
          </a:p>
          <a:p>
            <a:r>
              <a:rPr lang="en-US" sz="2400" dirty="0">
                <a:solidFill>
                  <a:srgbClr val="FF0000"/>
                </a:solidFill>
              </a:rPr>
              <a:t>Enter radius of a circle 5</a:t>
            </a:r>
          </a:p>
          <a:p>
            <a:r>
              <a:rPr lang="en-IN" sz="2400" dirty="0">
                <a:solidFill>
                  <a:srgbClr val="FF0000"/>
                </a:solidFill>
              </a:rPr>
              <a:t>Area = </a:t>
            </a:r>
            <a:r>
              <a:rPr lang="en-IN" sz="2400" dirty="0" smtClean="0">
                <a:solidFill>
                  <a:srgbClr val="FF0000"/>
                </a:solidFill>
              </a:rPr>
              <a:t>78.5</a:t>
            </a:r>
            <a:endParaRPr lang="en-IN" sz="2400" dirty="0">
              <a:solidFill>
                <a:srgbClr val="FF0000"/>
              </a:solidFill>
            </a:endParaRPr>
          </a:p>
          <a:p>
            <a:r>
              <a:rPr lang="en-IN" sz="2400" dirty="0">
                <a:solidFill>
                  <a:srgbClr val="FF0000"/>
                </a:solidFill>
              </a:rPr>
              <a:t>Perimeter = </a:t>
            </a:r>
            <a:r>
              <a:rPr lang="en-IN" sz="2400" dirty="0" smtClean="0">
                <a:solidFill>
                  <a:srgbClr val="FF0000"/>
                </a:solidFill>
              </a:rPr>
              <a:t>31.4</a:t>
            </a:r>
            <a:endParaRPr lang="en-IN" sz="2400" dirty="0">
              <a:solidFill>
                <a:srgbClr val="FF0000"/>
              </a:solidFill>
            </a:endParaRPr>
          </a:p>
        </p:txBody>
      </p:sp>
    </p:spTree>
    <p:extLst>
      <p:ext uri="{BB962C8B-B14F-4D97-AF65-F5344CB8AC3E}">
        <p14:creationId xmlns:p14="http://schemas.microsoft.com/office/powerpoint/2010/main" val="2813089214"/>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Summary</a:t>
            </a:r>
            <a:endParaRPr lang="en-IN" dirty="0"/>
          </a:p>
        </p:txBody>
      </p:sp>
      <p:sp>
        <p:nvSpPr>
          <p:cNvPr id="3" name="Content Placeholder 2"/>
          <p:cNvSpPr>
            <a:spLocks noGrp="1"/>
          </p:cNvSpPr>
          <p:nvPr>
            <p:ph idx="1"/>
          </p:nvPr>
        </p:nvSpPr>
        <p:spPr>
          <a:xfrm>
            <a:off x="457200" y="1600200"/>
            <a:ext cx="8435280" cy="4876800"/>
          </a:xfrm>
        </p:spPr>
        <p:txBody>
          <a:bodyPr>
            <a:normAutofit fontScale="92500"/>
          </a:bodyPr>
          <a:lstStyle/>
          <a:p>
            <a:pPr marL="0" indent="0">
              <a:buNone/>
            </a:pPr>
            <a:r>
              <a:rPr lang="en-US" dirty="0"/>
              <a:t>(a) Pointers are variables which hold addresses of other variables.</a:t>
            </a:r>
          </a:p>
          <a:p>
            <a:pPr marL="0" indent="0">
              <a:buNone/>
            </a:pPr>
            <a:r>
              <a:rPr lang="en-US" dirty="0"/>
              <a:t>(b) A pointer to a pointer is a variable that holds address of a pointer</a:t>
            </a:r>
          </a:p>
          <a:p>
            <a:pPr marL="0" indent="0">
              <a:buNone/>
            </a:pPr>
            <a:r>
              <a:rPr lang="en-IN" dirty="0"/>
              <a:t>variable.</a:t>
            </a:r>
          </a:p>
          <a:p>
            <a:pPr marL="0" indent="0">
              <a:buNone/>
            </a:pPr>
            <a:r>
              <a:rPr lang="en-US" dirty="0"/>
              <a:t>(c) The &amp; operator fetches the address of the variable in </a:t>
            </a:r>
            <a:r>
              <a:rPr lang="en-US" dirty="0" smtClean="0"/>
              <a:t>memory.</a:t>
            </a:r>
          </a:p>
          <a:p>
            <a:pPr marL="0" indent="0">
              <a:buNone/>
            </a:pPr>
            <a:r>
              <a:rPr lang="en-US" dirty="0"/>
              <a:t>(d) The * operator lets us access the value present at an address </a:t>
            </a:r>
            <a:r>
              <a:rPr lang="en-US" dirty="0" smtClean="0"/>
              <a:t>in memory </a:t>
            </a:r>
            <a:r>
              <a:rPr lang="en-US" dirty="0"/>
              <a:t>with an intension of reading it or modifying it.</a:t>
            </a:r>
          </a:p>
          <a:p>
            <a:pPr marL="0" indent="0">
              <a:buNone/>
            </a:pPr>
            <a:r>
              <a:rPr lang="en-US" dirty="0"/>
              <a:t>(e) A function can be called either by value or by reference.</a:t>
            </a:r>
          </a:p>
          <a:p>
            <a:pPr marL="0" indent="0">
              <a:buNone/>
            </a:pPr>
            <a:r>
              <a:rPr lang="en-US" dirty="0"/>
              <a:t>(f) Pointers can be used to make a function return more than one</a:t>
            </a:r>
          </a:p>
          <a:p>
            <a:pPr marL="0" indent="0">
              <a:buNone/>
            </a:pPr>
            <a:r>
              <a:rPr lang="en-US" dirty="0"/>
              <a:t>value simultaneously in an indirect manner.</a:t>
            </a:r>
            <a:endParaRPr lang="en-IN" dirty="0"/>
          </a:p>
        </p:txBody>
      </p:sp>
    </p:spTree>
    <p:extLst>
      <p:ext uri="{BB962C8B-B14F-4D97-AF65-F5344CB8AC3E}">
        <p14:creationId xmlns:p14="http://schemas.microsoft.com/office/powerpoint/2010/main" val="2089484557"/>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What will be the output ?</a:t>
            </a:r>
            <a:endParaRPr lang="en-IN" dirty="0"/>
          </a:p>
        </p:txBody>
      </p:sp>
      <p:sp>
        <p:nvSpPr>
          <p:cNvPr id="3" name="Content Placeholder 2"/>
          <p:cNvSpPr>
            <a:spLocks noGrp="1"/>
          </p:cNvSpPr>
          <p:nvPr>
            <p:ph idx="1"/>
          </p:nvPr>
        </p:nvSpPr>
        <p:spPr/>
        <p:txBody>
          <a:bodyPr>
            <a:normAutofit fontScale="92500" lnSpcReduction="20000"/>
          </a:bodyPr>
          <a:lstStyle/>
          <a:p>
            <a:pPr marL="0" indent="0">
              <a:buNone/>
            </a:pPr>
            <a:r>
              <a:rPr lang="en-IN" dirty="0" smtClean="0"/>
              <a:t> </a:t>
            </a:r>
            <a:r>
              <a:rPr lang="en-IN" dirty="0"/>
              <a:t># include &lt;</a:t>
            </a:r>
            <a:r>
              <a:rPr lang="en-IN" dirty="0" err="1"/>
              <a:t>stdio.h</a:t>
            </a:r>
            <a:r>
              <a:rPr lang="en-IN" dirty="0"/>
              <a:t>&gt;</a:t>
            </a:r>
          </a:p>
          <a:p>
            <a:pPr marL="0" indent="0">
              <a:buNone/>
            </a:pPr>
            <a:r>
              <a:rPr lang="en-IN" dirty="0"/>
              <a:t>void fun ( </a:t>
            </a:r>
            <a:r>
              <a:rPr lang="en-IN" dirty="0" err="1"/>
              <a:t>int</a:t>
            </a:r>
            <a:r>
              <a:rPr lang="en-IN" dirty="0"/>
              <a:t>, </a:t>
            </a:r>
            <a:r>
              <a:rPr lang="en-IN" dirty="0" err="1"/>
              <a:t>int</a:t>
            </a:r>
            <a:r>
              <a:rPr lang="en-IN" dirty="0"/>
              <a:t> ) ;</a:t>
            </a:r>
          </a:p>
          <a:p>
            <a:pPr marL="0" indent="0">
              <a:buNone/>
            </a:pPr>
            <a:r>
              <a:rPr lang="en-IN" dirty="0" err="1"/>
              <a:t>int</a:t>
            </a:r>
            <a:r>
              <a:rPr lang="en-IN" dirty="0"/>
              <a:t> main( )</a:t>
            </a:r>
          </a:p>
          <a:p>
            <a:pPr marL="0" indent="0">
              <a:buNone/>
            </a:pPr>
            <a:r>
              <a:rPr lang="en-IN" dirty="0"/>
              <a:t>{</a:t>
            </a:r>
          </a:p>
          <a:p>
            <a:pPr marL="0" indent="0">
              <a:buNone/>
            </a:pPr>
            <a:r>
              <a:rPr lang="en-IN" dirty="0" err="1"/>
              <a:t>int</a:t>
            </a:r>
            <a:r>
              <a:rPr lang="en-IN" dirty="0"/>
              <a:t> i = 5, j = 2 ;</a:t>
            </a:r>
          </a:p>
          <a:p>
            <a:pPr marL="0" indent="0">
              <a:buNone/>
            </a:pPr>
            <a:r>
              <a:rPr lang="en-IN" dirty="0"/>
              <a:t>fun ( i, j ) ;</a:t>
            </a:r>
          </a:p>
          <a:p>
            <a:pPr marL="0" indent="0">
              <a:buNone/>
            </a:pPr>
            <a:r>
              <a:rPr lang="pt-BR" dirty="0"/>
              <a:t>printf ( "%d %d\n", i, j ) ;</a:t>
            </a:r>
          </a:p>
          <a:p>
            <a:pPr marL="0" indent="0">
              <a:buNone/>
            </a:pPr>
            <a:r>
              <a:rPr lang="en-IN" dirty="0"/>
              <a:t>return 0 ;</a:t>
            </a:r>
          </a:p>
          <a:p>
            <a:pPr marL="0" indent="0">
              <a:buNone/>
            </a:pPr>
            <a:r>
              <a:rPr lang="en-IN" dirty="0"/>
              <a:t>}</a:t>
            </a:r>
          </a:p>
          <a:p>
            <a:pPr marL="0" indent="0">
              <a:buNone/>
            </a:pPr>
            <a:r>
              <a:rPr lang="en-IN" dirty="0"/>
              <a:t>void fun ( </a:t>
            </a:r>
            <a:r>
              <a:rPr lang="en-IN" dirty="0" err="1"/>
              <a:t>int</a:t>
            </a:r>
            <a:r>
              <a:rPr lang="en-IN" dirty="0"/>
              <a:t> i, </a:t>
            </a:r>
            <a:r>
              <a:rPr lang="en-IN" dirty="0" err="1"/>
              <a:t>int</a:t>
            </a:r>
            <a:r>
              <a:rPr lang="en-IN" dirty="0"/>
              <a:t> j )</a:t>
            </a:r>
          </a:p>
          <a:p>
            <a:pPr marL="0" indent="0">
              <a:buNone/>
            </a:pPr>
            <a:r>
              <a:rPr lang="en-IN" dirty="0"/>
              <a:t>{</a:t>
            </a:r>
          </a:p>
          <a:p>
            <a:pPr marL="0" indent="0">
              <a:buNone/>
            </a:pPr>
            <a:r>
              <a:rPr lang="en-IN" dirty="0"/>
              <a:t>i = i * i ;</a:t>
            </a:r>
          </a:p>
          <a:p>
            <a:pPr marL="0" indent="0">
              <a:buNone/>
            </a:pPr>
            <a:r>
              <a:rPr lang="en-IN" dirty="0"/>
              <a:t>j = j * j ;</a:t>
            </a:r>
          </a:p>
          <a:p>
            <a:pPr marL="0" indent="0">
              <a:buNone/>
            </a:pPr>
            <a:r>
              <a:rPr lang="en-IN" dirty="0"/>
              <a:t>}</a:t>
            </a:r>
          </a:p>
        </p:txBody>
      </p:sp>
    </p:spTree>
    <p:extLst>
      <p:ext uri="{BB962C8B-B14F-4D97-AF65-F5344CB8AC3E}">
        <p14:creationId xmlns:p14="http://schemas.microsoft.com/office/powerpoint/2010/main" val="1417683683"/>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What will be the output ?</a:t>
            </a:r>
            <a:endParaRPr lang="en-IN" dirty="0"/>
          </a:p>
        </p:txBody>
      </p:sp>
      <p:sp>
        <p:nvSpPr>
          <p:cNvPr id="3" name="Content Placeholder 2"/>
          <p:cNvSpPr>
            <a:spLocks noGrp="1"/>
          </p:cNvSpPr>
          <p:nvPr>
            <p:ph idx="1"/>
          </p:nvPr>
        </p:nvSpPr>
        <p:spPr/>
        <p:txBody>
          <a:bodyPr>
            <a:normAutofit fontScale="92500" lnSpcReduction="20000"/>
          </a:bodyPr>
          <a:lstStyle/>
          <a:p>
            <a:pPr marL="0" indent="0">
              <a:buNone/>
            </a:pPr>
            <a:r>
              <a:rPr lang="en-IN" dirty="0" smtClean="0"/>
              <a:t> </a:t>
            </a:r>
            <a:r>
              <a:rPr lang="en-IN" dirty="0"/>
              <a:t># include &lt;</a:t>
            </a:r>
            <a:r>
              <a:rPr lang="en-IN" dirty="0" err="1"/>
              <a:t>stdio.h</a:t>
            </a:r>
            <a:r>
              <a:rPr lang="en-IN" dirty="0"/>
              <a:t>&gt;</a:t>
            </a:r>
          </a:p>
          <a:p>
            <a:pPr marL="0" indent="0">
              <a:buNone/>
            </a:pPr>
            <a:r>
              <a:rPr lang="en-IN" dirty="0"/>
              <a:t>void fun ( </a:t>
            </a:r>
            <a:r>
              <a:rPr lang="en-IN" dirty="0" err="1"/>
              <a:t>int</a:t>
            </a:r>
            <a:r>
              <a:rPr lang="en-IN" dirty="0"/>
              <a:t> *, </a:t>
            </a:r>
            <a:r>
              <a:rPr lang="en-IN" dirty="0" err="1"/>
              <a:t>int</a:t>
            </a:r>
            <a:r>
              <a:rPr lang="en-IN" dirty="0"/>
              <a:t> * ) ;</a:t>
            </a:r>
          </a:p>
          <a:p>
            <a:pPr marL="0" indent="0">
              <a:buNone/>
            </a:pPr>
            <a:r>
              <a:rPr lang="en-IN" dirty="0" err="1"/>
              <a:t>int</a:t>
            </a:r>
            <a:r>
              <a:rPr lang="en-IN" dirty="0"/>
              <a:t> main( )</a:t>
            </a:r>
          </a:p>
          <a:p>
            <a:pPr marL="0" indent="0">
              <a:buNone/>
            </a:pPr>
            <a:r>
              <a:rPr lang="en-IN" dirty="0"/>
              <a:t>{</a:t>
            </a:r>
          </a:p>
          <a:p>
            <a:pPr marL="0" indent="0">
              <a:buNone/>
            </a:pPr>
            <a:r>
              <a:rPr lang="en-IN" dirty="0" err="1"/>
              <a:t>int</a:t>
            </a:r>
            <a:r>
              <a:rPr lang="en-IN" dirty="0"/>
              <a:t> i = 5, j = 2 ;</a:t>
            </a:r>
          </a:p>
          <a:p>
            <a:pPr marL="0" indent="0">
              <a:buNone/>
            </a:pPr>
            <a:r>
              <a:rPr lang="en-IN" dirty="0"/>
              <a:t>fun ( &amp;i, &amp;j ) ;</a:t>
            </a:r>
          </a:p>
          <a:p>
            <a:pPr marL="0" indent="0">
              <a:buNone/>
            </a:pPr>
            <a:r>
              <a:rPr lang="pt-BR" dirty="0"/>
              <a:t>printf ( "%d %d\n", i, j ) ;</a:t>
            </a:r>
          </a:p>
          <a:p>
            <a:pPr marL="0" indent="0">
              <a:buNone/>
            </a:pPr>
            <a:r>
              <a:rPr lang="en-IN" dirty="0"/>
              <a:t>return 0 ;</a:t>
            </a:r>
          </a:p>
          <a:p>
            <a:pPr marL="0" indent="0">
              <a:buNone/>
            </a:pPr>
            <a:r>
              <a:rPr lang="en-IN" dirty="0"/>
              <a:t>}</a:t>
            </a:r>
          </a:p>
          <a:p>
            <a:pPr marL="0" indent="0">
              <a:buNone/>
            </a:pPr>
            <a:r>
              <a:rPr lang="en-IN" dirty="0"/>
              <a:t>void fun ( </a:t>
            </a:r>
            <a:r>
              <a:rPr lang="en-IN" dirty="0" err="1"/>
              <a:t>int</a:t>
            </a:r>
            <a:r>
              <a:rPr lang="en-IN" dirty="0"/>
              <a:t> *i, </a:t>
            </a:r>
            <a:r>
              <a:rPr lang="en-IN" dirty="0" err="1"/>
              <a:t>int</a:t>
            </a:r>
            <a:r>
              <a:rPr lang="en-IN" dirty="0"/>
              <a:t> *j )</a:t>
            </a:r>
          </a:p>
          <a:p>
            <a:pPr marL="0" indent="0">
              <a:buNone/>
            </a:pPr>
            <a:r>
              <a:rPr lang="en-IN" dirty="0"/>
              <a:t>{</a:t>
            </a:r>
          </a:p>
          <a:p>
            <a:pPr marL="0" indent="0">
              <a:buNone/>
            </a:pPr>
            <a:r>
              <a:rPr lang="en-IN" dirty="0"/>
              <a:t>*i = *i * *i ;</a:t>
            </a:r>
          </a:p>
          <a:p>
            <a:pPr marL="0" indent="0">
              <a:buNone/>
            </a:pPr>
            <a:r>
              <a:rPr lang="en-IN" dirty="0"/>
              <a:t>*j = *j * *j ;</a:t>
            </a:r>
          </a:p>
          <a:p>
            <a:pPr marL="0" indent="0">
              <a:buNone/>
            </a:pPr>
            <a:r>
              <a:rPr lang="en-IN" dirty="0"/>
              <a:t>}</a:t>
            </a:r>
          </a:p>
        </p:txBody>
      </p:sp>
    </p:spTree>
    <p:extLst>
      <p:ext uri="{BB962C8B-B14F-4D97-AF65-F5344CB8AC3E}">
        <p14:creationId xmlns:p14="http://schemas.microsoft.com/office/powerpoint/2010/main" val="140728668"/>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smtClean="0"/>
              <a:t>Dynamic memory allocation</a:t>
            </a:r>
            <a:endParaRPr lang="en-IN" dirty="0"/>
          </a:p>
        </p:txBody>
      </p:sp>
      <p:sp>
        <p:nvSpPr>
          <p:cNvPr id="3" name="Content Placeholder 2"/>
          <p:cNvSpPr>
            <a:spLocks noGrp="1"/>
          </p:cNvSpPr>
          <p:nvPr>
            <p:ph idx="1"/>
          </p:nvPr>
        </p:nvSpPr>
        <p:spPr/>
        <p:txBody>
          <a:bodyPr>
            <a:normAutofit fontScale="92500"/>
          </a:bodyPr>
          <a:lstStyle/>
          <a:p>
            <a:pPr marL="0" indent="0">
              <a:buNone/>
            </a:pPr>
            <a:r>
              <a:rPr lang="en-US" sz="2800" dirty="0" smtClean="0"/>
              <a:t>In </a:t>
            </a:r>
            <a:r>
              <a:rPr lang="en-US" sz="2800" b="1" dirty="0"/>
              <a:t>C</a:t>
            </a:r>
            <a:r>
              <a:rPr lang="en-US" sz="2800" dirty="0"/>
              <a:t>, </a:t>
            </a:r>
            <a:r>
              <a:rPr lang="en-US" sz="2800" b="1" dirty="0"/>
              <a:t>dynamic memory allocation</a:t>
            </a:r>
            <a:r>
              <a:rPr lang="en-US" sz="2800" dirty="0"/>
              <a:t> refers to allocating memory during </a:t>
            </a:r>
            <a:r>
              <a:rPr lang="en-US" sz="2800" b="1" dirty="0"/>
              <a:t>runtime</a:t>
            </a:r>
            <a:r>
              <a:rPr lang="en-US" sz="2800" dirty="0"/>
              <a:t> instead of at </a:t>
            </a:r>
            <a:r>
              <a:rPr lang="en-US" sz="2800" b="1" dirty="0"/>
              <a:t>compile time</a:t>
            </a:r>
            <a:r>
              <a:rPr lang="en-US" sz="2800" dirty="0"/>
              <a:t>.</a:t>
            </a:r>
          </a:p>
          <a:p>
            <a:pPr marL="0" indent="0">
              <a:buNone/>
            </a:pPr>
            <a:r>
              <a:rPr lang="en-US" sz="2800" dirty="0"/>
              <a:t>It allows the program to request memory space while the program is running.</a:t>
            </a:r>
          </a:p>
          <a:p>
            <a:pPr marL="0" indent="0">
              <a:buNone/>
            </a:pPr>
            <a:r>
              <a:rPr lang="en-US" sz="2800" b="1" dirty="0"/>
              <a:t>Why use Dynamic Memory Allocation?</a:t>
            </a:r>
          </a:p>
          <a:p>
            <a:pPr marL="0" indent="0">
              <a:buNone/>
            </a:pPr>
            <a:r>
              <a:rPr lang="en-US" sz="2800" dirty="0"/>
              <a:t>We may not know the exact memory requirements during compile time.</a:t>
            </a:r>
          </a:p>
          <a:p>
            <a:pPr marL="0" indent="0">
              <a:buNone/>
            </a:pPr>
            <a:r>
              <a:rPr lang="en-US" sz="2800" dirty="0"/>
              <a:t>More </a:t>
            </a:r>
            <a:r>
              <a:rPr lang="en-US" sz="2800" b="1" dirty="0"/>
              <a:t>flexibility</a:t>
            </a:r>
            <a:r>
              <a:rPr lang="en-US" sz="2800" dirty="0"/>
              <a:t>: allocate memory as needed, free it when no longer required.</a:t>
            </a:r>
          </a:p>
          <a:p>
            <a:pPr marL="0" indent="0">
              <a:buNone/>
            </a:pPr>
            <a:r>
              <a:rPr lang="en-US" sz="2800" dirty="0"/>
              <a:t>Useful in </a:t>
            </a:r>
            <a:r>
              <a:rPr lang="en-US" sz="2800" b="1" dirty="0"/>
              <a:t>data structures</a:t>
            </a:r>
            <a:r>
              <a:rPr lang="en-US" sz="2800" dirty="0"/>
              <a:t> like linked lists, trees, etc.</a:t>
            </a:r>
          </a:p>
          <a:p>
            <a:pPr marL="0" indent="0">
              <a:buNone/>
            </a:pPr>
            <a:endParaRPr lang="en-IN" dirty="0"/>
          </a:p>
        </p:txBody>
      </p:sp>
    </p:spTree>
    <p:extLst>
      <p:ext uri="{BB962C8B-B14F-4D97-AF65-F5344CB8AC3E}">
        <p14:creationId xmlns:p14="http://schemas.microsoft.com/office/powerpoint/2010/main" val="367540210"/>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b="1" dirty="0"/>
              <a:t>Need of Dynamic Memory Allocation</a:t>
            </a:r>
            <a:br>
              <a:rPr lang="en-US" b="1" dirty="0"/>
            </a:br>
            <a:endParaRPr lang="en-IN" dirty="0"/>
          </a:p>
        </p:txBody>
      </p:sp>
      <p:sp>
        <p:nvSpPr>
          <p:cNvPr id="3" name="Content Placeholder 2"/>
          <p:cNvSpPr>
            <a:spLocks noGrp="1"/>
          </p:cNvSpPr>
          <p:nvPr>
            <p:ph idx="1"/>
          </p:nvPr>
        </p:nvSpPr>
        <p:spPr/>
        <p:txBody>
          <a:bodyPr>
            <a:normAutofit fontScale="92500"/>
          </a:bodyPr>
          <a:lstStyle/>
          <a:p>
            <a:pPr marL="0" indent="0" fontAlgn="base">
              <a:buNone/>
            </a:pPr>
            <a:r>
              <a:rPr lang="en-US" dirty="0" smtClean="0"/>
              <a:t>As </a:t>
            </a:r>
            <a:r>
              <a:rPr lang="en-US" dirty="0"/>
              <a:t>we know, the size of an array in C is fixed and should be known at compile time. There can be two problems:</a:t>
            </a:r>
          </a:p>
          <a:p>
            <a:pPr marL="0" indent="0" fontAlgn="base">
              <a:buNone/>
            </a:pPr>
            <a:r>
              <a:rPr lang="en-US" dirty="0"/>
              <a:t>The size of the array is not sufficient to store all the elements. To resolve this, one might set the size to store the maximum theoretically possible elements. This creates another problem.</a:t>
            </a:r>
          </a:p>
          <a:p>
            <a:pPr marL="0" indent="0">
              <a:buNone/>
            </a:pPr>
            <a:r>
              <a:rPr lang="en-US" dirty="0"/>
              <a:t>This size of the array is much more than what is required to store the elements. This leads to the wastage of memory.</a:t>
            </a:r>
          </a:p>
          <a:p>
            <a:pPr marL="0" indent="0">
              <a:buNone/>
            </a:pPr>
            <a:r>
              <a:rPr lang="en-US" dirty="0" smtClean="0"/>
              <a:t>This </a:t>
            </a:r>
            <a:r>
              <a:rPr lang="en-US" dirty="0"/>
              <a:t>is where the dynamic memory allocation comes in. </a:t>
            </a:r>
            <a:endParaRPr lang="en-US" dirty="0" smtClean="0"/>
          </a:p>
          <a:p>
            <a:pPr marL="0" indent="0">
              <a:buNone/>
            </a:pPr>
            <a:r>
              <a:rPr lang="en-US" dirty="0" smtClean="0"/>
              <a:t>The </a:t>
            </a:r>
            <a:r>
              <a:rPr lang="en-US" dirty="0"/>
              <a:t>size of the array can be increased if more elements are to be inserted and decreased of less elements are inserted. Moreover, there is no need to estimate the max possible size. The size can be decided at runtime according to the requirement.</a:t>
            </a:r>
            <a:endParaRPr lang="en-IN" dirty="0"/>
          </a:p>
        </p:txBody>
      </p:sp>
    </p:spTree>
    <p:extLst>
      <p:ext uri="{BB962C8B-B14F-4D97-AF65-F5344CB8AC3E}">
        <p14:creationId xmlns:p14="http://schemas.microsoft.com/office/powerpoint/2010/main" val="3436840957"/>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b="1" dirty="0" smtClean="0"/>
              <a:t>Dynamic </a:t>
            </a:r>
            <a:r>
              <a:rPr lang="en-US" b="1" dirty="0"/>
              <a:t>Memory Allocation</a:t>
            </a:r>
            <a:br>
              <a:rPr lang="en-US" b="1" dirty="0"/>
            </a:br>
            <a:endParaRPr lang="en-IN" dirty="0"/>
          </a:p>
        </p:txBody>
      </p:sp>
      <p:sp>
        <p:nvSpPr>
          <p:cNvPr id="3" name="Content Placeholder 2"/>
          <p:cNvSpPr>
            <a:spLocks noGrp="1"/>
          </p:cNvSpPr>
          <p:nvPr>
            <p:ph idx="1"/>
          </p:nvPr>
        </p:nvSpPr>
        <p:spPr>
          <a:xfrm>
            <a:off x="395536" y="1124744"/>
            <a:ext cx="8229600" cy="4876800"/>
          </a:xfrm>
        </p:spPr>
        <p:txBody>
          <a:bodyPr>
            <a:normAutofit/>
          </a:bodyPr>
          <a:lstStyle/>
          <a:p>
            <a:pPr marL="0" indent="0" fontAlgn="base">
              <a:buNone/>
            </a:pPr>
            <a:r>
              <a:rPr lang="en-US" dirty="0"/>
              <a:t>Dynamic memory allocation is possible in C by using 4 library functions provided by </a:t>
            </a:r>
            <a:r>
              <a:rPr lang="en-US" b="1" dirty="0"/>
              <a:t>&lt;</a:t>
            </a:r>
            <a:r>
              <a:rPr lang="en-US" b="1" dirty="0" err="1"/>
              <a:t>stdlib.h</a:t>
            </a:r>
            <a:r>
              <a:rPr lang="en-US" b="1" dirty="0"/>
              <a:t>&gt;</a:t>
            </a:r>
            <a:r>
              <a:rPr lang="en-US" dirty="0"/>
              <a:t> library:</a:t>
            </a:r>
          </a:p>
          <a:p>
            <a:pPr fontAlgn="base"/>
            <a:r>
              <a:rPr lang="en-US" u="sng" dirty="0" err="1" smtClean="0">
                <a:solidFill>
                  <a:srgbClr val="FF0000"/>
                </a:solidFill>
              </a:rPr>
              <a:t>malloc</a:t>
            </a:r>
            <a:r>
              <a:rPr lang="en-US" u="sng" dirty="0" smtClean="0">
                <a:solidFill>
                  <a:srgbClr val="FF0000"/>
                </a:solidFill>
              </a:rPr>
              <a:t>()</a:t>
            </a:r>
          </a:p>
          <a:p>
            <a:pPr fontAlgn="base"/>
            <a:r>
              <a:rPr lang="en-US" u="sng" dirty="0" err="1">
                <a:solidFill>
                  <a:srgbClr val="FF0000"/>
                </a:solidFill>
              </a:rPr>
              <a:t>c</a:t>
            </a:r>
            <a:r>
              <a:rPr lang="en-US" u="sng" dirty="0" err="1" smtClean="0">
                <a:solidFill>
                  <a:srgbClr val="FF0000"/>
                </a:solidFill>
              </a:rPr>
              <a:t>alloc</a:t>
            </a:r>
            <a:r>
              <a:rPr lang="en-US" u="sng" dirty="0" smtClean="0">
                <a:solidFill>
                  <a:srgbClr val="FF0000"/>
                </a:solidFill>
              </a:rPr>
              <a:t>()</a:t>
            </a:r>
          </a:p>
          <a:p>
            <a:pPr fontAlgn="base"/>
            <a:r>
              <a:rPr lang="en-US" u="sng" dirty="0" smtClean="0">
                <a:solidFill>
                  <a:srgbClr val="FF0000"/>
                </a:solidFill>
              </a:rPr>
              <a:t>free()</a:t>
            </a:r>
          </a:p>
          <a:p>
            <a:pPr fontAlgn="base"/>
            <a:r>
              <a:rPr lang="en-US" u="sng" dirty="0" err="1">
                <a:solidFill>
                  <a:srgbClr val="FF0000"/>
                </a:solidFill>
              </a:rPr>
              <a:t>r</a:t>
            </a:r>
            <a:r>
              <a:rPr lang="en-US" u="sng" dirty="0" err="1" smtClean="0">
                <a:solidFill>
                  <a:srgbClr val="FF0000"/>
                </a:solidFill>
              </a:rPr>
              <a:t>ealloc</a:t>
            </a:r>
            <a:r>
              <a:rPr lang="en-US" u="sng" dirty="0" smtClean="0">
                <a:solidFill>
                  <a:srgbClr val="FF0000"/>
                </a:solidFill>
              </a:rPr>
              <a:t>()</a:t>
            </a:r>
            <a:endParaRPr lang="en-US" dirty="0">
              <a:solidFill>
                <a:srgbClr val="FF0000"/>
              </a:solidFill>
            </a:endParaRPr>
          </a:p>
        </p:txBody>
      </p:sp>
    </p:spTree>
    <p:extLst>
      <p:ext uri="{BB962C8B-B14F-4D97-AF65-F5344CB8AC3E}">
        <p14:creationId xmlns:p14="http://schemas.microsoft.com/office/powerpoint/2010/main" val="4285750234"/>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smtClean="0"/>
              <a:t>Dynamic memory allocation</a:t>
            </a:r>
            <a:endParaRPr lang="en-IN" dirty="0"/>
          </a:p>
        </p:txBody>
      </p:sp>
      <p:sp>
        <p:nvSpPr>
          <p:cNvPr id="3" name="Content Placeholder 2"/>
          <p:cNvSpPr>
            <a:spLocks noGrp="1"/>
          </p:cNvSpPr>
          <p:nvPr>
            <p:ph idx="1"/>
          </p:nvPr>
        </p:nvSpPr>
        <p:spPr/>
        <p:txBody>
          <a:bodyPr>
            <a:normAutofit/>
          </a:bodyPr>
          <a:lstStyle/>
          <a:p>
            <a:pPr marL="0" indent="0">
              <a:buNone/>
            </a:pPr>
            <a:r>
              <a:rPr lang="en-IN" sz="2800" b="1" dirty="0" err="1"/>
              <a:t>malloc</a:t>
            </a:r>
            <a:r>
              <a:rPr lang="en-IN" sz="2800" b="1" dirty="0"/>
              <a:t>() Function in </a:t>
            </a:r>
            <a:r>
              <a:rPr lang="en-IN" sz="2800" b="1" dirty="0" smtClean="0"/>
              <a:t>C</a:t>
            </a:r>
          </a:p>
          <a:p>
            <a:r>
              <a:rPr lang="en-US" sz="2800" dirty="0" err="1"/>
              <a:t>malloc</a:t>
            </a:r>
            <a:r>
              <a:rPr lang="en-US" sz="2800" dirty="0"/>
              <a:t>() stands for </a:t>
            </a:r>
            <a:r>
              <a:rPr lang="en-US" sz="2800" b="1" dirty="0"/>
              <a:t>memory allocation</a:t>
            </a:r>
            <a:r>
              <a:rPr lang="en-US" sz="2800" dirty="0"/>
              <a:t>.</a:t>
            </a:r>
          </a:p>
          <a:p>
            <a:r>
              <a:rPr lang="en-US" sz="2800" dirty="0"/>
              <a:t>It dynamically allocates a </a:t>
            </a:r>
            <a:r>
              <a:rPr lang="en-US" sz="2800" b="1" dirty="0"/>
              <a:t>block of memory</a:t>
            </a:r>
            <a:r>
              <a:rPr lang="en-US" sz="2800" dirty="0"/>
              <a:t> in the </a:t>
            </a:r>
            <a:r>
              <a:rPr lang="en-US" sz="2800" b="1" dirty="0"/>
              <a:t>heap</a:t>
            </a:r>
            <a:r>
              <a:rPr lang="en-US" sz="2800" dirty="0"/>
              <a:t> and returns a </a:t>
            </a:r>
            <a:r>
              <a:rPr lang="en-US" sz="2800" b="1" dirty="0"/>
              <a:t>pointer</a:t>
            </a:r>
            <a:r>
              <a:rPr lang="en-US" sz="2800" dirty="0"/>
              <a:t> to the </a:t>
            </a:r>
            <a:r>
              <a:rPr lang="en-US" sz="2800" b="1" dirty="0"/>
              <a:t>first byte</a:t>
            </a:r>
            <a:r>
              <a:rPr lang="en-US" sz="2800" dirty="0"/>
              <a:t> of that block.</a:t>
            </a:r>
          </a:p>
          <a:p>
            <a:pPr marL="0" indent="0">
              <a:buNone/>
            </a:pPr>
            <a:r>
              <a:rPr lang="en-IN" sz="2800" b="1" dirty="0" err="1">
                <a:solidFill>
                  <a:srgbClr val="FF0000"/>
                </a:solidFill>
              </a:rPr>
              <a:t>ptr</a:t>
            </a:r>
            <a:r>
              <a:rPr lang="en-IN" sz="2800" b="1" dirty="0">
                <a:solidFill>
                  <a:srgbClr val="FF0000"/>
                </a:solidFill>
              </a:rPr>
              <a:t> = (</a:t>
            </a:r>
            <a:r>
              <a:rPr lang="en-IN" sz="2800" b="1" dirty="0" err="1">
                <a:solidFill>
                  <a:srgbClr val="FF0000"/>
                </a:solidFill>
              </a:rPr>
              <a:t>cast_type</a:t>
            </a:r>
            <a:r>
              <a:rPr lang="en-IN" sz="2800" b="1" dirty="0">
                <a:solidFill>
                  <a:srgbClr val="FF0000"/>
                </a:solidFill>
              </a:rPr>
              <a:t> *) </a:t>
            </a:r>
            <a:r>
              <a:rPr lang="en-IN" sz="2800" b="1" dirty="0" err="1">
                <a:solidFill>
                  <a:srgbClr val="FF0000"/>
                </a:solidFill>
              </a:rPr>
              <a:t>malloc</a:t>
            </a:r>
            <a:r>
              <a:rPr lang="en-IN" sz="2800" b="1" dirty="0">
                <a:solidFill>
                  <a:srgbClr val="FF0000"/>
                </a:solidFill>
              </a:rPr>
              <a:t>(</a:t>
            </a:r>
            <a:r>
              <a:rPr lang="en-IN" sz="2800" b="1" dirty="0" err="1">
                <a:solidFill>
                  <a:srgbClr val="FF0000"/>
                </a:solidFill>
              </a:rPr>
              <a:t>size_in_bytes</a:t>
            </a:r>
            <a:r>
              <a:rPr lang="en-IN" sz="2800" b="1" dirty="0">
                <a:solidFill>
                  <a:srgbClr val="FF0000"/>
                </a:solidFill>
              </a:rPr>
              <a:t>);</a:t>
            </a:r>
          </a:p>
          <a:p>
            <a:pPr marL="0" indent="0">
              <a:buNone/>
            </a:pPr>
            <a:r>
              <a:rPr lang="en-US" sz="2800" dirty="0"/>
              <a:t>If the allocation </a:t>
            </a:r>
            <a:r>
              <a:rPr lang="en-US" sz="2800" b="1" dirty="0"/>
              <a:t>fails</a:t>
            </a:r>
            <a:r>
              <a:rPr lang="en-US" sz="2800" dirty="0"/>
              <a:t>, </a:t>
            </a:r>
            <a:r>
              <a:rPr lang="en-US" sz="2800" dirty="0" err="1"/>
              <a:t>malloc</a:t>
            </a:r>
            <a:r>
              <a:rPr lang="en-US" sz="2800" dirty="0"/>
              <a:t>() returns NULL.</a:t>
            </a:r>
            <a:endParaRPr lang="en-IN" sz="2800" b="1" dirty="0"/>
          </a:p>
        </p:txBody>
      </p:sp>
    </p:spTree>
    <p:extLst>
      <p:ext uri="{BB962C8B-B14F-4D97-AF65-F5344CB8AC3E}">
        <p14:creationId xmlns:p14="http://schemas.microsoft.com/office/powerpoint/2010/main" val="1544485213"/>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a:t>Steps of Using </a:t>
            </a:r>
            <a:r>
              <a:rPr lang="en-IN" dirty="0" err="1"/>
              <a:t>malloc</a:t>
            </a:r>
            <a:r>
              <a:rPr lang="en-IN" dirty="0"/>
              <a:t>()</a:t>
            </a:r>
          </a:p>
        </p:txBody>
      </p:sp>
      <p:sp>
        <p:nvSpPr>
          <p:cNvPr id="3" name="Content Placeholder 2"/>
          <p:cNvSpPr>
            <a:spLocks noGrp="1"/>
          </p:cNvSpPr>
          <p:nvPr>
            <p:ph idx="1"/>
          </p:nvPr>
        </p:nvSpPr>
        <p:spPr/>
        <p:txBody>
          <a:bodyPr>
            <a:normAutofit fontScale="92500" lnSpcReduction="10000"/>
          </a:bodyPr>
          <a:lstStyle/>
          <a:p>
            <a:pPr marL="0" indent="0">
              <a:buNone/>
            </a:pPr>
            <a:r>
              <a:rPr lang="en-US" b="1" dirty="0"/>
              <a:t>Include</a:t>
            </a:r>
            <a:r>
              <a:rPr lang="en-US" dirty="0"/>
              <a:t> the header</a:t>
            </a:r>
            <a:r>
              <a:rPr lang="en-US" dirty="0" smtClean="0"/>
              <a:t>: </a:t>
            </a:r>
            <a:r>
              <a:rPr lang="en-US" dirty="0" smtClean="0">
                <a:solidFill>
                  <a:srgbClr val="0070C0"/>
                </a:solidFill>
              </a:rPr>
              <a:t>#</a:t>
            </a:r>
            <a:r>
              <a:rPr lang="en-US" dirty="0">
                <a:solidFill>
                  <a:srgbClr val="0070C0"/>
                </a:solidFill>
              </a:rPr>
              <a:t>include &lt;</a:t>
            </a:r>
            <a:r>
              <a:rPr lang="en-US" dirty="0" err="1">
                <a:solidFill>
                  <a:srgbClr val="0070C0"/>
                </a:solidFill>
              </a:rPr>
              <a:t>stdlib.h</a:t>
            </a:r>
            <a:r>
              <a:rPr lang="en-US" dirty="0">
                <a:solidFill>
                  <a:srgbClr val="0070C0"/>
                </a:solidFill>
              </a:rPr>
              <a:t>&gt; </a:t>
            </a:r>
          </a:p>
          <a:p>
            <a:pPr marL="0" indent="0">
              <a:buNone/>
            </a:pPr>
            <a:r>
              <a:rPr lang="en-US" b="1" dirty="0"/>
              <a:t>Declare</a:t>
            </a:r>
            <a:r>
              <a:rPr lang="en-US" dirty="0"/>
              <a:t> a pointer of appropriate type.</a:t>
            </a:r>
          </a:p>
          <a:p>
            <a:pPr marL="0" indent="0">
              <a:buNone/>
            </a:pPr>
            <a:r>
              <a:rPr lang="en-US" b="1" dirty="0"/>
              <a:t>Use</a:t>
            </a:r>
            <a:r>
              <a:rPr lang="en-US" dirty="0"/>
              <a:t> </a:t>
            </a:r>
            <a:r>
              <a:rPr lang="en-US" dirty="0" err="1"/>
              <a:t>malloc</a:t>
            </a:r>
            <a:r>
              <a:rPr lang="en-US" dirty="0"/>
              <a:t>() to allocate memory.</a:t>
            </a:r>
          </a:p>
          <a:p>
            <a:pPr marL="0" indent="0">
              <a:buNone/>
            </a:pPr>
            <a:r>
              <a:rPr lang="en-US" b="1" dirty="0"/>
              <a:t>Check</a:t>
            </a:r>
            <a:r>
              <a:rPr lang="en-US" dirty="0"/>
              <a:t> if memory allocation was successful.</a:t>
            </a:r>
          </a:p>
          <a:p>
            <a:pPr marL="0" indent="0">
              <a:buNone/>
            </a:pPr>
            <a:r>
              <a:rPr lang="en-US" b="1" dirty="0"/>
              <a:t>Use</a:t>
            </a:r>
            <a:r>
              <a:rPr lang="en-US" dirty="0"/>
              <a:t> the allocated memory.</a:t>
            </a:r>
          </a:p>
          <a:p>
            <a:pPr marL="0" indent="0">
              <a:buNone/>
            </a:pPr>
            <a:r>
              <a:rPr lang="en-US" b="1" dirty="0"/>
              <a:t>Free</a:t>
            </a:r>
            <a:r>
              <a:rPr lang="en-US" dirty="0"/>
              <a:t> the memory when it's no longer needed using free</a:t>
            </a:r>
            <a:r>
              <a:rPr lang="en-US" dirty="0" smtClean="0"/>
              <a:t>()</a:t>
            </a:r>
          </a:p>
          <a:p>
            <a:pPr marL="0" indent="0">
              <a:buNone/>
            </a:pPr>
            <a:endParaRPr lang="en-US" dirty="0"/>
          </a:p>
          <a:p>
            <a:pPr marL="0" indent="0">
              <a:buNone/>
            </a:pPr>
            <a:endParaRPr lang="en-US" dirty="0" smtClean="0"/>
          </a:p>
          <a:p>
            <a:pPr marL="0" indent="0">
              <a:buNone/>
            </a:pPr>
            <a:endParaRPr lang="en-US" dirty="0"/>
          </a:p>
          <a:p>
            <a:pPr marL="0" indent="0">
              <a:buNone/>
            </a:pPr>
            <a:r>
              <a:rPr lang="en-US" sz="3200" b="1" dirty="0" err="1">
                <a:solidFill>
                  <a:srgbClr val="0070C0"/>
                </a:solidFill>
              </a:rPr>
              <a:t>malloc</a:t>
            </a:r>
            <a:r>
              <a:rPr lang="en-US" sz="3200" b="1" dirty="0">
                <a:solidFill>
                  <a:srgbClr val="0070C0"/>
                </a:solidFill>
              </a:rPr>
              <a:t>( ) </a:t>
            </a:r>
            <a:r>
              <a:rPr lang="en-US" sz="3200" dirty="0">
                <a:solidFill>
                  <a:srgbClr val="0070C0"/>
                </a:solidFill>
              </a:rPr>
              <a:t>function can be used to allocate space in memory on </a:t>
            </a:r>
            <a:r>
              <a:rPr lang="en-US" sz="3200" dirty="0" smtClean="0">
                <a:solidFill>
                  <a:srgbClr val="0070C0"/>
                </a:solidFill>
              </a:rPr>
              <a:t>the fly </a:t>
            </a:r>
            <a:r>
              <a:rPr lang="en-US" sz="3200" dirty="0">
                <a:solidFill>
                  <a:srgbClr val="0070C0"/>
                </a:solidFill>
              </a:rPr>
              <a:t>during execution of the program</a:t>
            </a:r>
          </a:p>
          <a:p>
            <a:pPr marL="0" indent="0">
              <a:buNone/>
            </a:pPr>
            <a:endParaRPr lang="en-IN" dirty="0"/>
          </a:p>
        </p:txBody>
      </p:sp>
    </p:spTree>
    <p:extLst>
      <p:ext uri="{BB962C8B-B14F-4D97-AF65-F5344CB8AC3E}">
        <p14:creationId xmlns:p14="http://schemas.microsoft.com/office/powerpoint/2010/main" val="4148907195"/>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Example</a:t>
            </a:r>
            <a:endParaRPr lang="en-IN" dirty="0"/>
          </a:p>
        </p:txBody>
      </p:sp>
      <p:sp>
        <p:nvSpPr>
          <p:cNvPr id="3" name="Content Placeholder 2"/>
          <p:cNvSpPr>
            <a:spLocks noGrp="1"/>
          </p:cNvSpPr>
          <p:nvPr>
            <p:ph idx="1"/>
          </p:nvPr>
        </p:nvSpPr>
        <p:spPr/>
        <p:txBody>
          <a:bodyPr/>
          <a:lstStyle/>
          <a:p>
            <a:r>
              <a:rPr lang="en-US" dirty="0" smtClean="0"/>
              <a:t>User should enter </a:t>
            </a:r>
            <a:r>
              <a:rPr lang="en-US" dirty="0"/>
              <a:t>6 names (strings).</a:t>
            </a:r>
          </a:p>
          <a:p>
            <a:r>
              <a:rPr lang="en-US" dirty="0" smtClean="0"/>
              <a:t>Allocate </a:t>
            </a:r>
            <a:r>
              <a:rPr lang="en-US" dirty="0"/>
              <a:t>exact memory for each name dynamically using </a:t>
            </a:r>
            <a:r>
              <a:rPr lang="en-US" dirty="0" err="1"/>
              <a:t>malloc</a:t>
            </a:r>
            <a:r>
              <a:rPr lang="en-US" dirty="0"/>
              <a:t>().</a:t>
            </a:r>
          </a:p>
          <a:p>
            <a:r>
              <a:rPr lang="en-US" dirty="0" smtClean="0"/>
              <a:t>Store </a:t>
            </a:r>
            <a:r>
              <a:rPr lang="en-US" dirty="0"/>
              <a:t>the names in an array of character pointers.</a:t>
            </a:r>
          </a:p>
          <a:p>
            <a:r>
              <a:rPr lang="en-US" dirty="0"/>
              <a:t>D</a:t>
            </a:r>
            <a:r>
              <a:rPr lang="en-US" dirty="0" smtClean="0"/>
              <a:t>isplay </a:t>
            </a:r>
            <a:r>
              <a:rPr lang="en-US" dirty="0"/>
              <a:t>all the entered names.</a:t>
            </a:r>
          </a:p>
          <a:p>
            <a:endParaRPr lang="en-IN" dirty="0"/>
          </a:p>
        </p:txBody>
      </p:sp>
    </p:spTree>
    <p:extLst>
      <p:ext uri="{BB962C8B-B14F-4D97-AF65-F5344CB8AC3E}">
        <p14:creationId xmlns:p14="http://schemas.microsoft.com/office/powerpoint/2010/main" val="201330423"/>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332656"/>
            <a:ext cx="9036496" cy="6336704"/>
          </a:xfrm>
        </p:spPr>
        <p:txBody>
          <a:bodyPr>
            <a:normAutofit fontScale="85000" lnSpcReduction="20000"/>
          </a:bodyPr>
          <a:lstStyle/>
          <a:p>
            <a:pPr marL="0" indent="0">
              <a:buNone/>
            </a:pPr>
            <a:r>
              <a:rPr lang="en-IN" dirty="0" err="1" smtClean="0"/>
              <a:t>int</a:t>
            </a:r>
            <a:r>
              <a:rPr lang="en-IN" dirty="0" smtClean="0"/>
              <a:t> </a:t>
            </a:r>
            <a:r>
              <a:rPr lang="en-IN" dirty="0"/>
              <a:t>main( </a:t>
            </a:r>
            <a:r>
              <a:rPr lang="en-IN" dirty="0" smtClean="0"/>
              <a:t>)</a:t>
            </a:r>
          </a:p>
          <a:p>
            <a:pPr marL="0" indent="0">
              <a:buNone/>
            </a:pPr>
            <a:r>
              <a:rPr lang="en-IN" dirty="0" smtClean="0"/>
              <a:t> </a:t>
            </a:r>
            <a:r>
              <a:rPr lang="en-IN" dirty="0"/>
              <a:t>{ </a:t>
            </a:r>
            <a:endParaRPr lang="en-IN" dirty="0" smtClean="0"/>
          </a:p>
          <a:p>
            <a:pPr marL="0" indent="0">
              <a:buNone/>
            </a:pPr>
            <a:r>
              <a:rPr lang="en-IN" dirty="0" smtClean="0"/>
              <a:t>char </a:t>
            </a:r>
            <a:r>
              <a:rPr lang="en-IN" dirty="0"/>
              <a:t>*names[ 6 ] </a:t>
            </a:r>
            <a:r>
              <a:rPr lang="en-IN" dirty="0" smtClean="0"/>
              <a:t>;</a:t>
            </a:r>
          </a:p>
          <a:p>
            <a:pPr marL="0" indent="0">
              <a:buNone/>
            </a:pPr>
            <a:r>
              <a:rPr lang="en-IN" dirty="0" smtClean="0"/>
              <a:t> </a:t>
            </a:r>
            <a:r>
              <a:rPr lang="en-IN" dirty="0"/>
              <a:t>char n[ 50 ] </a:t>
            </a:r>
            <a:r>
              <a:rPr lang="en-IN" sz="2600" dirty="0" smtClean="0"/>
              <a:t>; </a:t>
            </a:r>
            <a:r>
              <a:rPr lang="en-IN" sz="1400" b="1" dirty="0" smtClean="0">
                <a:solidFill>
                  <a:srgbClr val="FF0000"/>
                </a:solidFill>
              </a:rPr>
              <a:t>//</a:t>
            </a:r>
            <a:r>
              <a:rPr lang="en-US" sz="1400" b="1" dirty="0">
                <a:solidFill>
                  <a:srgbClr val="FF0000"/>
                </a:solidFill>
              </a:rPr>
              <a:t>Temporary array n is used to store the name input from the user (maximum 49 characters + \0</a:t>
            </a:r>
            <a:r>
              <a:rPr lang="en-US" sz="1400" b="1" dirty="0" smtClean="0">
                <a:solidFill>
                  <a:srgbClr val="FF0000"/>
                </a:solidFill>
              </a:rPr>
              <a:t>)//</a:t>
            </a:r>
            <a:endParaRPr lang="en-IN" sz="1300" b="1" dirty="0" smtClean="0">
              <a:solidFill>
                <a:srgbClr val="FF0000"/>
              </a:solidFill>
            </a:endParaRPr>
          </a:p>
          <a:p>
            <a:pPr marL="0" indent="0">
              <a:buNone/>
            </a:pPr>
            <a:r>
              <a:rPr lang="en-IN" dirty="0" smtClean="0"/>
              <a:t> </a:t>
            </a:r>
            <a:r>
              <a:rPr lang="en-IN" dirty="0" err="1"/>
              <a:t>int</a:t>
            </a:r>
            <a:r>
              <a:rPr lang="en-IN" dirty="0"/>
              <a:t> </a:t>
            </a:r>
            <a:r>
              <a:rPr lang="en-IN" dirty="0" err="1"/>
              <a:t>len</a:t>
            </a:r>
            <a:r>
              <a:rPr lang="en-IN" dirty="0"/>
              <a:t>, i ; </a:t>
            </a:r>
            <a:endParaRPr lang="en-IN" dirty="0" smtClean="0"/>
          </a:p>
          <a:p>
            <a:pPr marL="0" indent="0">
              <a:buNone/>
            </a:pPr>
            <a:r>
              <a:rPr lang="en-IN" dirty="0" smtClean="0"/>
              <a:t>char </a:t>
            </a:r>
            <a:r>
              <a:rPr lang="en-IN" dirty="0"/>
              <a:t>*p </a:t>
            </a:r>
            <a:r>
              <a:rPr lang="en-IN" dirty="0" smtClean="0"/>
              <a:t>;</a:t>
            </a:r>
          </a:p>
          <a:p>
            <a:pPr marL="0" indent="0">
              <a:buNone/>
            </a:pPr>
            <a:r>
              <a:rPr lang="en-IN" dirty="0" smtClean="0"/>
              <a:t> </a:t>
            </a:r>
            <a:r>
              <a:rPr lang="en-IN" dirty="0"/>
              <a:t>for ( i = 0 ; i &lt;= 5 ; i++ </a:t>
            </a:r>
            <a:r>
              <a:rPr lang="en-IN" dirty="0" smtClean="0"/>
              <a:t>) </a:t>
            </a:r>
            <a:r>
              <a:rPr lang="en-IN" sz="1800" dirty="0" smtClean="0">
                <a:solidFill>
                  <a:srgbClr val="FF0000"/>
                </a:solidFill>
              </a:rPr>
              <a:t>//</a:t>
            </a:r>
            <a:r>
              <a:rPr lang="en-US" sz="1800" dirty="0">
                <a:solidFill>
                  <a:srgbClr val="FF0000"/>
                </a:solidFill>
              </a:rPr>
              <a:t>A for loop runs </a:t>
            </a:r>
            <a:r>
              <a:rPr lang="en-US" sz="1800" b="1" dirty="0">
                <a:solidFill>
                  <a:srgbClr val="FF0000"/>
                </a:solidFill>
              </a:rPr>
              <a:t>6 times</a:t>
            </a:r>
            <a:r>
              <a:rPr lang="en-US" sz="1800" dirty="0">
                <a:solidFill>
                  <a:srgbClr val="FF0000"/>
                </a:solidFill>
              </a:rPr>
              <a:t> (i from 0 to 5) to accept 6 names</a:t>
            </a:r>
            <a:r>
              <a:rPr lang="en-US" sz="1800" dirty="0" smtClean="0">
                <a:solidFill>
                  <a:srgbClr val="FF0000"/>
                </a:solidFill>
              </a:rPr>
              <a:t>.//</a:t>
            </a:r>
            <a:endParaRPr lang="en-IN" sz="1800" dirty="0" smtClean="0">
              <a:solidFill>
                <a:srgbClr val="FF0000"/>
              </a:solidFill>
            </a:endParaRPr>
          </a:p>
          <a:p>
            <a:pPr marL="0" indent="0">
              <a:buNone/>
            </a:pPr>
            <a:r>
              <a:rPr lang="en-IN" dirty="0" smtClean="0"/>
              <a:t> {</a:t>
            </a:r>
          </a:p>
          <a:p>
            <a:pPr marL="0" indent="0">
              <a:buNone/>
            </a:pPr>
            <a:r>
              <a:rPr lang="en-IN" dirty="0"/>
              <a:t> </a:t>
            </a:r>
            <a:r>
              <a:rPr lang="en-IN" dirty="0" smtClean="0"/>
              <a:t>     </a:t>
            </a:r>
            <a:r>
              <a:rPr lang="en-IN" dirty="0" err="1"/>
              <a:t>printf</a:t>
            </a:r>
            <a:r>
              <a:rPr lang="en-IN" dirty="0"/>
              <a:t> ( "Enter name " ) ; </a:t>
            </a:r>
            <a:endParaRPr lang="en-IN" dirty="0" smtClean="0"/>
          </a:p>
          <a:p>
            <a:pPr marL="0" indent="0">
              <a:buNone/>
            </a:pPr>
            <a:r>
              <a:rPr lang="en-IN" dirty="0"/>
              <a:t> </a:t>
            </a:r>
            <a:r>
              <a:rPr lang="en-IN" dirty="0" smtClean="0"/>
              <a:t>     </a:t>
            </a:r>
            <a:r>
              <a:rPr lang="en-IN" dirty="0" err="1" smtClean="0"/>
              <a:t>scanf</a:t>
            </a:r>
            <a:r>
              <a:rPr lang="en-IN" dirty="0" smtClean="0"/>
              <a:t> </a:t>
            </a:r>
            <a:r>
              <a:rPr lang="en-IN" dirty="0"/>
              <a:t>( "%s", n ) ; </a:t>
            </a:r>
            <a:endParaRPr lang="en-IN" dirty="0" smtClean="0"/>
          </a:p>
          <a:p>
            <a:pPr marL="0" indent="0">
              <a:buNone/>
            </a:pPr>
            <a:r>
              <a:rPr lang="en-IN" dirty="0" smtClean="0"/>
              <a:t>      </a:t>
            </a:r>
            <a:r>
              <a:rPr lang="en-IN" dirty="0" err="1" smtClean="0"/>
              <a:t>len</a:t>
            </a:r>
            <a:r>
              <a:rPr lang="en-IN" dirty="0" smtClean="0"/>
              <a:t> </a:t>
            </a:r>
            <a:r>
              <a:rPr lang="en-IN" dirty="0"/>
              <a:t>= </a:t>
            </a:r>
            <a:r>
              <a:rPr lang="en-IN" dirty="0" err="1"/>
              <a:t>strlen</a:t>
            </a:r>
            <a:r>
              <a:rPr lang="en-IN" dirty="0"/>
              <a:t> ( n ) </a:t>
            </a:r>
            <a:r>
              <a:rPr lang="en-IN" sz="2100" dirty="0">
                <a:solidFill>
                  <a:srgbClr val="FF0000"/>
                </a:solidFill>
              </a:rPr>
              <a:t>; </a:t>
            </a:r>
            <a:r>
              <a:rPr lang="en-IN" sz="2100" dirty="0" smtClean="0">
                <a:solidFill>
                  <a:srgbClr val="FF0000"/>
                </a:solidFill>
              </a:rPr>
              <a:t>//</a:t>
            </a:r>
            <a:r>
              <a:rPr lang="en-US" sz="1600" dirty="0" smtClean="0">
                <a:solidFill>
                  <a:srgbClr val="FF0000"/>
                </a:solidFill>
              </a:rPr>
              <a:t>Gets </a:t>
            </a:r>
            <a:r>
              <a:rPr lang="en-US" sz="1600" dirty="0">
                <a:solidFill>
                  <a:srgbClr val="FF0000"/>
                </a:solidFill>
              </a:rPr>
              <a:t>the </a:t>
            </a:r>
            <a:r>
              <a:rPr lang="en-US" sz="1600" b="1" dirty="0">
                <a:solidFill>
                  <a:srgbClr val="FF0000"/>
                </a:solidFill>
              </a:rPr>
              <a:t>length</a:t>
            </a:r>
            <a:r>
              <a:rPr lang="en-US" sz="1600" dirty="0">
                <a:solidFill>
                  <a:srgbClr val="FF0000"/>
                </a:solidFill>
              </a:rPr>
              <a:t> of the entered name (without including the \0</a:t>
            </a:r>
            <a:r>
              <a:rPr lang="en-US" sz="1600" dirty="0" smtClean="0">
                <a:solidFill>
                  <a:srgbClr val="FF0000"/>
                </a:solidFill>
              </a:rPr>
              <a:t>)//</a:t>
            </a:r>
            <a:endParaRPr lang="en-IN" sz="1600" dirty="0" smtClean="0">
              <a:solidFill>
                <a:srgbClr val="FF0000"/>
              </a:solidFill>
            </a:endParaRPr>
          </a:p>
          <a:p>
            <a:pPr marL="0" indent="0">
              <a:buNone/>
            </a:pPr>
            <a:r>
              <a:rPr lang="en-IN" dirty="0" smtClean="0"/>
              <a:t>       p </a:t>
            </a:r>
            <a:r>
              <a:rPr lang="en-IN" dirty="0"/>
              <a:t>= ( char * ) </a:t>
            </a:r>
            <a:r>
              <a:rPr lang="en-IN" dirty="0" err="1"/>
              <a:t>malloc</a:t>
            </a:r>
            <a:r>
              <a:rPr lang="en-IN" dirty="0"/>
              <a:t> ( </a:t>
            </a:r>
            <a:r>
              <a:rPr lang="en-IN" dirty="0" err="1"/>
              <a:t>len</a:t>
            </a:r>
            <a:r>
              <a:rPr lang="en-IN" dirty="0"/>
              <a:t> + 1 ) ; </a:t>
            </a:r>
            <a:r>
              <a:rPr lang="en-IN" dirty="0" smtClean="0">
                <a:solidFill>
                  <a:srgbClr val="FF0000"/>
                </a:solidFill>
              </a:rPr>
              <a:t>/</a:t>
            </a:r>
            <a:r>
              <a:rPr lang="en-IN" sz="2200" dirty="0" smtClean="0">
                <a:solidFill>
                  <a:srgbClr val="FF0000"/>
                </a:solidFill>
              </a:rPr>
              <a:t>/* </a:t>
            </a:r>
            <a:r>
              <a:rPr lang="en-IN" sz="2200" dirty="0">
                <a:solidFill>
                  <a:srgbClr val="FF0000"/>
                </a:solidFill>
              </a:rPr>
              <a:t>+1 for accommodating \0 </a:t>
            </a:r>
            <a:r>
              <a:rPr lang="en-IN" sz="2200" dirty="0" smtClean="0">
                <a:solidFill>
                  <a:srgbClr val="FF0000"/>
                </a:solidFill>
              </a:rPr>
              <a:t>*/</a:t>
            </a:r>
            <a:r>
              <a:rPr lang="en-IN" dirty="0" smtClean="0">
                <a:solidFill>
                  <a:srgbClr val="FF0000"/>
                </a:solidFill>
              </a:rPr>
              <a:t>/    </a:t>
            </a:r>
          </a:p>
          <a:p>
            <a:pPr marL="0" indent="0">
              <a:buNone/>
            </a:pPr>
            <a:r>
              <a:rPr lang="en-IN" dirty="0"/>
              <a:t> </a:t>
            </a:r>
            <a:r>
              <a:rPr lang="en-IN" dirty="0" smtClean="0"/>
              <a:t>     </a:t>
            </a:r>
            <a:r>
              <a:rPr lang="en-IN" dirty="0" err="1" smtClean="0"/>
              <a:t>strcpy</a:t>
            </a:r>
            <a:r>
              <a:rPr lang="en-IN" dirty="0" smtClean="0"/>
              <a:t> </a:t>
            </a:r>
            <a:r>
              <a:rPr lang="en-IN" dirty="0"/>
              <a:t>( p, n ) ; </a:t>
            </a:r>
            <a:r>
              <a:rPr lang="en-IN" sz="1900" dirty="0" smtClean="0">
                <a:solidFill>
                  <a:srgbClr val="FF0000"/>
                </a:solidFill>
              </a:rPr>
              <a:t>//</a:t>
            </a:r>
            <a:r>
              <a:rPr lang="en-US" sz="1900" dirty="0">
                <a:solidFill>
                  <a:srgbClr val="FF0000"/>
                </a:solidFill>
              </a:rPr>
              <a:t>Copies the name stored in n to the newly allocated memory (p</a:t>
            </a:r>
            <a:r>
              <a:rPr lang="en-US" sz="1900" dirty="0" smtClean="0">
                <a:solidFill>
                  <a:srgbClr val="FF0000"/>
                </a:solidFill>
              </a:rPr>
              <a:t>).//</a:t>
            </a:r>
            <a:endParaRPr lang="en-IN" sz="1900" dirty="0" smtClean="0">
              <a:solidFill>
                <a:srgbClr val="FF0000"/>
              </a:solidFill>
            </a:endParaRPr>
          </a:p>
          <a:p>
            <a:pPr marL="0" indent="0">
              <a:buNone/>
            </a:pPr>
            <a:r>
              <a:rPr lang="en-IN" dirty="0" smtClean="0"/>
              <a:t>      names</a:t>
            </a:r>
            <a:r>
              <a:rPr lang="en-IN" dirty="0"/>
              <a:t>[ i ] = p ; </a:t>
            </a:r>
            <a:r>
              <a:rPr lang="en-IN" sz="1800" dirty="0" smtClean="0">
                <a:solidFill>
                  <a:srgbClr val="FF0000"/>
                </a:solidFill>
              </a:rPr>
              <a:t>//</a:t>
            </a:r>
            <a:r>
              <a:rPr lang="en-US" sz="1800" dirty="0">
                <a:solidFill>
                  <a:srgbClr val="FF0000"/>
                </a:solidFill>
              </a:rPr>
              <a:t>Stores the </a:t>
            </a:r>
            <a:r>
              <a:rPr lang="en-US" sz="1800" b="1" dirty="0">
                <a:solidFill>
                  <a:srgbClr val="FF0000"/>
                </a:solidFill>
              </a:rPr>
              <a:t>pointer</a:t>
            </a:r>
            <a:r>
              <a:rPr lang="en-US" sz="1800" dirty="0">
                <a:solidFill>
                  <a:srgbClr val="FF0000"/>
                </a:solidFill>
              </a:rPr>
              <a:t> p (which points to the copied name) in the names </a:t>
            </a:r>
            <a:r>
              <a:rPr lang="en-US" sz="1800" dirty="0" smtClean="0">
                <a:solidFill>
                  <a:srgbClr val="FF0000"/>
                </a:solidFill>
              </a:rPr>
              <a:t>array.   </a:t>
            </a:r>
          </a:p>
          <a:p>
            <a:pPr marL="0" indent="0">
              <a:buNone/>
            </a:pPr>
            <a:r>
              <a:rPr lang="en-US" sz="1800" dirty="0">
                <a:solidFill>
                  <a:srgbClr val="FF0000"/>
                </a:solidFill>
              </a:rPr>
              <a:t> </a:t>
            </a:r>
            <a:r>
              <a:rPr lang="en-US" sz="1800" dirty="0" smtClean="0">
                <a:solidFill>
                  <a:srgbClr val="FF0000"/>
                </a:solidFill>
              </a:rPr>
              <a:t>                                       Now </a:t>
            </a:r>
            <a:r>
              <a:rPr lang="en-US" sz="1800" dirty="0">
                <a:solidFill>
                  <a:srgbClr val="FF0000"/>
                </a:solidFill>
              </a:rPr>
              <a:t>names[i] points to the dynamically allocated memory holding that name</a:t>
            </a:r>
            <a:r>
              <a:rPr lang="en-US" sz="1800" dirty="0" smtClean="0">
                <a:solidFill>
                  <a:srgbClr val="FF0000"/>
                </a:solidFill>
              </a:rPr>
              <a:t>.//</a:t>
            </a:r>
            <a:endParaRPr lang="en-IN" sz="1800" dirty="0" smtClean="0">
              <a:solidFill>
                <a:srgbClr val="FF0000"/>
              </a:solidFill>
            </a:endParaRPr>
          </a:p>
          <a:p>
            <a:pPr marL="0" indent="0">
              <a:buNone/>
            </a:pPr>
            <a:r>
              <a:rPr lang="en-IN" dirty="0"/>
              <a:t> </a:t>
            </a:r>
            <a:r>
              <a:rPr lang="en-IN" dirty="0" smtClean="0"/>
              <a:t>  } </a:t>
            </a:r>
          </a:p>
          <a:p>
            <a:pPr marL="0" indent="0">
              <a:buNone/>
            </a:pPr>
            <a:r>
              <a:rPr lang="en-IN" dirty="0" smtClean="0"/>
              <a:t>for </a:t>
            </a:r>
            <a:r>
              <a:rPr lang="en-IN" dirty="0"/>
              <a:t>( i = 0 ; i &lt;= 5 ; i++ </a:t>
            </a:r>
            <a:r>
              <a:rPr lang="en-IN" dirty="0" smtClean="0"/>
              <a:t>)</a:t>
            </a:r>
          </a:p>
          <a:p>
            <a:pPr marL="0" indent="0">
              <a:buNone/>
            </a:pPr>
            <a:r>
              <a:rPr lang="en-IN" dirty="0" smtClean="0"/>
              <a:t> </a:t>
            </a:r>
            <a:r>
              <a:rPr lang="en-IN" dirty="0" err="1"/>
              <a:t>printf</a:t>
            </a:r>
            <a:r>
              <a:rPr lang="en-IN" dirty="0"/>
              <a:t> ( "%s\n", names[ i ] ) ; </a:t>
            </a:r>
            <a:endParaRPr lang="en-IN" dirty="0" smtClean="0"/>
          </a:p>
          <a:p>
            <a:pPr marL="0" indent="0">
              <a:buNone/>
            </a:pPr>
            <a:r>
              <a:rPr lang="en-IN" dirty="0" smtClean="0"/>
              <a:t>return </a:t>
            </a:r>
            <a:r>
              <a:rPr lang="en-IN" dirty="0"/>
              <a:t>0 ; </a:t>
            </a:r>
            <a:endParaRPr lang="en-IN" dirty="0" smtClean="0"/>
          </a:p>
          <a:p>
            <a:pPr marL="0" indent="0">
              <a:buNone/>
            </a:pPr>
            <a:r>
              <a:rPr lang="en-IN" dirty="0" smtClean="0"/>
              <a:t>}</a:t>
            </a:r>
            <a:endParaRPr lang="en-IN" dirty="0"/>
          </a:p>
        </p:txBody>
      </p:sp>
    </p:spTree>
    <p:extLst>
      <p:ext uri="{BB962C8B-B14F-4D97-AF65-F5344CB8AC3E}">
        <p14:creationId xmlns:p14="http://schemas.microsoft.com/office/powerpoint/2010/main" val="2934820741"/>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b="1" dirty="0" err="1"/>
              <a:t>malloc</a:t>
            </a:r>
            <a:r>
              <a:rPr lang="en-IN" b="1" dirty="0"/>
              <a:t>( </a:t>
            </a:r>
            <a:r>
              <a:rPr lang="en-IN" b="1" dirty="0" smtClean="0"/>
              <a:t>)</a:t>
            </a:r>
            <a:endParaRPr lang="en-IN" dirty="0"/>
          </a:p>
        </p:txBody>
      </p:sp>
      <p:sp>
        <p:nvSpPr>
          <p:cNvPr id="3" name="Content Placeholder 2"/>
          <p:cNvSpPr>
            <a:spLocks noGrp="1"/>
          </p:cNvSpPr>
          <p:nvPr>
            <p:ph idx="1"/>
          </p:nvPr>
        </p:nvSpPr>
        <p:spPr/>
        <p:txBody>
          <a:bodyPr>
            <a:normAutofit/>
          </a:bodyPr>
          <a:lstStyle/>
          <a:p>
            <a:pPr marL="0" indent="0">
              <a:buNone/>
            </a:pPr>
            <a:r>
              <a:rPr lang="en-IN" dirty="0" smtClean="0"/>
              <a:t>This </a:t>
            </a:r>
            <a:r>
              <a:rPr lang="en-IN" dirty="0"/>
              <a:t>function </a:t>
            </a:r>
            <a:r>
              <a:rPr lang="en-IN" dirty="0" smtClean="0"/>
              <a:t>requires </a:t>
            </a:r>
            <a:r>
              <a:rPr lang="en-US" dirty="0" smtClean="0"/>
              <a:t>the </a:t>
            </a:r>
            <a:r>
              <a:rPr lang="en-US" dirty="0"/>
              <a:t>number of bytes to be allocated and returns the base address of </a:t>
            </a:r>
            <a:r>
              <a:rPr lang="en-US" dirty="0" smtClean="0"/>
              <a:t>the chunk </a:t>
            </a:r>
            <a:r>
              <a:rPr lang="en-US" dirty="0"/>
              <a:t>of memory that it allocates. The address returned by this </a:t>
            </a:r>
            <a:r>
              <a:rPr lang="en-US" dirty="0" smtClean="0"/>
              <a:t>function is </a:t>
            </a:r>
            <a:r>
              <a:rPr lang="en-US" dirty="0"/>
              <a:t>always of the type </a:t>
            </a:r>
            <a:r>
              <a:rPr lang="en-US" b="1" dirty="0"/>
              <a:t>void *</a:t>
            </a:r>
            <a:r>
              <a:rPr lang="en-US" dirty="0"/>
              <a:t>. This is because </a:t>
            </a:r>
            <a:r>
              <a:rPr lang="en-US" b="1" dirty="0" err="1"/>
              <a:t>malloc</a:t>
            </a:r>
            <a:r>
              <a:rPr lang="en-US" b="1" dirty="0"/>
              <a:t>( ) </a:t>
            </a:r>
            <a:r>
              <a:rPr lang="en-US" dirty="0"/>
              <a:t>doesn’t know </a:t>
            </a:r>
            <a:r>
              <a:rPr lang="en-US" dirty="0" smtClean="0"/>
              <a:t>what for </a:t>
            </a:r>
            <a:r>
              <a:rPr lang="en-US" dirty="0"/>
              <a:t>did we allocate the memory</a:t>
            </a:r>
            <a:r>
              <a:rPr lang="en-US" dirty="0" smtClean="0"/>
              <a:t>.</a:t>
            </a:r>
          </a:p>
          <a:p>
            <a:pPr marL="0" indent="0">
              <a:buNone/>
            </a:pPr>
            <a:r>
              <a:rPr lang="en-US" dirty="0" smtClean="0"/>
              <a:t> </a:t>
            </a:r>
            <a:r>
              <a:rPr lang="en-US" dirty="0"/>
              <a:t>A </a:t>
            </a:r>
            <a:r>
              <a:rPr lang="en-US" b="1" dirty="0"/>
              <a:t>void * </a:t>
            </a:r>
            <a:r>
              <a:rPr lang="en-US" dirty="0"/>
              <a:t>means a pointer which is </a:t>
            </a:r>
            <a:r>
              <a:rPr lang="en-US" dirty="0" smtClean="0"/>
              <a:t>a legal </a:t>
            </a:r>
            <a:r>
              <a:rPr lang="en-US" dirty="0"/>
              <a:t>address but it is not address of a </a:t>
            </a:r>
            <a:r>
              <a:rPr lang="en-US" b="1" dirty="0"/>
              <a:t>char</a:t>
            </a:r>
            <a:r>
              <a:rPr lang="en-US" dirty="0"/>
              <a:t>, or address of an </a:t>
            </a:r>
            <a:r>
              <a:rPr lang="en-US" b="1" dirty="0" err="1"/>
              <a:t>int</a:t>
            </a:r>
            <a:r>
              <a:rPr lang="en-US" dirty="0"/>
              <a:t>, </a:t>
            </a:r>
            <a:r>
              <a:rPr lang="en-US" dirty="0" smtClean="0"/>
              <a:t>or address </a:t>
            </a:r>
            <a:r>
              <a:rPr lang="en-US" dirty="0"/>
              <a:t>of any other </a:t>
            </a:r>
            <a:r>
              <a:rPr lang="en-US" dirty="0" err="1"/>
              <a:t>datatype</a:t>
            </a:r>
            <a:r>
              <a:rPr lang="en-US" dirty="0"/>
              <a:t>. Hence it has been converted into </a:t>
            </a:r>
            <a:r>
              <a:rPr lang="en-US" b="1" dirty="0"/>
              <a:t>char </a:t>
            </a:r>
            <a:r>
              <a:rPr lang="en-US" b="1" dirty="0" smtClean="0"/>
              <a:t>* </a:t>
            </a:r>
            <a:r>
              <a:rPr lang="en-US" dirty="0" smtClean="0"/>
              <a:t>using </a:t>
            </a:r>
            <a:r>
              <a:rPr lang="en-US" dirty="0"/>
              <a:t>a C language feature called typecasting</a:t>
            </a:r>
            <a:r>
              <a:rPr lang="en-US" dirty="0" smtClean="0"/>
              <a:t>.</a:t>
            </a:r>
          </a:p>
          <a:p>
            <a:pPr marL="0" indent="0">
              <a:buNone/>
            </a:pPr>
            <a:r>
              <a:rPr lang="en-US" dirty="0" smtClean="0"/>
              <a:t> </a:t>
            </a:r>
            <a:r>
              <a:rPr lang="en-US" dirty="0"/>
              <a:t>The prototype of this function </a:t>
            </a:r>
            <a:r>
              <a:rPr lang="en-US" dirty="0" smtClean="0"/>
              <a:t>has been </a:t>
            </a:r>
            <a:r>
              <a:rPr lang="en-US" dirty="0"/>
              <a:t>declared in the header file ‘</a:t>
            </a:r>
            <a:r>
              <a:rPr lang="en-US" dirty="0" err="1"/>
              <a:t>stdlib.h</a:t>
            </a:r>
            <a:r>
              <a:rPr lang="en-US" dirty="0"/>
              <a:t>’. Hence we have </a:t>
            </a:r>
            <a:r>
              <a:rPr lang="en-US" b="1" dirty="0"/>
              <a:t>#include</a:t>
            </a:r>
            <a:r>
              <a:rPr lang="en-US" dirty="0"/>
              <a:t>d this</a:t>
            </a:r>
          </a:p>
          <a:p>
            <a:pPr marL="0" indent="0">
              <a:buNone/>
            </a:pPr>
            <a:r>
              <a:rPr lang="en-IN" dirty="0"/>
              <a:t>file.</a:t>
            </a:r>
          </a:p>
        </p:txBody>
      </p:sp>
    </p:spTree>
    <p:extLst>
      <p:ext uri="{BB962C8B-B14F-4D97-AF65-F5344CB8AC3E}">
        <p14:creationId xmlns:p14="http://schemas.microsoft.com/office/powerpoint/2010/main" val="408579868"/>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b="1" dirty="0" err="1"/>
              <a:t>malloc</a:t>
            </a:r>
            <a:r>
              <a:rPr lang="en-IN" b="1" dirty="0"/>
              <a:t>( </a:t>
            </a:r>
            <a:r>
              <a:rPr lang="en-IN" b="1" dirty="0" smtClean="0"/>
              <a:t>)</a:t>
            </a:r>
            <a:endParaRPr lang="en-IN" dirty="0"/>
          </a:p>
        </p:txBody>
      </p:sp>
      <p:sp>
        <p:nvSpPr>
          <p:cNvPr id="3" name="Content Placeholder 2"/>
          <p:cNvSpPr>
            <a:spLocks noGrp="1"/>
          </p:cNvSpPr>
          <p:nvPr>
            <p:ph idx="1"/>
          </p:nvPr>
        </p:nvSpPr>
        <p:spPr>
          <a:xfrm>
            <a:off x="457200" y="1412776"/>
            <a:ext cx="8229600" cy="5064224"/>
          </a:xfrm>
        </p:spPr>
        <p:txBody>
          <a:bodyPr>
            <a:normAutofit fontScale="92500" lnSpcReduction="10000"/>
          </a:bodyPr>
          <a:lstStyle/>
          <a:p>
            <a:pPr marL="0" indent="0">
              <a:buNone/>
            </a:pPr>
            <a:r>
              <a:rPr lang="en-US" dirty="0"/>
              <a:t>But why did we not use array to allocate memory? </a:t>
            </a:r>
            <a:endParaRPr lang="en-US" dirty="0" smtClean="0"/>
          </a:p>
          <a:p>
            <a:pPr marL="0" indent="0">
              <a:buNone/>
            </a:pPr>
            <a:r>
              <a:rPr lang="en-US" dirty="0" smtClean="0"/>
              <a:t>This </a:t>
            </a:r>
            <a:r>
              <a:rPr lang="en-US" dirty="0"/>
              <a:t>is because, </a:t>
            </a:r>
            <a:r>
              <a:rPr lang="en-US" dirty="0" smtClean="0"/>
              <a:t>with arrays</a:t>
            </a:r>
            <a:r>
              <a:rPr lang="en-US" dirty="0"/>
              <a:t>, we have to commit to the size of the array at the time of </a:t>
            </a:r>
            <a:r>
              <a:rPr lang="en-US" dirty="0" smtClean="0"/>
              <a:t>writing the </a:t>
            </a:r>
            <a:r>
              <a:rPr lang="en-US" dirty="0"/>
              <a:t>program. Moreover, there is no way to increase or decrease </a:t>
            </a:r>
            <a:r>
              <a:rPr lang="en-US" dirty="0" smtClean="0"/>
              <a:t>the array </a:t>
            </a:r>
            <a:r>
              <a:rPr lang="en-US" dirty="0"/>
              <a:t>size during execution of the program. </a:t>
            </a:r>
            <a:endParaRPr lang="en-US" dirty="0" smtClean="0"/>
          </a:p>
          <a:p>
            <a:pPr marL="0" indent="0">
              <a:buNone/>
            </a:pPr>
            <a:r>
              <a:rPr lang="en-US" dirty="0" smtClean="0"/>
              <a:t>In </a:t>
            </a:r>
            <a:r>
              <a:rPr lang="en-US" dirty="0"/>
              <a:t>other words, when we </a:t>
            </a:r>
            <a:r>
              <a:rPr lang="en-US" dirty="0" smtClean="0"/>
              <a:t>use arrays</a:t>
            </a:r>
            <a:r>
              <a:rPr lang="en-US" dirty="0"/>
              <a:t>, static memory allocation takes place. Unlike this, using </a:t>
            </a:r>
            <a:r>
              <a:rPr lang="en-US" b="1" dirty="0" err="1"/>
              <a:t>malloc</a:t>
            </a:r>
            <a:r>
              <a:rPr lang="en-US" b="1" dirty="0"/>
              <a:t>( </a:t>
            </a:r>
            <a:r>
              <a:rPr lang="en-US" b="1" dirty="0" smtClean="0"/>
              <a:t>)</a:t>
            </a:r>
            <a:r>
              <a:rPr lang="en-US" dirty="0" smtClean="0"/>
              <a:t>, we </a:t>
            </a:r>
            <a:r>
              <a:rPr lang="en-US" dirty="0"/>
              <a:t>can allocate memory dynamically, during execution. The </a:t>
            </a:r>
            <a:r>
              <a:rPr lang="en-US" dirty="0" smtClean="0"/>
              <a:t>argument that </a:t>
            </a:r>
            <a:r>
              <a:rPr lang="en-US" dirty="0"/>
              <a:t>we pass to </a:t>
            </a:r>
            <a:r>
              <a:rPr lang="en-US" b="1" dirty="0" err="1"/>
              <a:t>malloc</a:t>
            </a:r>
            <a:r>
              <a:rPr lang="en-US" b="1" dirty="0"/>
              <a:t>( ) </a:t>
            </a:r>
            <a:r>
              <a:rPr lang="en-US" dirty="0"/>
              <a:t>can be a variable </a:t>
            </a:r>
            <a:r>
              <a:rPr lang="en-US" dirty="0" smtClean="0"/>
              <a:t>whose </a:t>
            </a:r>
            <a:r>
              <a:rPr lang="en-US" dirty="0"/>
              <a:t>value can </a:t>
            </a:r>
            <a:r>
              <a:rPr lang="en-US" dirty="0" smtClean="0"/>
              <a:t>change </a:t>
            </a:r>
            <a:r>
              <a:rPr lang="en-IN" dirty="0" smtClean="0"/>
              <a:t>during </a:t>
            </a:r>
            <a:r>
              <a:rPr lang="en-IN" dirty="0"/>
              <a:t>execution</a:t>
            </a:r>
            <a:r>
              <a:rPr lang="en-IN" dirty="0" smtClean="0"/>
              <a:t>.</a:t>
            </a:r>
          </a:p>
          <a:p>
            <a:pPr marL="0" indent="0">
              <a:buNone/>
            </a:pPr>
            <a:r>
              <a:rPr lang="en-US" dirty="0"/>
              <a:t>Once we have allocated the memory using </a:t>
            </a:r>
            <a:r>
              <a:rPr lang="en-US" b="1" dirty="0" err="1"/>
              <a:t>malloc</a:t>
            </a:r>
            <a:r>
              <a:rPr lang="en-US" b="1" dirty="0"/>
              <a:t>( )</a:t>
            </a:r>
            <a:r>
              <a:rPr lang="en-US" dirty="0"/>
              <a:t>, we have copied </a:t>
            </a:r>
            <a:r>
              <a:rPr lang="en-US" dirty="0" smtClean="0"/>
              <a:t>the name </a:t>
            </a:r>
            <a:r>
              <a:rPr lang="en-US" dirty="0"/>
              <a:t>received through the keyboard into this allocated space and </a:t>
            </a:r>
            <a:r>
              <a:rPr lang="en-US" dirty="0" smtClean="0"/>
              <a:t>finally stored </a:t>
            </a:r>
            <a:r>
              <a:rPr lang="en-US" dirty="0"/>
              <a:t>the address of the allocated chunk in the appropriate element </a:t>
            </a:r>
            <a:r>
              <a:rPr lang="en-US" dirty="0" smtClean="0"/>
              <a:t>of </a:t>
            </a:r>
            <a:r>
              <a:rPr lang="en-US" b="1" dirty="0" smtClean="0"/>
              <a:t>names</a:t>
            </a:r>
            <a:r>
              <a:rPr lang="en-US" b="1" dirty="0"/>
              <a:t>[ ]</a:t>
            </a:r>
            <a:r>
              <a:rPr lang="en-US" dirty="0"/>
              <a:t>, the array of pointers to strings.</a:t>
            </a:r>
            <a:endParaRPr lang="en-IN" dirty="0"/>
          </a:p>
        </p:txBody>
      </p:sp>
    </p:spTree>
    <p:extLst>
      <p:ext uri="{BB962C8B-B14F-4D97-AF65-F5344CB8AC3E}">
        <p14:creationId xmlns:p14="http://schemas.microsoft.com/office/powerpoint/2010/main" val="578026549"/>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404664"/>
            <a:ext cx="4834880" cy="6072336"/>
          </a:xfrm>
        </p:spPr>
        <p:txBody>
          <a:bodyPr>
            <a:noAutofit/>
          </a:bodyPr>
          <a:lstStyle/>
          <a:p>
            <a:pPr marL="0" indent="0">
              <a:buNone/>
            </a:pPr>
            <a:r>
              <a:rPr lang="en-US" sz="1400" dirty="0"/>
              <a:t>#include &lt;</a:t>
            </a:r>
            <a:r>
              <a:rPr lang="en-US" sz="1400" dirty="0" err="1"/>
              <a:t>stdio.h</a:t>
            </a:r>
            <a:r>
              <a:rPr lang="en-US" sz="1400" dirty="0"/>
              <a:t>&gt;</a:t>
            </a:r>
          </a:p>
          <a:p>
            <a:pPr marL="0" indent="0">
              <a:buNone/>
            </a:pPr>
            <a:r>
              <a:rPr lang="en-US" sz="1400" dirty="0"/>
              <a:t>#include &lt;</a:t>
            </a:r>
            <a:r>
              <a:rPr lang="en-US" sz="1400" dirty="0" err="1"/>
              <a:t>stdlib.h</a:t>
            </a:r>
            <a:r>
              <a:rPr lang="en-US" sz="1400" dirty="0"/>
              <a:t>&gt;</a:t>
            </a:r>
          </a:p>
          <a:p>
            <a:pPr marL="0" indent="0">
              <a:buNone/>
            </a:pPr>
            <a:endParaRPr lang="en-US" sz="1400" dirty="0"/>
          </a:p>
          <a:p>
            <a:pPr marL="0" indent="0">
              <a:buNone/>
            </a:pPr>
            <a:r>
              <a:rPr lang="en-US" sz="1400" dirty="0" err="1"/>
              <a:t>int</a:t>
            </a:r>
            <a:r>
              <a:rPr lang="en-US" sz="1400" dirty="0"/>
              <a:t> main() {</a:t>
            </a:r>
          </a:p>
          <a:p>
            <a:pPr marL="0" indent="0">
              <a:buNone/>
            </a:pPr>
            <a:r>
              <a:rPr lang="en-US" sz="1400" dirty="0"/>
              <a:t>    </a:t>
            </a:r>
            <a:r>
              <a:rPr lang="en-US" sz="1400" dirty="0" err="1"/>
              <a:t>int</a:t>
            </a:r>
            <a:r>
              <a:rPr lang="en-US" sz="1400" dirty="0"/>
              <a:t> *</a:t>
            </a:r>
            <a:r>
              <a:rPr lang="en-US" sz="1400" dirty="0" err="1"/>
              <a:t>ptr</a:t>
            </a:r>
            <a:r>
              <a:rPr lang="en-US" sz="1400" dirty="0"/>
              <a:t>;   // Pointer to </a:t>
            </a:r>
            <a:r>
              <a:rPr lang="en-US" sz="1400" dirty="0" err="1"/>
              <a:t>int</a:t>
            </a:r>
            <a:endParaRPr lang="en-US" sz="1400" dirty="0"/>
          </a:p>
          <a:p>
            <a:pPr marL="0" indent="0">
              <a:buNone/>
            </a:pPr>
            <a:r>
              <a:rPr lang="en-US" sz="1400" dirty="0"/>
              <a:t>    </a:t>
            </a:r>
            <a:r>
              <a:rPr lang="en-US" sz="1400" dirty="0" err="1"/>
              <a:t>int</a:t>
            </a:r>
            <a:r>
              <a:rPr lang="en-US" sz="1400" dirty="0"/>
              <a:t> n, i;</a:t>
            </a:r>
          </a:p>
          <a:p>
            <a:pPr marL="0" indent="0">
              <a:buNone/>
            </a:pPr>
            <a:endParaRPr lang="en-US" sz="1400" dirty="0"/>
          </a:p>
          <a:p>
            <a:pPr marL="0" indent="0">
              <a:buNone/>
            </a:pPr>
            <a:r>
              <a:rPr lang="en-US" sz="1400" dirty="0"/>
              <a:t>    </a:t>
            </a:r>
            <a:r>
              <a:rPr lang="en-US" sz="1400" dirty="0" err="1"/>
              <a:t>printf</a:t>
            </a:r>
            <a:r>
              <a:rPr lang="en-US" sz="1400" dirty="0"/>
              <a:t>("Enter number of elements: ");</a:t>
            </a:r>
          </a:p>
          <a:p>
            <a:pPr marL="0" indent="0">
              <a:buNone/>
            </a:pPr>
            <a:r>
              <a:rPr lang="en-US" sz="1400" dirty="0"/>
              <a:t>    </a:t>
            </a:r>
            <a:r>
              <a:rPr lang="en-US" sz="1400" dirty="0" err="1"/>
              <a:t>scanf</a:t>
            </a:r>
            <a:r>
              <a:rPr lang="en-US" sz="1400" dirty="0"/>
              <a:t>("%d", &amp;n);</a:t>
            </a:r>
          </a:p>
          <a:p>
            <a:pPr marL="0" indent="0">
              <a:buNone/>
            </a:pPr>
            <a:endParaRPr lang="en-US" sz="1400" dirty="0"/>
          </a:p>
          <a:p>
            <a:pPr marL="0" indent="0">
              <a:buNone/>
            </a:pPr>
            <a:r>
              <a:rPr lang="en-US" sz="1400" dirty="0"/>
              <a:t>    // Dynamically allocate memory using </a:t>
            </a:r>
            <a:r>
              <a:rPr lang="en-US" sz="1400" dirty="0" err="1"/>
              <a:t>malloc</a:t>
            </a:r>
            <a:r>
              <a:rPr lang="en-US" sz="1400" dirty="0"/>
              <a:t>()</a:t>
            </a:r>
          </a:p>
          <a:p>
            <a:pPr marL="0" indent="0">
              <a:buNone/>
            </a:pPr>
            <a:r>
              <a:rPr lang="en-US" sz="1400" dirty="0"/>
              <a:t>    </a:t>
            </a:r>
            <a:r>
              <a:rPr lang="en-US" sz="1400" dirty="0" err="1"/>
              <a:t>ptr</a:t>
            </a:r>
            <a:r>
              <a:rPr lang="en-US" sz="1400" dirty="0"/>
              <a:t> = (</a:t>
            </a:r>
            <a:r>
              <a:rPr lang="en-US" sz="1400" dirty="0" err="1"/>
              <a:t>int</a:t>
            </a:r>
            <a:r>
              <a:rPr lang="en-US" sz="1400" dirty="0"/>
              <a:t>*) </a:t>
            </a:r>
            <a:r>
              <a:rPr lang="en-US" sz="1400" dirty="0" err="1"/>
              <a:t>malloc</a:t>
            </a:r>
            <a:r>
              <a:rPr lang="en-US" sz="1400" dirty="0"/>
              <a:t>(n * </a:t>
            </a:r>
            <a:r>
              <a:rPr lang="en-US" sz="1400" dirty="0" err="1"/>
              <a:t>sizeof</a:t>
            </a:r>
            <a:r>
              <a:rPr lang="en-US" sz="1400" dirty="0"/>
              <a:t>(</a:t>
            </a:r>
            <a:r>
              <a:rPr lang="en-US" sz="1400" dirty="0" err="1"/>
              <a:t>int</a:t>
            </a:r>
            <a:r>
              <a:rPr lang="en-US" sz="1400" dirty="0"/>
              <a:t>));</a:t>
            </a:r>
          </a:p>
          <a:p>
            <a:pPr marL="0" indent="0">
              <a:buNone/>
            </a:pPr>
            <a:endParaRPr lang="en-US" sz="1400" dirty="0"/>
          </a:p>
          <a:p>
            <a:pPr marL="0" indent="0">
              <a:buNone/>
            </a:pPr>
            <a:r>
              <a:rPr lang="en-US" sz="1400" dirty="0"/>
              <a:t>    // Check if memory has been allocated successfully</a:t>
            </a:r>
          </a:p>
          <a:p>
            <a:pPr marL="0" indent="0">
              <a:buNone/>
            </a:pPr>
            <a:r>
              <a:rPr lang="en-US" sz="1400" dirty="0"/>
              <a:t>    if (</a:t>
            </a:r>
            <a:r>
              <a:rPr lang="en-US" sz="1400" dirty="0" err="1"/>
              <a:t>ptr</a:t>
            </a:r>
            <a:r>
              <a:rPr lang="en-US" sz="1400" dirty="0"/>
              <a:t> == NULL) {</a:t>
            </a:r>
          </a:p>
          <a:p>
            <a:pPr marL="0" indent="0">
              <a:buNone/>
            </a:pPr>
            <a:r>
              <a:rPr lang="en-US" sz="1400" dirty="0"/>
              <a:t>        </a:t>
            </a:r>
            <a:r>
              <a:rPr lang="en-US" sz="1400" dirty="0" err="1"/>
              <a:t>printf</a:t>
            </a:r>
            <a:r>
              <a:rPr lang="en-US" sz="1400" dirty="0"/>
              <a:t>("Memory not allocated.\n");</a:t>
            </a:r>
          </a:p>
          <a:p>
            <a:pPr marL="0" indent="0">
              <a:buNone/>
            </a:pPr>
            <a:r>
              <a:rPr lang="en-US" sz="1400" dirty="0"/>
              <a:t>        return 1;  // Exit program</a:t>
            </a:r>
          </a:p>
          <a:p>
            <a:pPr marL="0" indent="0">
              <a:buNone/>
            </a:pPr>
            <a:r>
              <a:rPr lang="en-US" sz="1400" dirty="0"/>
              <a:t>    }</a:t>
            </a:r>
          </a:p>
          <a:p>
            <a:pPr marL="0" indent="0">
              <a:buNone/>
            </a:pPr>
            <a:endParaRPr lang="en-US" sz="1400" dirty="0"/>
          </a:p>
          <a:p>
            <a:pPr marL="0" indent="0">
              <a:buNone/>
            </a:pPr>
            <a:r>
              <a:rPr lang="en-US" sz="1400" dirty="0"/>
              <a:t>    // Memory has been successfully allocated</a:t>
            </a:r>
          </a:p>
          <a:p>
            <a:pPr marL="0" indent="0">
              <a:buNone/>
            </a:pPr>
            <a:r>
              <a:rPr lang="en-US" sz="1400" dirty="0"/>
              <a:t>    </a:t>
            </a:r>
            <a:r>
              <a:rPr lang="en-US" sz="1400" dirty="0" err="1"/>
              <a:t>printf</a:t>
            </a:r>
            <a:r>
              <a:rPr lang="en-US" sz="1400" dirty="0"/>
              <a:t>("Memory successfully allocated using </a:t>
            </a:r>
            <a:r>
              <a:rPr lang="en-US" sz="1400" dirty="0" err="1"/>
              <a:t>malloc</a:t>
            </a:r>
            <a:r>
              <a:rPr lang="en-US" sz="1400" dirty="0"/>
              <a:t>().\n");</a:t>
            </a:r>
          </a:p>
          <a:p>
            <a:pPr marL="0" indent="0">
              <a:buNone/>
            </a:pPr>
            <a:endParaRPr lang="en-US" sz="1400" dirty="0"/>
          </a:p>
          <a:p>
            <a:pPr marL="0" indent="0">
              <a:buNone/>
            </a:pPr>
            <a:endParaRPr lang="en-IN" sz="1400" dirty="0"/>
          </a:p>
        </p:txBody>
      </p:sp>
      <p:sp>
        <p:nvSpPr>
          <p:cNvPr id="4" name="TextBox 3"/>
          <p:cNvSpPr txBox="1"/>
          <p:nvPr/>
        </p:nvSpPr>
        <p:spPr>
          <a:xfrm>
            <a:off x="4572000" y="548680"/>
            <a:ext cx="4104456" cy="3754874"/>
          </a:xfrm>
          <a:prstGeom prst="rect">
            <a:avLst/>
          </a:prstGeom>
          <a:noFill/>
        </p:spPr>
        <p:txBody>
          <a:bodyPr wrap="square" rtlCol="0">
            <a:spAutoFit/>
          </a:bodyPr>
          <a:lstStyle/>
          <a:p>
            <a:r>
              <a:rPr lang="en-US" sz="1400" dirty="0"/>
              <a:t> // Get the elements of the array</a:t>
            </a:r>
          </a:p>
          <a:p>
            <a:r>
              <a:rPr lang="en-US" sz="1400" dirty="0"/>
              <a:t>    for (i = 0; i &lt; n; ++i) {</a:t>
            </a:r>
          </a:p>
          <a:p>
            <a:r>
              <a:rPr lang="en-US" sz="1400" dirty="0"/>
              <a:t>        </a:t>
            </a:r>
            <a:r>
              <a:rPr lang="en-US" sz="1400" dirty="0" err="1"/>
              <a:t>ptr</a:t>
            </a:r>
            <a:r>
              <a:rPr lang="en-US" sz="1400" dirty="0"/>
              <a:t>[i] = i + 1;</a:t>
            </a:r>
          </a:p>
          <a:p>
            <a:r>
              <a:rPr lang="en-US" sz="1400" dirty="0"/>
              <a:t>    }</a:t>
            </a:r>
          </a:p>
          <a:p>
            <a:endParaRPr lang="en-US" sz="1400" dirty="0"/>
          </a:p>
          <a:p>
            <a:r>
              <a:rPr lang="en-US" sz="1400" dirty="0"/>
              <a:t>    // Print the elements</a:t>
            </a:r>
          </a:p>
          <a:p>
            <a:r>
              <a:rPr lang="en-US" sz="1400" dirty="0"/>
              <a:t>    </a:t>
            </a:r>
            <a:r>
              <a:rPr lang="en-US" sz="1400" dirty="0" err="1"/>
              <a:t>printf</a:t>
            </a:r>
            <a:r>
              <a:rPr lang="en-US" sz="1400" dirty="0"/>
              <a:t>("The elements of the array are: ");</a:t>
            </a:r>
          </a:p>
          <a:p>
            <a:r>
              <a:rPr lang="en-US" sz="1400" dirty="0"/>
              <a:t>    for (i = 0; i &lt; n; ++i) {</a:t>
            </a:r>
          </a:p>
          <a:p>
            <a:r>
              <a:rPr lang="en-US" sz="1400" dirty="0"/>
              <a:t>        </a:t>
            </a:r>
            <a:r>
              <a:rPr lang="en-US" sz="1400" dirty="0" err="1"/>
              <a:t>printf</a:t>
            </a:r>
            <a:r>
              <a:rPr lang="en-US" sz="1400" dirty="0"/>
              <a:t>("%d ", </a:t>
            </a:r>
            <a:r>
              <a:rPr lang="en-US" sz="1400" dirty="0" err="1"/>
              <a:t>ptr</a:t>
            </a:r>
            <a:r>
              <a:rPr lang="en-US" sz="1400" dirty="0"/>
              <a:t>[i]);</a:t>
            </a:r>
          </a:p>
          <a:p>
            <a:r>
              <a:rPr lang="en-US" sz="1400" dirty="0"/>
              <a:t>    }</a:t>
            </a:r>
          </a:p>
          <a:p>
            <a:endParaRPr lang="en-US" sz="1400" dirty="0"/>
          </a:p>
          <a:p>
            <a:r>
              <a:rPr lang="en-US" sz="1400" dirty="0"/>
              <a:t>    // Free the memory</a:t>
            </a:r>
          </a:p>
          <a:p>
            <a:r>
              <a:rPr lang="en-US" sz="1400" dirty="0"/>
              <a:t>    free(</a:t>
            </a:r>
            <a:r>
              <a:rPr lang="en-US" sz="1400" dirty="0" err="1"/>
              <a:t>ptr</a:t>
            </a:r>
            <a:r>
              <a:rPr lang="en-US" sz="1400" dirty="0"/>
              <a:t>);</a:t>
            </a:r>
          </a:p>
          <a:p>
            <a:r>
              <a:rPr lang="en-US" sz="1400" dirty="0"/>
              <a:t>    </a:t>
            </a:r>
            <a:r>
              <a:rPr lang="en-US" sz="1400" dirty="0" err="1"/>
              <a:t>printf</a:t>
            </a:r>
            <a:r>
              <a:rPr lang="en-US" sz="1400" dirty="0"/>
              <a:t>("\</a:t>
            </a:r>
            <a:r>
              <a:rPr lang="en-US" sz="1400" dirty="0" err="1"/>
              <a:t>nMemory</a:t>
            </a:r>
            <a:r>
              <a:rPr lang="en-US" sz="1400" dirty="0"/>
              <a:t> successfully freed.\n");</a:t>
            </a:r>
          </a:p>
          <a:p>
            <a:endParaRPr lang="en-US" sz="1400" dirty="0"/>
          </a:p>
          <a:p>
            <a:r>
              <a:rPr lang="en-US" sz="1400" dirty="0"/>
              <a:t>    return 0;</a:t>
            </a:r>
          </a:p>
          <a:p>
            <a:r>
              <a:rPr lang="en-US" sz="1400" dirty="0"/>
              <a:t>}</a:t>
            </a:r>
            <a:endParaRPr lang="en-IN" sz="1400" dirty="0"/>
          </a:p>
        </p:txBody>
      </p:sp>
    </p:spTree>
    <p:extLst>
      <p:ext uri="{BB962C8B-B14F-4D97-AF65-F5344CB8AC3E}">
        <p14:creationId xmlns:p14="http://schemas.microsoft.com/office/powerpoint/2010/main" val="249352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
                                            <p:txEl>
                                              <p:pRg st="15" end="15"/>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3">
                                            <p:txEl>
                                              <p:pRg st="16" end="16"/>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3">
                                            <p:txEl>
                                              <p:pRg st="17" end="17"/>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3">
                                            <p:txEl>
                                              <p:pRg st="19" end="19"/>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3">
                                            <p:txEl>
                                              <p:pRg st="20" end="20"/>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smtClean="0"/>
              <a:t>Dynamic memory allocation</a:t>
            </a:r>
            <a:endParaRPr lang="en-IN" dirty="0"/>
          </a:p>
        </p:txBody>
      </p:sp>
      <p:sp>
        <p:nvSpPr>
          <p:cNvPr id="3" name="Content Placeholder 2"/>
          <p:cNvSpPr>
            <a:spLocks noGrp="1"/>
          </p:cNvSpPr>
          <p:nvPr>
            <p:ph idx="1"/>
          </p:nvPr>
        </p:nvSpPr>
        <p:spPr/>
        <p:txBody>
          <a:bodyPr>
            <a:normAutofit fontScale="40000" lnSpcReduction="20000"/>
          </a:bodyPr>
          <a:lstStyle/>
          <a:p>
            <a:pPr marL="0" indent="0">
              <a:buNone/>
            </a:pPr>
            <a:r>
              <a:rPr lang="en-IN" dirty="0"/>
              <a:t>#include &lt;</a:t>
            </a:r>
            <a:r>
              <a:rPr lang="en-IN" dirty="0" err="1"/>
              <a:t>stdio.h</a:t>
            </a:r>
            <a:r>
              <a:rPr lang="en-IN" dirty="0"/>
              <a:t>&gt;</a:t>
            </a:r>
          </a:p>
          <a:p>
            <a:pPr marL="0" indent="0">
              <a:buNone/>
            </a:pPr>
            <a:r>
              <a:rPr lang="en-IN" dirty="0"/>
              <a:t>#include &lt;</a:t>
            </a:r>
            <a:r>
              <a:rPr lang="en-IN" dirty="0" err="1"/>
              <a:t>stdlib.h</a:t>
            </a:r>
            <a:r>
              <a:rPr lang="en-IN" dirty="0"/>
              <a:t>&gt;</a:t>
            </a:r>
          </a:p>
          <a:p>
            <a:pPr marL="0" indent="0">
              <a:buNone/>
            </a:pPr>
            <a:endParaRPr lang="en-IN" dirty="0"/>
          </a:p>
          <a:p>
            <a:pPr marL="0" indent="0">
              <a:buNone/>
            </a:pPr>
            <a:r>
              <a:rPr lang="en-IN" dirty="0" err="1"/>
              <a:t>int</a:t>
            </a:r>
            <a:r>
              <a:rPr lang="en-IN" dirty="0"/>
              <a:t> main() {</a:t>
            </a:r>
          </a:p>
          <a:p>
            <a:pPr marL="0" indent="0">
              <a:buNone/>
            </a:pPr>
            <a:r>
              <a:rPr lang="en-IN" dirty="0"/>
              <a:t>    </a:t>
            </a:r>
            <a:r>
              <a:rPr lang="en-IN" dirty="0" err="1"/>
              <a:t>int</a:t>
            </a:r>
            <a:r>
              <a:rPr lang="en-IN" dirty="0"/>
              <a:t> *</a:t>
            </a:r>
            <a:r>
              <a:rPr lang="en-IN" dirty="0" err="1"/>
              <a:t>ptr</a:t>
            </a:r>
            <a:r>
              <a:rPr lang="en-IN" dirty="0"/>
              <a:t>;</a:t>
            </a:r>
          </a:p>
          <a:p>
            <a:pPr marL="0" indent="0">
              <a:buNone/>
            </a:pPr>
            <a:r>
              <a:rPr lang="en-IN" dirty="0"/>
              <a:t>    </a:t>
            </a:r>
            <a:r>
              <a:rPr lang="en-IN" dirty="0" err="1"/>
              <a:t>int</a:t>
            </a:r>
            <a:r>
              <a:rPr lang="en-IN" dirty="0"/>
              <a:t> n;</a:t>
            </a:r>
          </a:p>
          <a:p>
            <a:pPr marL="0" indent="0">
              <a:buNone/>
            </a:pPr>
            <a:endParaRPr lang="en-IN" dirty="0"/>
          </a:p>
          <a:p>
            <a:pPr marL="0" indent="0">
              <a:buNone/>
            </a:pPr>
            <a:r>
              <a:rPr lang="en-IN" dirty="0"/>
              <a:t>    </a:t>
            </a:r>
            <a:r>
              <a:rPr lang="en-IN" dirty="0" err="1"/>
              <a:t>printf</a:t>
            </a:r>
            <a:r>
              <a:rPr lang="en-IN" dirty="0"/>
              <a:t>("Enter number of elements: ");</a:t>
            </a:r>
          </a:p>
          <a:p>
            <a:pPr marL="0" indent="0">
              <a:buNone/>
            </a:pPr>
            <a:r>
              <a:rPr lang="en-IN" dirty="0"/>
              <a:t>    </a:t>
            </a:r>
            <a:r>
              <a:rPr lang="en-IN" dirty="0" err="1"/>
              <a:t>scanf</a:t>
            </a:r>
            <a:r>
              <a:rPr lang="en-IN" dirty="0"/>
              <a:t>("%d", &amp;n);</a:t>
            </a:r>
          </a:p>
          <a:p>
            <a:pPr marL="0" indent="0">
              <a:buNone/>
            </a:pPr>
            <a:endParaRPr lang="en-IN" dirty="0"/>
          </a:p>
          <a:p>
            <a:pPr marL="0" indent="0">
              <a:buNone/>
            </a:pPr>
            <a:r>
              <a:rPr lang="en-IN" dirty="0"/>
              <a:t>    </a:t>
            </a:r>
            <a:r>
              <a:rPr lang="en-IN" dirty="0" err="1"/>
              <a:t>ptr</a:t>
            </a:r>
            <a:r>
              <a:rPr lang="en-IN" dirty="0"/>
              <a:t> = (</a:t>
            </a:r>
            <a:r>
              <a:rPr lang="en-IN" dirty="0" err="1"/>
              <a:t>int</a:t>
            </a:r>
            <a:r>
              <a:rPr lang="en-IN" dirty="0"/>
              <a:t> *)</a:t>
            </a:r>
            <a:r>
              <a:rPr lang="en-IN" dirty="0" err="1"/>
              <a:t>malloc</a:t>
            </a:r>
            <a:r>
              <a:rPr lang="en-IN" dirty="0"/>
              <a:t>(n * </a:t>
            </a:r>
            <a:r>
              <a:rPr lang="en-IN" dirty="0" err="1"/>
              <a:t>sizeof</a:t>
            </a:r>
            <a:r>
              <a:rPr lang="en-IN" dirty="0"/>
              <a:t>(</a:t>
            </a:r>
            <a:r>
              <a:rPr lang="en-IN" dirty="0" err="1"/>
              <a:t>int</a:t>
            </a:r>
            <a:r>
              <a:rPr lang="en-IN" dirty="0"/>
              <a:t>));  // allocate memory for n integers</a:t>
            </a:r>
          </a:p>
          <a:p>
            <a:pPr marL="0" indent="0">
              <a:buNone/>
            </a:pPr>
            <a:endParaRPr lang="en-IN" dirty="0"/>
          </a:p>
          <a:p>
            <a:pPr marL="0" indent="0">
              <a:buNone/>
            </a:pPr>
            <a:r>
              <a:rPr lang="en-IN" dirty="0"/>
              <a:t>    if (</a:t>
            </a:r>
            <a:r>
              <a:rPr lang="en-IN" dirty="0" err="1"/>
              <a:t>ptr</a:t>
            </a:r>
            <a:r>
              <a:rPr lang="en-IN" dirty="0"/>
              <a:t> == NULL) {</a:t>
            </a:r>
          </a:p>
          <a:p>
            <a:pPr marL="0" indent="0">
              <a:buNone/>
            </a:pPr>
            <a:r>
              <a:rPr lang="en-IN" dirty="0"/>
              <a:t>        </a:t>
            </a:r>
            <a:r>
              <a:rPr lang="en-IN" dirty="0" err="1"/>
              <a:t>printf</a:t>
            </a:r>
            <a:r>
              <a:rPr lang="en-IN" dirty="0"/>
              <a:t>("Memory not allocated.\n");</a:t>
            </a:r>
          </a:p>
          <a:p>
            <a:pPr marL="0" indent="0">
              <a:buNone/>
            </a:pPr>
            <a:r>
              <a:rPr lang="en-IN" dirty="0"/>
              <a:t>        return 1;</a:t>
            </a:r>
          </a:p>
          <a:p>
            <a:pPr marL="0" indent="0">
              <a:buNone/>
            </a:pPr>
            <a:r>
              <a:rPr lang="en-IN" dirty="0"/>
              <a:t>    }</a:t>
            </a:r>
          </a:p>
          <a:p>
            <a:pPr marL="0" indent="0">
              <a:buNone/>
            </a:pPr>
            <a:endParaRPr lang="en-IN" dirty="0"/>
          </a:p>
          <a:p>
            <a:pPr marL="0" indent="0">
              <a:buNone/>
            </a:pPr>
            <a:r>
              <a:rPr lang="en-IN" dirty="0"/>
              <a:t>    // Assign values</a:t>
            </a:r>
          </a:p>
          <a:p>
            <a:pPr marL="0" indent="0">
              <a:buNone/>
            </a:pPr>
            <a:r>
              <a:rPr lang="en-IN" dirty="0"/>
              <a:t>    for (</a:t>
            </a:r>
            <a:r>
              <a:rPr lang="en-IN" dirty="0" err="1"/>
              <a:t>int</a:t>
            </a:r>
            <a:r>
              <a:rPr lang="en-IN" dirty="0"/>
              <a:t> i = 0; i &lt; n; i++) {</a:t>
            </a:r>
          </a:p>
          <a:p>
            <a:pPr marL="0" indent="0">
              <a:buNone/>
            </a:pPr>
            <a:r>
              <a:rPr lang="en-IN" dirty="0"/>
              <a:t>        </a:t>
            </a:r>
            <a:r>
              <a:rPr lang="en-IN" dirty="0" err="1"/>
              <a:t>ptr</a:t>
            </a:r>
            <a:r>
              <a:rPr lang="en-IN" dirty="0"/>
              <a:t>[i] = i + 1;</a:t>
            </a:r>
          </a:p>
          <a:p>
            <a:pPr marL="0" indent="0">
              <a:buNone/>
            </a:pPr>
            <a:r>
              <a:rPr lang="en-IN" dirty="0"/>
              <a:t>    }</a:t>
            </a:r>
          </a:p>
          <a:p>
            <a:pPr marL="0" indent="0">
              <a:buNone/>
            </a:pPr>
            <a:endParaRPr lang="en-IN" dirty="0"/>
          </a:p>
          <a:p>
            <a:pPr marL="0" indent="0">
              <a:buNone/>
            </a:pPr>
            <a:r>
              <a:rPr lang="en-IN" dirty="0"/>
              <a:t>    // Print values</a:t>
            </a:r>
          </a:p>
          <a:p>
            <a:pPr marL="0" indent="0">
              <a:buNone/>
            </a:pPr>
            <a:r>
              <a:rPr lang="en-IN" dirty="0"/>
              <a:t>    for (</a:t>
            </a:r>
            <a:r>
              <a:rPr lang="en-IN" dirty="0" err="1"/>
              <a:t>int</a:t>
            </a:r>
            <a:r>
              <a:rPr lang="en-IN" dirty="0"/>
              <a:t> i = 0; i &lt; n; i++) {</a:t>
            </a:r>
          </a:p>
          <a:p>
            <a:pPr marL="0" indent="0">
              <a:buNone/>
            </a:pPr>
            <a:r>
              <a:rPr lang="en-IN" dirty="0"/>
              <a:t>        </a:t>
            </a:r>
            <a:r>
              <a:rPr lang="en-IN" dirty="0" err="1"/>
              <a:t>printf</a:t>
            </a:r>
            <a:r>
              <a:rPr lang="en-IN" dirty="0"/>
              <a:t>("%d ", </a:t>
            </a:r>
            <a:r>
              <a:rPr lang="en-IN" dirty="0" err="1"/>
              <a:t>ptr</a:t>
            </a:r>
            <a:r>
              <a:rPr lang="en-IN" dirty="0"/>
              <a:t>[i]);</a:t>
            </a:r>
          </a:p>
          <a:p>
            <a:pPr marL="0" indent="0">
              <a:buNone/>
            </a:pPr>
            <a:r>
              <a:rPr lang="en-IN" dirty="0"/>
              <a:t>    }</a:t>
            </a:r>
          </a:p>
          <a:p>
            <a:pPr marL="0" indent="0">
              <a:buNone/>
            </a:pPr>
            <a:endParaRPr lang="en-IN" dirty="0"/>
          </a:p>
          <a:p>
            <a:pPr marL="0" indent="0">
              <a:buNone/>
            </a:pPr>
            <a:r>
              <a:rPr lang="en-IN" dirty="0"/>
              <a:t>    free(</a:t>
            </a:r>
            <a:r>
              <a:rPr lang="en-IN" dirty="0" err="1"/>
              <a:t>ptr</a:t>
            </a:r>
            <a:r>
              <a:rPr lang="en-IN" dirty="0"/>
              <a:t>);  // free memory!</a:t>
            </a:r>
          </a:p>
          <a:p>
            <a:pPr marL="0" indent="0">
              <a:buNone/>
            </a:pPr>
            <a:endParaRPr lang="en-IN" dirty="0"/>
          </a:p>
          <a:p>
            <a:pPr marL="0" indent="0">
              <a:buNone/>
            </a:pPr>
            <a:r>
              <a:rPr lang="en-IN" dirty="0"/>
              <a:t>    return 0;</a:t>
            </a:r>
          </a:p>
          <a:p>
            <a:pPr marL="0" indent="0">
              <a:buNone/>
            </a:pPr>
            <a:r>
              <a:rPr lang="en-IN" dirty="0"/>
              <a:t>}</a:t>
            </a:r>
          </a:p>
          <a:p>
            <a:pPr marL="0" indent="0">
              <a:buNone/>
            </a:pPr>
            <a:endParaRPr lang="en-IN" dirty="0"/>
          </a:p>
        </p:txBody>
      </p:sp>
    </p:spTree>
    <p:extLst>
      <p:ext uri="{BB962C8B-B14F-4D97-AF65-F5344CB8AC3E}">
        <p14:creationId xmlns:p14="http://schemas.microsoft.com/office/powerpoint/2010/main" val="1570370304"/>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smtClean="0"/>
              <a:t>Dynamic memory allocation</a:t>
            </a:r>
            <a:endParaRPr lang="en-IN" dirty="0"/>
          </a:p>
        </p:txBody>
      </p:sp>
      <p:sp>
        <p:nvSpPr>
          <p:cNvPr id="3" name="Content Placeholder 2"/>
          <p:cNvSpPr>
            <a:spLocks noGrp="1"/>
          </p:cNvSpPr>
          <p:nvPr>
            <p:ph idx="1"/>
          </p:nvPr>
        </p:nvSpPr>
        <p:spPr/>
        <p:txBody>
          <a:bodyPr>
            <a:normAutofit fontScale="70000" lnSpcReduction="20000"/>
          </a:bodyPr>
          <a:lstStyle/>
          <a:p>
            <a:pPr marL="0" indent="0">
              <a:buNone/>
            </a:pPr>
            <a:r>
              <a:rPr lang="en-IN" dirty="0"/>
              <a:t>#include &lt;</a:t>
            </a:r>
            <a:r>
              <a:rPr lang="en-IN" dirty="0" err="1"/>
              <a:t>stdio.h</a:t>
            </a:r>
            <a:r>
              <a:rPr lang="en-IN" dirty="0"/>
              <a:t>&gt;</a:t>
            </a:r>
          </a:p>
          <a:p>
            <a:pPr marL="0" indent="0">
              <a:buNone/>
            </a:pPr>
            <a:r>
              <a:rPr lang="en-IN" dirty="0"/>
              <a:t>#include &lt;</a:t>
            </a:r>
            <a:r>
              <a:rPr lang="en-IN" dirty="0" err="1"/>
              <a:t>stdlib.h</a:t>
            </a:r>
            <a:r>
              <a:rPr lang="en-IN" dirty="0"/>
              <a:t>&gt; // Required for </a:t>
            </a:r>
            <a:r>
              <a:rPr lang="en-IN" dirty="0" err="1"/>
              <a:t>malloc</a:t>
            </a:r>
            <a:endParaRPr lang="en-IN" dirty="0"/>
          </a:p>
          <a:p>
            <a:pPr marL="0" indent="0">
              <a:buNone/>
            </a:pPr>
            <a:endParaRPr lang="en-IN" dirty="0"/>
          </a:p>
          <a:p>
            <a:pPr marL="0" indent="0">
              <a:buNone/>
            </a:pPr>
            <a:r>
              <a:rPr lang="en-IN" dirty="0" err="1"/>
              <a:t>int</a:t>
            </a:r>
            <a:r>
              <a:rPr lang="en-IN" dirty="0"/>
              <a:t> main() {</a:t>
            </a:r>
          </a:p>
          <a:p>
            <a:pPr marL="0" indent="0">
              <a:buNone/>
            </a:pPr>
            <a:r>
              <a:rPr lang="en-IN" dirty="0"/>
              <a:t>    </a:t>
            </a:r>
            <a:r>
              <a:rPr lang="en-IN" dirty="0" err="1"/>
              <a:t>int</a:t>
            </a:r>
            <a:r>
              <a:rPr lang="en-IN" dirty="0"/>
              <a:t> *</a:t>
            </a:r>
            <a:r>
              <a:rPr lang="en-IN" dirty="0" err="1"/>
              <a:t>ptr</a:t>
            </a:r>
            <a:r>
              <a:rPr lang="en-IN" dirty="0"/>
              <a:t>;</a:t>
            </a:r>
          </a:p>
          <a:p>
            <a:pPr marL="0" indent="0">
              <a:buNone/>
            </a:pPr>
            <a:r>
              <a:rPr lang="en-IN" dirty="0"/>
              <a:t>    </a:t>
            </a:r>
            <a:r>
              <a:rPr lang="en-IN" dirty="0" err="1"/>
              <a:t>ptr</a:t>
            </a:r>
            <a:r>
              <a:rPr lang="en-IN" dirty="0"/>
              <a:t> = (</a:t>
            </a:r>
            <a:r>
              <a:rPr lang="en-IN" dirty="0" err="1"/>
              <a:t>int</a:t>
            </a:r>
            <a:r>
              <a:rPr lang="en-IN" dirty="0"/>
              <a:t>*) </a:t>
            </a:r>
            <a:r>
              <a:rPr lang="en-IN" dirty="0" err="1"/>
              <a:t>malloc</a:t>
            </a:r>
            <a:r>
              <a:rPr lang="en-IN" dirty="0"/>
              <a:t>(</a:t>
            </a:r>
            <a:r>
              <a:rPr lang="en-IN" dirty="0" err="1"/>
              <a:t>sizeof</a:t>
            </a:r>
            <a:r>
              <a:rPr lang="en-IN" dirty="0"/>
              <a:t>(</a:t>
            </a:r>
            <a:r>
              <a:rPr lang="en-IN" dirty="0" err="1"/>
              <a:t>int</a:t>
            </a:r>
            <a:r>
              <a:rPr lang="en-IN" dirty="0"/>
              <a:t>)); // Allocate memory</a:t>
            </a:r>
          </a:p>
          <a:p>
            <a:pPr marL="0" indent="0">
              <a:buNone/>
            </a:pPr>
            <a:endParaRPr lang="en-IN" dirty="0"/>
          </a:p>
          <a:p>
            <a:pPr marL="0" indent="0">
              <a:buNone/>
            </a:pPr>
            <a:r>
              <a:rPr lang="en-IN" dirty="0"/>
              <a:t>    if (</a:t>
            </a:r>
            <a:r>
              <a:rPr lang="en-IN" dirty="0" err="1"/>
              <a:t>ptr</a:t>
            </a:r>
            <a:r>
              <a:rPr lang="en-IN" dirty="0"/>
              <a:t> == NULL) {</a:t>
            </a:r>
          </a:p>
          <a:p>
            <a:pPr marL="0" indent="0">
              <a:buNone/>
            </a:pPr>
            <a:r>
              <a:rPr lang="en-IN" dirty="0"/>
              <a:t>        </a:t>
            </a:r>
            <a:r>
              <a:rPr lang="en-IN" dirty="0" err="1"/>
              <a:t>printf</a:t>
            </a:r>
            <a:r>
              <a:rPr lang="en-IN" dirty="0"/>
              <a:t>("Memory allocation failed!");</a:t>
            </a:r>
          </a:p>
          <a:p>
            <a:pPr marL="0" indent="0">
              <a:buNone/>
            </a:pPr>
            <a:r>
              <a:rPr lang="en-IN" dirty="0"/>
              <a:t>        return 1;</a:t>
            </a:r>
          </a:p>
          <a:p>
            <a:pPr marL="0" indent="0">
              <a:buNone/>
            </a:pPr>
            <a:r>
              <a:rPr lang="en-IN" dirty="0"/>
              <a:t>    }</a:t>
            </a:r>
          </a:p>
          <a:p>
            <a:pPr marL="0" indent="0">
              <a:buNone/>
            </a:pPr>
            <a:endParaRPr lang="en-IN" dirty="0"/>
          </a:p>
          <a:p>
            <a:pPr marL="0" indent="0">
              <a:buNone/>
            </a:pPr>
            <a:r>
              <a:rPr lang="en-IN" dirty="0"/>
              <a:t>    *</a:t>
            </a:r>
            <a:r>
              <a:rPr lang="en-IN" dirty="0" err="1"/>
              <a:t>ptr</a:t>
            </a:r>
            <a:r>
              <a:rPr lang="en-IN" dirty="0"/>
              <a:t> = 42; // Store value in allocated memory</a:t>
            </a:r>
          </a:p>
          <a:p>
            <a:pPr marL="0" indent="0">
              <a:buNone/>
            </a:pPr>
            <a:r>
              <a:rPr lang="en-IN" dirty="0"/>
              <a:t>    </a:t>
            </a:r>
            <a:r>
              <a:rPr lang="en-IN" dirty="0" err="1"/>
              <a:t>printf</a:t>
            </a:r>
            <a:r>
              <a:rPr lang="en-IN" dirty="0"/>
              <a:t>("Dynamically allocated value: %d\n", *</a:t>
            </a:r>
            <a:r>
              <a:rPr lang="en-IN" dirty="0" err="1"/>
              <a:t>ptr</a:t>
            </a:r>
            <a:r>
              <a:rPr lang="en-IN" dirty="0"/>
              <a:t>);</a:t>
            </a:r>
          </a:p>
          <a:p>
            <a:pPr marL="0" indent="0">
              <a:buNone/>
            </a:pPr>
            <a:endParaRPr lang="en-IN" dirty="0"/>
          </a:p>
          <a:p>
            <a:pPr marL="0" indent="0">
              <a:buNone/>
            </a:pPr>
            <a:r>
              <a:rPr lang="en-IN" dirty="0"/>
              <a:t>    free(</a:t>
            </a:r>
            <a:r>
              <a:rPr lang="en-IN" dirty="0" err="1"/>
              <a:t>ptr</a:t>
            </a:r>
            <a:r>
              <a:rPr lang="en-IN" dirty="0"/>
              <a:t>); // Free memory</a:t>
            </a:r>
          </a:p>
          <a:p>
            <a:pPr marL="0" indent="0">
              <a:buNone/>
            </a:pPr>
            <a:r>
              <a:rPr lang="en-IN" dirty="0"/>
              <a:t>    return 0;</a:t>
            </a:r>
          </a:p>
          <a:p>
            <a:pPr marL="0" indent="0">
              <a:buNone/>
            </a:pPr>
            <a:r>
              <a:rPr lang="en-IN" dirty="0"/>
              <a:t>}</a:t>
            </a:r>
          </a:p>
          <a:p>
            <a:pPr marL="0" indent="0">
              <a:buNone/>
            </a:pPr>
            <a:endParaRPr lang="en-IN" dirty="0"/>
          </a:p>
        </p:txBody>
      </p:sp>
    </p:spTree>
    <p:extLst>
      <p:ext uri="{BB962C8B-B14F-4D97-AF65-F5344CB8AC3E}">
        <p14:creationId xmlns:p14="http://schemas.microsoft.com/office/powerpoint/2010/main" val="944259070"/>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smtClean="0"/>
              <a:t>Function returning Pointer</a:t>
            </a:r>
            <a:endParaRPr lang="en-IN" dirty="0"/>
          </a:p>
        </p:txBody>
      </p:sp>
      <p:sp>
        <p:nvSpPr>
          <p:cNvPr id="3" name="Content Placeholder 2"/>
          <p:cNvSpPr>
            <a:spLocks noGrp="1"/>
          </p:cNvSpPr>
          <p:nvPr>
            <p:ph idx="1"/>
          </p:nvPr>
        </p:nvSpPr>
        <p:spPr/>
        <p:txBody>
          <a:bodyPr>
            <a:normAutofit fontScale="70000" lnSpcReduction="20000"/>
          </a:bodyPr>
          <a:lstStyle/>
          <a:p>
            <a:pPr marL="0" indent="0">
              <a:buNone/>
            </a:pPr>
            <a:r>
              <a:rPr lang="en-IN" dirty="0"/>
              <a:t>#include &lt;</a:t>
            </a:r>
            <a:r>
              <a:rPr lang="en-IN" dirty="0" err="1"/>
              <a:t>stdio.h</a:t>
            </a:r>
            <a:r>
              <a:rPr lang="en-IN" dirty="0"/>
              <a:t>&gt;</a:t>
            </a:r>
          </a:p>
          <a:p>
            <a:pPr marL="0" indent="0">
              <a:buNone/>
            </a:pPr>
            <a:endParaRPr lang="en-IN" dirty="0"/>
          </a:p>
          <a:p>
            <a:pPr marL="0" indent="0">
              <a:buNone/>
            </a:pPr>
            <a:r>
              <a:rPr lang="en-IN" dirty="0" err="1"/>
              <a:t>int</a:t>
            </a:r>
            <a:r>
              <a:rPr lang="en-IN" dirty="0"/>
              <a:t>* </a:t>
            </a:r>
            <a:r>
              <a:rPr lang="en-IN" dirty="0" err="1"/>
              <a:t>getMax</a:t>
            </a:r>
            <a:r>
              <a:rPr lang="en-IN" dirty="0"/>
              <a:t>(</a:t>
            </a:r>
            <a:r>
              <a:rPr lang="en-IN" dirty="0" err="1"/>
              <a:t>int</a:t>
            </a:r>
            <a:r>
              <a:rPr lang="en-IN" dirty="0"/>
              <a:t> *a, </a:t>
            </a:r>
            <a:r>
              <a:rPr lang="en-IN" dirty="0" err="1"/>
              <a:t>int</a:t>
            </a:r>
            <a:r>
              <a:rPr lang="en-IN" dirty="0"/>
              <a:t> *b) {</a:t>
            </a:r>
          </a:p>
          <a:p>
            <a:pPr marL="0" indent="0">
              <a:buNone/>
            </a:pPr>
            <a:r>
              <a:rPr lang="en-IN" dirty="0"/>
              <a:t>    if (*a &gt; *b)</a:t>
            </a:r>
          </a:p>
          <a:p>
            <a:pPr marL="0" indent="0">
              <a:buNone/>
            </a:pPr>
            <a:r>
              <a:rPr lang="en-IN" dirty="0"/>
              <a:t>        return a;</a:t>
            </a:r>
          </a:p>
          <a:p>
            <a:pPr marL="0" indent="0">
              <a:buNone/>
            </a:pPr>
            <a:r>
              <a:rPr lang="en-IN" dirty="0"/>
              <a:t>    else</a:t>
            </a:r>
          </a:p>
          <a:p>
            <a:pPr marL="0" indent="0">
              <a:buNone/>
            </a:pPr>
            <a:r>
              <a:rPr lang="en-IN" dirty="0"/>
              <a:t>        return b;</a:t>
            </a:r>
          </a:p>
          <a:p>
            <a:pPr marL="0" indent="0">
              <a:buNone/>
            </a:pPr>
            <a:r>
              <a:rPr lang="en-IN" dirty="0"/>
              <a:t>}</a:t>
            </a:r>
          </a:p>
          <a:p>
            <a:pPr marL="0" indent="0">
              <a:buNone/>
            </a:pPr>
            <a:endParaRPr lang="en-IN" dirty="0"/>
          </a:p>
          <a:p>
            <a:pPr marL="0" indent="0">
              <a:buNone/>
            </a:pPr>
            <a:r>
              <a:rPr lang="en-IN" dirty="0" err="1"/>
              <a:t>int</a:t>
            </a:r>
            <a:r>
              <a:rPr lang="en-IN" dirty="0"/>
              <a:t> main() {</a:t>
            </a:r>
          </a:p>
          <a:p>
            <a:pPr marL="0" indent="0">
              <a:buNone/>
            </a:pPr>
            <a:r>
              <a:rPr lang="en-IN" dirty="0"/>
              <a:t>    </a:t>
            </a:r>
            <a:r>
              <a:rPr lang="en-IN" dirty="0" err="1"/>
              <a:t>int</a:t>
            </a:r>
            <a:r>
              <a:rPr lang="en-IN" dirty="0"/>
              <a:t> x = 15, y = 30;</a:t>
            </a:r>
          </a:p>
          <a:p>
            <a:pPr marL="0" indent="0">
              <a:buNone/>
            </a:pPr>
            <a:r>
              <a:rPr lang="en-IN" dirty="0"/>
              <a:t>    </a:t>
            </a:r>
            <a:r>
              <a:rPr lang="en-IN" dirty="0" err="1"/>
              <a:t>int</a:t>
            </a:r>
            <a:r>
              <a:rPr lang="en-IN" dirty="0"/>
              <a:t> *</a:t>
            </a:r>
            <a:r>
              <a:rPr lang="en-IN" dirty="0" err="1"/>
              <a:t>maxPtr</a:t>
            </a:r>
            <a:r>
              <a:rPr lang="en-IN" dirty="0"/>
              <a:t> = </a:t>
            </a:r>
            <a:r>
              <a:rPr lang="en-IN" dirty="0" err="1"/>
              <a:t>getMax</a:t>
            </a:r>
            <a:r>
              <a:rPr lang="en-IN" dirty="0"/>
              <a:t>(&amp;x, &amp;y);</a:t>
            </a:r>
          </a:p>
          <a:p>
            <a:pPr marL="0" indent="0">
              <a:buNone/>
            </a:pPr>
            <a:endParaRPr lang="en-IN" dirty="0"/>
          </a:p>
          <a:p>
            <a:pPr marL="0" indent="0">
              <a:buNone/>
            </a:pPr>
            <a:r>
              <a:rPr lang="en-IN" dirty="0"/>
              <a:t>    </a:t>
            </a:r>
            <a:r>
              <a:rPr lang="en-IN" dirty="0" err="1"/>
              <a:t>printf</a:t>
            </a:r>
            <a:r>
              <a:rPr lang="en-IN" dirty="0"/>
              <a:t>("Greater number is: %d\n", *</a:t>
            </a:r>
            <a:r>
              <a:rPr lang="en-IN" dirty="0" err="1"/>
              <a:t>maxPtr</a:t>
            </a:r>
            <a:r>
              <a:rPr lang="en-IN" dirty="0"/>
              <a:t>);</a:t>
            </a:r>
          </a:p>
          <a:p>
            <a:pPr marL="0" indent="0">
              <a:buNone/>
            </a:pPr>
            <a:endParaRPr lang="en-IN" dirty="0"/>
          </a:p>
          <a:p>
            <a:pPr marL="0" indent="0">
              <a:buNone/>
            </a:pPr>
            <a:r>
              <a:rPr lang="en-IN" dirty="0"/>
              <a:t>    return 0;</a:t>
            </a:r>
          </a:p>
          <a:p>
            <a:pPr marL="0" indent="0">
              <a:buNone/>
            </a:pPr>
            <a:r>
              <a:rPr lang="en-IN" dirty="0"/>
              <a:t>}</a:t>
            </a:r>
          </a:p>
          <a:p>
            <a:pPr marL="0" indent="0">
              <a:buNone/>
            </a:pPr>
            <a:endParaRPr lang="en-IN" dirty="0"/>
          </a:p>
        </p:txBody>
      </p:sp>
    </p:spTree>
    <p:extLst>
      <p:ext uri="{BB962C8B-B14F-4D97-AF65-F5344CB8AC3E}">
        <p14:creationId xmlns:p14="http://schemas.microsoft.com/office/powerpoint/2010/main" val="3131592893"/>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9"/>
            <a:ext cx="7886700" cy="777871"/>
          </a:xfrm>
        </p:spPr>
        <p:txBody>
          <a:bodyPr/>
          <a:lstStyle/>
          <a:p>
            <a:pPr algn="ctr"/>
            <a:r>
              <a:rPr lang="en-IN" b="1" dirty="0" smtClean="0">
                <a:solidFill>
                  <a:srgbClr val="C00000"/>
                </a:solidFill>
              </a:rPr>
              <a:t>Null pointers</a:t>
            </a:r>
            <a:endParaRPr lang="en-IN" b="1" dirty="0">
              <a:solidFill>
                <a:srgbClr val="C00000"/>
              </a:solidFill>
            </a:endParaRPr>
          </a:p>
        </p:txBody>
      </p:sp>
      <p:sp>
        <p:nvSpPr>
          <p:cNvPr id="3" name="Content Placeholder 2"/>
          <p:cNvSpPr>
            <a:spLocks noGrp="1"/>
          </p:cNvSpPr>
          <p:nvPr>
            <p:ph idx="1"/>
          </p:nvPr>
        </p:nvSpPr>
        <p:spPr>
          <a:xfrm>
            <a:off x="628650" y="1143000"/>
            <a:ext cx="8439150" cy="5033963"/>
          </a:xfrm>
        </p:spPr>
        <p:txBody>
          <a:bodyPr>
            <a:normAutofit lnSpcReduction="10000"/>
          </a:bodyPr>
          <a:lstStyle/>
          <a:p>
            <a:r>
              <a:rPr lang="en-US" dirty="0">
                <a:latin typeface="Times New Roman" panose="02020603050405020304" pitchFamily="18" charset="0"/>
                <a:cs typeface="Times New Roman" panose="02020603050405020304" pitchFamily="18" charset="0"/>
              </a:rPr>
              <a:t>It is always a good practice to assign a NULL value to a pointer variable in case you do not have an exact address to be assigned. This is done at the time of variable declaration. A pointer that is assigned NULL is called a null pointer.</a:t>
            </a:r>
          </a:p>
          <a:p>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#include &lt;stdio.h</a:t>
            </a:r>
            <a:r>
              <a:rPr lang="en-US" dirty="0" smtClean="0">
                <a:latin typeface="Times New Roman" panose="02020603050405020304" pitchFamily="18" charset="0"/>
                <a:cs typeface="Times New Roman" panose="02020603050405020304" pitchFamily="18" charset="0"/>
              </a:rPr>
              <a:t>&gt;</a:t>
            </a:r>
            <a:endParaRPr lang="en-US" dirty="0">
              <a:latin typeface="Times New Roman" panose="02020603050405020304" pitchFamily="18" charset="0"/>
              <a:cs typeface="Times New Roman" panose="02020603050405020304" pitchFamily="18" charset="0"/>
            </a:endParaRPr>
          </a:p>
          <a:p>
            <a:pPr marL="0" indent="0">
              <a:buNone/>
            </a:pPr>
            <a:r>
              <a:rPr lang="en-US" dirty="0" err="1">
                <a:latin typeface="Times New Roman" panose="02020603050405020304" pitchFamily="18" charset="0"/>
                <a:cs typeface="Times New Roman" panose="02020603050405020304" pitchFamily="18" charset="0"/>
              </a:rPr>
              <a:t>int</a:t>
            </a:r>
            <a:r>
              <a:rPr lang="en-US" dirty="0">
                <a:latin typeface="Times New Roman" panose="02020603050405020304" pitchFamily="18" charset="0"/>
                <a:cs typeface="Times New Roman" panose="02020603050405020304" pitchFamily="18" charset="0"/>
              </a:rPr>
              <a:t> main () </a:t>
            </a:r>
            <a:endParaRPr lang="en-US" dirty="0" smtClean="0">
              <a:latin typeface="Times New Roman" panose="02020603050405020304" pitchFamily="18" charset="0"/>
              <a:cs typeface="Times New Roman" panose="02020603050405020304" pitchFamily="18" charset="0"/>
            </a:endParaRPr>
          </a:p>
          <a:p>
            <a:pPr marL="0" indent="0">
              <a:buNone/>
            </a:pPr>
            <a:r>
              <a:rPr lang="en-US" dirty="0" smtClean="0">
                <a:latin typeface="Times New Roman" panose="02020603050405020304" pitchFamily="18" charset="0"/>
                <a:cs typeface="Times New Roman" panose="02020603050405020304" pitchFamily="18" charset="0"/>
              </a:rPr>
              <a:t>{                                                              </a:t>
            </a:r>
            <a:endParaRPr lang="en-US" dirty="0">
              <a:solidFill>
                <a:srgbClr val="0000CC"/>
              </a:solidFill>
              <a:latin typeface="Times New Roman" panose="02020603050405020304" pitchFamily="18" charset="0"/>
              <a:cs typeface="Times New Roman" panose="02020603050405020304" pitchFamily="18" charset="0"/>
            </a:endParaRPr>
          </a:p>
          <a:p>
            <a:pPr marL="0" indent="0">
              <a:buNone/>
            </a:pPr>
            <a:r>
              <a:rPr lang="en-US" dirty="0" smtClean="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int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ptr</a:t>
            </a:r>
            <a:r>
              <a:rPr lang="en-US" dirty="0">
                <a:latin typeface="Times New Roman" panose="02020603050405020304" pitchFamily="18" charset="0"/>
                <a:cs typeface="Times New Roman" panose="02020603050405020304" pitchFamily="18" charset="0"/>
              </a:rPr>
              <a:t> = NULL;                                                  </a:t>
            </a:r>
          </a:p>
          <a:p>
            <a:pPr marL="0" indent="0">
              <a:buNone/>
            </a:pP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printf</a:t>
            </a:r>
            <a:r>
              <a:rPr lang="en-US" dirty="0">
                <a:latin typeface="Times New Roman" panose="02020603050405020304" pitchFamily="18" charset="0"/>
                <a:cs typeface="Times New Roman" panose="02020603050405020304" pitchFamily="18" charset="0"/>
              </a:rPr>
              <a:t>("The value of </a:t>
            </a:r>
            <a:r>
              <a:rPr lang="en-US" dirty="0" err="1">
                <a:latin typeface="Times New Roman" panose="02020603050405020304" pitchFamily="18" charset="0"/>
                <a:cs typeface="Times New Roman" panose="02020603050405020304" pitchFamily="18" charset="0"/>
              </a:rPr>
              <a:t>ptr</a:t>
            </a:r>
            <a:r>
              <a:rPr lang="en-US" dirty="0">
                <a:latin typeface="Times New Roman" panose="02020603050405020304" pitchFamily="18" charset="0"/>
                <a:cs typeface="Times New Roman" panose="02020603050405020304" pitchFamily="18" charset="0"/>
              </a:rPr>
              <a:t> is : </a:t>
            </a:r>
            <a:r>
              <a:rPr lang="en-US" dirty="0">
                <a:solidFill>
                  <a:srgbClr val="FF0000"/>
                </a:solidFill>
                <a:latin typeface="Times New Roman" panose="02020603050405020304" pitchFamily="18" charset="0"/>
                <a:cs typeface="Times New Roman" panose="02020603050405020304" pitchFamily="18" charset="0"/>
              </a:rPr>
              <a:t>%x</a:t>
            </a:r>
            <a:r>
              <a:rPr lang="en-US" dirty="0">
                <a:latin typeface="Times New Roman" panose="02020603050405020304" pitchFamily="18" charset="0"/>
                <a:cs typeface="Times New Roman" panose="02020603050405020304" pitchFamily="18" charset="0"/>
              </a:rPr>
              <a:t>\n", </a:t>
            </a:r>
            <a:r>
              <a:rPr lang="en-US" dirty="0" err="1">
                <a:latin typeface="Times New Roman" panose="02020603050405020304" pitchFamily="18" charset="0"/>
                <a:cs typeface="Times New Roman" panose="02020603050405020304" pitchFamily="18" charset="0"/>
              </a:rPr>
              <a:t>ptr</a:t>
            </a: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   return 0;</a:t>
            </a:r>
          </a:p>
          <a:p>
            <a:pPr marL="0" indent="0">
              <a:buNone/>
            </a:pPr>
            <a:r>
              <a:rPr lang="en-US" dirty="0">
                <a:latin typeface="Times New Roman" panose="02020603050405020304" pitchFamily="18" charset="0"/>
                <a:cs typeface="Times New Roman" panose="02020603050405020304" pitchFamily="18" charset="0"/>
              </a:rPr>
              <a:t>}</a:t>
            </a:r>
          </a:p>
          <a:p>
            <a:endParaRPr lang="en-IN" dirty="0"/>
          </a:p>
        </p:txBody>
      </p:sp>
    </p:spTree>
    <p:extLst>
      <p:ext uri="{BB962C8B-B14F-4D97-AF65-F5344CB8AC3E}">
        <p14:creationId xmlns:p14="http://schemas.microsoft.com/office/powerpoint/2010/main" val="2860899918"/>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9"/>
            <a:ext cx="7886700" cy="777871"/>
          </a:xfrm>
        </p:spPr>
        <p:txBody>
          <a:bodyPr/>
          <a:lstStyle/>
          <a:p>
            <a:r>
              <a:rPr lang="en-IN" b="1" dirty="0"/>
              <a:t>Introduction to File Handling</a:t>
            </a:r>
            <a:endParaRPr lang="en-IN" dirty="0"/>
          </a:p>
        </p:txBody>
      </p:sp>
      <p:sp>
        <p:nvSpPr>
          <p:cNvPr id="3" name="Content Placeholder 2"/>
          <p:cNvSpPr>
            <a:spLocks noGrp="1"/>
          </p:cNvSpPr>
          <p:nvPr>
            <p:ph idx="1"/>
          </p:nvPr>
        </p:nvSpPr>
        <p:spPr>
          <a:xfrm>
            <a:off x="628650" y="1143000"/>
            <a:ext cx="8439150" cy="5033963"/>
          </a:xfrm>
        </p:spPr>
        <p:txBody>
          <a:bodyPr>
            <a:normAutofit/>
          </a:bodyPr>
          <a:lstStyle/>
          <a:p>
            <a:pPr marL="0" indent="0">
              <a:buNone/>
            </a:pPr>
            <a:r>
              <a:rPr lang="en-US" sz="3200" dirty="0"/>
              <a:t>What is file handling?</a:t>
            </a:r>
          </a:p>
          <a:p>
            <a:pPr marL="0" indent="0">
              <a:buNone/>
            </a:pPr>
            <a:r>
              <a:rPr lang="en-US" sz="3200" dirty="0"/>
              <a:t>Why use files in C programming?</a:t>
            </a:r>
          </a:p>
          <a:p>
            <a:pPr marL="0" indent="0">
              <a:buNone/>
            </a:pPr>
            <a:r>
              <a:rPr lang="en-US" sz="3200" dirty="0"/>
              <a:t>Types of files: Text files and Binary files</a:t>
            </a:r>
          </a:p>
        </p:txBody>
      </p:sp>
    </p:spTree>
    <p:extLst>
      <p:ext uri="{BB962C8B-B14F-4D97-AF65-F5344CB8AC3E}">
        <p14:creationId xmlns:p14="http://schemas.microsoft.com/office/powerpoint/2010/main" val="3208661048"/>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dirty="0"/>
              <a:t>Why use files in C programming</a:t>
            </a:r>
            <a:r>
              <a:rPr lang="en-US" dirty="0" smtClean="0"/>
              <a:t>?</a:t>
            </a:r>
            <a:endParaRPr lang="en-IN" dirty="0"/>
          </a:p>
        </p:txBody>
      </p:sp>
      <p:sp>
        <p:nvSpPr>
          <p:cNvPr id="3" name="Content Placeholder 2"/>
          <p:cNvSpPr>
            <a:spLocks noGrp="1"/>
          </p:cNvSpPr>
          <p:nvPr>
            <p:ph idx="1"/>
          </p:nvPr>
        </p:nvSpPr>
        <p:spPr/>
        <p:txBody>
          <a:bodyPr>
            <a:normAutofit lnSpcReduction="10000"/>
          </a:bodyPr>
          <a:lstStyle/>
          <a:p>
            <a:pPr marL="0" indent="0">
              <a:buNone/>
            </a:pPr>
            <a:r>
              <a:rPr lang="en-US" dirty="0"/>
              <a:t>Files are essential for storing and managing data efficiently in programming. </a:t>
            </a:r>
            <a:endParaRPr lang="en-US" dirty="0" smtClean="0"/>
          </a:p>
          <a:p>
            <a:r>
              <a:rPr lang="en-US" b="1" dirty="0" smtClean="0"/>
              <a:t>Persistent </a:t>
            </a:r>
            <a:r>
              <a:rPr lang="en-US" b="1" dirty="0"/>
              <a:t>Storage</a:t>
            </a:r>
            <a:r>
              <a:rPr lang="en-US" dirty="0"/>
              <a:t> – Data stored in files remains intact even after the program terminates.</a:t>
            </a:r>
          </a:p>
          <a:p>
            <a:r>
              <a:rPr lang="en-US" b="1" dirty="0"/>
              <a:t>Efficient Handling of Large Data</a:t>
            </a:r>
            <a:r>
              <a:rPr lang="en-US" dirty="0"/>
              <a:t> – Files allow manipulation of large amounts of information without exhausting memory.</a:t>
            </a:r>
          </a:p>
          <a:p>
            <a:r>
              <a:rPr lang="en-US" b="1" dirty="0"/>
              <a:t>Data Sharing &amp; Interoperability</a:t>
            </a:r>
            <a:r>
              <a:rPr lang="en-US" dirty="0"/>
              <a:t> – They enable different programs or systems to access and modify shared data.</a:t>
            </a:r>
          </a:p>
          <a:p>
            <a:r>
              <a:rPr lang="en-US" b="1" dirty="0"/>
              <a:t>Logging &amp; Backup</a:t>
            </a:r>
            <a:r>
              <a:rPr lang="en-US" dirty="0"/>
              <a:t> – Files help maintain logs, records, and backups to prevent data loss.</a:t>
            </a:r>
          </a:p>
          <a:p>
            <a:r>
              <a:rPr lang="en-US" b="1" dirty="0"/>
              <a:t>Structured Storage</a:t>
            </a:r>
            <a:r>
              <a:rPr lang="en-US" dirty="0"/>
              <a:t> – They facilitate organized storage in formats like text, binary, CSV, or databases.</a:t>
            </a:r>
          </a:p>
          <a:p>
            <a:endParaRPr lang="en-IN" dirty="0"/>
          </a:p>
        </p:txBody>
      </p:sp>
    </p:spTree>
    <p:extLst>
      <p:ext uri="{BB962C8B-B14F-4D97-AF65-F5344CB8AC3E}">
        <p14:creationId xmlns:p14="http://schemas.microsoft.com/office/powerpoint/2010/main" val="4035994610"/>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b="1" dirty="0"/>
              <a:t>File Handling Functions in C</a:t>
            </a:r>
            <a:endParaRPr lang="en-IN" dirty="0"/>
          </a:p>
        </p:txBody>
      </p:sp>
      <p:sp>
        <p:nvSpPr>
          <p:cNvPr id="3" name="Content Placeholder 2"/>
          <p:cNvSpPr>
            <a:spLocks noGrp="1"/>
          </p:cNvSpPr>
          <p:nvPr>
            <p:ph idx="1"/>
          </p:nvPr>
        </p:nvSpPr>
        <p:spPr>
          <a:xfrm>
            <a:off x="457200" y="1600200"/>
            <a:ext cx="8507288" cy="4876800"/>
          </a:xfrm>
        </p:spPr>
        <p:txBody>
          <a:bodyPr/>
          <a:lstStyle/>
          <a:p>
            <a:pPr marL="0" indent="0">
              <a:buNone/>
            </a:pPr>
            <a:r>
              <a:rPr lang="en-US" sz="3200" dirty="0" err="1"/>
              <a:t>fopen</a:t>
            </a:r>
            <a:r>
              <a:rPr lang="en-US" sz="3200" dirty="0"/>
              <a:t>(): Opens a file</a:t>
            </a:r>
          </a:p>
          <a:p>
            <a:pPr marL="0" indent="0">
              <a:buNone/>
            </a:pPr>
            <a:r>
              <a:rPr lang="en-US" sz="3200" dirty="0" err="1"/>
              <a:t>fclose</a:t>
            </a:r>
            <a:r>
              <a:rPr lang="en-US" sz="3200" dirty="0"/>
              <a:t>(): Closes a file</a:t>
            </a:r>
          </a:p>
          <a:p>
            <a:pPr marL="0" indent="0">
              <a:buNone/>
            </a:pPr>
            <a:r>
              <a:rPr lang="en-US" sz="3200" dirty="0" err="1"/>
              <a:t>fprintf</a:t>
            </a:r>
            <a:r>
              <a:rPr lang="en-US" sz="3200" dirty="0"/>
              <a:t>() and </a:t>
            </a:r>
            <a:r>
              <a:rPr lang="en-US" sz="3200" dirty="0" err="1"/>
              <a:t>fscanf</a:t>
            </a:r>
            <a:r>
              <a:rPr lang="en-US" sz="3200" dirty="0"/>
              <a:t>(): Read/write to a file (text mode)</a:t>
            </a:r>
          </a:p>
          <a:p>
            <a:pPr marL="0" indent="0">
              <a:buNone/>
            </a:pPr>
            <a:r>
              <a:rPr lang="en-US" sz="3200" dirty="0" err="1"/>
              <a:t>fwrite</a:t>
            </a:r>
            <a:r>
              <a:rPr lang="en-US" sz="3200" dirty="0"/>
              <a:t>() and </a:t>
            </a:r>
            <a:r>
              <a:rPr lang="en-US" sz="3200" dirty="0" err="1"/>
              <a:t>fread</a:t>
            </a:r>
            <a:r>
              <a:rPr lang="en-US" sz="3200" dirty="0"/>
              <a:t>(): Read/write to a file (binary mode)</a:t>
            </a:r>
          </a:p>
          <a:p>
            <a:pPr marL="0" indent="0">
              <a:buNone/>
            </a:pPr>
            <a:r>
              <a:rPr lang="en-US" sz="3200" dirty="0" err="1"/>
              <a:t>fseek</a:t>
            </a:r>
            <a:r>
              <a:rPr lang="en-US" sz="3200" dirty="0"/>
              <a:t>(), </a:t>
            </a:r>
            <a:r>
              <a:rPr lang="en-US" sz="3200" dirty="0" err="1"/>
              <a:t>ftell</a:t>
            </a:r>
            <a:r>
              <a:rPr lang="en-US" sz="3200" dirty="0"/>
              <a:t>(), rewind(): File positioning functions</a:t>
            </a:r>
          </a:p>
          <a:p>
            <a:endParaRPr lang="en-IN" dirty="0"/>
          </a:p>
        </p:txBody>
      </p:sp>
    </p:spTree>
    <p:extLst>
      <p:ext uri="{BB962C8B-B14F-4D97-AF65-F5344CB8AC3E}">
        <p14:creationId xmlns:p14="http://schemas.microsoft.com/office/powerpoint/2010/main" val="3001161459"/>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b="1" dirty="0"/>
              <a:t>File Opening </a:t>
            </a:r>
            <a:r>
              <a:rPr lang="en-IN" b="1" dirty="0" smtClean="0"/>
              <a:t>Modes</a:t>
            </a:r>
            <a:endParaRPr lang="en-IN"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529755368"/>
              </p:ext>
            </p:extLst>
          </p:nvPr>
        </p:nvGraphicFramePr>
        <p:xfrm>
          <a:off x="323528" y="1700808"/>
          <a:ext cx="8229600" cy="3816426"/>
        </p:xfrm>
        <a:graphic>
          <a:graphicData uri="http://schemas.openxmlformats.org/drawingml/2006/table">
            <a:tbl>
              <a:tblPr/>
              <a:tblGrid>
                <a:gridCol w="4114800"/>
                <a:gridCol w="4114800"/>
              </a:tblGrid>
              <a:tr h="615552">
                <a:tc>
                  <a:txBody>
                    <a:bodyPr/>
                    <a:lstStyle/>
                    <a:p>
                      <a:pPr algn="ctr"/>
                      <a:r>
                        <a:rPr lang="en-IN" sz="2400" b="1" dirty="0"/>
                        <a:t>Mode</a:t>
                      </a:r>
                    </a:p>
                  </a:txBody>
                  <a:tcPr anchor="ctr">
                    <a:lnL>
                      <a:noFill/>
                    </a:lnL>
                    <a:lnR>
                      <a:noFill/>
                    </a:lnR>
                    <a:lnT>
                      <a:noFill/>
                    </a:lnT>
                    <a:lnB>
                      <a:noFill/>
                    </a:lnB>
                  </a:tcPr>
                </a:tc>
                <a:tc>
                  <a:txBody>
                    <a:bodyPr/>
                    <a:lstStyle/>
                    <a:p>
                      <a:pPr algn="ctr"/>
                      <a:r>
                        <a:rPr lang="en-IN" sz="2400" b="1" dirty="0"/>
                        <a:t>Description</a:t>
                      </a:r>
                    </a:p>
                  </a:txBody>
                  <a:tcPr anchor="ctr">
                    <a:lnL>
                      <a:noFill/>
                    </a:lnL>
                    <a:lnR>
                      <a:noFill/>
                    </a:lnR>
                    <a:lnT>
                      <a:noFill/>
                    </a:lnT>
                    <a:lnB>
                      <a:noFill/>
                    </a:lnB>
                  </a:tcPr>
                </a:tc>
              </a:tr>
              <a:tr h="533479">
                <a:tc>
                  <a:txBody>
                    <a:bodyPr/>
                    <a:lstStyle/>
                    <a:p>
                      <a:pPr algn="ctr"/>
                      <a:r>
                        <a:rPr lang="en-IN" sz="2000" b="1" dirty="0"/>
                        <a:t>"r"</a:t>
                      </a:r>
                    </a:p>
                  </a:txBody>
                  <a:tcPr anchor="ctr">
                    <a:lnL>
                      <a:noFill/>
                    </a:lnL>
                    <a:lnR>
                      <a:noFill/>
                    </a:lnR>
                    <a:lnT>
                      <a:noFill/>
                    </a:lnT>
                    <a:lnB>
                      <a:noFill/>
                    </a:lnB>
                  </a:tcPr>
                </a:tc>
                <a:tc>
                  <a:txBody>
                    <a:bodyPr/>
                    <a:lstStyle/>
                    <a:p>
                      <a:pPr algn="ctr"/>
                      <a:r>
                        <a:rPr lang="en-IN" sz="2000" b="1" dirty="0"/>
                        <a:t>Open for reading</a:t>
                      </a:r>
                    </a:p>
                  </a:txBody>
                  <a:tcPr anchor="ctr">
                    <a:lnL>
                      <a:noFill/>
                    </a:lnL>
                    <a:lnR>
                      <a:noFill/>
                    </a:lnR>
                    <a:lnT>
                      <a:noFill/>
                    </a:lnT>
                    <a:lnB>
                      <a:noFill/>
                    </a:lnB>
                  </a:tcPr>
                </a:tc>
              </a:tr>
              <a:tr h="533479">
                <a:tc>
                  <a:txBody>
                    <a:bodyPr/>
                    <a:lstStyle/>
                    <a:p>
                      <a:pPr algn="ctr"/>
                      <a:r>
                        <a:rPr lang="en-IN" sz="2000" b="1" dirty="0"/>
                        <a:t>"w"</a:t>
                      </a:r>
                    </a:p>
                  </a:txBody>
                  <a:tcPr anchor="ctr">
                    <a:lnL>
                      <a:noFill/>
                    </a:lnL>
                    <a:lnR>
                      <a:noFill/>
                    </a:lnR>
                    <a:lnT>
                      <a:noFill/>
                    </a:lnT>
                    <a:lnB>
                      <a:noFill/>
                    </a:lnB>
                  </a:tcPr>
                </a:tc>
                <a:tc>
                  <a:txBody>
                    <a:bodyPr/>
                    <a:lstStyle/>
                    <a:p>
                      <a:pPr algn="ctr"/>
                      <a:r>
                        <a:rPr lang="en-IN" sz="2000" b="1"/>
                        <a:t>Open for writing (overwrite)</a:t>
                      </a:r>
                    </a:p>
                  </a:txBody>
                  <a:tcPr anchor="ctr">
                    <a:lnL>
                      <a:noFill/>
                    </a:lnL>
                    <a:lnR>
                      <a:noFill/>
                    </a:lnR>
                    <a:lnT>
                      <a:noFill/>
                    </a:lnT>
                    <a:lnB>
                      <a:noFill/>
                    </a:lnB>
                  </a:tcPr>
                </a:tc>
              </a:tr>
              <a:tr h="533479">
                <a:tc>
                  <a:txBody>
                    <a:bodyPr/>
                    <a:lstStyle/>
                    <a:p>
                      <a:pPr algn="ctr"/>
                      <a:r>
                        <a:rPr lang="en-IN" sz="2000" b="1" dirty="0"/>
                        <a:t>"a"</a:t>
                      </a:r>
                    </a:p>
                  </a:txBody>
                  <a:tcPr anchor="ctr">
                    <a:lnL>
                      <a:noFill/>
                    </a:lnL>
                    <a:lnR>
                      <a:noFill/>
                    </a:lnR>
                    <a:lnT>
                      <a:noFill/>
                    </a:lnT>
                    <a:lnB>
                      <a:noFill/>
                    </a:lnB>
                  </a:tcPr>
                </a:tc>
                <a:tc>
                  <a:txBody>
                    <a:bodyPr/>
                    <a:lstStyle/>
                    <a:p>
                      <a:pPr algn="ctr"/>
                      <a:r>
                        <a:rPr lang="en-IN" sz="2000" b="1" dirty="0"/>
                        <a:t>Append to file</a:t>
                      </a:r>
                    </a:p>
                  </a:txBody>
                  <a:tcPr anchor="ctr">
                    <a:lnL>
                      <a:noFill/>
                    </a:lnL>
                    <a:lnR>
                      <a:noFill/>
                    </a:lnR>
                    <a:lnT>
                      <a:noFill/>
                    </a:lnT>
                    <a:lnB>
                      <a:noFill/>
                    </a:lnB>
                  </a:tcPr>
                </a:tc>
              </a:tr>
              <a:tr h="533479">
                <a:tc>
                  <a:txBody>
                    <a:bodyPr/>
                    <a:lstStyle/>
                    <a:p>
                      <a:pPr algn="ctr"/>
                      <a:r>
                        <a:rPr lang="en-IN" sz="2000" b="1"/>
                        <a:t>"r+"</a:t>
                      </a:r>
                    </a:p>
                  </a:txBody>
                  <a:tcPr anchor="ctr">
                    <a:lnL>
                      <a:noFill/>
                    </a:lnL>
                    <a:lnR>
                      <a:noFill/>
                    </a:lnR>
                    <a:lnT>
                      <a:noFill/>
                    </a:lnT>
                    <a:lnB>
                      <a:noFill/>
                    </a:lnB>
                  </a:tcPr>
                </a:tc>
                <a:tc>
                  <a:txBody>
                    <a:bodyPr/>
                    <a:lstStyle/>
                    <a:p>
                      <a:pPr algn="ctr"/>
                      <a:r>
                        <a:rPr lang="en-IN" sz="2000" b="1" dirty="0"/>
                        <a:t>Read and write</a:t>
                      </a:r>
                    </a:p>
                  </a:txBody>
                  <a:tcPr anchor="ctr">
                    <a:lnL>
                      <a:noFill/>
                    </a:lnL>
                    <a:lnR>
                      <a:noFill/>
                    </a:lnR>
                    <a:lnT>
                      <a:noFill/>
                    </a:lnT>
                    <a:lnB>
                      <a:noFill/>
                    </a:lnB>
                  </a:tcPr>
                </a:tc>
              </a:tr>
              <a:tr h="533479">
                <a:tc>
                  <a:txBody>
                    <a:bodyPr/>
                    <a:lstStyle/>
                    <a:p>
                      <a:pPr algn="ctr"/>
                      <a:r>
                        <a:rPr lang="en-IN" sz="2000" b="1"/>
                        <a:t>"w+"</a:t>
                      </a:r>
                    </a:p>
                  </a:txBody>
                  <a:tcPr anchor="ctr">
                    <a:lnL>
                      <a:noFill/>
                    </a:lnL>
                    <a:lnR>
                      <a:noFill/>
                    </a:lnR>
                    <a:lnT>
                      <a:noFill/>
                    </a:lnT>
                    <a:lnB>
                      <a:noFill/>
                    </a:lnB>
                  </a:tcPr>
                </a:tc>
                <a:tc>
                  <a:txBody>
                    <a:bodyPr/>
                    <a:lstStyle/>
                    <a:p>
                      <a:pPr algn="ctr"/>
                      <a:r>
                        <a:rPr lang="en-IN" sz="2000" b="1" dirty="0"/>
                        <a:t>Read and write (overwrite)</a:t>
                      </a:r>
                    </a:p>
                  </a:txBody>
                  <a:tcPr anchor="ctr">
                    <a:lnL>
                      <a:noFill/>
                    </a:lnL>
                    <a:lnR>
                      <a:noFill/>
                    </a:lnR>
                    <a:lnT>
                      <a:noFill/>
                    </a:lnT>
                    <a:lnB>
                      <a:noFill/>
                    </a:lnB>
                  </a:tcPr>
                </a:tc>
              </a:tr>
              <a:tr h="533479">
                <a:tc>
                  <a:txBody>
                    <a:bodyPr/>
                    <a:lstStyle/>
                    <a:p>
                      <a:pPr algn="ctr"/>
                      <a:r>
                        <a:rPr lang="en-IN" sz="2000" b="1"/>
                        <a:t>"a+"</a:t>
                      </a:r>
                    </a:p>
                  </a:txBody>
                  <a:tcPr anchor="ctr">
                    <a:lnL>
                      <a:noFill/>
                    </a:lnL>
                    <a:lnR>
                      <a:noFill/>
                    </a:lnR>
                    <a:lnT>
                      <a:noFill/>
                    </a:lnT>
                    <a:lnB>
                      <a:noFill/>
                    </a:lnB>
                  </a:tcPr>
                </a:tc>
                <a:tc>
                  <a:txBody>
                    <a:bodyPr/>
                    <a:lstStyle/>
                    <a:p>
                      <a:pPr algn="ctr"/>
                      <a:r>
                        <a:rPr lang="en-IN" sz="2000" b="1" dirty="0"/>
                        <a:t>Read and append</a:t>
                      </a:r>
                    </a:p>
                  </a:txBody>
                  <a:tcPr anchor="ctr">
                    <a:lnL>
                      <a:noFill/>
                    </a:lnL>
                    <a:lnR>
                      <a:noFill/>
                    </a:lnR>
                    <a:lnT>
                      <a:noFill/>
                    </a:lnT>
                    <a:lnB>
                      <a:noFill/>
                    </a:lnB>
                  </a:tcPr>
                </a:tc>
              </a:tr>
            </a:tbl>
          </a:graphicData>
        </a:graphic>
      </p:graphicFrame>
      <p:sp>
        <p:nvSpPr>
          <p:cNvPr id="3" name="TextBox 2"/>
          <p:cNvSpPr txBox="1"/>
          <p:nvPr/>
        </p:nvSpPr>
        <p:spPr>
          <a:xfrm>
            <a:off x="611560" y="5805264"/>
            <a:ext cx="7848872" cy="646331"/>
          </a:xfrm>
          <a:prstGeom prst="rect">
            <a:avLst/>
          </a:prstGeom>
          <a:noFill/>
        </p:spPr>
        <p:txBody>
          <a:bodyPr wrap="square" rtlCol="0">
            <a:spAutoFit/>
          </a:bodyPr>
          <a:lstStyle/>
          <a:p>
            <a:r>
              <a:rPr lang="en-US" b="1" dirty="0">
                <a:solidFill>
                  <a:srgbClr val="0070C0"/>
                </a:solidFill>
              </a:rPr>
              <a:t>Note that “r” is </a:t>
            </a:r>
            <a:r>
              <a:rPr lang="en-US" b="1" dirty="0" smtClean="0">
                <a:solidFill>
                  <a:srgbClr val="0070C0"/>
                </a:solidFill>
              </a:rPr>
              <a:t>a string </a:t>
            </a:r>
            <a:r>
              <a:rPr lang="en-US" b="1" dirty="0">
                <a:solidFill>
                  <a:srgbClr val="0070C0"/>
                </a:solidFill>
              </a:rPr>
              <a:t>and not a character; hence the double quotes and not </a:t>
            </a:r>
            <a:r>
              <a:rPr lang="en-US" b="1" dirty="0" smtClean="0">
                <a:solidFill>
                  <a:srgbClr val="0070C0"/>
                </a:solidFill>
              </a:rPr>
              <a:t>single </a:t>
            </a:r>
            <a:r>
              <a:rPr lang="en-IN" b="1" dirty="0" smtClean="0">
                <a:solidFill>
                  <a:srgbClr val="0070C0"/>
                </a:solidFill>
              </a:rPr>
              <a:t>quotes</a:t>
            </a:r>
            <a:r>
              <a:rPr lang="en-IN" b="1" dirty="0">
                <a:solidFill>
                  <a:srgbClr val="0070C0"/>
                </a:solidFill>
              </a:rPr>
              <a:t>.</a:t>
            </a:r>
          </a:p>
        </p:txBody>
      </p:sp>
    </p:spTree>
    <p:extLst>
      <p:ext uri="{BB962C8B-B14F-4D97-AF65-F5344CB8AC3E}">
        <p14:creationId xmlns:p14="http://schemas.microsoft.com/office/powerpoint/2010/main" val="1758485044"/>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dirty="0"/>
              <a:t>Opening and Closing a </a:t>
            </a:r>
            <a:r>
              <a:rPr lang="en-US" b="1" dirty="0" smtClean="0"/>
              <a:t>File</a:t>
            </a:r>
            <a:endParaRPr lang="en-IN" dirty="0"/>
          </a:p>
        </p:txBody>
      </p:sp>
      <p:sp>
        <p:nvSpPr>
          <p:cNvPr id="3" name="Content Placeholder 2"/>
          <p:cNvSpPr>
            <a:spLocks noGrp="1"/>
          </p:cNvSpPr>
          <p:nvPr>
            <p:ph idx="1"/>
          </p:nvPr>
        </p:nvSpPr>
        <p:spPr/>
        <p:txBody>
          <a:bodyPr/>
          <a:lstStyle/>
          <a:p>
            <a:pPr marL="0" indent="0">
              <a:buNone/>
            </a:pPr>
            <a:r>
              <a:rPr lang="en-IN" dirty="0"/>
              <a:t>#include &lt;</a:t>
            </a:r>
            <a:r>
              <a:rPr lang="en-IN" dirty="0" err="1"/>
              <a:t>stdio.h</a:t>
            </a:r>
            <a:r>
              <a:rPr lang="en-IN" dirty="0" smtClean="0"/>
              <a:t>&gt;</a:t>
            </a:r>
          </a:p>
          <a:p>
            <a:pPr marL="0" indent="0">
              <a:buNone/>
            </a:pPr>
            <a:r>
              <a:rPr lang="en-IN" dirty="0" err="1" smtClean="0"/>
              <a:t>int</a:t>
            </a:r>
            <a:r>
              <a:rPr lang="en-IN" dirty="0" smtClean="0"/>
              <a:t> </a:t>
            </a:r>
            <a:r>
              <a:rPr lang="en-IN" dirty="0"/>
              <a:t>main() </a:t>
            </a:r>
            <a:endParaRPr lang="en-IN" dirty="0" smtClean="0"/>
          </a:p>
          <a:p>
            <a:pPr marL="0" indent="0">
              <a:buNone/>
            </a:pPr>
            <a:r>
              <a:rPr lang="en-IN" dirty="0" smtClean="0"/>
              <a:t>{    </a:t>
            </a:r>
            <a:r>
              <a:rPr lang="en-IN" dirty="0"/>
              <a:t>FILE *</a:t>
            </a:r>
            <a:r>
              <a:rPr lang="en-IN" dirty="0" err="1"/>
              <a:t>fp</a:t>
            </a:r>
            <a:r>
              <a:rPr lang="en-IN" dirty="0" smtClean="0"/>
              <a:t>;</a:t>
            </a:r>
          </a:p>
          <a:p>
            <a:pPr marL="0" indent="0">
              <a:buNone/>
            </a:pPr>
            <a:r>
              <a:rPr lang="en-IN" dirty="0" smtClean="0"/>
              <a:t>    </a:t>
            </a:r>
            <a:r>
              <a:rPr lang="en-IN" dirty="0" err="1"/>
              <a:t>fp</a:t>
            </a:r>
            <a:r>
              <a:rPr lang="en-IN" dirty="0"/>
              <a:t> = </a:t>
            </a:r>
            <a:r>
              <a:rPr lang="en-IN" dirty="0" err="1"/>
              <a:t>fopen</a:t>
            </a:r>
            <a:r>
              <a:rPr lang="en-IN" dirty="0"/>
              <a:t>("example.txt", "w"); </a:t>
            </a:r>
            <a:endParaRPr lang="en-IN" dirty="0" smtClean="0"/>
          </a:p>
          <a:p>
            <a:pPr marL="0" indent="0">
              <a:buNone/>
            </a:pPr>
            <a:r>
              <a:rPr lang="en-IN" dirty="0"/>
              <a:t> </a:t>
            </a:r>
            <a:r>
              <a:rPr lang="en-IN" dirty="0" smtClean="0"/>
              <a:t>       </a:t>
            </a:r>
            <a:r>
              <a:rPr lang="en-IN" dirty="0"/>
              <a:t>if (</a:t>
            </a:r>
            <a:r>
              <a:rPr lang="en-IN" dirty="0" err="1"/>
              <a:t>fp</a:t>
            </a:r>
            <a:r>
              <a:rPr lang="en-IN" dirty="0"/>
              <a:t> == NULL) </a:t>
            </a:r>
            <a:endParaRPr lang="en-IN" dirty="0" smtClean="0"/>
          </a:p>
          <a:p>
            <a:pPr marL="0" indent="0">
              <a:buNone/>
            </a:pPr>
            <a:r>
              <a:rPr lang="en-IN" dirty="0"/>
              <a:t> </a:t>
            </a:r>
            <a:r>
              <a:rPr lang="en-IN" dirty="0" smtClean="0"/>
              <a:t>       {        </a:t>
            </a:r>
            <a:r>
              <a:rPr lang="en-IN" dirty="0" err="1"/>
              <a:t>printf</a:t>
            </a:r>
            <a:r>
              <a:rPr lang="en-IN" dirty="0"/>
              <a:t>("Error opening file!\n</a:t>
            </a:r>
            <a:r>
              <a:rPr lang="en-IN" dirty="0" smtClean="0"/>
              <a:t>");</a:t>
            </a:r>
          </a:p>
          <a:p>
            <a:pPr marL="0" indent="0">
              <a:buNone/>
            </a:pPr>
            <a:r>
              <a:rPr lang="en-IN" dirty="0"/>
              <a:t> </a:t>
            </a:r>
            <a:r>
              <a:rPr lang="en-IN" dirty="0" smtClean="0"/>
              <a:t>                 </a:t>
            </a:r>
            <a:r>
              <a:rPr lang="en-IN" dirty="0"/>
              <a:t>return 1;    </a:t>
            </a:r>
            <a:r>
              <a:rPr lang="en-IN" dirty="0" smtClean="0"/>
              <a:t> </a:t>
            </a:r>
          </a:p>
          <a:p>
            <a:pPr marL="0" indent="0">
              <a:buNone/>
            </a:pPr>
            <a:r>
              <a:rPr lang="en-IN" dirty="0" smtClean="0"/>
              <a:t>         }    </a:t>
            </a:r>
          </a:p>
          <a:p>
            <a:pPr marL="0" indent="0">
              <a:buNone/>
            </a:pPr>
            <a:r>
              <a:rPr lang="en-IN" dirty="0"/>
              <a:t> </a:t>
            </a:r>
            <a:r>
              <a:rPr lang="en-IN" dirty="0" smtClean="0"/>
              <a:t>    </a:t>
            </a:r>
            <a:r>
              <a:rPr lang="en-IN" dirty="0" err="1" smtClean="0"/>
              <a:t>fclose</a:t>
            </a:r>
            <a:r>
              <a:rPr lang="en-IN" dirty="0" smtClean="0"/>
              <a:t>(</a:t>
            </a:r>
            <a:r>
              <a:rPr lang="en-IN" dirty="0" err="1" smtClean="0"/>
              <a:t>fp</a:t>
            </a:r>
            <a:r>
              <a:rPr lang="en-IN" dirty="0" smtClean="0"/>
              <a:t>);</a:t>
            </a:r>
          </a:p>
          <a:p>
            <a:pPr marL="0" indent="0">
              <a:buNone/>
            </a:pPr>
            <a:r>
              <a:rPr lang="en-IN" dirty="0" smtClean="0"/>
              <a:t>    </a:t>
            </a:r>
            <a:r>
              <a:rPr lang="en-IN" dirty="0"/>
              <a:t>return 0</a:t>
            </a:r>
            <a:r>
              <a:rPr lang="en-IN" dirty="0" smtClean="0"/>
              <a:t>;</a:t>
            </a:r>
          </a:p>
          <a:p>
            <a:pPr marL="0" indent="0">
              <a:buNone/>
            </a:pPr>
            <a:r>
              <a:rPr lang="en-IN" dirty="0" smtClean="0"/>
              <a:t>}</a:t>
            </a:r>
            <a:endParaRPr lang="en-IN" dirty="0"/>
          </a:p>
        </p:txBody>
      </p:sp>
    </p:spTree>
    <p:extLst>
      <p:ext uri="{BB962C8B-B14F-4D97-AF65-F5344CB8AC3E}">
        <p14:creationId xmlns:p14="http://schemas.microsoft.com/office/powerpoint/2010/main" val="3289485977"/>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dirty="0"/>
              <a:t>Writing to a File (Text Mode</a:t>
            </a:r>
            <a:r>
              <a:rPr lang="en-US" b="1" dirty="0" smtClean="0"/>
              <a:t>)</a:t>
            </a:r>
            <a:endParaRPr lang="en-IN" dirty="0"/>
          </a:p>
        </p:txBody>
      </p:sp>
      <p:sp>
        <p:nvSpPr>
          <p:cNvPr id="3" name="Content Placeholder 2"/>
          <p:cNvSpPr>
            <a:spLocks noGrp="1"/>
          </p:cNvSpPr>
          <p:nvPr>
            <p:ph idx="1"/>
          </p:nvPr>
        </p:nvSpPr>
        <p:spPr/>
        <p:txBody>
          <a:bodyPr>
            <a:normAutofit/>
          </a:bodyPr>
          <a:lstStyle/>
          <a:p>
            <a:pPr marL="0" indent="0">
              <a:buNone/>
            </a:pPr>
            <a:r>
              <a:rPr lang="en-IN" sz="2000" dirty="0"/>
              <a:t>#include &lt;</a:t>
            </a:r>
            <a:r>
              <a:rPr lang="en-IN" sz="2000" dirty="0" err="1"/>
              <a:t>stdio.h</a:t>
            </a:r>
            <a:r>
              <a:rPr lang="en-IN" sz="2000" dirty="0" smtClean="0"/>
              <a:t>&gt;</a:t>
            </a:r>
          </a:p>
          <a:p>
            <a:pPr marL="0" indent="0">
              <a:buNone/>
            </a:pPr>
            <a:r>
              <a:rPr lang="en-IN" sz="2000" dirty="0" err="1" smtClean="0"/>
              <a:t>int</a:t>
            </a:r>
            <a:r>
              <a:rPr lang="en-IN" sz="2000" dirty="0" smtClean="0"/>
              <a:t> </a:t>
            </a:r>
            <a:r>
              <a:rPr lang="en-IN" sz="2000" dirty="0"/>
              <a:t>main() </a:t>
            </a:r>
            <a:endParaRPr lang="en-IN" sz="2000" dirty="0" smtClean="0"/>
          </a:p>
          <a:p>
            <a:pPr marL="0" indent="0">
              <a:buNone/>
            </a:pPr>
            <a:r>
              <a:rPr lang="en-IN" sz="2000" dirty="0" smtClean="0"/>
              <a:t>{    </a:t>
            </a:r>
          </a:p>
          <a:p>
            <a:pPr marL="0" indent="0">
              <a:buNone/>
            </a:pPr>
            <a:r>
              <a:rPr lang="en-IN" sz="2000" dirty="0" smtClean="0"/>
              <a:t>FILE </a:t>
            </a:r>
            <a:r>
              <a:rPr lang="en-IN" sz="2000" dirty="0"/>
              <a:t>*</a:t>
            </a:r>
            <a:r>
              <a:rPr lang="en-IN" sz="2000" dirty="0" err="1"/>
              <a:t>fp</a:t>
            </a:r>
            <a:r>
              <a:rPr lang="en-IN" sz="2000" dirty="0"/>
              <a:t> = </a:t>
            </a:r>
            <a:r>
              <a:rPr lang="en-IN" sz="2000" dirty="0" err="1"/>
              <a:t>fopen</a:t>
            </a:r>
            <a:r>
              <a:rPr lang="en-IN" sz="2000" dirty="0"/>
              <a:t>("example.txt", "w</a:t>
            </a:r>
            <a:r>
              <a:rPr lang="en-IN" sz="2000" dirty="0" smtClean="0"/>
              <a:t>");</a:t>
            </a:r>
          </a:p>
          <a:p>
            <a:pPr marL="0" indent="0">
              <a:buNone/>
            </a:pPr>
            <a:r>
              <a:rPr lang="en-IN" sz="2000" dirty="0" smtClean="0"/>
              <a:t>    </a:t>
            </a:r>
            <a:r>
              <a:rPr lang="en-IN" sz="2000" dirty="0"/>
              <a:t>if (</a:t>
            </a:r>
            <a:r>
              <a:rPr lang="en-IN" sz="2000" dirty="0" err="1"/>
              <a:t>fp</a:t>
            </a:r>
            <a:r>
              <a:rPr lang="en-IN" sz="2000" dirty="0"/>
              <a:t> == NULL) </a:t>
            </a:r>
            <a:endParaRPr lang="en-IN" sz="2000" dirty="0" smtClean="0"/>
          </a:p>
          <a:p>
            <a:pPr marL="0" indent="0">
              <a:buNone/>
            </a:pPr>
            <a:r>
              <a:rPr lang="en-IN" sz="2000" dirty="0" smtClean="0"/>
              <a:t>{       </a:t>
            </a:r>
            <a:r>
              <a:rPr lang="en-IN" sz="2000" dirty="0" err="1" smtClean="0"/>
              <a:t>printf</a:t>
            </a:r>
            <a:r>
              <a:rPr lang="en-IN" sz="2000" dirty="0"/>
              <a:t>("Error opening file!\n</a:t>
            </a:r>
            <a:r>
              <a:rPr lang="en-IN" sz="2000" dirty="0" smtClean="0"/>
              <a:t>");</a:t>
            </a:r>
          </a:p>
          <a:p>
            <a:pPr marL="0" indent="0">
              <a:buNone/>
            </a:pPr>
            <a:r>
              <a:rPr lang="en-IN" sz="2000" dirty="0" smtClean="0"/>
              <a:t>        </a:t>
            </a:r>
            <a:r>
              <a:rPr lang="en-IN" sz="2000" dirty="0"/>
              <a:t>return 1;    </a:t>
            </a:r>
            <a:endParaRPr lang="en-IN" sz="2000" dirty="0" smtClean="0"/>
          </a:p>
          <a:p>
            <a:pPr marL="0" indent="0">
              <a:buNone/>
            </a:pPr>
            <a:r>
              <a:rPr lang="en-IN" sz="2000" dirty="0" smtClean="0"/>
              <a:t>}    </a:t>
            </a:r>
          </a:p>
          <a:p>
            <a:pPr marL="0" indent="0">
              <a:buNone/>
            </a:pPr>
            <a:r>
              <a:rPr lang="en-IN" sz="2000" dirty="0"/>
              <a:t> </a:t>
            </a:r>
            <a:r>
              <a:rPr lang="en-IN" sz="2000" dirty="0" err="1" smtClean="0"/>
              <a:t>fprintf</a:t>
            </a:r>
            <a:r>
              <a:rPr lang="en-IN" sz="2000" dirty="0" smtClean="0"/>
              <a:t>(</a:t>
            </a:r>
            <a:r>
              <a:rPr lang="en-IN" sz="2000" dirty="0" err="1" smtClean="0"/>
              <a:t>fp</a:t>
            </a:r>
            <a:r>
              <a:rPr lang="en-IN" sz="2000" dirty="0"/>
              <a:t>, "Hello, File Handling in C!\n</a:t>
            </a:r>
            <a:r>
              <a:rPr lang="en-IN" sz="2000" dirty="0" smtClean="0"/>
              <a:t>");</a:t>
            </a:r>
          </a:p>
          <a:p>
            <a:pPr marL="0" indent="0">
              <a:buNone/>
            </a:pPr>
            <a:r>
              <a:rPr lang="en-IN" sz="2000" dirty="0" smtClean="0"/>
              <a:t>    </a:t>
            </a:r>
            <a:r>
              <a:rPr lang="en-IN" sz="2000" dirty="0" err="1"/>
              <a:t>fclose</a:t>
            </a:r>
            <a:r>
              <a:rPr lang="en-IN" sz="2000" dirty="0"/>
              <a:t>(</a:t>
            </a:r>
            <a:r>
              <a:rPr lang="en-IN" sz="2000" dirty="0" err="1"/>
              <a:t>fp</a:t>
            </a:r>
            <a:r>
              <a:rPr lang="en-IN" sz="2000" dirty="0" smtClean="0"/>
              <a:t>);</a:t>
            </a:r>
          </a:p>
          <a:p>
            <a:pPr marL="0" indent="0">
              <a:buNone/>
            </a:pPr>
            <a:r>
              <a:rPr lang="en-IN" sz="2000" dirty="0" smtClean="0"/>
              <a:t>    </a:t>
            </a:r>
            <a:r>
              <a:rPr lang="en-IN" sz="2000" dirty="0"/>
              <a:t>return 0</a:t>
            </a:r>
            <a:r>
              <a:rPr lang="en-IN" sz="2000" dirty="0" smtClean="0"/>
              <a:t>;</a:t>
            </a:r>
          </a:p>
          <a:p>
            <a:pPr marL="0" indent="0">
              <a:buNone/>
            </a:pPr>
            <a:r>
              <a:rPr lang="en-IN" sz="2000" dirty="0" smtClean="0"/>
              <a:t>}</a:t>
            </a:r>
            <a:endParaRPr lang="en-IN" sz="2000" dirty="0"/>
          </a:p>
        </p:txBody>
      </p:sp>
      <p:sp>
        <p:nvSpPr>
          <p:cNvPr id="4" name="TextBox 3"/>
          <p:cNvSpPr txBox="1"/>
          <p:nvPr/>
        </p:nvSpPr>
        <p:spPr>
          <a:xfrm>
            <a:off x="5076056" y="1340768"/>
            <a:ext cx="3963857" cy="4524315"/>
          </a:xfrm>
          <a:prstGeom prst="rect">
            <a:avLst/>
          </a:prstGeom>
          <a:noFill/>
        </p:spPr>
        <p:txBody>
          <a:bodyPr wrap="square" rtlCol="0">
            <a:spAutoFit/>
          </a:bodyPr>
          <a:lstStyle/>
          <a:p>
            <a:r>
              <a:rPr lang="en-US" dirty="0"/>
              <a:t>To be able to successfully read from a file information like mode </a:t>
            </a:r>
            <a:r>
              <a:rPr lang="en-US" dirty="0" smtClean="0"/>
              <a:t>of opening</a:t>
            </a:r>
            <a:r>
              <a:rPr lang="en-US" dirty="0"/>
              <a:t>, size of file, place in the file from where the next read </a:t>
            </a:r>
            <a:r>
              <a:rPr lang="en-US" dirty="0" smtClean="0"/>
              <a:t>operation would </a:t>
            </a:r>
            <a:r>
              <a:rPr lang="en-US" dirty="0"/>
              <a:t>be performed, etc., has to be maintained. Since all </a:t>
            </a:r>
            <a:r>
              <a:rPr lang="en-US" dirty="0" smtClean="0"/>
              <a:t>this information </a:t>
            </a:r>
            <a:r>
              <a:rPr lang="en-US" dirty="0"/>
              <a:t>is inter-related, all of it is gathered together by </a:t>
            </a:r>
            <a:r>
              <a:rPr lang="en-US" b="1" dirty="0" err="1"/>
              <a:t>fopen</a:t>
            </a:r>
            <a:r>
              <a:rPr lang="en-US" b="1" dirty="0"/>
              <a:t>( ) </a:t>
            </a:r>
            <a:r>
              <a:rPr lang="en-US" dirty="0"/>
              <a:t>in </a:t>
            </a:r>
            <a:r>
              <a:rPr lang="en-US" dirty="0" smtClean="0"/>
              <a:t>a </a:t>
            </a:r>
            <a:r>
              <a:rPr lang="en-IN" dirty="0" smtClean="0"/>
              <a:t>structure </a:t>
            </a:r>
            <a:r>
              <a:rPr lang="en-IN" dirty="0"/>
              <a:t>called </a:t>
            </a:r>
            <a:r>
              <a:rPr lang="en-IN" b="1" dirty="0"/>
              <a:t>FILE</a:t>
            </a:r>
            <a:r>
              <a:rPr lang="en-IN" dirty="0" smtClean="0"/>
              <a:t>.</a:t>
            </a:r>
          </a:p>
          <a:p>
            <a:r>
              <a:rPr lang="en-US" dirty="0" smtClean="0">
                <a:solidFill>
                  <a:srgbClr val="FF0000"/>
                </a:solidFill>
              </a:rPr>
              <a:t>The </a:t>
            </a:r>
            <a:r>
              <a:rPr lang="en-US" b="1" dirty="0">
                <a:solidFill>
                  <a:srgbClr val="FF0000"/>
                </a:solidFill>
              </a:rPr>
              <a:t>FILE </a:t>
            </a:r>
            <a:r>
              <a:rPr lang="en-US" dirty="0">
                <a:solidFill>
                  <a:srgbClr val="FF0000"/>
                </a:solidFill>
              </a:rPr>
              <a:t>structure has been defined in the header file “</a:t>
            </a:r>
            <a:r>
              <a:rPr lang="en-US" dirty="0" err="1">
                <a:solidFill>
                  <a:srgbClr val="FF0000"/>
                </a:solidFill>
              </a:rPr>
              <a:t>stdio.h</a:t>
            </a:r>
            <a:r>
              <a:rPr lang="en-US" dirty="0" smtClean="0">
                <a:solidFill>
                  <a:srgbClr val="FF0000"/>
                </a:solidFill>
              </a:rPr>
              <a:t>”</a:t>
            </a:r>
          </a:p>
          <a:p>
            <a:r>
              <a:rPr lang="en-US" b="1" dirty="0" err="1">
                <a:solidFill>
                  <a:srgbClr val="0070C0"/>
                </a:solidFill>
              </a:rPr>
              <a:t>fopen</a:t>
            </a:r>
            <a:r>
              <a:rPr lang="en-US" b="1" dirty="0">
                <a:solidFill>
                  <a:srgbClr val="0070C0"/>
                </a:solidFill>
              </a:rPr>
              <a:t>( ) </a:t>
            </a:r>
            <a:r>
              <a:rPr lang="en-US" dirty="0">
                <a:solidFill>
                  <a:srgbClr val="0070C0"/>
                </a:solidFill>
              </a:rPr>
              <a:t>returns the address of this structure</a:t>
            </a:r>
            <a:r>
              <a:rPr lang="en-US" dirty="0" smtClean="0">
                <a:solidFill>
                  <a:srgbClr val="0070C0"/>
                </a:solidFill>
              </a:rPr>
              <a:t>, which </a:t>
            </a:r>
            <a:r>
              <a:rPr lang="en-US" dirty="0">
                <a:solidFill>
                  <a:srgbClr val="0070C0"/>
                </a:solidFill>
              </a:rPr>
              <a:t>we have collected in the structure pointer called </a:t>
            </a:r>
            <a:r>
              <a:rPr lang="en-US" b="1" dirty="0">
                <a:solidFill>
                  <a:srgbClr val="0070C0"/>
                </a:solidFill>
              </a:rPr>
              <a:t>fp</a:t>
            </a:r>
            <a:r>
              <a:rPr lang="en-US" dirty="0">
                <a:solidFill>
                  <a:srgbClr val="0070C0"/>
                </a:solidFill>
              </a:rPr>
              <a:t>. </a:t>
            </a:r>
            <a:r>
              <a:rPr lang="en-US" dirty="0"/>
              <a:t>We </a:t>
            </a:r>
            <a:r>
              <a:rPr lang="en-US" dirty="0" smtClean="0"/>
              <a:t>have </a:t>
            </a:r>
            <a:r>
              <a:rPr lang="en-IN" dirty="0" smtClean="0"/>
              <a:t>declared </a:t>
            </a:r>
            <a:r>
              <a:rPr lang="en-IN" b="1" dirty="0" err="1"/>
              <a:t>fp</a:t>
            </a:r>
            <a:r>
              <a:rPr lang="en-IN" b="1" dirty="0"/>
              <a:t> </a:t>
            </a:r>
            <a:r>
              <a:rPr lang="en-IN" dirty="0"/>
              <a:t>as follows:</a:t>
            </a:r>
          </a:p>
          <a:p>
            <a:r>
              <a:rPr lang="en-IN" dirty="0"/>
              <a:t>FILE *</a:t>
            </a:r>
            <a:r>
              <a:rPr lang="en-IN" dirty="0" err="1"/>
              <a:t>fp</a:t>
            </a:r>
            <a:r>
              <a:rPr lang="en-IN" dirty="0"/>
              <a:t> ;</a:t>
            </a:r>
          </a:p>
        </p:txBody>
      </p:sp>
    </p:spTree>
    <p:extLst>
      <p:ext uri="{BB962C8B-B14F-4D97-AF65-F5344CB8AC3E}">
        <p14:creationId xmlns:p14="http://schemas.microsoft.com/office/powerpoint/2010/main" val="3574426314"/>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Writing and Reading in Binary Mode</a:t>
            </a:r>
            <a:endParaRPr lang="en-IN" dirty="0"/>
          </a:p>
        </p:txBody>
      </p:sp>
      <p:sp>
        <p:nvSpPr>
          <p:cNvPr id="3" name="Content Placeholder 2"/>
          <p:cNvSpPr>
            <a:spLocks noGrp="1"/>
          </p:cNvSpPr>
          <p:nvPr>
            <p:ph idx="1"/>
          </p:nvPr>
        </p:nvSpPr>
        <p:spPr/>
        <p:txBody>
          <a:bodyPr>
            <a:normAutofit fontScale="62500" lnSpcReduction="20000"/>
          </a:bodyPr>
          <a:lstStyle/>
          <a:p>
            <a:pPr marL="0" indent="0">
              <a:buNone/>
            </a:pPr>
            <a:r>
              <a:rPr lang="en-US" dirty="0"/>
              <a:t>Example of </a:t>
            </a:r>
            <a:r>
              <a:rPr lang="en-US" dirty="0" err="1"/>
              <a:t>fwrite</a:t>
            </a:r>
            <a:r>
              <a:rPr lang="en-US" dirty="0"/>
              <a:t>() and </a:t>
            </a:r>
            <a:r>
              <a:rPr lang="en-US" dirty="0" err="1"/>
              <a:t>fread</a:t>
            </a:r>
            <a:r>
              <a:rPr lang="en-US" dirty="0"/>
              <a:t>()</a:t>
            </a:r>
          </a:p>
          <a:p>
            <a:pPr marL="0" indent="0">
              <a:buNone/>
            </a:pPr>
            <a:endParaRPr lang="en-IN" dirty="0" smtClean="0"/>
          </a:p>
          <a:p>
            <a:pPr marL="0" indent="0">
              <a:buNone/>
            </a:pPr>
            <a:r>
              <a:rPr lang="en-IN" dirty="0" smtClean="0"/>
              <a:t>#</a:t>
            </a:r>
            <a:r>
              <a:rPr lang="en-IN" dirty="0"/>
              <a:t>include &lt;</a:t>
            </a:r>
            <a:r>
              <a:rPr lang="en-IN" dirty="0" err="1"/>
              <a:t>stdio.h</a:t>
            </a:r>
            <a:r>
              <a:rPr lang="en-IN" dirty="0" smtClean="0"/>
              <a:t>&gt;</a:t>
            </a:r>
          </a:p>
          <a:p>
            <a:pPr marL="0" indent="0">
              <a:buNone/>
            </a:pPr>
            <a:r>
              <a:rPr lang="en-IN" dirty="0" err="1" smtClean="0"/>
              <a:t>struct</a:t>
            </a:r>
            <a:r>
              <a:rPr lang="en-IN" dirty="0" smtClean="0"/>
              <a:t> </a:t>
            </a:r>
            <a:r>
              <a:rPr lang="en-IN" dirty="0"/>
              <a:t>Data </a:t>
            </a:r>
            <a:endParaRPr lang="en-IN" dirty="0" smtClean="0"/>
          </a:p>
          <a:p>
            <a:pPr marL="0" indent="0">
              <a:buNone/>
            </a:pPr>
            <a:r>
              <a:rPr lang="en-IN" dirty="0" smtClean="0"/>
              <a:t>{    </a:t>
            </a:r>
            <a:r>
              <a:rPr lang="en-IN" dirty="0" err="1"/>
              <a:t>int</a:t>
            </a:r>
            <a:r>
              <a:rPr lang="en-IN" dirty="0"/>
              <a:t> id</a:t>
            </a:r>
            <a:r>
              <a:rPr lang="en-IN" dirty="0" smtClean="0"/>
              <a:t>;</a:t>
            </a:r>
          </a:p>
          <a:p>
            <a:pPr marL="0" indent="0">
              <a:buNone/>
            </a:pPr>
            <a:r>
              <a:rPr lang="en-IN" dirty="0" smtClean="0"/>
              <a:t>    </a:t>
            </a:r>
            <a:r>
              <a:rPr lang="en-IN" dirty="0"/>
              <a:t>char name[20</a:t>
            </a:r>
            <a:r>
              <a:rPr lang="en-IN" dirty="0" smtClean="0"/>
              <a:t>];</a:t>
            </a:r>
          </a:p>
          <a:p>
            <a:pPr marL="0" indent="0">
              <a:buNone/>
            </a:pPr>
            <a:r>
              <a:rPr lang="en-IN" dirty="0" smtClean="0"/>
              <a:t>};</a:t>
            </a:r>
          </a:p>
          <a:p>
            <a:pPr marL="0" indent="0">
              <a:buNone/>
            </a:pPr>
            <a:r>
              <a:rPr lang="en-IN" dirty="0" err="1" smtClean="0"/>
              <a:t>int</a:t>
            </a:r>
            <a:r>
              <a:rPr lang="en-IN" dirty="0" smtClean="0"/>
              <a:t> </a:t>
            </a:r>
            <a:r>
              <a:rPr lang="en-IN" dirty="0"/>
              <a:t>main() </a:t>
            </a:r>
            <a:endParaRPr lang="en-IN" dirty="0" smtClean="0"/>
          </a:p>
          <a:p>
            <a:pPr marL="0" indent="0">
              <a:buNone/>
            </a:pPr>
            <a:r>
              <a:rPr lang="en-IN" dirty="0" smtClean="0"/>
              <a:t>{    </a:t>
            </a:r>
            <a:r>
              <a:rPr lang="en-IN" dirty="0" err="1"/>
              <a:t>struct</a:t>
            </a:r>
            <a:r>
              <a:rPr lang="en-IN" dirty="0"/>
              <a:t> Data d1 = {1, "Alice</a:t>
            </a:r>
            <a:r>
              <a:rPr lang="en-IN" dirty="0" smtClean="0"/>
              <a:t>"};</a:t>
            </a:r>
          </a:p>
          <a:p>
            <a:pPr marL="0" indent="0">
              <a:buNone/>
            </a:pPr>
            <a:r>
              <a:rPr lang="en-IN" dirty="0" smtClean="0"/>
              <a:t>    </a:t>
            </a:r>
            <a:r>
              <a:rPr lang="en-IN" dirty="0"/>
              <a:t>FILE *</a:t>
            </a:r>
            <a:r>
              <a:rPr lang="en-IN" dirty="0" err="1"/>
              <a:t>fp</a:t>
            </a:r>
            <a:r>
              <a:rPr lang="en-IN" dirty="0"/>
              <a:t> = </a:t>
            </a:r>
            <a:r>
              <a:rPr lang="en-IN" dirty="0" err="1"/>
              <a:t>fopen</a:t>
            </a:r>
            <a:r>
              <a:rPr lang="en-IN" dirty="0"/>
              <a:t>("</a:t>
            </a:r>
            <a:r>
              <a:rPr lang="en-IN" dirty="0" err="1"/>
              <a:t>data.bin</a:t>
            </a:r>
            <a:r>
              <a:rPr lang="en-IN" dirty="0"/>
              <a:t>", "</a:t>
            </a:r>
            <a:r>
              <a:rPr lang="en-IN" dirty="0" err="1"/>
              <a:t>wb</a:t>
            </a:r>
            <a:r>
              <a:rPr lang="en-IN" dirty="0" smtClean="0"/>
              <a:t>");</a:t>
            </a:r>
          </a:p>
          <a:p>
            <a:pPr marL="0" indent="0">
              <a:buNone/>
            </a:pPr>
            <a:r>
              <a:rPr lang="en-IN" dirty="0" smtClean="0"/>
              <a:t>    </a:t>
            </a:r>
            <a:r>
              <a:rPr lang="en-IN" dirty="0" err="1"/>
              <a:t>fwrite</a:t>
            </a:r>
            <a:r>
              <a:rPr lang="en-IN" dirty="0"/>
              <a:t>(&amp;d1, </a:t>
            </a:r>
            <a:r>
              <a:rPr lang="en-IN" dirty="0" err="1"/>
              <a:t>sizeof</a:t>
            </a:r>
            <a:r>
              <a:rPr lang="en-IN" dirty="0"/>
              <a:t>(</a:t>
            </a:r>
            <a:r>
              <a:rPr lang="en-IN" dirty="0" err="1"/>
              <a:t>struct</a:t>
            </a:r>
            <a:r>
              <a:rPr lang="en-IN" dirty="0"/>
              <a:t> Data), 1, </a:t>
            </a:r>
            <a:r>
              <a:rPr lang="en-IN" dirty="0" err="1"/>
              <a:t>fp</a:t>
            </a:r>
            <a:r>
              <a:rPr lang="en-IN" dirty="0" smtClean="0"/>
              <a:t>);</a:t>
            </a:r>
          </a:p>
          <a:p>
            <a:pPr marL="0" indent="0">
              <a:buNone/>
            </a:pPr>
            <a:r>
              <a:rPr lang="en-IN" dirty="0" smtClean="0"/>
              <a:t>    </a:t>
            </a:r>
            <a:r>
              <a:rPr lang="en-IN" dirty="0" err="1"/>
              <a:t>fclose</a:t>
            </a:r>
            <a:r>
              <a:rPr lang="en-IN" dirty="0"/>
              <a:t>(</a:t>
            </a:r>
            <a:r>
              <a:rPr lang="en-IN" dirty="0" err="1"/>
              <a:t>fp</a:t>
            </a:r>
            <a:r>
              <a:rPr lang="en-IN" dirty="0" smtClean="0"/>
              <a:t>);</a:t>
            </a:r>
          </a:p>
          <a:p>
            <a:pPr marL="0" indent="0">
              <a:buNone/>
            </a:pPr>
            <a:r>
              <a:rPr lang="en-IN" dirty="0" smtClean="0"/>
              <a:t>        </a:t>
            </a:r>
            <a:r>
              <a:rPr lang="en-IN" dirty="0" err="1"/>
              <a:t>struct</a:t>
            </a:r>
            <a:r>
              <a:rPr lang="en-IN" dirty="0"/>
              <a:t> Data d2</a:t>
            </a:r>
            <a:r>
              <a:rPr lang="en-IN" dirty="0" smtClean="0"/>
              <a:t>;</a:t>
            </a:r>
          </a:p>
          <a:p>
            <a:pPr marL="0" indent="0">
              <a:buNone/>
            </a:pPr>
            <a:r>
              <a:rPr lang="en-IN" dirty="0" smtClean="0"/>
              <a:t>    </a:t>
            </a:r>
            <a:r>
              <a:rPr lang="en-IN" dirty="0" err="1"/>
              <a:t>fp</a:t>
            </a:r>
            <a:r>
              <a:rPr lang="en-IN" dirty="0"/>
              <a:t> = </a:t>
            </a:r>
            <a:r>
              <a:rPr lang="en-IN" dirty="0" err="1"/>
              <a:t>fopen</a:t>
            </a:r>
            <a:r>
              <a:rPr lang="en-IN" dirty="0"/>
              <a:t>("</a:t>
            </a:r>
            <a:r>
              <a:rPr lang="en-IN" dirty="0" err="1"/>
              <a:t>data.bin</a:t>
            </a:r>
            <a:r>
              <a:rPr lang="en-IN" dirty="0"/>
              <a:t>", "</a:t>
            </a:r>
            <a:r>
              <a:rPr lang="en-IN" dirty="0" err="1"/>
              <a:t>rb</a:t>
            </a:r>
            <a:r>
              <a:rPr lang="en-IN" dirty="0" smtClean="0"/>
              <a:t>");</a:t>
            </a:r>
          </a:p>
          <a:p>
            <a:pPr marL="0" indent="0">
              <a:buNone/>
            </a:pPr>
            <a:r>
              <a:rPr lang="en-IN" dirty="0" smtClean="0"/>
              <a:t>    </a:t>
            </a:r>
            <a:r>
              <a:rPr lang="en-IN" dirty="0" err="1"/>
              <a:t>fread</a:t>
            </a:r>
            <a:r>
              <a:rPr lang="en-IN" dirty="0"/>
              <a:t>(&amp;d2, </a:t>
            </a:r>
            <a:r>
              <a:rPr lang="en-IN" dirty="0" err="1"/>
              <a:t>sizeof</a:t>
            </a:r>
            <a:r>
              <a:rPr lang="en-IN" dirty="0"/>
              <a:t>(</a:t>
            </a:r>
            <a:r>
              <a:rPr lang="en-IN" dirty="0" err="1"/>
              <a:t>struct</a:t>
            </a:r>
            <a:r>
              <a:rPr lang="en-IN" dirty="0"/>
              <a:t> Data), 1, </a:t>
            </a:r>
            <a:r>
              <a:rPr lang="en-IN" dirty="0" err="1"/>
              <a:t>fp</a:t>
            </a:r>
            <a:r>
              <a:rPr lang="en-IN" dirty="0" smtClean="0"/>
              <a:t>);</a:t>
            </a:r>
          </a:p>
          <a:p>
            <a:pPr marL="0" indent="0">
              <a:buNone/>
            </a:pPr>
            <a:r>
              <a:rPr lang="en-IN" dirty="0" smtClean="0"/>
              <a:t>    </a:t>
            </a:r>
            <a:r>
              <a:rPr lang="en-IN" dirty="0" err="1"/>
              <a:t>printf</a:t>
            </a:r>
            <a:r>
              <a:rPr lang="en-IN" dirty="0"/>
              <a:t>("ID: %d, Name: %s\n", d2.id, d2.name); </a:t>
            </a:r>
            <a:endParaRPr lang="en-IN" dirty="0" smtClean="0"/>
          </a:p>
          <a:p>
            <a:pPr marL="0" indent="0">
              <a:buNone/>
            </a:pPr>
            <a:r>
              <a:rPr lang="en-IN" dirty="0" smtClean="0"/>
              <a:t>   </a:t>
            </a:r>
            <a:r>
              <a:rPr lang="en-IN" dirty="0" err="1"/>
              <a:t>fclose</a:t>
            </a:r>
            <a:r>
              <a:rPr lang="en-IN" dirty="0"/>
              <a:t>(</a:t>
            </a:r>
            <a:r>
              <a:rPr lang="en-IN" dirty="0" err="1"/>
              <a:t>fp</a:t>
            </a:r>
            <a:r>
              <a:rPr lang="en-IN" dirty="0"/>
              <a:t>);    </a:t>
            </a:r>
            <a:endParaRPr lang="en-IN" dirty="0" smtClean="0"/>
          </a:p>
          <a:p>
            <a:pPr marL="0" indent="0">
              <a:buNone/>
            </a:pPr>
            <a:r>
              <a:rPr lang="en-IN" dirty="0" smtClean="0"/>
              <a:t>return </a:t>
            </a:r>
            <a:r>
              <a:rPr lang="en-IN" dirty="0"/>
              <a:t>0</a:t>
            </a:r>
            <a:r>
              <a:rPr lang="en-IN" dirty="0" smtClean="0"/>
              <a:t>;</a:t>
            </a:r>
          </a:p>
          <a:p>
            <a:pPr marL="0" indent="0">
              <a:buNone/>
            </a:pPr>
            <a:r>
              <a:rPr lang="en-IN" dirty="0" smtClean="0"/>
              <a:t>}</a:t>
            </a:r>
            <a:endParaRPr lang="en-IN" dirty="0"/>
          </a:p>
        </p:txBody>
      </p:sp>
    </p:spTree>
    <p:extLst>
      <p:ext uri="{BB962C8B-B14F-4D97-AF65-F5344CB8AC3E}">
        <p14:creationId xmlns:p14="http://schemas.microsoft.com/office/powerpoint/2010/main" val="931823603"/>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504" y="533400"/>
            <a:ext cx="8928992" cy="990600"/>
          </a:xfrm>
        </p:spPr>
        <p:txBody>
          <a:bodyPr>
            <a:normAutofit fontScale="90000"/>
          </a:bodyPr>
          <a:lstStyle/>
          <a:p>
            <a:r>
              <a:rPr lang="en-US" dirty="0" smtClean="0"/>
              <a:t>Differences </a:t>
            </a:r>
            <a:r>
              <a:rPr lang="en-US" dirty="0"/>
              <a:t>between handling binary &amp;</a:t>
            </a:r>
            <a:r>
              <a:rPr lang="en-US" dirty="0" smtClean="0"/>
              <a:t> </a:t>
            </a:r>
            <a:r>
              <a:rPr lang="en-US" dirty="0"/>
              <a:t>text data</a:t>
            </a:r>
            <a:endParaRPr lang="en-IN" dirty="0"/>
          </a:p>
        </p:txBody>
      </p:sp>
      <p:sp>
        <p:nvSpPr>
          <p:cNvPr id="3" name="Content Placeholder 2"/>
          <p:cNvSpPr>
            <a:spLocks noGrp="1"/>
          </p:cNvSpPr>
          <p:nvPr>
            <p:ph idx="1"/>
          </p:nvPr>
        </p:nvSpPr>
        <p:spPr>
          <a:xfrm>
            <a:off x="179512" y="1600200"/>
            <a:ext cx="8856984" cy="4876800"/>
          </a:xfrm>
        </p:spPr>
        <p:txBody>
          <a:bodyPr/>
          <a:lstStyle/>
          <a:p>
            <a:pPr marL="0" indent="0">
              <a:buNone/>
            </a:pPr>
            <a:r>
              <a:rPr lang="en-US" sz="3200" dirty="0" err="1"/>
              <a:t>fread</a:t>
            </a:r>
            <a:r>
              <a:rPr lang="en-US" sz="3200" dirty="0"/>
              <a:t>() and </a:t>
            </a:r>
            <a:r>
              <a:rPr lang="en-US" sz="3200" dirty="0" err="1"/>
              <a:t>fwrite</a:t>
            </a:r>
            <a:r>
              <a:rPr lang="en-US" sz="3200" dirty="0"/>
              <a:t>() work with </a:t>
            </a:r>
            <a:r>
              <a:rPr lang="en-US" sz="3200" b="1" dirty="0"/>
              <a:t>binary files</a:t>
            </a:r>
            <a:r>
              <a:rPr lang="en-US" sz="3200" dirty="0"/>
              <a:t>, </a:t>
            </a:r>
            <a:endParaRPr lang="en-US" sz="3200" dirty="0" smtClean="0"/>
          </a:p>
          <a:p>
            <a:pPr marL="0" indent="0">
              <a:buNone/>
            </a:pPr>
            <a:r>
              <a:rPr lang="en-US" sz="3200" dirty="0" smtClean="0"/>
              <a:t>while </a:t>
            </a:r>
            <a:r>
              <a:rPr lang="en-US" sz="3200" dirty="0"/>
              <a:t>functions like </a:t>
            </a:r>
            <a:r>
              <a:rPr lang="en-US" sz="3200" dirty="0" err="1"/>
              <a:t>fprintf</a:t>
            </a:r>
            <a:r>
              <a:rPr lang="en-US" sz="3200" dirty="0"/>
              <a:t>() and </a:t>
            </a:r>
            <a:r>
              <a:rPr lang="en-US" sz="3200" dirty="0" err="1"/>
              <a:t>fscanf</a:t>
            </a:r>
            <a:r>
              <a:rPr lang="en-US" sz="3200" dirty="0"/>
              <a:t>() work with </a:t>
            </a:r>
            <a:r>
              <a:rPr lang="en-US" sz="3200" b="1" dirty="0"/>
              <a:t>text files</a:t>
            </a:r>
            <a:r>
              <a:rPr lang="en-US" sz="3200" dirty="0"/>
              <a:t>. </a:t>
            </a:r>
            <a:endParaRPr lang="en-US" sz="3200" dirty="0" smtClean="0"/>
          </a:p>
          <a:p>
            <a:pPr marL="0" indent="0">
              <a:buNone/>
            </a:pPr>
            <a:endParaRPr lang="en-IN" dirty="0"/>
          </a:p>
        </p:txBody>
      </p:sp>
    </p:spTree>
    <p:extLst>
      <p:ext uri="{BB962C8B-B14F-4D97-AF65-F5344CB8AC3E}">
        <p14:creationId xmlns:p14="http://schemas.microsoft.com/office/powerpoint/2010/main" val="3383008619"/>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nvPr>
        </p:nvGraphicFramePr>
        <p:xfrm>
          <a:off x="788275" y="1542133"/>
          <a:ext cx="7567449" cy="4992934"/>
        </p:xfrm>
        <a:graphic>
          <a:graphicData uri="http://schemas.openxmlformats.org/drawingml/2006/table">
            <a:tbl>
              <a:tblPr/>
              <a:tblGrid>
                <a:gridCol w="2522483"/>
                <a:gridCol w="2522483"/>
                <a:gridCol w="2522483"/>
              </a:tblGrid>
              <a:tr h="588579">
                <a:tc>
                  <a:txBody>
                    <a:bodyPr/>
                    <a:lstStyle/>
                    <a:p>
                      <a:r>
                        <a:rPr lang="en-IN" sz="1700" dirty="0"/>
                        <a:t>Feature</a:t>
                      </a:r>
                    </a:p>
                  </a:txBody>
                  <a:tcPr marL="84083" marR="84083" marT="42041" marB="42041" anchor="ctr">
                    <a:lnL>
                      <a:noFill/>
                    </a:lnL>
                    <a:lnR>
                      <a:noFill/>
                    </a:lnR>
                    <a:lnT>
                      <a:noFill/>
                    </a:lnT>
                    <a:lnB>
                      <a:noFill/>
                    </a:lnB>
                  </a:tcPr>
                </a:tc>
                <a:tc>
                  <a:txBody>
                    <a:bodyPr/>
                    <a:lstStyle/>
                    <a:p>
                      <a:r>
                        <a:rPr lang="en-IN" sz="1700" b="1"/>
                        <a:t>Text File Functions (</a:t>
                      </a:r>
                      <a:r>
                        <a:rPr lang="en-IN" sz="1700"/>
                        <a:t>fprintf()</a:t>
                      </a:r>
                      <a:r>
                        <a:rPr lang="en-IN" sz="1700" b="1"/>
                        <a:t>, </a:t>
                      </a:r>
                      <a:r>
                        <a:rPr lang="en-IN" sz="1700"/>
                        <a:t>fscanf()</a:t>
                      </a:r>
                      <a:r>
                        <a:rPr lang="en-IN" sz="1700" b="1"/>
                        <a:t>)</a:t>
                      </a:r>
                      <a:endParaRPr lang="en-IN" sz="1700"/>
                    </a:p>
                  </a:txBody>
                  <a:tcPr marL="84083" marR="84083" marT="42041" marB="42041" anchor="ctr">
                    <a:lnL>
                      <a:noFill/>
                    </a:lnL>
                    <a:lnR>
                      <a:noFill/>
                    </a:lnR>
                    <a:lnT>
                      <a:noFill/>
                    </a:lnT>
                    <a:lnB>
                      <a:noFill/>
                    </a:lnB>
                  </a:tcPr>
                </a:tc>
                <a:tc>
                  <a:txBody>
                    <a:bodyPr/>
                    <a:lstStyle/>
                    <a:p>
                      <a:r>
                        <a:rPr lang="en-US" sz="1700" b="1"/>
                        <a:t>Binary File Functions (</a:t>
                      </a:r>
                      <a:r>
                        <a:rPr lang="en-US" sz="1700"/>
                        <a:t>fwrite()</a:t>
                      </a:r>
                      <a:r>
                        <a:rPr lang="en-US" sz="1700" b="1"/>
                        <a:t>, </a:t>
                      </a:r>
                      <a:r>
                        <a:rPr lang="en-US" sz="1700"/>
                        <a:t>fread()</a:t>
                      </a:r>
                      <a:r>
                        <a:rPr lang="en-US" sz="1700" b="1"/>
                        <a:t>)</a:t>
                      </a:r>
                      <a:endParaRPr lang="en-US" sz="1700"/>
                    </a:p>
                  </a:txBody>
                  <a:tcPr marL="84083" marR="84083" marT="42041" marB="42041" anchor="ctr">
                    <a:lnL>
                      <a:noFill/>
                    </a:lnL>
                    <a:lnR>
                      <a:noFill/>
                    </a:lnR>
                    <a:lnT>
                      <a:noFill/>
                    </a:lnT>
                    <a:lnB>
                      <a:noFill/>
                    </a:lnB>
                  </a:tcPr>
                </a:tc>
              </a:tr>
              <a:tr h="588579">
                <a:tc>
                  <a:txBody>
                    <a:bodyPr/>
                    <a:lstStyle/>
                    <a:p>
                      <a:r>
                        <a:rPr lang="en-IN" sz="1700" b="1"/>
                        <a:t>Data Format</a:t>
                      </a:r>
                      <a:endParaRPr lang="en-IN" sz="1700"/>
                    </a:p>
                  </a:txBody>
                  <a:tcPr marL="84083" marR="84083" marT="42041" marB="42041" anchor="ctr">
                    <a:lnL>
                      <a:noFill/>
                    </a:lnL>
                    <a:lnR>
                      <a:noFill/>
                    </a:lnR>
                    <a:lnT>
                      <a:noFill/>
                    </a:lnT>
                    <a:lnB>
                      <a:noFill/>
                    </a:lnB>
                  </a:tcPr>
                </a:tc>
                <a:tc>
                  <a:txBody>
                    <a:bodyPr/>
                    <a:lstStyle/>
                    <a:p>
                      <a:r>
                        <a:rPr lang="en-US" sz="1700"/>
                        <a:t>Stores data as human-readable text</a:t>
                      </a:r>
                    </a:p>
                  </a:txBody>
                  <a:tcPr marL="84083" marR="84083" marT="42041" marB="42041" anchor="ctr">
                    <a:lnL>
                      <a:noFill/>
                    </a:lnL>
                    <a:lnR>
                      <a:noFill/>
                    </a:lnR>
                    <a:lnT>
                      <a:noFill/>
                    </a:lnT>
                    <a:lnB>
                      <a:noFill/>
                    </a:lnB>
                  </a:tcPr>
                </a:tc>
                <a:tc>
                  <a:txBody>
                    <a:bodyPr/>
                    <a:lstStyle/>
                    <a:p>
                      <a:r>
                        <a:rPr lang="en-US" sz="1700"/>
                        <a:t>Stores raw binary data (not human-readable)</a:t>
                      </a:r>
                    </a:p>
                  </a:txBody>
                  <a:tcPr marL="84083" marR="84083" marT="42041" marB="42041" anchor="ctr">
                    <a:lnL>
                      <a:noFill/>
                    </a:lnL>
                    <a:lnR>
                      <a:noFill/>
                    </a:lnR>
                    <a:lnT>
                      <a:noFill/>
                    </a:lnT>
                    <a:lnB>
                      <a:noFill/>
                    </a:lnB>
                  </a:tcPr>
                </a:tc>
              </a:tr>
              <a:tr h="840828">
                <a:tc>
                  <a:txBody>
                    <a:bodyPr/>
                    <a:lstStyle/>
                    <a:p>
                      <a:r>
                        <a:rPr lang="en-IN" sz="1700" b="1"/>
                        <a:t>Usage</a:t>
                      </a:r>
                      <a:endParaRPr lang="en-IN" sz="1700"/>
                    </a:p>
                  </a:txBody>
                  <a:tcPr marL="84083" marR="84083" marT="42041" marB="42041" anchor="ctr">
                    <a:lnL>
                      <a:noFill/>
                    </a:lnL>
                    <a:lnR>
                      <a:noFill/>
                    </a:lnR>
                    <a:lnT>
                      <a:noFill/>
                    </a:lnT>
                    <a:lnB>
                      <a:noFill/>
                    </a:lnB>
                  </a:tcPr>
                </a:tc>
                <a:tc>
                  <a:txBody>
                    <a:bodyPr/>
                    <a:lstStyle/>
                    <a:p>
                      <a:r>
                        <a:rPr lang="en-US" sz="1700"/>
                        <a:t>Useful for general document storage (logs, configs, CSV files)</a:t>
                      </a:r>
                    </a:p>
                  </a:txBody>
                  <a:tcPr marL="84083" marR="84083" marT="42041" marB="42041" anchor="ctr">
                    <a:lnL>
                      <a:noFill/>
                    </a:lnL>
                    <a:lnR>
                      <a:noFill/>
                    </a:lnR>
                    <a:lnT>
                      <a:noFill/>
                    </a:lnT>
                    <a:lnB>
                      <a:noFill/>
                    </a:lnB>
                  </a:tcPr>
                </a:tc>
                <a:tc>
                  <a:txBody>
                    <a:bodyPr/>
                    <a:lstStyle/>
                    <a:p>
                      <a:r>
                        <a:rPr lang="en-US" sz="1700"/>
                        <a:t>Best for complex data (images, databases, structured records)</a:t>
                      </a:r>
                    </a:p>
                  </a:txBody>
                  <a:tcPr marL="84083" marR="84083" marT="42041" marB="42041" anchor="ctr">
                    <a:lnL>
                      <a:noFill/>
                    </a:lnL>
                    <a:lnR>
                      <a:noFill/>
                    </a:lnR>
                    <a:lnT>
                      <a:noFill/>
                    </a:lnT>
                    <a:lnB>
                      <a:noFill/>
                    </a:lnB>
                  </a:tcPr>
                </a:tc>
              </a:tr>
              <a:tr h="588579">
                <a:tc>
                  <a:txBody>
                    <a:bodyPr/>
                    <a:lstStyle/>
                    <a:p>
                      <a:r>
                        <a:rPr lang="en-IN" sz="1700" b="1"/>
                        <a:t>Speed</a:t>
                      </a:r>
                      <a:endParaRPr lang="en-IN" sz="1700"/>
                    </a:p>
                  </a:txBody>
                  <a:tcPr marL="84083" marR="84083" marT="42041" marB="42041" anchor="ctr">
                    <a:lnL>
                      <a:noFill/>
                    </a:lnL>
                    <a:lnR>
                      <a:noFill/>
                    </a:lnR>
                    <a:lnT>
                      <a:noFill/>
                    </a:lnT>
                    <a:lnB>
                      <a:noFill/>
                    </a:lnB>
                  </a:tcPr>
                </a:tc>
                <a:tc>
                  <a:txBody>
                    <a:bodyPr/>
                    <a:lstStyle/>
                    <a:p>
                      <a:r>
                        <a:rPr lang="en-US" sz="1700"/>
                        <a:t>Slower (requires parsing and formatting)</a:t>
                      </a:r>
                    </a:p>
                  </a:txBody>
                  <a:tcPr marL="84083" marR="84083" marT="42041" marB="42041" anchor="ctr">
                    <a:lnL>
                      <a:noFill/>
                    </a:lnL>
                    <a:lnR>
                      <a:noFill/>
                    </a:lnR>
                    <a:lnT>
                      <a:noFill/>
                    </a:lnT>
                    <a:lnB>
                      <a:noFill/>
                    </a:lnB>
                  </a:tcPr>
                </a:tc>
                <a:tc>
                  <a:txBody>
                    <a:bodyPr/>
                    <a:lstStyle/>
                    <a:p>
                      <a:r>
                        <a:rPr lang="en-IN" sz="1700"/>
                        <a:t>Faster (direct memory-to-file storage)</a:t>
                      </a:r>
                    </a:p>
                  </a:txBody>
                  <a:tcPr marL="84083" marR="84083" marT="42041" marB="42041" anchor="ctr">
                    <a:lnL>
                      <a:noFill/>
                    </a:lnL>
                    <a:lnR>
                      <a:noFill/>
                    </a:lnR>
                    <a:lnT>
                      <a:noFill/>
                    </a:lnT>
                    <a:lnB>
                      <a:noFill/>
                    </a:lnB>
                  </a:tcPr>
                </a:tc>
              </a:tr>
              <a:tr h="840828">
                <a:tc>
                  <a:txBody>
                    <a:bodyPr/>
                    <a:lstStyle/>
                    <a:p>
                      <a:r>
                        <a:rPr lang="en-IN" sz="1700" b="1"/>
                        <a:t>Portability</a:t>
                      </a:r>
                      <a:endParaRPr lang="en-IN" sz="1700"/>
                    </a:p>
                  </a:txBody>
                  <a:tcPr marL="84083" marR="84083" marT="42041" marB="42041" anchor="ctr">
                    <a:lnL>
                      <a:noFill/>
                    </a:lnL>
                    <a:lnR>
                      <a:noFill/>
                    </a:lnR>
                    <a:lnT>
                      <a:noFill/>
                    </a:lnT>
                    <a:lnB>
                      <a:noFill/>
                    </a:lnB>
                  </a:tcPr>
                </a:tc>
                <a:tc>
                  <a:txBody>
                    <a:bodyPr/>
                    <a:lstStyle/>
                    <a:p>
                      <a:r>
                        <a:rPr lang="en-US" sz="1700"/>
                        <a:t>Can be easily viewed/edited with text editors</a:t>
                      </a:r>
                    </a:p>
                  </a:txBody>
                  <a:tcPr marL="84083" marR="84083" marT="42041" marB="42041" anchor="ctr">
                    <a:lnL>
                      <a:noFill/>
                    </a:lnL>
                    <a:lnR>
                      <a:noFill/>
                    </a:lnR>
                    <a:lnT>
                      <a:noFill/>
                    </a:lnT>
                    <a:lnB>
                      <a:noFill/>
                    </a:lnB>
                  </a:tcPr>
                </a:tc>
                <a:tc>
                  <a:txBody>
                    <a:bodyPr/>
                    <a:lstStyle/>
                    <a:p>
                      <a:r>
                        <a:rPr lang="en-US" sz="1700"/>
                        <a:t>Cannot be directly edited; requires specific programs</a:t>
                      </a:r>
                    </a:p>
                  </a:txBody>
                  <a:tcPr marL="84083" marR="84083" marT="42041" marB="42041" anchor="ctr">
                    <a:lnL>
                      <a:noFill/>
                    </a:lnL>
                    <a:lnR>
                      <a:noFill/>
                    </a:lnR>
                    <a:lnT>
                      <a:noFill/>
                    </a:lnT>
                    <a:lnB>
                      <a:noFill/>
                    </a:lnB>
                  </a:tcPr>
                </a:tc>
              </a:tr>
              <a:tr h="840828">
                <a:tc>
                  <a:txBody>
                    <a:bodyPr/>
                    <a:lstStyle/>
                    <a:p>
                      <a:r>
                        <a:rPr lang="en-IN" sz="1700" b="1"/>
                        <a:t>Precision</a:t>
                      </a:r>
                      <a:endParaRPr lang="en-IN" sz="1700"/>
                    </a:p>
                  </a:txBody>
                  <a:tcPr marL="84083" marR="84083" marT="42041" marB="42041" anchor="ctr">
                    <a:lnL>
                      <a:noFill/>
                    </a:lnL>
                    <a:lnR>
                      <a:noFill/>
                    </a:lnR>
                    <a:lnT>
                      <a:noFill/>
                    </a:lnT>
                    <a:lnB>
                      <a:noFill/>
                    </a:lnB>
                  </a:tcPr>
                </a:tc>
                <a:tc>
                  <a:txBody>
                    <a:bodyPr/>
                    <a:lstStyle/>
                    <a:p>
                      <a:r>
                        <a:rPr lang="en-US" sz="1700"/>
                        <a:t>Might alter data due to newline or encoding differences</a:t>
                      </a:r>
                    </a:p>
                  </a:txBody>
                  <a:tcPr marL="84083" marR="84083" marT="42041" marB="42041" anchor="ctr">
                    <a:lnL>
                      <a:noFill/>
                    </a:lnL>
                    <a:lnR>
                      <a:noFill/>
                    </a:lnR>
                    <a:lnT>
                      <a:noFill/>
                    </a:lnT>
                    <a:lnB>
                      <a:noFill/>
                    </a:lnB>
                  </a:tcPr>
                </a:tc>
                <a:tc>
                  <a:txBody>
                    <a:bodyPr/>
                    <a:lstStyle/>
                    <a:p>
                      <a:r>
                        <a:rPr lang="en-US" sz="1700"/>
                        <a:t>Stores exact binary representation, preserving structure</a:t>
                      </a:r>
                    </a:p>
                  </a:txBody>
                  <a:tcPr marL="84083" marR="84083" marT="42041" marB="42041" anchor="ctr">
                    <a:lnL>
                      <a:noFill/>
                    </a:lnL>
                    <a:lnR>
                      <a:noFill/>
                    </a:lnR>
                    <a:lnT>
                      <a:noFill/>
                    </a:lnT>
                    <a:lnB>
                      <a:noFill/>
                    </a:lnB>
                  </a:tcPr>
                </a:tc>
              </a:tr>
              <a:tr h="588579">
                <a:tc>
                  <a:txBody>
                    <a:bodyPr/>
                    <a:lstStyle/>
                    <a:p>
                      <a:r>
                        <a:rPr lang="en-IN" sz="1700" b="1"/>
                        <a:t>Functions Used</a:t>
                      </a:r>
                      <a:endParaRPr lang="en-IN" sz="1700"/>
                    </a:p>
                  </a:txBody>
                  <a:tcPr marL="84083" marR="84083" marT="42041" marB="42041" anchor="ctr">
                    <a:lnL>
                      <a:noFill/>
                    </a:lnL>
                    <a:lnR>
                      <a:noFill/>
                    </a:lnR>
                    <a:lnT>
                      <a:noFill/>
                    </a:lnT>
                    <a:lnB>
                      <a:noFill/>
                    </a:lnB>
                  </a:tcPr>
                </a:tc>
                <a:tc>
                  <a:txBody>
                    <a:bodyPr/>
                    <a:lstStyle/>
                    <a:p>
                      <a:r>
                        <a:rPr lang="en-IN" sz="1700"/>
                        <a:t>fprintf(), fscanf(), fputs(), fgets()</a:t>
                      </a:r>
                    </a:p>
                  </a:txBody>
                  <a:tcPr marL="84083" marR="84083" marT="42041" marB="42041" anchor="ctr">
                    <a:lnL>
                      <a:noFill/>
                    </a:lnL>
                    <a:lnR>
                      <a:noFill/>
                    </a:lnR>
                    <a:lnT>
                      <a:noFill/>
                    </a:lnT>
                    <a:lnB>
                      <a:noFill/>
                    </a:lnB>
                  </a:tcPr>
                </a:tc>
                <a:tc>
                  <a:txBody>
                    <a:bodyPr/>
                    <a:lstStyle/>
                    <a:p>
                      <a:r>
                        <a:rPr lang="en-IN" sz="1700" dirty="0" err="1"/>
                        <a:t>fwrite</a:t>
                      </a:r>
                      <a:r>
                        <a:rPr lang="en-IN" sz="1700" dirty="0"/>
                        <a:t>(), </a:t>
                      </a:r>
                      <a:r>
                        <a:rPr lang="en-IN" sz="1700" dirty="0" err="1"/>
                        <a:t>fread</a:t>
                      </a:r>
                      <a:r>
                        <a:rPr lang="en-IN" sz="1700" dirty="0"/>
                        <a:t>(), </a:t>
                      </a:r>
                      <a:r>
                        <a:rPr lang="en-IN" sz="1700" dirty="0" err="1"/>
                        <a:t>fseek</a:t>
                      </a:r>
                      <a:r>
                        <a:rPr lang="en-IN" sz="1700" dirty="0"/>
                        <a:t>(), </a:t>
                      </a:r>
                      <a:r>
                        <a:rPr lang="en-IN" sz="1700" dirty="0" err="1"/>
                        <a:t>ftell</a:t>
                      </a:r>
                      <a:r>
                        <a:rPr lang="en-IN" sz="1700" dirty="0"/>
                        <a:t>()</a:t>
                      </a:r>
                    </a:p>
                  </a:txBody>
                  <a:tcPr marL="84083" marR="84083" marT="42041" marB="42041" anchor="ctr">
                    <a:lnL>
                      <a:noFill/>
                    </a:lnL>
                    <a:lnR>
                      <a:noFill/>
                    </a:lnR>
                    <a:lnT>
                      <a:noFill/>
                    </a:lnT>
                    <a:lnB>
                      <a:noFill/>
                    </a:lnB>
                  </a:tcPr>
                </a:tc>
              </a:tr>
            </a:tbl>
          </a:graphicData>
        </a:graphic>
      </p:graphicFrame>
    </p:spTree>
    <p:extLst>
      <p:ext uri="{BB962C8B-B14F-4D97-AF65-F5344CB8AC3E}">
        <p14:creationId xmlns:p14="http://schemas.microsoft.com/office/powerpoint/2010/main" val="807997311"/>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Writing and Reading Text Files</a:t>
            </a:r>
            <a:endParaRPr lang="en-IN" dirty="0"/>
          </a:p>
        </p:txBody>
      </p:sp>
      <p:sp>
        <p:nvSpPr>
          <p:cNvPr id="3" name="Content Placeholder 2"/>
          <p:cNvSpPr>
            <a:spLocks noGrp="1"/>
          </p:cNvSpPr>
          <p:nvPr>
            <p:ph idx="1"/>
          </p:nvPr>
        </p:nvSpPr>
        <p:spPr/>
        <p:txBody>
          <a:bodyPr>
            <a:normAutofit fontScale="55000" lnSpcReduction="20000"/>
          </a:bodyPr>
          <a:lstStyle/>
          <a:p>
            <a:pPr marL="0" indent="0">
              <a:buNone/>
            </a:pPr>
            <a:r>
              <a:rPr lang="en-IN" sz="2900" dirty="0"/>
              <a:t>#include &lt;</a:t>
            </a:r>
            <a:r>
              <a:rPr lang="en-IN" sz="2900" dirty="0" err="1"/>
              <a:t>stdio.h</a:t>
            </a:r>
            <a:r>
              <a:rPr lang="en-IN" sz="2900" dirty="0"/>
              <a:t>&gt;</a:t>
            </a:r>
          </a:p>
          <a:p>
            <a:pPr marL="0" indent="0">
              <a:buNone/>
            </a:pPr>
            <a:endParaRPr lang="en-IN" sz="2900" dirty="0"/>
          </a:p>
          <a:p>
            <a:pPr marL="0" indent="0">
              <a:buNone/>
            </a:pPr>
            <a:r>
              <a:rPr lang="en-IN" sz="2900" dirty="0" err="1"/>
              <a:t>int</a:t>
            </a:r>
            <a:r>
              <a:rPr lang="en-IN" sz="2900" dirty="0"/>
              <a:t> main() {</a:t>
            </a:r>
          </a:p>
          <a:p>
            <a:pPr marL="0" indent="0">
              <a:buNone/>
            </a:pPr>
            <a:r>
              <a:rPr lang="en-IN" sz="2900" dirty="0"/>
              <a:t>    FILE *file = </a:t>
            </a:r>
            <a:r>
              <a:rPr lang="en-IN" sz="2900" dirty="0" err="1"/>
              <a:t>fopen</a:t>
            </a:r>
            <a:r>
              <a:rPr lang="en-IN" sz="2900" dirty="0"/>
              <a:t>("data.txt", "w");</a:t>
            </a:r>
          </a:p>
          <a:p>
            <a:pPr marL="0" indent="0">
              <a:buNone/>
            </a:pPr>
            <a:r>
              <a:rPr lang="en-IN" sz="2900" dirty="0"/>
              <a:t>    </a:t>
            </a:r>
            <a:r>
              <a:rPr lang="en-IN" sz="2900" dirty="0" err="1"/>
              <a:t>fprintf</a:t>
            </a:r>
            <a:r>
              <a:rPr lang="en-IN" sz="2900" dirty="0"/>
              <a:t>(file, "ID: %d, Name: %s, Salary: %.2f\n", 101, "Alice", 50000.5);</a:t>
            </a:r>
          </a:p>
          <a:p>
            <a:pPr marL="0" indent="0">
              <a:buNone/>
            </a:pPr>
            <a:r>
              <a:rPr lang="en-IN" sz="2900" dirty="0"/>
              <a:t>    </a:t>
            </a:r>
            <a:r>
              <a:rPr lang="en-IN" sz="2900" dirty="0" err="1"/>
              <a:t>fclose</a:t>
            </a:r>
            <a:r>
              <a:rPr lang="en-IN" sz="2900" dirty="0"/>
              <a:t>(file);</a:t>
            </a:r>
          </a:p>
          <a:p>
            <a:pPr marL="0" indent="0">
              <a:buNone/>
            </a:pPr>
            <a:endParaRPr lang="en-IN" sz="2900" dirty="0"/>
          </a:p>
          <a:p>
            <a:pPr marL="0" indent="0">
              <a:buNone/>
            </a:pPr>
            <a:r>
              <a:rPr lang="en-IN" sz="2900" dirty="0"/>
              <a:t>    file = </a:t>
            </a:r>
            <a:r>
              <a:rPr lang="en-IN" sz="2900" dirty="0" err="1"/>
              <a:t>fopen</a:t>
            </a:r>
            <a:r>
              <a:rPr lang="en-IN" sz="2900" dirty="0"/>
              <a:t>("data.txt", "r");</a:t>
            </a:r>
          </a:p>
          <a:p>
            <a:pPr marL="0" indent="0">
              <a:buNone/>
            </a:pPr>
            <a:r>
              <a:rPr lang="en-IN" sz="2900" dirty="0"/>
              <a:t>    </a:t>
            </a:r>
            <a:r>
              <a:rPr lang="en-IN" sz="2900" dirty="0" err="1"/>
              <a:t>int</a:t>
            </a:r>
            <a:r>
              <a:rPr lang="en-IN" sz="2900" dirty="0"/>
              <a:t> id;</a:t>
            </a:r>
          </a:p>
          <a:p>
            <a:pPr marL="0" indent="0">
              <a:buNone/>
            </a:pPr>
            <a:r>
              <a:rPr lang="en-IN" sz="2900" dirty="0"/>
              <a:t>    char name[20];</a:t>
            </a:r>
          </a:p>
          <a:p>
            <a:pPr marL="0" indent="0">
              <a:buNone/>
            </a:pPr>
            <a:r>
              <a:rPr lang="en-IN" sz="2900" dirty="0"/>
              <a:t>    float salary;</a:t>
            </a:r>
          </a:p>
          <a:p>
            <a:pPr marL="0" indent="0">
              <a:buNone/>
            </a:pPr>
            <a:r>
              <a:rPr lang="en-IN" sz="2900" dirty="0"/>
              <a:t>    </a:t>
            </a:r>
            <a:r>
              <a:rPr lang="en-IN" sz="2900" dirty="0" err="1"/>
              <a:t>fscanf</a:t>
            </a:r>
            <a:r>
              <a:rPr lang="en-IN" sz="2900" dirty="0"/>
              <a:t>(file, "ID: %d, Name: %s, Salary: %f", &amp;id, name, &amp;salary);</a:t>
            </a:r>
          </a:p>
          <a:p>
            <a:pPr marL="0" indent="0">
              <a:buNone/>
            </a:pPr>
            <a:r>
              <a:rPr lang="en-IN" sz="2900" dirty="0"/>
              <a:t>    </a:t>
            </a:r>
            <a:r>
              <a:rPr lang="en-IN" sz="2900" dirty="0" err="1"/>
              <a:t>fclose</a:t>
            </a:r>
            <a:r>
              <a:rPr lang="en-IN" sz="2900" dirty="0"/>
              <a:t>(file);</a:t>
            </a:r>
          </a:p>
          <a:p>
            <a:pPr marL="0" indent="0">
              <a:buNone/>
            </a:pPr>
            <a:endParaRPr lang="en-IN" sz="2900" dirty="0"/>
          </a:p>
          <a:p>
            <a:pPr marL="0" indent="0">
              <a:buNone/>
            </a:pPr>
            <a:r>
              <a:rPr lang="en-IN" sz="2900" dirty="0"/>
              <a:t>    </a:t>
            </a:r>
            <a:r>
              <a:rPr lang="en-IN" sz="2900" dirty="0" err="1"/>
              <a:t>printf</a:t>
            </a:r>
            <a:r>
              <a:rPr lang="en-IN" sz="2900" dirty="0"/>
              <a:t>("Read from text file: ID=%d, Name=%s, Salary=%.2f\n", id, name, salary);</a:t>
            </a:r>
          </a:p>
          <a:p>
            <a:pPr marL="0" indent="0">
              <a:buNone/>
            </a:pPr>
            <a:r>
              <a:rPr lang="en-IN" sz="2900" dirty="0"/>
              <a:t>    return 0;</a:t>
            </a:r>
          </a:p>
          <a:p>
            <a:pPr marL="0" indent="0">
              <a:buNone/>
            </a:pPr>
            <a:r>
              <a:rPr lang="en-IN" sz="2900" dirty="0"/>
              <a:t>}</a:t>
            </a:r>
          </a:p>
          <a:p>
            <a:pPr marL="0" indent="0">
              <a:buNone/>
            </a:pPr>
            <a:r>
              <a:rPr lang="en-US" sz="3300" dirty="0">
                <a:solidFill>
                  <a:srgbClr val="FF0000"/>
                </a:solidFill>
              </a:rPr>
              <a:t>Data</a:t>
            </a:r>
            <a:r>
              <a:rPr lang="en-US" sz="3600" dirty="0">
                <a:solidFill>
                  <a:srgbClr val="FF0000"/>
                </a:solidFill>
              </a:rPr>
              <a:t> </a:t>
            </a:r>
            <a:r>
              <a:rPr lang="en-US" sz="2900" dirty="0">
                <a:solidFill>
                  <a:srgbClr val="FF0000"/>
                </a:solidFill>
              </a:rPr>
              <a:t>stored in human-readable format </a:t>
            </a:r>
          </a:p>
          <a:p>
            <a:pPr marL="0" indent="0">
              <a:buNone/>
            </a:pPr>
            <a:r>
              <a:rPr lang="en-US" sz="2900" dirty="0" smtClean="0">
                <a:solidFill>
                  <a:srgbClr val="FF0000"/>
                </a:solidFill>
              </a:rPr>
              <a:t>Requires </a:t>
            </a:r>
            <a:r>
              <a:rPr lang="en-US" sz="2900" b="1" dirty="0">
                <a:solidFill>
                  <a:srgbClr val="FF0000"/>
                </a:solidFill>
              </a:rPr>
              <a:t>formatting</a:t>
            </a:r>
            <a:r>
              <a:rPr lang="en-US" sz="2900" dirty="0">
                <a:solidFill>
                  <a:srgbClr val="FF0000"/>
                </a:solidFill>
              </a:rPr>
              <a:t> during input/output</a:t>
            </a:r>
            <a:endParaRPr lang="en-IN" sz="2900" dirty="0">
              <a:solidFill>
                <a:srgbClr val="FF0000"/>
              </a:solidFill>
            </a:endParaRPr>
          </a:p>
        </p:txBody>
      </p:sp>
    </p:spTree>
    <p:extLst>
      <p:ext uri="{BB962C8B-B14F-4D97-AF65-F5344CB8AC3E}">
        <p14:creationId xmlns:p14="http://schemas.microsoft.com/office/powerpoint/2010/main" val="1510893319"/>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dirty="0"/>
              <a:t>Writing and Reading Binary </a:t>
            </a:r>
            <a:r>
              <a:rPr lang="en-US" b="1" dirty="0" smtClean="0"/>
              <a:t>Files</a:t>
            </a:r>
            <a:endParaRPr lang="en-IN" dirty="0"/>
          </a:p>
        </p:txBody>
      </p:sp>
      <p:sp>
        <p:nvSpPr>
          <p:cNvPr id="3" name="Content Placeholder 2"/>
          <p:cNvSpPr>
            <a:spLocks noGrp="1"/>
          </p:cNvSpPr>
          <p:nvPr>
            <p:ph idx="1"/>
          </p:nvPr>
        </p:nvSpPr>
        <p:spPr>
          <a:xfrm>
            <a:off x="0" y="1600200"/>
            <a:ext cx="9108504" cy="4876800"/>
          </a:xfrm>
        </p:spPr>
        <p:txBody>
          <a:bodyPr>
            <a:normAutofit fontScale="62500" lnSpcReduction="20000"/>
          </a:bodyPr>
          <a:lstStyle/>
          <a:p>
            <a:pPr marL="0" indent="0">
              <a:buNone/>
            </a:pPr>
            <a:r>
              <a:rPr lang="en-IN" dirty="0"/>
              <a:t>#include &lt;</a:t>
            </a:r>
            <a:r>
              <a:rPr lang="en-IN" dirty="0" err="1"/>
              <a:t>stdio.h</a:t>
            </a:r>
            <a:r>
              <a:rPr lang="en-IN" dirty="0"/>
              <a:t>&gt;</a:t>
            </a:r>
          </a:p>
          <a:p>
            <a:pPr marL="0" indent="0">
              <a:buNone/>
            </a:pPr>
            <a:r>
              <a:rPr lang="en-IN" dirty="0" err="1" smtClean="0"/>
              <a:t>struct</a:t>
            </a:r>
            <a:r>
              <a:rPr lang="en-IN" dirty="0" smtClean="0"/>
              <a:t> </a:t>
            </a:r>
            <a:r>
              <a:rPr lang="en-IN" dirty="0"/>
              <a:t>Employee {</a:t>
            </a:r>
          </a:p>
          <a:p>
            <a:pPr marL="0" indent="0">
              <a:buNone/>
            </a:pPr>
            <a:r>
              <a:rPr lang="en-IN" dirty="0"/>
              <a:t>    </a:t>
            </a:r>
            <a:r>
              <a:rPr lang="en-IN" dirty="0" err="1"/>
              <a:t>int</a:t>
            </a:r>
            <a:r>
              <a:rPr lang="en-IN" dirty="0"/>
              <a:t> id;</a:t>
            </a:r>
          </a:p>
          <a:p>
            <a:pPr marL="0" indent="0">
              <a:buNone/>
            </a:pPr>
            <a:r>
              <a:rPr lang="en-IN" dirty="0"/>
              <a:t>    char name[20];</a:t>
            </a:r>
          </a:p>
          <a:p>
            <a:pPr marL="0" indent="0">
              <a:buNone/>
            </a:pPr>
            <a:r>
              <a:rPr lang="en-IN" dirty="0"/>
              <a:t>    float salary;</a:t>
            </a:r>
          </a:p>
          <a:p>
            <a:pPr marL="0" indent="0">
              <a:buNone/>
            </a:pPr>
            <a:r>
              <a:rPr lang="en-IN" dirty="0"/>
              <a:t>};</a:t>
            </a:r>
          </a:p>
          <a:p>
            <a:pPr marL="0" indent="0">
              <a:buNone/>
            </a:pPr>
            <a:r>
              <a:rPr lang="en-IN" dirty="0" err="1" smtClean="0"/>
              <a:t>int</a:t>
            </a:r>
            <a:r>
              <a:rPr lang="en-IN" dirty="0" smtClean="0"/>
              <a:t> </a:t>
            </a:r>
            <a:r>
              <a:rPr lang="en-IN" dirty="0"/>
              <a:t>main() {</a:t>
            </a:r>
          </a:p>
          <a:p>
            <a:pPr marL="0" indent="0">
              <a:buNone/>
            </a:pPr>
            <a:r>
              <a:rPr lang="en-IN" dirty="0"/>
              <a:t>    FILE *file = </a:t>
            </a:r>
            <a:r>
              <a:rPr lang="en-IN" dirty="0" err="1"/>
              <a:t>fopen</a:t>
            </a:r>
            <a:r>
              <a:rPr lang="en-IN" dirty="0"/>
              <a:t>("</a:t>
            </a:r>
            <a:r>
              <a:rPr lang="en-IN" dirty="0" err="1"/>
              <a:t>data.bin</a:t>
            </a:r>
            <a:r>
              <a:rPr lang="en-IN" dirty="0"/>
              <a:t>", "</a:t>
            </a:r>
            <a:r>
              <a:rPr lang="en-IN" dirty="0" err="1"/>
              <a:t>wb</a:t>
            </a:r>
            <a:r>
              <a:rPr lang="en-IN" dirty="0"/>
              <a:t>");</a:t>
            </a:r>
          </a:p>
          <a:p>
            <a:pPr marL="0" indent="0">
              <a:buNone/>
            </a:pPr>
            <a:r>
              <a:rPr lang="en-IN" dirty="0" smtClean="0"/>
              <a:t>    </a:t>
            </a:r>
            <a:r>
              <a:rPr lang="en-IN" dirty="0" err="1"/>
              <a:t>struct</a:t>
            </a:r>
            <a:r>
              <a:rPr lang="en-IN" dirty="0"/>
              <a:t> Employee </a:t>
            </a:r>
            <a:r>
              <a:rPr lang="en-IN" dirty="0" err="1"/>
              <a:t>emp</a:t>
            </a:r>
            <a:r>
              <a:rPr lang="en-IN" dirty="0"/>
              <a:t> = {101, "Alice", 50000.5};</a:t>
            </a:r>
          </a:p>
          <a:p>
            <a:pPr marL="0" indent="0">
              <a:buNone/>
            </a:pPr>
            <a:r>
              <a:rPr lang="en-IN" dirty="0"/>
              <a:t>    </a:t>
            </a:r>
            <a:r>
              <a:rPr lang="en-IN" dirty="0" err="1"/>
              <a:t>fwrite</a:t>
            </a:r>
            <a:r>
              <a:rPr lang="en-IN" dirty="0"/>
              <a:t>(&amp;</a:t>
            </a:r>
            <a:r>
              <a:rPr lang="en-IN" dirty="0" err="1"/>
              <a:t>emp</a:t>
            </a:r>
            <a:r>
              <a:rPr lang="en-IN" dirty="0"/>
              <a:t>, </a:t>
            </a:r>
            <a:r>
              <a:rPr lang="en-IN" dirty="0" err="1"/>
              <a:t>sizeof</a:t>
            </a:r>
            <a:r>
              <a:rPr lang="en-IN" dirty="0"/>
              <a:t>(</a:t>
            </a:r>
            <a:r>
              <a:rPr lang="en-IN" dirty="0" err="1"/>
              <a:t>struct</a:t>
            </a:r>
            <a:r>
              <a:rPr lang="en-IN" dirty="0"/>
              <a:t> Employee), 1, file);</a:t>
            </a:r>
          </a:p>
          <a:p>
            <a:pPr marL="0" indent="0">
              <a:buNone/>
            </a:pPr>
            <a:r>
              <a:rPr lang="en-IN" dirty="0"/>
              <a:t>    </a:t>
            </a:r>
            <a:r>
              <a:rPr lang="en-IN" dirty="0" err="1"/>
              <a:t>fclose</a:t>
            </a:r>
            <a:r>
              <a:rPr lang="en-IN" dirty="0"/>
              <a:t>(file);</a:t>
            </a:r>
          </a:p>
          <a:p>
            <a:pPr marL="0" indent="0">
              <a:buNone/>
            </a:pPr>
            <a:r>
              <a:rPr lang="en-IN" dirty="0" smtClean="0"/>
              <a:t>    </a:t>
            </a:r>
            <a:r>
              <a:rPr lang="en-IN" dirty="0"/>
              <a:t>file = </a:t>
            </a:r>
            <a:r>
              <a:rPr lang="en-IN" dirty="0" err="1"/>
              <a:t>fopen</a:t>
            </a:r>
            <a:r>
              <a:rPr lang="en-IN" dirty="0"/>
              <a:t>("</a:t>
            </a:r>
            <a:r>
              <a:rPr lang="en-IN" dirty="0" err="1"/>
              <a:t>data.bin</a:t>
            </a:r>
            <a:r>
              <a:rPr lang="en-IN" dirty="0"/>
              <a:t>", "</a:t>
            </a:r>
            <a:r>
              <a:rPr lang="en-IN" dirty="0" err="1"/>
              <a:t>rb</a:t>
            </a:r>
            <a:r>
              <a:rPr lang="en-IN" dirty="0"/>
              <a:t>");</a:t>
            </a:r>
          </a:p>
          <a:p>
            <a:pPr marL="0" indent="0">
              <a:buNone/>
            </a:pPr>
            <a:r>
              <a:rPr lang="en-IN" dirty="0"/>
              <a:t>    </a:t>
            </a:r>
            <a:r>
              <a:rPr lang="en-IN" dirty="0" err="1"/>
              <a:t>struct</a:t>
            </a:r>
            <a:r>
              <a:rPr lang="en-IN" dirty="0"/>
              <a:t> Employee </a:t>
            </a:r>
            <a:r>
              <a:rPr lang="en-IN" dirty="0" err="1"/>
              <a:t>readEmp</a:t>
            </a:r>
            <a:r>
              <a:rPr lang="en-IN" dirty="0"/>
              <a:t>;</a:t>
            </a:r>
          </a:p>
          <a:p>
            <a:pPr marL="0" indent="0">
              <a:buNone/>
            </a:pPr>
            <a:r>
              <a:rPr lang="en-IN" dirty="0"/>
              <a:t>    </a:t>
            </a:r>
            <a:r>
              <a:rPr lang="en-IN" dirty="0" err="1"/>
              <a:t>fread</a:t>
            </a:r>
            <a:r>
              <a:rPr lang="en-IN" dirty="0"/>
              <a:t>(&amp;</a:t>
            </a:r>
            <a:r>
              <a:rPr lang="en-IN" dirty="0" err="1"/>
              <a:t>readEmp</a:t>
            </a:r>
            <a:r>
              <a:rPr lang="en-IN" dirty="0"/>
              <a:t>, </a:t>
            </a:r>
            <a:r>
              <a:rPr lang="en-IN" dirty="0" err="1"/>
              <a:t>sizeof</a:t>
            </a:r>
            <a:r>
              <a:rPr lang="en-IN" dirty="0"/>
              <a:t>(</a:t>
            </a:r>
            <a:r>
              <a:rPr lang="en-IN" dirty="0" err="1"/>
              <a:t>struct</a:t>
            </a:r>
            <a:r>
              <a:rPr lang="en-IN" dirty="0"/>
              <a:t> Employee), 1, file);</a:t>
            </a:r>
          </a:p>
          <a:p>
            <a:pPr marL="0" indent="0">
              <a:buNone/>
            </a:pPr>
            <a:r>
              <a:rPr lang="en-IN" dirty="0"/>
              <a:t>    </a:t>
            </a:r>
            <a:r>
              <a:rPr lang="en-IN" dirty="0" err="1"/>
              <a:t>fclose</a:t>
            </a:r>
            <a:r>
              <a:rPr lang="en-IN" dirty="0"/>
              <a:t>(file);</a:t>
            </a:r>
          </a:p>
          <a:p>
            <a:pPr marL="0" indent="0">
              <a:buNone/>
            </a:pPr>
            <a:r>
              <a:rPr lang="en-IN" dirty="0" smtClean="0"/>
              <a:t>    </a:t>
            </a:r>
            <a:r>
              <a:rPr lang="en-IN" dirty="0" err="1"/>
              <a:t>printf</a:t>
            </a:r>
            <a:r>
              <a:rPr lang="en-IN" dirty="0"/>
              <a:t>("Read from binary file: ID=%d, Name=%s, Salary=%.2f\n", readEmp.id, readEmp.name, </a:t>
            </a:r>
            <a:r>
              <a:rPr lang="en-IN" dirty="0" err="1"/>
              <a:t>readEmp.salary</a:t>
            </a:r>
            <a:r>
              <a:rPr lang="en-IN" dirty="0"/>
              <a:t>);</a:t>
            </a:r>
          </a:p>
          <a:p>
            <a:pPr marL="0" indent="0">
              <a:buNone/>
            </a:pPr>
            <a:r>
              <a:rPr lang="en-IN" dirty="0"/>
              <a:t>    return 0;</a:t>
            </a:r>
          </a:p>
          <a:p>
            <a:pPr marL="0" indent="0">
              <a:buNone/>
            </a:pPr>
            <a:r>
              <a:rPr lang="en-IN" dirty="0"/>
              <a:t>}</a:t>
            </a:r>
          </a:p>
          <a:p>
            <a:endParaRPr lang="en-IN" dirty="0"/>
          </a:p>
        </p:txBody>
      </p:sp>
      <p:sp>
        <p:nvSpPr>
          <p:cNvPr id="4" name="TextBox 3"/>
          <p:cNvSpPr txBox="1"/>
          <p:nvPr/>
        </p:nvSpPr>
        <p:spPr>
          <a:xfrm>
            <a:off x="4067944" y="1484784"/>
            <a:ext cx="4176464" cy="646331"/>
          </a:xfrm>
          <a:prstGeom prst="rect">
            <a:avLst/>
          </a:prstGeom>
          <a:noFill/>
        </p:spPr>
        <p:txBody>
          <a:bodyPr wrap="square" rtlCol="0">
            <a:spAutoFit/>
          </a:bodyPr>
          <a:lstStyle/>
          <a:p>
            <a:r>
              <a:rPr lang="en-US" dirty="0"/>
              <a:t>No formatting required </a:t>
            </a:r>
            <a:r>
              <a:rPr lang="en-US" dirty="0" smtClean="0"/>
              <a:t> </a:t>
            </a:r>
          </a:p>
          <a:p>
            <a:r>
              <a:rPr lang="en-US" dirty="0" smtClean="0"/>
              <a:t>Stores </a:t>
            </a:r>
            <a:r>
              <a:rPr lang="en-US" b="1" dirty="0"/>
              <a:t>raw memory representation</a:t>
            </a:r>
            <a:endParaRPr lang="en-IN" dirty="0"/>
          </a:p>
        </p:txBody>
      </p:sp>
    </p:spTree>
    <p:extLst>
      <p:ext uri="{BB962C8B-B14F-4D97-AF65-F5344CB8AC3E}">
        <p14:creationId xmlns:p14="http://schemas.microsoft.com/office/powerpoint/2010/main" val="3212166692"/>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b="1" dirty="0"/>
              <a:t>File Positioning </a:t>
            </a:r>
            <a:r>
              <a:rPr lang="en-IN" b="1" dirty="0" smtClean="0"/>
              <a:t>Functions</a:t>
            </a:r>
            <a:endParaRPr lang="en-IN" dirty="0"/>
          </a:p>
        </p:txBody>
      </p:sp>
      <p:sp>
        <p:nvSpPr>
          <p:cNvPr id="3" name="Content Placeholder 2"/>
          <p:cNvSpPr>
            <a:spLocks noGrp="1"/>
          </p:cNvSpPr>
          <p:nvPr>
            <p:ph idx="1"/>
          </p:nvPr>
        </p:nvSpPr>
        <p:spPr/>
        <p:txBody>
          <a:bodyPr>
            <a:normAutofit/>
          </a:bodyPr>
          <a:lstStyle/>
          <a:p>
            <a:r>
              <a:rPr lang="en-US" dirty="0" err="1"/>
              <a:t>fseek</a:t>
            </a:r>
            <a:r>
              <a:rPr lang="en-US" dirty="0"/>
              <a:t>(</a:t>
            </a:r>
            <a:r>
              <a:rPr lang="en-US" dirty="0" err="1"/>
              <a:t>fp</a:t>
            </a:r>
            <a:r>
              <a:rPr lang="en-US" dirty="0"/>
              <a:t>, offset, position) – Moves file pointer</a:t>
            </a:r>
          </a:p>
          <a:p>
            <a:r>
              <a:rPr lang="en-US" dirty="0" err="1"/>
              <a:t>ftell</a:t>
            </a:r>
            <a:r>
              <a:rPr lang="en-US" dirty="0"/>
              <a:t>(</a:t>
            </a:r>
            <a:r>
              <a:rPr lang="en-US" dirty="0" err="1"/>
              <a:t>fp</a:t>
            </a:r>
            <a:r>
              <a:rPr lang="en-US" dirty="0"/>
              <a:t>) – Returns current position</a:t>
            </a:r>
          </a:p>
          <a:p>
            <a:r>
              <a:rPr lang="en-US" dirty="0"/>
              <a:t>rewind(</a:t>
            </a:r>
            <a:r>
              <a:rPr lang="en-US" dirty="0" err="1"/>
              <a:t>fp</a:t>
            </a:r>
            <a:r>
              <a:rPr lang="en-US" dirty="0"/>
              <a:t>) – Moves pointer to the </a:t>
            </a:r>
            <a:r>
              <a:rPr lang="en-US" dirty="0" smtClean="0"/>
              <a:t>beginning</a:t>
            </a:r>
          </a:p>
          <a:p>
            <a:endParaRPr lang="en-US" dirty="0"/>
          </a:p>
          <a:p>
            <a:pPr marL="0" indent="0">
              <a:buNone/>
            </a:pPr>
            <a:r>
              <a:rPr lang="en-US" dirty="0" err="1">
                <a:solidFill>
                  <a:srgbClr val="FF0000"/>
                </a:solidFill>
              </a:rPr>
              <a:t>fseek</a:t>
            </a:r>
            <a:r>
              <a:rPr lang="en-US" dirty="0">
                <a:solidFill>
                  <a:srgbClr val="FF0000"/>
                </a:solidFill>
              </a:rPr>
              <a:t>(file, 10, SEEK_SET</a:t>
            </a:r>
            <a:r>
              <a:rPr lang="en-US" dirty="0" smtClean="0">
                <a:solidFill>
                  <a:srgbClr val="FF0000"/>
                </a:solidFill>
              </a:rPr>
              <a:t>); </a:t>
            </a:r>
          </a:p>
          <a:p>
            <a:pPr marL="0" indent="0">
              <a:buNone/>
            </a:pPr>
            <a:r>
              <a:rPr lang="en-US" dirty="0" smtClean="0">
                <a:solidFill>
                  <a:srgbClr val="FF0000"/>
                </a:solidFill>
              </a:rPr>
              <a:t>long </a:t>
            </a:r>
            <a:r>
              <a:rPr lang="en-US" dirty="0">
                <a:solidFill>
                  <a:srgbClr val="FF0000"/>
                </a:solidFill>
              </a:rPr>
              <a:t>position = </a:t>
            </a:r>
            <a:r>
              <a:rPr lang="en-US" dirty="0" err="1">
                <a:solidFill>
                  <a:srgbClr val="FF0000"/>
                </a:solidFill>
              </a:rPr>
              <a:t>ftell</a:t>
            </a:r>
            <a:r>
              <a:rPr lang="en-US" dirty="0">
                <a:solidFill>
                  <a:srgbClr val="FF0000"/>
                </a:solidFill>
              </a:rPr>
              <a:t>(file);</a:t>
            </a:r>
          </a:p>
          <a:p>
            <a:pPr marL="0" indent="0">
              <a:buNone/>
            </a:pPr>
            <a:endParaRPr lang="en-US" dirty="0"/>
          </a:p>
          <a:p>
            <a:endParaRPr lang="en-IN" dirty="0"/>
          </a:p>
        </p:txBody>
      </p:sp>
    </p:spTree>
    <p:extLst>
      <p:ext uri="{BB962C8B-B14F-4D97-AF65-F5344CB8AC3E}">
        <p14:creationId xmlns:p14="http://schemas.microsoft.com/office/powerpoint/2010/main" val="2928371820"/>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b="1" dirty="0"/>
              <a:t>File Positioning </a:t>
            </a:r>
            <a:r>
              <a:rPr lang="en-IN" b="1" dirty="0" smtClean="0"/>
              <a:t>Functions</a:t>
            </a:r>
            <a:endParaRPr lang="en-IN" dirty="0"/>
          </a:p>
        </p:txBody>
      </p:sp>
      <p:sp>
        <p:nvSpPr>
          <p:cNvPr id="3" name="Content Placeholder 2"/>
          <p:cNvSpPr>
            <a:spLocks noGrp="1"/>
          </p:cNvSpPr>
          <p:nvPr>
            <p:ph idx="1"/>
          </p:nvPr>
        </p:nvSpPr>
        <p:spPr>
          <a:xfrm>
            <a:off x="35496" y="1268760"/>
            <a:ext cx="9001000" cy="5208240"/>
          </a:xfrm>
        </p:spPr>
        <p:txBody>
          <a:bodyPr>
            <a:normAutofit/>
          </a:bodyPr>
          <a:lstStyle/>
          <a:p>
            <a:r>
              <a:rPr lang="en-US" dirty="0" err="1"/>
              <a:t>fseek</a:t>
            </a:r>
            <a:r>
              <a:rPr lang="en-US" dirty="0"/>
              <a:t>(</a:t>
            </a:r>
            <a:r>
              <a:rPr lang="en-US" dirty="0" err="1"/>
              <a:t>fp</a:t>
            </a:r>
            <a:r>
              <a:rPr lang="en-US" dirty="0"/>
              <a:t>, offset, position) – Moves file pointer</a:t>
            </a:r>
          </a:p>
          <a:p>
            <a:r>
              <a:rPr lang="en-US" dirty="0" err="1"/>
              <a:t>ftell</a:t>
            </a:r>
            <a:r>
              <a:rPr lang="en-US" dirty="0"/>
              <a:t>(</a:t>
            </a:r>
            <a:r>
              <a:rPr lang="en-US" dirty="0" err="1"/>
              <a:t>fp</a:t>
            </a:r>
            <a:r>
              <a:rPr lang="en-US" dirty="0"/>
              <a:t>) – Returns current position</a:t>
            </a:r>
          </a:p>
          <a:p>
            <a:r>
              <a:rPr lang="en-US" dirty="0"/>
              <a:t>rewind(</a:t>
            </a:r>
            <a:r>
              <a:rPr lang="en-US" dirty="0" err="1"/>
              <a:t>fp</a:t>
            </a:r>
            <a:r>
              <a:rPr lang="en-US" dirty="0"/>
              <a:t>) – Moves pointer to the </a:t>
            </a:r>
            <a:r>
              <a:rPr lang="en-US" dirty="0" smtClean="0"/>
              <a:t>beginning</a:t>
            </a:r>
            <a:endParaRPr lang="en-US" dirty="0"/>
          </a:p>
          <a:p>
            <a:pPr marL="0" indent="0">
              <a:buNone/>
            </a:pPr>
            <a:r>
              <a:rPr lang="en-US" dirty="0" err="1">
                <a:solidFill>
                  <a:srgbClr val="FF0000"/>
                </a:solidFill>
              </a:rPr>
              <a:t>fseek</a:t>
            </a:r>
            <a:r>
              <a:rPr lang="en-US" dirty="0">
                <a:solidFill>
                  <a:srgbClr val="FF0000"/>
                </a:solidFill>
              </a:rPr>
              <a:t>(file, 10, SEEK_SET</a:t>
            </a:r>
            <a:r>
              <a:rPr lang="en-US" dirty="0" smtClean="0">
                <a:solidFill>
                  <a:srgbClr val="FF0000"/>
                </a:solidFill>
              </a:rPr>
              <a:t>); </a:t>
            </a:r>
            <a:r>
              <a:rPr lang="en-US" dirty="0" smtClean="0">
                <a:solidFill>
                  <a:srgbClr val="0070C0"/>
                </a:solidFill>
              </a:rPr>
              <a:t>*moves </a:t>
            </a:r>
            <a:r>
              <a:rPr lang="en-US" dirty="0">
                <a:solidFill>
                  <a:srgbClr val="0070C0"/>
                </a:solidFill>
              </a:rPr>
              <a:t>the file pointer to a specific position in the file. </a:t>
            </a:r>
            <a:r>
              <a:rPr lang="en-US" dirty="0" smtClean="0">
                <a:solidFill>
                  <a:srgbClr val="0070C0"/>
                </a:solidFill>
              </a:rPr>
              <a:t>*</a:t>
            </a:r>
          </a:p>
          <a:p>
            <a:pPr marL="0" indent="0">
              <a:buNone/>
            </a:pPr>
            <a:r>
              <a:rPr lang="en-US" dirty="0">
                <a:solidFill>
                  <a:srgbClr val="0070C0"/>
                </a:solidFill>
              </a:rPr>
              <a:t>file → The file pointer.</a:t>
            </a:r>
          </a:p>
          <a:p>
            <a:pPr marL="0" indent="0">
              <a:buNone/>
            </a:pPr>
            <a:r>
              <a:rPr lang="en-US" dirty="0">
                <a:solidFill>
                  <a:srgbClr val="0070C0"/>
                </a:solidFill>
              </a:rPr>
              <a:t>offset → The number of bytes to move from the given position.</a:t>
            </a:r>
          </a:p>
          <a:p>
            <a:pPr marL="0" indent="0">
              <a:buNone/>
            </a:pPr>
            <a:r>
              <a:rPr lang="en-US" dirty="0">
                <a:solidFill>
                  <a:srgbClr val="0070C0"/>
                </a:solidFill>
              </a:rPr>
              <a:t>origin → The reference point (SEEK_SET, SEEK_CUR, SEEK_END).</a:t>
            </a:r>
          </a:p>
          <a:p>
            <a:pPr marL="0" indent="0">
              <a:buNone/>
            </a:pPr>
            <a:endParaRPr lang="en-US" dirty="0">
              <a:solidFill>
                <a:srgbClr val="0070C0"/>
              </a:solidFill>
            </a:endParaRPr>
          </a:p>
          <a:p>
            <a:pPr marL="0" indent="0">
              <a:buNone/>
            </a:pPr>
            <a:endParaRPr lang="en-US" dirty="0"/>
          </a:p>
          <a:p>
            <a:endParaRPr lang="en-IN" dirty="0"/>
          </a:p>
        </p:txBody>
      </p:sp>
      <p:graphicFrame>
        <p:nvGraphicFramePr>
          <p:cNvPr id="4" name="Table 3"/>
          <p:cNvGraphicFramePr>
            <a:graphicFrameLocks noGrp="1"/>
          </p:cNvGraphicFramePr>
          <p:nvPr>
            <p:extLst>
              <p:ext uri="{D42A27DB-BD31-4B8C-83A1-F6EECF244321}">
                <p14:modId xmlns:p14="http://schemas.microsoft.com/office/powerpoint/2010/main" val="3921799693"/>
              </p:ext>
            </p:extLst>
          </p:nvPr>
        </p:nvGraphicFramePr>
        <p:xfrm>
          <a:off x="2123728" y="4797152"/>
          <a:ext cx="6840760" cy="1463040"/>
        </p:xfrm>
        <a:graphic>
          <a:graphicData uri="http://schemas.openxmlformats.org/drawingml/2006/table">
            <a:tbl>
              <a:tblPr/>
              <a:tblGrid>
                <a:gridCol w="1984397"/>
                <a:gridCol w="4856363"/>
              </a:tblGrid>
              <a:tr h="0">
                <a:tc>
                  <a:txBody>
                    <a:bodyPr/>
                    <a:lstStyle/>
                    <a:p>
                      <a:r>
                        <a:rPr lang="en-IN" b="1" dirty="0"/>
                        <a:t>Constant</a:t>
                      </a:r>
                      <a:endParaRPr lang="en-IN" dirty="0"/>
                    </a:p>
                  </a:txBody>
                  <a:tcPr anchor="ctr">
                    <a:lnL>
                      <a:noFill/>
                    </a:lnL>
                    <a:lnR>
                      <a:noFill/>
                    </a:lnR>
                    <a:lnT>
                      <a:noFill/>
                    </a:lnT>
                    <a:lnB>
                      <a:noFill/>
                    </a:lnB>
                  </a:tcPr>
                </a:tc>
                <a:tc>
                  <a:txBody>
                    <a:bodyPr/>
                    <a:lstStyle/>
                    <a:p>
                      <a:r>
                        <a:rPr lang="en-IN" b="1"/>
                        <a:t>Meaning</a:t>
                      </a:r>
                      <a:endParaRPr lang="en-IN"/>
                    </a:p>
                  </a:txBody>
                  <a:tcPr anchor="ctr">
                    <a:lnL>
                      <a:noFill/>
                    </a:lnL>
                    <a:lnR>
                      <a:noFill/>
                    </a:lnR>
                    <a:lnT>
                      <a:noFill/>
                    </a:lnT>
                    <a:lnB>
                      <a:noFill/>
                    </a:lnB>
                  </a:tcPr>
                </a:tc>
              </a:tr>
              <a:tr h="0">
                <a:tc>
                  <a:txBody>
                    <a:bodyPr/>
                    <a:lstStyle/>
                    <a:p>
                      <a:r>
                        <a:rPr lang="en-IN"/>
                        <a:t>SEEK_SET</a:t>
                      </a:r>
                    </a:p>
                  </a:txBody>
                  <a:tcPr anchor="ctr">
                    <a:lnL>
                      <a:noFill/>
                    </a:lnL>
                    <a:lnR>
                      <a:noFill/>
                    </a:lnR>
                    <a:lnT>
                      <a:noFill/>
                    </a:lnT>
                    <a:lnB>
                      <a:noFill/>
                    </a:lnB>
                  </a:tcPr>
                </a:tc>
                <a:tc>
                  <a:txBody>
                    <a:bodyPr/>
                    <a:lstStyle/>
                    <a:p>
                      <a:r>
                        <a:rPr lang="en-US" dirty="0"/>
                        <a:t>Moves to the given offset from the beginning.</a:t>
                      </a:r>
                    </a:p>
                  </a:txBody>
                  <a:tcPr anchor="ctr">
                    <a:lnL>
                      <a:noFill/>
                    </a:lnL>
                    <a:lnR>
                      <a:noFill/>
                    </a:lnR>
                    <a:lnT>
                      <a:noFill/>
                    </a:lnT>
                    <a:lnB>
                      <a:noFill/>
                    </a:lnB>
                  </a:tcPr>
                </a:tc>
              </a:tr>
              <a:tr h="0">
                <a:tc>
                  <a:txBody>
                    <a:bodyPr/>
                    <a:lstStyle/>
                    <a:p>
                      <a:r>
                        <a:rPr lang="en-IN" dirty="0"/>
                        <a:t>SEEK_CUR</a:t>
                      </a:r>
                    </a:p>
                  </a:txBody>
                  <a:tcPr anchor="ctr">
                    <a:lnL>
                      <a:noFill/>
                    </a:lnL>
                    <a:lnR>
                      <a:noFill/>
                    </a:lnR>
                    <a:lnT>
                      <a:noFill/>
                    </a:lnT>
                    <a:lnB>
                      <a:noFill/>
                    </a:lnB>
                  </a:tcPr>
                </a:tc>
                <a:tc>
                  <a:txBody>
                    <a:bodyPr/>
                    <a:lstStyle/>
                    <a:p>
                      <a:r>
                        <a:rPr lang="en-US"/>
                        <a:t>Moves relative to the current position.</a:t>
                      </a:r>
                    </a:p>
                  </a:txBody>
                  <a:tcPr anchor="ctr">
                    <a:lnL>
                      <a:noFill/>
                    </a:lnL>
                    <a:lnR>
                      <a:noFill/>
                    </a:lnR>
                    <a:lnT>
                      <a:noFill/>
                    </a:lnT>
                    <a:lnB>
                      <a:noFill/>
                    </a:lnB>
                  </a:tcPr>
                </a:tc>
              </a:tr>
              <a:tr h="0">
                <a:tc>
                  <a:txBody>
                    <a:bodyPr/>
                    <a:lstStyle/>
                    <a:p>
                      <a:r>
                        <a:rPr lang="en-IN"/>
                        <a:t>SEEK_END</a:t>
                      </a:r>
                    </a:p>
                  </a:txBody>
                  <a:tcPr anchor="ctr">
                    <a:lnL>
                      <a:noFill/>
                    </a:lnL>
                    <a:lnR>
                      <a:noFill/>
                    </a:lnR>
                    <a:lnT>
                      <a:noFill/>
                    </a:lnT>
                    <a:lnB>
                      <a:noFill/>
                    </a:lnB>
                  </a:tcPr>
                </a:tc>
                <a:tc>
                  <a:txBody>
                    <a:bodyPr/>
                    <a:lstStyle/>
                    <a:p>
                      <a:r>
                        <a:rPr lang="en-US" dirty="0"/>
                        <a:t>Moves relative to the end of the file.</a:t>
                      </a:r>
                    </a:p>
                  </a:txBody>
                  <a:tcPr anchor="ctr">
                    <a:lnL>
                      <a:noFill/>
                    </a:lnL>
                    <a:lnR>
                      <a:noFill/>
                    </a:lnR>
                    <a:lnT>
                      <a:noFill/>
                    </a:lnT>
                    <a:lnB>
                      <a:noFill/>
                    </a:lnB>
                  </a:tcPr>
                </a:tc>
              </a:tr>
            </a:tbl>
          </a:graphicData>
        </a:graphic>
      </p:graphicFrame>
    </p:spTree>
    <p:extLst>
      <p:ext uri="{BB962C8B-B14F-4D97-AF65-F5344CB8AC3E}">
        <p14:creationId xmlns:p14="http://schemas.microsoft.com/office/powerpoint/2010/main" val="3355890526"/>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b="1" dirty="0"/>
              <a:t>File Positioning </a:t>
            </a:r>
            <a:r>
              <a:rPr lang="en-IN" b="1" dirty="0" smtClean="0"/>
              <a:t>Functions</a:t>
            </a:r>
            <a:endParaRPr lang="en-IN" dirty="0"/>
          </a:p>
        </p:txBody>
      </p:sp>
      <p:sp>
        <p:nvSpPr>
          <p:cNvPr id="3" name="Content Placeholder 2"/>
          <p:cNvSpPr>
            <a:spLocks noGrp="1"/>
          </p:cNvSpPr>
          <p:nvPr>
            <p:ph idx="1"/>
          </p:nvPr>
        </p:nvSpPr>
        <p:spPr>
          <a:xfrm>
            <a:off x="35496" y="1268760"/>
            <a:ext cx="9001000" cy="5208240"/>
          </a:xfrm>
        </p:spPr>
        <p:txBody>
          <a:bodyPr>
            <a:normAutofit fontScale="77500" lnSpcReduction="20000"/>
          </a:bodyPr>
          <a:lstStyle/>
          <a:p>
            <a:pPr marL="0" indent="0">
              <a:buNone/>
            </a:pPr>
            <a:endParaRPr lang="en-US" dirty="0" smtClean="0">
              <a:solidFill>
                <a:srgbClr val="0070C0"/>
              </a:solidFill>
            </a:endParaRPr>
          </a:p>
          <a:p>
            <a:pPr marL="0" indent="0">
              <a:buNone/>
            </a:pPr>
            <a:r>
              <a:rPr lang="en-US" dirty="0">
                <a:solidFill>
                  <a:srgbClr val="FF0000"/>
                </a:solidFill>
              </a:rPr>
              <a:t>long position = </a:t>
            </a:r>
            <a:r>
              <a:rPr lang="en-US" dirty="0" err="1">
                <a:solidFill>
                  <a:srgbClr val="FF0000"/>
                </a:solidFill>
              </a:rPr>
              <a:t>ftell</a:t>
            </a:r>
            <a:r>
              <a:rPr lang="en-US" dirty="0">
                <a:solidFill>
                  <a:srgbClr val="FF0000"/>
                </a:solidFill>
              </a:rPr>
              <a:t>(file);</a:t>
            </a:r>
          </a:p>
          <a:p>
            <a:pPr marL="0" indent="0">
              <a:buNone/>
            </a:pPr>
            <a:r>
              <a:rPr lang="en-US" dirty="0" smtClean="0"/>
              <a:t>The </a:t>
            </a:r>
            <a:r>
              <a:rPr lang="en-US" dirty="0"/>
              <a:t>function </a:t>
            </a:r>
            <a:r>
              <a:rPr lang="en-US" dirty="0" err="1"/>
              <a:t>ftell</a:t>
            </a:r>
            <a:r>
              <a:rPr lang="en-US" dirty="0"/>
              <a:t>(FILE *file) returns the </a:t>
            </a:r>
            <a:r>
              <a:rPr lang="en-US" b="1" dirty="0"/>
              <a:t>current position</a:t>
            </a:r>
            <a:r>
              <a:rPr lang="en-US" dirty="0"/>
              <a:t> of the file pointer in bytes.</a:t>
            </a:r>
            <a:endParaRPr lang="en-US" dirty="0">
              <a:solidFill>
                <a:srgbClr val="0070C0"/>
              </a:solidFill>
            </a:endParaRPr>
          </a:p>
          <a:p>
            <a:pPr marL="0" indent="0">
              <a:buNone/>
            </a:pPr>
            <a:endParaRPr lang="en-US" dirty="0"/>
          </a:p>
          <a:p>
            <a:pPr marL="0" indent="0">
              <a:buNone/>
            </a:pPr>
            <a:r>
              <a:rPr lang="en-IN" dirty="0"/>
              <a:t>#include &lt;</a:t>
            </a:r>
            <a:r>
              <a:rPr lang="en-IN" dirty="0" err="1"/>
              <a:t>stdio.h</a:t>
            </a:r>
            <a:r>
              <a:rPr lang="en-IN" dirty="0"/>
              <a:t>&gt;</a:t>
            </a:r>
          </a:p>
          <a:p>
            <a:pPr marL="0" indent="0">
              <a:buNone/>
            </a:pPr>
            <a:r>
              <a:rPr lang="en-IN" dirty="0" err="1" smtClean="0"/>
              <a:t>int</a:t>
            </a:r>
            <a:r>
              <a:rPr lang="en-IN" dirty="0" smtClean="0"/>
              <a:t> </a:t>
            </a:r>
            <a:r>
              <a:rPr lang="en-IN" dirty="0"/>
              <a:t>main() {</a:t>
            </a:r>
          </a:p>
          <a:p>
            <a:pPr marL="0" indent="0">
              <a:buNone/>
            </a:pPr>
            <a:r>
              <a:rPr lang="en-IN" dirty="0"/>
              <a:t>    FILE *file = </a:t>
            </a:r>
            <a:r>
              <a:rPr lang="en-IN" dirty="0" err="1"/>
              <a:t>fopen</a:t>
            </a:r>
            <a:r>
              <a:rPr lang="en-IN" dirty="0"/>
              <a:t>("example.txt", "r");</a:t>
            </a:r>
          </a:p>
          <a:p>
            <a:pPr marL="0" indent="0">
              <a:buNone/>
            </a:pPr>
            <a:r>
              <a:rPr lang="en-IN" dirty="0" smtClean="0"/>
              <a:t>    </a:t>
            </a:r>
            <a:r>
              <a:rPr lang="en-IN" dirty="0"/>
              <a:t>if (file == NULL) {</a:t>
            </a:r>
          </a:p>
          <a:p>
            <a:pPr marL="0" indent="0">
              <a:buNone/>
            </a:pPr>
            <a:r>
              <a:rPr lang="en-IN" dirty="0"/>
              <a:t>        </a:t>
            </a:r>
            <a:r>
              <a:rPr lang="en-IN" dirty="0" err="1"/>
              <a:t>printf</a:t>
            </a:r>
            <a:r>
              <a:rPr lang="en-IN" dirty="0"/>
              <a:t>("Error opening file.\n");</a:t>
            </a:r>
          </a:p>
          <a:p>
            <a:pPr marL="0" indent="0">
              <a:buNone/>
            </a:pPr>
            <a:r>
              <a:rPr lang="en-IN" dirty="0"/>
              <a:t>        return 1;</a:t>
            </a:r>
          </a:p>
          <a:p>
            <a:pPr marL="0" indent="0">
              <a:buNone/>
            </a:pPr>
            <a:r>
              <a:rPr lang="en-IN" dirty="0"/>
              <a:t>    }</a:t>
            </a:r>
          </a:p>
          <a:p>
            <a:pPr marL="0" indent="0">
              <a:buNone/>
            </a:pPr>
            <a:r>
              <a:rPr lang="en-IN" dirty="0" smtClean="0"/>
              <a:t>    </a:t>
            </a:r>
            <a:r>
              <a:rPr lang="en-IN" dirty="0" err="1"/>
              <a:t>fseek</a:t>
            </a:r>
            <a:r>
              <a:rPr lang="en-IN" dirty="0"/>
              <a:t>(file, 10, SEEK_SET);  // Move 10 bytes from the beginning</a:t>
            </a:r>
          </a:p>
          <a:p>
            <a:pPr marL="0" indent="0">
              <a:buNone/>
            </a:pPr>
            <a:r>
              <a:rPr lang="en-IN" dirty="0"/>
              <a:t>    long position = </a:t>
            </a:r>
            <a:r>
              <a:rPr lang="en-IN" dirty="0" err="1"/>
              <a:t>ftell</a:t>
            </a:r>
            <a:r>
              <a:rPr lang="en-IN" dirty="0"/>
              <a:t>(file); // Get current file pointer location</a:t>
            </a:r>
          </a:p>
          <a:p>
            <a:pPr marL="0" indent="0">
              <a:buNone/>
            </a:pPr>
            <a:r>
              <a:rPr lang="en-IN" dirty="0" smtClean="0"/>
              <a:t>    </a:t>
            </a:r>
            <a:r>
              <a:rPr lang="en-IN" dirty="0" err="1"/>
              <a:t>printf</a:t>
            </a:r>
            <a:r>
              <a:rPr lang="en-IN" dirty="0"/>
              <a:t>("Current file position: %</a:t>
            </a:r>
            <a:r>
              <a:rPr lang="en-IN" dirty="0" err="1"/>
              <a:t>ld</a:t>
            </a:r>
            <a:r>
              <a:rPr lang="en-IN" dirty="0"/>
              <a:t>\n", position);</a:t>
            </a:r>
          </a:p>
          <a:p>
            <a:pPr marL="0" indent="0">
              <a:buNone/>
            </a:pPr>
            <a:r>
              <a:rPr lang="en-IN" dirty="0" smtClean="0"/>
              <a:t>    </a:t>
            </a:r>
            <a:r>
              <a:rPr lang="en-IN" dirty="0" err="1"/>
              <a:t>fclose</a:t>
            </a:r>
            <a:r>
              <a:rPr lang="en-IN" dirty="0"/>
              <a:t>(file);</a:t>
            </a:r>
          </a:p>
          <a:p>
            <a:pPr marL="0" indent="0">
              <a:buNone/>
            </a:pPr>
            <a:r>
              <a:rPr lang="en-IN" dirty="0"/>
              <a:t>    return 0;</a:t>
            </a:r>
          </a:p>
          <a:p>
            <a:pPr marL="0" indent="0">
              <a:buNone/>
            </a:pPr>
            <a:r>
              <a:rPr lang="en-IN" dirty="0"/>
              <a:t>}</a:t>
            </a:r>
          </a:p>
          <a:p>
            <a:endParaRPr lang="en-IN" dirty="0"/>
          </a:p>
        </p:txBody>
      </p:sp>
      <p:graphicFrame>
        <p:nvGraphicFramePr>
          <p:cNvPr id="4" name="Table 3"/>
          <p:cNvGraphicFramePr>
            <a:graphicFrameLocks noGrp="1"/>
          </p:cNvGraphicFramePr>
          <p:nvPr>
            <p:extLst>
              <p:ext uri="{D42A27DB-BD31-4B8C-83A1-F6EECF244321}">
                <p14:modId xmlns:p14="http://schemas.microsoft.com/office/powerpoint/2010/main" val="324029182"/>
              </p:ext>
            </p:extLst>
          </p:nvPr>
        </p:nvGraphicFramePr>
        <p:xfrm>
          <a:off x="2123728" y="4797152"/>
          <a:ext cx="6840760" cy="1463040"/>
        </p:xfrm>
        <a:graphic>
          <a:graphicData uri="http://schemas.openxmlformats.org/drawingml/2006/table">
            <a:tbl>
              <a:tblPr/>
              <a:tblGrid>
                <a:gridCol w="1984397"/>
                <a:gridCol w="4856363"/>
              </a:tblGrid>
              <a:tr h="0">
                <a:tc>
                  <a:txBody>
                    <a:bodyPr/>
                    <a:lstStyle/>
                    <a:p>
                      <a:endParaRPr lang="en-IN" dirty="0"/>
                    </a:p>
                  </a:txBody>
                  <a:tcPr anchor="ctr">
                    <a:lnL>
                      <a:noFill/>
                    </a:lnL>
                    <a:lnR>
                      <a:noFill/>
                    </a:lnR>
                    <a:lnT>
                      <a:noFill/>
                    </a:lnT>
                    <a:lnB>
                      <a:noFill/>
                    </a:lnB>
                  </a:tcPr>
                </a:tc>
                <a:tc>
                  <a:txBody>
                    <a:bodyPr/>
                    <a:lstStyle/>
                    <a:p>
                      <a:endParaRPr lang="en-IN"/>
                    </a:p>
                  </a:txBody>
                  <a:tcPr anchor="ctr">
                    <a:lnL>
                      <a:noFill/>
                    </a:lnL>
                    <a:lnR>
                      <a:noFill/>
                    </a:lnR>
                    <a:lnT>
                      <a:noFill/>
                    </a:lnT>
                    <a:lnB>
                      <a:noFill/>
                    </a:lnB>
                  </a:tcPr>
                </a:tc>
              </a:tr>
              <a:tr h="0">
                <a:tc>
                  <a:txBody>
                    <a:bodyPr/>
                    <a:lstStyle/>
                    <a:p>
                      <a:endParaRPr lang="en-IN"/>
                    </a:p>
                  </a:txBody>
                  <a:tcPr anchor="ctr">
                    <a:lnL>
                      <a:noFill/>
                    </a:lnL>
                    <a:lnR>
                      <a:noFill/>
                    </a:lnR>
                    <a:lnT>
                      <a:noFill/>
                    </a:lnT>
                    <a:lnB>
                      <a:noFill/>
                    </a:lnB>
                  </a:tcPr>
                </a:tc>
                <a:tc>
                  <a:txBody>
                    <a:bodyPr/>
                    <a:lstStyle/>
                    <a:p>
                      <a:endParaRPr lang="en-US" dirty="0"/>
                    </a:p>
                  </a:txBody>
                  <a:tcPr anchor="ctr">
                    <a:lnL>
                      <a:noFill/>
                    </a:lnL>
                    <a:lnR>
                      <a:noFill/>
                    </a:lnR>
                    <a:lnT>
                      <a:noFill/>
                    </a:lnT>
                    <a:lnB>
                      <a:noFill/>
                    </a:lnB>
                  </a:tcPr>
                </a:tc>
              </a:tr>
              <a:tr h="0">
                <a:tc>
                  <a:txBody>
                    <a:bodyPr/>
                    <a:lstStyle/>
                    <a:p>
                      <a:endParaRPr lang="en-IN" dirty="0"/>
                    </a:p>
                  </a:txBody>
                  <a:tcPr anchor="ctr">
                    <a:lnL>
                      <a:noFill/>
                    </a:lnL>
                    <a:lnR>
                      <a:noFill/>
                    </a:lnR>
                    <a:lnT>
                      <a:noFill/>
                    </a:lnT>
                    <a:lnB>
                      <a:noFill/>
                    </a:lnB>
                  </a:tcPr>
                </a:tc>
                <a:tc>
                  <a:txBody>
                    <a:bodyPr/>
                    <a:lstStyle/>
                    <a:p>
                      <a:endParaRPr lang="en-US"/>
                    </a:p>
                  </a:txBody>
                  <a:tcPr anchor="ctr">
                    <a:lnL>
                      <a:noFill/>
                    </a:lnL>
                    <a:lnR>
                      <a:noFill/>
                    </a:lnR>
                    <a:lnT>
                      <a:noFill/>
                    </a:lnT>
                    <a:lnB>
                      <a:noFill/>
                    </a:lnB>
                  </a:tcPr>
                </a:tc>
              </a:tr>
              <a:tr h="0">
                <a:tc>
                  <a:txBody>
                    <a:bodyPr/>
                    <a:lstStyle/>
                    <a:p>
                      <a:endParaRPr lang="en-IN"/>
                    </a:p>
                  </a:txBody>
                  <a:tcPr anchor="ctr">
                    <a:lnL>
                      <a:noFill/>
                    </a:lnL>
                    <a:lnR>
                      <a:noFill/>
                    </a:lnR>
                    <a:lnT>
                      <a:noFill/>
                    </a:lnT>
                    <a:lnB>
                      <a:noFill/>
                    </a:lnB>
                  </a:tcPr>
                </a:tc>
                <a:tc>
                  <a:txBody>
                    <a:bodyPr/>
                    <a:lstStyle/>
                    <a:p>
                      <a:endParaRPr lang="en-US" dirty="0"/>
                    </a:p>
                  </a:txBody>
                  <a:tcPr anchor="ctr">
                    <a:lnL>
                      <a:noFill/>
                    </a:lnL>
                    <a:lnR>
                      <a:noFill/>
                    </a:lnR>
                    <a:lnT>
                      <a:noFill/>
                    </a:lnT>
                    <a:lnB>
                      <a:noFill/>
                    </a:lnB>
                  </a:tcPr>
                </a:tc>
              </a:tr>
            </a:tbl>
          </a:graphicData>
        </a:graphic>
      </p:graphicFrame>
      <p:sp>
        <p:nvSpPr>
          <p:cNvPr id="5" name="TextBox 4"/>
          <p:cNvSpPr txBox="1"/>
          <p:nvPr/>
        </p:nvSpPr>
        <p:spPr>
          <a:xfrm>
            <a:off x="5220072" y="2420888"/>
            <a:ext cx="3672408" cy="1477328"/>
          </a:xfrm>
          <a:prstGeom prst="rect">
            <a:avLst/>
          </a:prstGeom>
          <a:noFill/>
        </p:spPr>
        <p:txBody>
          <a:bodyPr wrap="square" rtlCol="0">
            <a:spAutoFit/>
          </a:bodyPr>
          <a:lstStyle/>
          <a:p>
            <a:r>
              <a:rPr lang="en-US" b="1" dirty="0"/>
              <a:t>Output (if </a:t>
            </a:r>
            <a:r>
              <a:rPr lang="en-US" dirty="0"/>
              <a:t>example.txt</a:t>
            </a:r>
            <a:r>
              <a:rPr lang="en-US" b="1" dirty="0"/>
              <a:t> exists and is non-empty)</a:t>
            </a:r>
          </a:p>
          <a:p>
            <a:endParaRPr lang="en-US" b="1" dirty="0"/>
          </a:p>
          <a:p>
            <a:r>
              <a:rPr lang="en-IN" dirty="0">
                <a:solidFill>
                  <a:srgbClr val="FF0000"/>
                </a:solidFill>
              </a:rPr>
              <a:t>Current file position: 10</a:t>
            </a:r>
          </a:p>
          <a:p>
            <a:endParaRPr lang="en-IN" dirty="0"/>
          </a:p>
        </p:txBody>
      </p:sp>
    </p:spTree>
    <p:extLst>
      <p:ext uri="{BB962C8B-B14F-4D97-AF65-F5344CB8AC3E}">
        <p14:creationId xmlns:p14="http://schemas.microsoft.com/office/powerpoint/2010/main" val="2118124690"/>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b="1" dirty="0"/>
              <a:t>Differences in File Positioning for Binary Files</a:t>
            </a:r>
          </a:p>
        </p:txBody>
      </p:sp>
      <p:sp>
        <p:nvSpPr>
          <p:cNvPr id="3" name="Content Placeholder 2"/>
          <p:cNvSpPr>
            <a:spLocks noGrp="1"/>
          </p:cNvSpPr>
          <p:nvPr>
            <p:ph idx="1"/>
          </p:nvPr>
        </p:nvSpPr>
        <p:spPr>
          <a:xfrm>
            <a:off x="179512" y="1600200"/>
            <a:ext cx="8964488" cy="4876800"/>
          </a:xfrm>
        </p:spPr>
        <p:txBody>
          <a:bodyPr>
            <a:normAutofit fontScale="92500" lnSpcReduction="10000"/>
          </a:bodyPr>
          <a:lstStyle/>
          <a:p>
            <a:pPr marL="0" indent="0">
              <a:buNone/>
            </a:pPr>
            <a:r>
              <a:rPr lang="en-US" b="1" dirty="0" smtClean="0"/>
              <a:t>No </a:t>
            </a:r>
            <a:r>
              <a:rPr lang="en-US" b="1" dirty="0"/>
              <a:t>Interpretation of Special Characters</a:t>
            </a:r>
            <a:endParaRPr lang="en-US" dirty="0"/>
          </a:p>
          <a:p>
            <a:r>
              <a:rPr lang="en-US" sz="2200" dirty="0"/>
              <a:t>In text files, newline characters (\n) may be treated differently across operating systems.</a:t>
            </a:r>
          </a:p>
          <a:p>
            <a:r>
              <a:rPr lang="en-US" sz="2200" dirty="0"/>
              <a:t>Binary files store data exactly as it is, meaning no extra transformations occur.</a:t>
            </a:r>
          </a:p>
          <a:p>
            <a:pPr marL="0" indent="0">
              <a:buNone/>
            </a:pPr>
            <a:r>
              <a:rPr lang="en-US" b="1" dirty="0"/>
              <a:t>Byte-Based Positioning</a:t>
            </a:r>
            <a:endParaRPr lang="en-US" dirty="0"/>
          </a:p>
          <a:p>
            <a:r>
              <a:rPr lang="en-US" sz="2200" dirty="0" err="1"/>
              <a:t>fseek</a:t>
            </a:r>
            <a:r>
              <a:rPr lang="en-US" sz="2200" dirty="0"/>
              <a:t>() moves the file pointer </a:t>
            </a:r>
            <a:r>
              <a:rPr lang="en-US" sz="2200" b="1" dirty="0"/>
              <a:t>by exact bytes</a:t>
            </a:r>
            <a:r>
              <a:rPr lang="en-US" sz="2200" dirty="0"/>
              <a:t> in binary files, without any adjustments.</a:t>
            </a:r>
          </a:p>
          <a:p>
            <a:r>
              <a:rPr lang="en-US" sz="2200" dirty="0"/>
              <a:t>In text files, </a:t>
            </a:r>
            <a:r>
              <a:rPr lang="en-US" sz="2200" dirty="0" err="1"/>
              <a:t>fseek</a:t>
            </a:r>
            <a:r>
              <a:rPr lang="en-US" sz="2200" dirty="0"/>
              <a:t>() might behave unpredictably if dealing with multi-byte characters or newline conversions.</a:t>
            </a:r>
          </a:p>
          <a:p>
            <a:pPr marL="0" indent="0">
              <a:buNone/>
            </a:pPr>
            <a:r>
              <a:rPr lang="en-US" b="1" dirty="0"/>
              <a:t>Reading and Writing Data in Blocks</a:t>
            </a:r>
            <a:endParaRPr lang="en-US" dirty="0"/>
          </a:p>
          <a:p>
            <a:r>
              <a:rPr lang="en-US" sz="2200" dirty="0"/>
              <a:t>Binary files often use </a:t>
            </a:r>
            <a:r>
              <a:rPr lang="en-US" sz="2200" dirty="0" err="1"/>
              <a:t>fread</a:t>
            </a:r>
            <a:r>
              <a:rPr lang="en-US" sz="2200" dirty="0"/>
              <a:t>() and </a:t>
            </a:r>
            <a:r>
              <a:rPr lang="en-US" sz="2200" dirty="0" err="1"/>
              <a:t>fwrite</a:t>
            </a:r>
            <a:r>
              <a:rPr lang="en-US" sz="2200" dirty="0"/>
              <a:t>(), which handle structured data more efficiently.</a:t>
            </a:r>
          </a:p>
          <a:p>
            <a:r>
              <a:rPr lang="en-US" sz="2200" dirty="0"/>
              <a:t>Positioning with </a:t>
            </a:r>
            <a:r>
              <a:rPr lang="en-US" sz="2200" dirty="0" err="1"/>
              <a:t>fseek</a:t>
            </a:r>
            <a:r>
              <a:rPr lang="en-US" sz="2200" dirty="0"/>
              <a:t>() in binary files allows skipping blocks of data, rather than character-by-character movement.</a:t>
            </a:r>
          </a:p>
          <a:p>
            <a:pPr marL="0" indent="0">
              <a:buNone/>
            </a:pPr>
            <a:endParaRPr lang="en-IN" dirty="0"/>
          </a:p>
        </p:txBody>
      </p:sp>
    </p:spTree>
    <p:extLst>
      <p:ext uri="{BB962C8B-B14F-4D97-AF65-F5344CB8AC3E}">
        <p14:creationId xmlns:p14="http://schemas.microsoft.com/office/powerpoint/2010/main" val="206982751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b="1" dirty="0"/>
              <a:t>Differences in File Positioning for Binary Files</a:t>
            </a:r>
          </a:p>
        </p:txBody>
      </p:sp>
      <p:sp>
        <p:nvSpPr>
          <p:cNvPr id="3" name="Content Placeholder 2"/>
          <p:cNvSpPr>
            <a:spLocks noGrp="1"/>
          </p:cNvSpPr>
          <p:nvPr>
            <p:ph idx="1"/>
          </p:nvPr>
        </p:nvSpPr>
        <p:spPr>
          <a:xfrm>
            <a:off x="179512" y="1600200"/>
            <a:ext cx="8964488" cy="4876800"/>
          </a:xfrm>
        </p:spPr>
        <p:txBody>
          <a:bodyPr>
            <a:normAutofit/>
          </a:bodyPr>
          <a:lstStyle/>
          <a:p>
            <a:r>
              <a:rPr lang="en-US" b="1" dirty="0"/>
              <a:t>Use text files</a:t>
            </a:r>
            <a:r>
              <a:rPr lang="en-US" dirty="0"/>
              <a:t> for </a:t>
            </a:r>
            <a:r>
              <a:rPr lang="en-US" b="1" dirty="0"/>
              <a:t>simple</a:t>
            </a:r>
            <a:r>
              <a:rPr lang="en-US" dirty="0"/>
              <a:t> data storage where human readability is important.</a:t>
            </a:r>
          </a:p>
          <a:p>
            <a:r>
              <a:rPr lang="en-US" b="1" dirty="0"/>
              <a:t>Use binary files</a:t>
            </a:r>
            <a:r>
              <a:rPr lang="en-US" dirty="0"/>
              <a:t> for </a:t>
            </a:r>
            <a:r>
              <a:rPr lang="en-US" b="1" dirty="0"/>
              <a:t>structured</a:t>
            </a:r>
            <a:r>
              <a:rPr lang="en-US" dirty="0"/>
              <a:t> data storage that requires speed and precision.</a:t>
            </a:r>
          </a:p>
          <a:p>
            <a:pPr marL="0" indent="0">
              <a:buNone/>
            </a:pPr>
            <a:endParaRPr lang="en-IN" dirty="0"/>
          </a:p>
        </p:txBody>
      </p:sp>
    </p:spTree>
    <p:extLst>
      <p:ext uri="{BB962C8B-B14F-4D97-AF65-F5344CB8AC3E}">
        <p14:creationId xmlns:p14="http://schemas.microsoft.com/office/powerpoint/2010/main" val="316756752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b="1" dirty="0"/>
              <a:t>Error Handling in File </a:t>
            </a:r>
            <a:r>
              <a:rPr lang="en-IN" b="1" dirty="0" smtClean="0"/>
              <a:t>Operations</a:t>
            </a:r>
            <a:endParaRPr lang="en-IN" dirty="0"/>
          </a:p>
        </p:txBody>
      </p:sp>
      <p:sp>
        <p:nvSpPr>
          <p:cNvPr id="3" name="Content Placeholder 2"/>
          <p:cNvSpPr>
            <a:spLocks noGrp="1"/>
          </p:cNvSpPr>
          <p:nvPr>
            <p:ph idx="1"/>
          </p:nvPr>
        </p:nvSpPr>
        <p:spPr/>
        <p:txBody>
          <a:bodyPr/>
          <a:lstStyle/>
          <a:p>
            <a:pPr marL="0" indent="0">
              <a:buNone/>
            </a:pPr>
            <a:r>
              <a:rPr lang="en-US" sz="3200" dirty="0"/>
              <a:t>Check if the file pointer is NULL after </a:t>
            </a:r>
            <a:r>
              <a:rPr lang="en-US" sz="3200" dirty="0" err="1"/>
              <a:t>fopen</a:t>
            </a:r>
            <a:r>
              <a:rPr lang="en-US" sz="3200" dirty="0"/>
              <a:t>()</a:t>
            </a:r>
          </a:p>
          <a:p>
            <a:pPr marL="0" indent="0">
              <a:buNone/>
            </a:pPr>
            <a:r>
              <a:rPr lang="en-US" sz="3200" dirty="0"/>
              <a:t>Use </a:t>
            </a:r>
            <a:r>
              <a:rPr lang="en-US" sz="3200" dirty="0" err="1"/>
              <a:t>perror</a:t>
            </a:r>
            <a:r>
              <a:rPr lang="en-US" sz="3200" dirty="0"/>
              <a:t>() for error messages</a:t>
            </a:r>
          </a:p>
          <a:p>
            <a:pPr marL="0" indent="0">
              <a:buNone/>
            </a:pPr>
            <a:endParaRPr lang="en-IN" dirty="0"/>
          </a:p>
        </p:txBody>
      </p:sp>
    </p:spTree>
    <p:extLst>
      <p:ext uri="{BB962C8B-B14F-4D97-AF65-F5344CB8AC3E}">
        <p14:creationId xmlns:p14="http://schemas.microsoft.com/office/powerpoint/2010/main" val="2415017785"/>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a:t>R</a:t>
            </a:r>
            <a:r>
              <a:rPr lang="en-IN" dirty="0" smtClean="0"/>
              <a:t>eferences</a:t>
            </a:r>
            <a:endParaRPr lang="en-IN" dirty="0"/>
          </a:p>
        </p:txBody>
      </p:sp>
      <p:sp>
        <p:nvSpPr>
          <p:cNvPr id="3" name="Content Placeholder 2"/>
          <p:cNvSpPr>
            <a:spLocks noGrp="1"/>
          </p:cNvSpPr>
          <p:nvPr>
            <p:ph idx="1"/>
          </p:nvPr>
        </p:nvSpPr>
        <p:spPr/>
        <p:txBody>
          <a:bodyPr/>
          <a:lstStyle/>
          <a:p>
            <a:r>
              <a:rPr lang="en-IN" dirty="0" smtClean="0"/>
              <a:t>‘Let us C” by </a:t>
            </a:r>
            <a:r>
              <a:rPr lang="en-IN" dirty="0" err="1" smtClean="0"/>
              <a:t>Yashawant</a:t>
            </a:r>
            <a:r>
              <a:rPr lang="en-IN" smtClean="0"/>
              <a:t> Kanetkar</a:t>
            </a:r>
            <a:endParaRPr lang="en-IN" dirty="0" smtClean="0"/>
          </a:p>
          <a:p>
            <a:r>
              <a:rPr lang="en-IN" dirty="0" smtClean="0"/>
              <a:t>https</a:t>
            </a:r>
            <a:r>
              <a:rPr lang="en-IN" dirty="0"/>
              <a:t>://www.geeksforgeeks.org/dynamic-memory-allocation-in-c-using-malloc-calloc-free-and-realloc/</a:t>
            </a:r>
          </a:p>
        </p:txBody>
      </p:sp>
    </p:spTree>
    <p:extLst>
      <p:ext uri="{BB962C8B-B14F-4D97-AF65-F5344CB8AC3E}">
        <p14:creationId xmlns:p14="http://schemas.microsoft.com/office/powerpoint/2010/main" val="2905098344"/>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larity">
  <a:themeElements>
    <a:clrScheme name="Clarity">
      <a:dk1>
        <a:srgbClr val="292934"/>
      </a:dk1>
      <a:lt1>
        <a:srgbClr val="FFFFFF"/>
      </a:lt1>
      <a:dk2>
        <a:srgbClr val="D2533C"/>
      </a:dk2>
      <a:lt2>
        <a:srgbClr val="F3F2DC"/>
      </a:lt2>
      <a:accent1>
        <a:srgbClr val="93A299"/>
      </a:accent1>
      <a:accent2>
        <a:srgbClr val="AD8F67"/>
      </a:accent2>
      <a:accent3>
        <a:srgbClr val="726056"/>
      </a:accent3>
      <a:accent4>
        <a:srgbClr val="4C5A6A"/>
      </a:accent4>
      <a:accent5>
        <a:srgbClr val="808DA0"/>
      </a:accent5>
      <a:accent6>
        <a:srgbClr val="79463D"/>
      </a:accent6>
      <a:hlink>
        <a:srgbClr val="0000FF"/>
      </a:hlink>
      <a:folHlink>
        <a:srgbClr val="800080"/>
      </a:folHlink>
    </a:clrScheme>
    <a:fontScheme name="Office Classic 2">
      <a:maj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larity">
      <a:fillStyleLst>
        <a:solidFill>
          <a:schemeClr val="phClr"/>
        </a:solidFill>
        <a:gradFill rotWithShape="1">
          <a:gsLst>
            <a:gs pos="0">
              <a:schemeClr val="phClr">
                <a:tint val="50000"/>
                <a:shade val="86000"/>
                <a:satMod val="140000"/>
              </a:schemeClr>
            </a:gs>
            <a:gs pos="45000">
              <a:schemeClr val="phClr">
                <a:tint val="48000"/>
                <a:satMod val="150000"/>
              </a:schemeClr>
            </a:gs>
            <a:gs pos="100000">
              <a:schemeClr val="phClr">
                <a:tint val="28000"/>
                <a:satMod val="160000"/>
              </a:schemeClr>
            </a:gs>
          </a:gsLst>
          <a:path path="circle">
            <a:fillToRect l="100000" t="100000" r="100000" b="100000"/>
          </a:path>
        </a:gradFill>
        <a:gradFill rotWithShape="1">
          <a:gsLst>
            <a:gs pos="0">
              <a:schemeClr val="phClr">
                <a:shade val="70000"/>
                <a:satMod val="150000"/>
              </a:schemeClr>
            </a:gs>
            <a:gs pos="34000">
              <a:schemeClr val="phClr">
                <a:shade val="70000"/>
                <a:satMod val="140000"/>
              </a:schemeClr>
            </a:gs>
            <a:gs pos="70000">
              <a:schemeClr val="phClr">
                <a:tint val="100000"/>
                <a:shade val="90000"/>
                <a:satMod val="140000"/>
              </a:schemeClr>
            </a:gs>
            <a:gs pos="100000">
              <a:schemeClr val="phClr">
                <a:tint val="100000"/>
                <a:shade val="100000"/>
                <a:satMod val="100000"/>
              </a:schemeClr>
            </a:gs>
          </a:gsLst>
          <a:path path="circle">
            <a:fillToRect l="100000" t="100000" r="100000" b="100000"/>
          </a:path>
        </a:gradFill>
      </a:fillStyleLst>
      <a:lnStyleLst>
        <a:ln w="9525" cap="flat" cmpd="sng" algn="ctr">
          <a:solidFill>
            <a:schemeClr val="phClr"/>
          </a:solidFill>
          <a:prstDash val="solid"/>
        </a:ln>
        <a:ln w="26425" cap="flat" cmpd="sng" algn="ctr">
          <a:solidFill>
            <a:schemeClr val="phClr"/>
          </a:solidFill>
          <a:prstDash val="solid"/>
        </a:ln>
        <a:ln w="4445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hade val="30000"/>
                <a:satMod val="130000"/>
              </a:schemeClr>
            </a:contourClr>
          </a:sp3d>
        </a:effectStyle>
      </a:effectStyleLst>
      <a:bgFillStyleLst>
        <a:solidFill>
          <a:schemeClr val="phClr"/>
        </a:solidFill>
        <a:gradFill rotWithShape="1">
          <a:gsLst>
            <a:gs pos="0">
              <a:schemeClr val="phClr">
                <a:tint val="85000"/>
                <a:satMod val="180000"/>
              </a:schemeClr>
            </a:gs>
            <a:gs pos="40000">
              <a:schemeClr val="phClr">
                <a:tint val="95000"/>
                <a:shade val="85000"/>
                <a:satMod val="150000"/>
              </a:schemeClr>
            </a:gs>
            <a:gs pos="100000">
              <a:schemeClr val="phClr">
                <a:shade val="45000"/>
                <a:satMod val="200000"/>
              </a:schemeClr>
            </a:gs>
          </a:gsLst>
          <a:lin ang="5400000" scaled="0"/>
        </a:gradFill>
        <a:blipFill rotWithShape="1">
          <a:blip xmlns:r="http://schemas.openxmlformats.org/officeDocument/2006/relationships" r:embed="rId1">
            <a:duotone>
              <a:schemeClr val="phClr">
                <a:shade val="55000"/>
              </a:schemeClr>
              <a:schemeClr val="phClr">
                <a:tint val="97000"/>
                <a:satMod val="95000"/>
              </a:schemeClr>
            </a:duotone>
          </a:blip>
          <a:tile tx="0" ty="0" sx="70000" sy="7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Clarity</Template>
  <TotalTime>5064</TotalTime>
  <Words>5126</Words>
  <Application>Microsoft Office PowerPoint</Application>
  <PresentationFormat>On-screen Show (4:3)</PresentationFormat>
  <Paragraphs>698</Paragraphs>
  <Slides>63</Slides>
  <Notes>3</Notes>
  <HiddenSlides>2</HiddenSlides>
  <MMClips>0</MMClips>
  <ScaleCrop>false</ScaleCrop>
  <HeadingPairs>
    <vt:vector size="4" baseType="variant">
      <vt:variant>
        <vt:lpstr>Theme</vt:lpstr>
      </vt:variant>
      <vt:variant>
        <vt:i4>1</vt:i4>
      </vt:variant>
      <vt:variant>
        <vt:lpstr>Slide Titles</vt:lpstr>
      </vt:variant>
      <vt:variant>
        <vt:i4>63</vt:i4>
      </vt:variant>
    </vt:vector>
  </HeadingPairs>
  <TitlesOfParts>
    <vt:vector size="64" baseType="lpstr">
      <vt:lpstr>Clarity</vt:lpstr>
      <vt:lpstr>PROGRAMMING IN C</vt:lpstr>
      <vt:lpstr>Pointers and dynamic memory allocation and C pre-processor</vt:lpstr>
      <vt:lpstr>PowerPoint Presentation</vt:lpstr>
      <vt:lpstr>Introduction</vt:lpstr>
      <vt:lpstr>What is pointer?</vt:lpstr>
      <vt:lpstr>How to use pointers?</vt:lpstr>
      <vt:lpstr>Pointer Declaration &amp; initialization </vt:lpstr>
      <vt:lpstr>Pointer Dereferencing </vt:lpstr>
      <vt:lpstr>Recap of Pointer Terms</vt:lpstr>
      <vt:lpstr>Example:1</vt:lpstr>
      <vt:lpstr>Pointer arithmetic</vt:lpstr>
      <vt:lpstr>Addition of Integer to Pointer </vt:lpstr>
      <vt:lpstr>Subtraction  of Integer to Pointer </vt:lpstr>
      <vt:lpstr>Example</vt:lpstr>
      <vt:lpstr>Changing Value Using Pointer</vt:lpstr>
      <vt:lpstr> Swapping Two Numbers (Using Pointers)</vt:lpstr>
      <vt:lpstr>Pointer with array</vt:lpstr>
      <vt:lpstr>Pointer to pointer</vt:lpstr>
      <vt:lpstr>Pointer to pointer</vt:lpstr>
      <vt:lpstr>Function Calls</vt:lpstr>
      <vt:lpstr>Function Calls: Sending the values of the arguments </vt:lpstr>
      <vt:lpstr>Pointer with function</vt:lpstr>
      <vt:lpstr>Pointer with Strings</vt:lpstr>
      <vt:lpstr>Call by reference</vt:lpstr>
      <vt:lpstr>Call by reference</vt:lpstr>
      <vt:lpstr>Call by reference</vt:lpstr>
      <vt:lpstr>Call by reference</vt:lpstr>
      <vt:lpstr>Call by reference</vt:lpstr>
      <vt:lpstr>Summary</vt:lpstr>
      <vt:lpstr>What will be the output ?</vt:lpstr>
      <vt:lpstr>What will be the output ?</vt:lpstr>
      <vt:lpstr>Dynamic memory allocation</vt:lpstr>
      <vt:lpstr>Need of Dynamic Memory Allocation </vt:lpstr>
      <vt:lpstr>Dynamic Memory Allocation </vt:lpstr>
      <vt:lpstr>Dynamic memory allocation</vt:lpstr>
      <vt:lpstr>Steps of Using malloc()</vt:lpstr>
      <vt:lpstr>Example</vt:lpstr>
      <vt:lpstr>PowerPoint Presentation</vt:lpstr>
      <vt:lpstr>malloc( )</vt:lpstr>
      <vt:lpstr>malloc( )</vt:lpstr>
      <vt:lpstr>PowerPoint Presentation</vt:lpstr>
      <vt:lpstr>Dynamic memory allocation</vt:lpstr>
      <vt:lpstr>Dynamic memory allocation</vt:lpstr>
      <vt:lpstr>Function returning Pointer</vt:lpstr>
      <vt:lpstr>Null pointers</vt:lpstr>
      <vt:lpstr>Introduction to File Handling</vt:lpstr>
      <vt:lpstr>Why use files in C programming?</vt:lpstr>
      <vt:lpstr>File Handling Functions in C</vt:lpstr>
      <vt:lpstr>File Opening Modes</vt:lpstr>
      <vt:lpstr>Opening and Closing a File</vt:lpstr>
      <vt:lpstr>Writing to a File (Text Mode)</vt:lpstr>
      <vt:lpstr>Writing and Reading in Binary Mode</vt:lpstr>
      <vt:lpstr>Differences between handling binary &amp; text data</vt:lpstr>
      <vt:lpstr>PowerPoint Presentation</vt:lpstr>
      <vt:lpstr>Writing and Reading Text Files</vt:lpstr>
      <vt:lpstr>Writing and Reading Binary Files</vt:lpstr>
      <vt:lpstr>File Positioning Functions</vt:lpstr>
      <vt:lpstr>File Positioning Functions</vt:lpstr>
      <vt:lpstr>File Positioning Functions</vt:lpstr>
      <vt:lpstr>Differences in File Positioning for Binary Files</vt:lpstr>
      <vt:lpstr>Differences in File Positioning for Binary Files</vt:lpstr>
      <vt:lpstr>Error Handling in File Operations</vt:lpstr>
      <vt:lpstr>References</vt:lpstr>
    </vt:vector>
  </TitlesOfParts>
  <Company>HP Inc.</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PROGRAMMING IN C</dc:title>
  <dc:creator>Admin</dc:creator>
  <cp:lastModifiedBy>Admin</cp:lastModifiedBy>
  <cp:revision>80</cp:revision>
  <dcterms:created xsi:type="dcterms:W3CDTF">2024-12-28T06:06:45Z</dcterms:created>
  <dcterms:modified xsi:type="dcterms:W3CDTF">2025-10-30T09:45:14Z</dcterms:modified>
</cp:coreProperties>
</file>